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3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6932" y="496646"/>
            <a:ext cx="753013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07565"/>
            <a:ext cx="8046084" cy="4416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51026" y="2146173"/>
            <a:ext cx="6842759" cy="1367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93290" marR="5080" indent="-2181225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Data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Collection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Data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Pre-</a:t>
            </a:r>
            <a:r>
              <a:rPr b="1" spc="-10" dirty="0">
                <a:latin typeface="Calibri"/>
                <a:cs typeface="Calibri"/>
              </a:rPr>
              <a:t>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344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95" dirty="0"/>
              <a:t> </a:t>
            </a:r>
            <a:r>
              <a:rPr dirty="0"/>
              <a:t>Collection</a:t>
            </a:r>
            <a:r>
              <a:rPr spc="-85" dirty="0"/>
              <a:t> </a:t>
            </a:r>
            <a:r>
              <a:rPr spc="-10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794"/>
            <a:ext cx="806958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</a:tabLst>
            </a:pPr>
            <a:r>
              <a:rPr sz="3000" spc="-10" dirty="0">
                <a:latin typeface="Calibri"/>
                <a:cs typeface="Calibri"/>
              </a:rPr>
              <a:t>Intelligence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Needs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Data</a:t>
            </a:r>
            <a:endParaRPr sz="30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•"/>
              <a:tabLst>
                <a:tab pos="356235" algn="l"/>
              </a:tabLst>
            </a:pPr>
            <a:r>
              <a:rPr sz="3000" dirty="0">
                <a:latin typeface="Calibri"/>
                <a:cs typeface="Calibri"/>
              </a:rPr>
              <a:t>Human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intelligence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needs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data:</a:t>
            </a:r>
            <a:endParaRPr sz="3000">
              <a:latin typeface="Calibri"/>
              <a:cs typeface="Calibri"/>
            </a:endParaRPr>
          </a:p>
          <a:p>
            <a:pPr marL="355600" marR="5080" indent="-343535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real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estate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broker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needs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about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sold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houses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estimate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prices.</a:t>
            </a:r>
            <a:endParaRPr sz="30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•"/>
              <a:tabLst>
                <a:tab pos="356235" algn="l"/>
              </a:tabLst>
            </a:pPr>
            <a:r>
              <a:rPr sz="3000" dirty="0">
                <a:latin typeface="Calibri"/>
                <a:cs typeface="Calibri"/>
              </a:rPr>
              <a:t>Artificial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Intelligence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also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needs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data:</a:t>
            </a:r>
            <a:endParaRPr sz="3000">
              <a:latin typeface="Calibri"/>
              <a:cs typeface="Calibri"/>
            </a:endParaRPr>
          </a:p>
          <a:p>
            <a:pPr marL="355600" marR="1035050" indent="-343535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Machine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Learning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program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needs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35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estimate</a:t>
            </a:r>
            <a:r>
              <a:rPr sz="3000" spc="-1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prices.</a:t>
            </a:r>
            <a:endParaRPr sz="30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Data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help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understand.</a:t>
            </a:r>
            <a:endParaRPr sz="30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•"/>
              <a:tabLst>
                <a:tab pos="356235" algn="l"/>
              </a:tabLst>
            </a:pPr>
            <a:r>
              <a:rPr sz="3000" dirty="0">
                <a:latin typeface="Calibri"/>
                <a:cs typeface="Calibri"/>
              </a:rPr>
              <a:t>Data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help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find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new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opportunities.</a:t>
            </a:r>
            <a:endParaRPr sz="30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sz="3000" dirty="0">
                <a:latin typeface="Calibri"/>
                <a:cs typeface="Calibri"/>
              </a:rPr>
              <a:t>Data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help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resolve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misunderstandings.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88645"/>
            <a:ext cx="8074659" cy="4916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b="1" dirty="0">
                <a:latin typeface="Calibri"/>
                <a:cs typeface="Calibri"/>
              </a:rPr>
              <a:t>Data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Collection</a:t>
            </a:r>
            <a:r>
              <a:rPr sz="2200" b="1" spc="-7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Strategies</a:t>
            </a:r>
            <a:endParaRPr sz="2200">
              <a:latin typeface="Calibri"/>
              <a:cs typeface="Calibri"/>
            </a:endParaRPr>
          </a:p>
          <a:p>
            <a:pPr marL="355600" marR="6350" indent="-343535">
              <a:lnSpc>
                <a:spcPts val="2110"/>
              </a:lnSpc>
              <a:spcBef>
                <a:spcPts val="51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collection</a:t>
            </a:r>
            <a:r>
              <a:rPr sz="2200" spc="2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involves</a:t>
            </a:r>
            <a:r>
              <a:rPr sz="2200" spc="20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systematically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gathering</a:t>
            </a:r>
            <a:r>
              <a:rPr sz="2200" spc="1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information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from </a:t>
            </a:r>
            <a:r>
              <a:rPr sz="2200" dirty="0">
                <a:latin typeface="Calibri"/>
                <a:cs typeface="Calibri"/>
              </a:rPr>
              <a:t>various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sources.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Common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strategies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include:</a:t>
            </a:r>
            <a:endParaRPr sz="2200">
              <a:latin typeface="Calibri"/>
              <a:cs typeface="Calibri"/>
            </a:endParaRPr>
          </a:p>
          <a:p>
            <a:pPr marL="355600" marR="8890" indent="-343535">
              <a:lnSpc>
                <a:spcPct val="80000"/>
              </a:lnSpc>
              <a:spcBef>
                <a:spcPts val="545"/>
              </a:spcBef>
              <a:buFont typeface="Arial MT"/>
              <a:buChar char="•"/>
              <a:tabLst>
                <a:tab pos="355600" algn="l"/>
                <a:tab pos="1433195" algn="l"/>
                <a:tab pos="2137410" algn="l"/>
                <a:tab pos="3536315" algn="l"/>
                <a:tab pos="4822825" algn="l"/>
                <a:tab pos="5513705" algn="l"/>
                <a:tab pos="6775450" algn="l"/>
                <a:tab pos="7439025" algn="l"/>
                <a:tab pos="7923530" algn="l"/>
              </a:tabLst>
            </a:pPr>
            <a:r>
              <a:rPr sz="2200" b="1" spc="-10" dirty="0">
                <a:latin typeface="Calibri"/>
                <a:cs typeface="Calibri"/>
              </a:rPr>
              <a:t>Primary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20" dirty="0">
                <a:latin typeface="Calibri"/>
                <a:cs typeface="Calibri"/>
              </a:rPr>
              <a:t>Data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Collection: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Gathering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new,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first-</a:t>
            </a:r>
            <a:r>
              <a:rPr sz="2200" spc="-20" dirty="0">
                <a:latin typeface="Calibri"/>
                <a:cs typeface="Calibri"/>
              </a:rPr>
              <a:t>hand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for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specific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purpose.</a:t>
            </a:r>
            <a:endParaRPr sz="2200">
              <a:latin typeface="Calibri"/>
              <a:cs typeface="Calibri"/>
            </a:endParaRPr>
          </a:p>
          <a:p>
            <a:pPr marL="754380" lvl="1" indent="-284480">
              <a:lnSpc>
                <a:spcPts val="2160"/>
              </a:lnSpc>
              <a:spcBef>
                <a:spcPts val="1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b="1" dirty="0">
                <a:latin typeface="Calibri"/>
                <a:cs typeface="Calibri"/>
              </a:rPr>
              <a:t>Surveys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&amp;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Questionnaires: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Efficient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reaching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audiences;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tools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like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Google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SurveyMonkey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commonly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used.</a:t>
            </a:r>
            <a:endParaRPr sz="2000">
              <a:latin typeface="Calibri"/>
              <a:cs typeface="Calibri"/>
            </a:endParaRPr>
          </a:p>
          <a:p>
            <a:pPr marL="753110" marR="8890" lvl="1" indent="-283845">
              <a:lnSpc>
                <a:spcPts val="1920"/>
              </a:lnSpc>
              <a:spcBef>
                <a:spcPts val="459"/>
              </a:spcBef>
              <a:buFont typeface="Arial MT"/>
              <a:buChar char="–"/>
              <a:tabLst>
                <a:tab pos="756285" algn="l"/>
                <a:tab pos="2014220" algn="l"/>
                <a:tab pos="2343150" algn="l"/>
                <a:tab pos="3088640" algn="l"/>
                <a:tab pos="4067175" algn="l"/>
                <a:tab pos="4998085" algn="l"/>
                <a:tab pos="6030595" algn="l"/>
                <a:tab pos="7271384" algn="l"/>
              </a:tabLst>
            </a:pPr>
            <a:r>
              <a:rPr sz="2000" b="1" spc="-10" dirty="0">
                <a:latin typeface="Calibri"/>
                <a:cs typeface="Calibri"/>
              </a:rPr>
              <a:t>Interviews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50" dirty="0">
                <a:latin typeface="Calibri"/>
                <a:cs typeface="Calibri"/>
              </a:rPr>
              <a:t>&amp;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Focus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Groups: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Provide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in-depth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qualitative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insights 	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direct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interaction.</a:t>
            </a:r>
            <a:endParaRPr sz="2000">
              <a:latin typeface="Calibri"/>
              <a:cs typeface="Calibri"/>
            </a:endParaRPr>
          </a:p>
          <a:p>
            <a:pPr marL="753110" marR="6985" lvl="1" indent="-283845">
              <a:lnSpc>
                <a:spcPct val="80000"/>
              </a:lnSpc>
              <a:spcBef>
                <a:spcPts val="5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Observations:</a:t>
            </a:r>
            <a:r>
              <a:rPr sz="2000" b="1" spc="1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Recording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behaviors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natural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settings</a:t>
            </a:r>
            <a:r>
              <a:rPr sz="2000" spc="2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direct 	interference.</a:t>
            </a:r>
            <a:endParaRPr sz="2000">
              <a:latin typeface="Calibri"/>
              <a:cs typeface="Calibri"/>
            </a:endParaRPr>
          </a:p>
          <a:p>
            <a:pPr marL="753110" marR="6985" lvl="1" indent="-283845">
              <a:lnSpc>
                <a:spcPct val="8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IoT</a:t>
            </a:r>
            <a:r>
              <a:rPr sz="2000" b="1" spc="1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&amp;</a:t>
            </a:r>
            <a:r>
              <a:rPr sz="2000" b="1" spc="1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Sensor</a:t>
            </a:r>
            <a:r>
              <a:rPr sz="2000" b="1" spc="1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Data:</a:t>
            </a:r>
            <a:r>
              <a:rPr sz="2000" b="1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Capturing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telemetry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(e.g.,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temperature, 	</a:t>
            </a:r>
            <a:r>
              <a:rPr sz="2000" dirty="0">
                <a:latin typeface="Calibri"/>
                <a:cs typeface="Calibri"/>
              </a:rPr>
              <a:t>motion)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devices.</a:t>
            </a:r>
            <a:endParaRPr sz="2000">
              <a:latin typeface="Calibri"/>
              <a:cs typeface="Calibri"/>
            </a:endParaRPr>
          </a:p>
          <a:p>
            <a:pPr marL="355600" marR="6985" indent="-343535">
              <a:lnSpc>
                <a:spcPct val="80000"/>
              </a:lnSpc>
              <a:spcBef>
                <a:spcPts val="520"/>
              </a:spcBef>
              <a:buFont typeface="Arial MT"/>
              <a:buChar char="•"/>
              <a:tabLst>
                <a:tab pos="355600" algn="l"/>
                <a:tab pos="1727200" algn="l"/>
                <a:tab pos="2433320" algn="l"/>
                <a:tab pos="3835400" algn="l"/>
                <a:tab pos="4914265" algn="l"/>
                <a:tab pos="5937250" algn="l"/>
                <a:tab pos="6600190" algn="l"/>
                <a:tab pos="7786370" algn="l"/>
              </a:tabLst>
            </a:pPr>
            <a:r>
              <a:rPr sz="2200" b="1" spc="-10" dirty="0">
                <a:latin typeface="Calibri"/>
                <a:cs typeface="Calibri"/>
              </a:rPr>
              <a:t>Secondary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20" dirty="0">
                <a:latin typeface="Calibri"/>
                <a:cs typeface="Calibri"/>
              </a:rPr>
              <a:t>Data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Collection: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Utilizing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existing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data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collected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by </a:t>
            </a:r>
            <a:r>
              <a:rPr sz="2200" spc="-10" dirty="0">
                <a:latin typeface="Calibri"/>
                <a:cs typeface="Calibri"/>
              </a:rPr>
              <a:t>others.</a:t>
            </a:r>
            <a:endParaRPr sz="2200">
              <a:latin typeface="Calibri"/>
              <a:cs typeface="Calibri"/>
            </a:endParaRPr>
          </a:p>
          <a:p>
            <a:pPr marL="753110" marR="5080" lvl="1" indent="-283845">
              <a:lnSpc>
                <a:spcPts val="1920"/>
              </a:lnSpc>
              <a:spcBef>
                <a:spcPts val="47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Public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Datasets:</a:t>
            </a:r>
            <a:r>
              <a:rPr sz="2000" b="1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Accessing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repositories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Kaggle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UCI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Machine 	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Repository.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05" dirty="0"/>
              <a:t> </a:t>
            </a:r>
            <a:r>
              <a:rPr spc="-30" dirty="0"/>
              <a:t>Pre-</a:t>
            </a:r>
            <a:r>
              <a:rPr dirty="0"/>
              <a:t>Processing</a:t>
            </a:r>
            <a:r>
              <a:rPr spc="-12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5370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Data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preprocessing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foundational</a:t>
            </a:r>
            <a:r>
              <a:rPr sz="3200" spc="800" dirty="0">
                <a:latin typeface="Calibri"/>
                <a:cs typeface="Calibri"/>
              </a:rPr>
              <a:t> 	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converting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75" dirty="0">
                <a:latin typeface="Calibri"/>
                <a:cs typeface="Calibri"/>
              </a:rPr>
              <a:t>raw,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"dirty"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	</a:t>
            </a:r>
            <a:r>
              <a:rPr sz="3200" dirty="0">
                <a:latin typeface="Calibri"/>
                <a:cs typeface="Calibri"/>
              </a:rPr>
              <a:t>clean,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structured,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high-</a:t>
            </a:r>
            <a:r>
              <a:rPr sz="3200" dirty="0">
                <a:latin typeface="Calibri"/>
                <a:cs typeface="Calibri"/>
              </a:rPr>
              <a:t>quality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format 	</a:t>
            </a:r>
            <a:r>
              <a:rPr sz="3200" dirty="0">
                <a:latin typeface="Calibri"/>
                <a:cs typeface="Calibri"/>
              </a:rPr>
              <a:t>suitable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learning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(ML)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	</a:t>
            </a:r>
            <a:r>
              <a:rPr sz="3200" dirty="0">
                <a:latin typeface="Calibri"/>
                <a:cs typeface="Calibri"/>
              </a:rPr>
              <a:t>artificial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intelligence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(AI).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critical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stage 	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consume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up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60%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to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80%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 	</a:t>
            </a:r>
            <a:r>
              <a:rPr sz="3200" spc="-10" dirty="0">
                <a:latin typeface="Calibri"/>
                <a:cs typeface="Calibri"/>
              </a:rPr>
              <a:t>professional's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because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accuracy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	</a:t>
            </a:r>
            <a:r>
              <a:rPr sz="3200" dirty="0">
                <a:latin typeface="Calibri"/>
                <a:cs typeface="Calibri"/>
              </a:rPr>
              <a:t>any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model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directly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dependent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quality 	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input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05" dirty="0"/>
              <a:t> </a:t>
            </a:r>
            <a:r>
              <a:rPr spc="-30" dirty="0"/>
              <a:t>Pre-</a:t>
            </a:r>
            <a:r>
              <a:rPr dirty="0"/>
              <a:t>Processing</a:t>
            </a:r>
            <a:r>
              <a:rPr spc="-12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267104"/>
            <a:ext cx="7976870" cy="44157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b="1" dirty="0">
                <a:latin typeface="Calibri"/>
                <a:cs typeface="Calibri"/>
              </a:rPr>
              <a:t>Core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Tasks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Preprocessing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dirty="0">
                <a:latin typeface="Calibri"/>
                <a:cs typeface="Calibri"/>
              </a:rPr>
              <a:t>Modern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preprocessing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workflows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typically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involve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these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primary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stages: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Cleaning: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Identifying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fixing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errors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reliability.</a:t>
            </a:r>
            <a:endParaRPr sz="16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90"/>
              </a:spcBef>
              <a:buFont typeface="Arial MT"/>
              <a:buChar char="–"/>
              <a:tabLst>
                <a:tab pos="756285" algn="l"/>
              </a:tabLst>
            </a:pPr>
            <a:r>
              <a:rPr sz="1600" b="1" dirty="0">
                <a:latin typeface="Calibri"/>
                <a:cs typeface="Calibri"/>
              </a:rPr>
              <a:t>Handling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Missing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Values: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Techniques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imputation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(filling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gaps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mean,</a:t>
            </a:r>
            <a:endParaRPr sz="16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median,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mode)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deletion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(removing</a:t>
            </a:r>
            <a:r>
              <a:rPr sz="1600" spc="-10" dirty="0">
                <a:latin typeface="Calibri"/>
                <a:cs typeface="Calibri"/>
              </a:rPr>
              <a:t> incomplete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rows).</a:t>
            </a:r>
            <a:endParaRPr sz="1600">
              <a:latin typeface="Calibri"/>
              <a:cs typeface="Calibri"/>
            </a:endParaRPr>
          </a:p>
          <a:p>
            <a:pPr marL="756285" marR="187960" lvl="1" indent="-287020">
              <a:lnSpc>
                <a:spcPct val="100000"/>
              </a:lnSpc>
              <a:spcBef>
                <a:spcPts val="380"/>
              </a:spcBef>
              <a:buFont typeface="Arial MT"/>
              <a:buChar char="–"/>
              <a:tabLst>
                <a:tab pos="756285" algn="l"/>
              </a:tabLst>
            </a:pPr>
            <a:r>
              <a:rPr sz="1600" b="1" dirty="0">
                <a:latin typeface="Calibri"/>
                <a:cs typeface="Calibri"/>
              </a:rPr>
              <a:t>Noisy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Removal:</a:t>
            </a:r>
            <a:r>
              <a:rPr sz="1600" b="1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Smoothing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techniques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binning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regression,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clustering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are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eliminate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outliers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irrelevant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signals.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Integration: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Merging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multiple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sources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databases,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files,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APIs)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into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single,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unified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view.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Transformation: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Adjusting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requirements.</a:t>
            </a:r>
            <a:endParaRPr sz="1600">
              <a:latin typeface="Calibri"/>
              <a:cs typeface="Calibri"/>
            </a:endParaRPr>
          </a:p>
          <a:p>
            <a:pPr marL="756285" marR="373380" lvl="1" indent="-287020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756285" algn="l"/>
              </a:tabLst>
            </a:pPr>
            <a:r>
              <a:rPr sz="1600" b="1" spc="-10" dirty="0">
                <a:latin typeface="Calibri"/>
                <a:cs typeface="Calibri"/>
              </a:rPr>
              <a:t>Normalization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&amp;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Scaling: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Rescaling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numerical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0–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range)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that </a:t>
            </a:r>
            <a:r>
              <a:rPr sz="1600" spc="-10" dirty="0">
                <a:latin typeface="Calibri"/>
                <a:cs typeface="Calibri"/>
              </a:rPr>
              <a:t>features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larger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magnitudes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10" dirty="0">
                <a:latin typeface="Calibri"/>
                <a:cs typeface="Calibri"/>
              </a:rPr>
              <a:t> dominate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model.</a:t>
            </a:r>
            <a:endParaRPr sz="1600">
              <a:latin typeface="Calibri"/>
              <a:cs typeface="Calibri"/>
            </a:endParaRPr>
          </a:p>
          <a:p>
            <a:pPr marL="756285" marR="402590" lvl="1" indent="-287020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756285" algn="l"/>
              </a:tabLst>
            </a:pPr>
            <a:r>
              <a:rPr sz="1600" b="1" dirty="0">
                <a:latin typeface="Calibri"/>
                <a:cs typeface="Calibri"/>
              </a:rPr>
              <a:t>Encoding: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Converting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categorical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text-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"Yes/No")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numerical formats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One-</a:t>
            </a:r>
            <a:r>
              <a:rPr sz="1600" b="1" dirty="0">
                <a:latin typeface="Calibri"/>
                <a:cs typeface="Calibri"/>
              </a:rPr>
              <a:t>Hot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Encoding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Label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Encoding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355600" marR="311785" indent="-34353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Reduction: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Reducing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dataset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size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while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preserving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essential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 computational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efficiency.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61540">
              <a:lnSpc>
                <a:spcPct val="100000"/>
              </a:lnSpc>
              <a:spcBef>
                <a:spcPts val="105"/>
              </a:spcBef>
            </a:pPr>
            <a:r>
              <a:rPr b="1" dirty="0">
                <a:latin typeface="Calibri"/>
                <a:cs typeface="Calibri"/>
              </a:rPr>
              <a:t>Data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Cleaning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73390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226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dirty="0">
                <a:latin typeface="Calibri"/>
                <a:cs typeface="Calibri"/>
              </a:rPr>
              <a:t>Data</a:t>
            </a:r>
            <a:r>
              <a:rPr sz="3200" b="1" spc="4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Cleaning</a:t>
            </a:r>
            <a:r>
              <a:rPr sz="3200" b="1" spc="4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(also</a:t>
            </a:r>
            <a:r>
              <a:rPr sz="3200" spc="4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known</a:t>
            </a:r>
            <a:r>
              <a:rPr sz="3200" spc="4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4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43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cleansing 	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43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scrubbing)</a:t>
            </a:r>
            <a:r>
              <a:rPr sz="3200" spc="4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remains</a:t>
            </a:r>
            <a:r>
              <a:rPr sz="3200" spc="4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4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most</a:t>
            </a:r>
            <a:r>
              <a:rPr sz="3200" spc="4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critical</a:t>
            </a:r>
            <a:r>
              <a:rPr sz="3200" spc="4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stage 	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1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1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preprocessing.</a:t>
            </a:r>
            <a:r>
              <a:rPr sz="3200" spc="1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1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1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1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135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of 	</a:t>
            </a:r>
            <a:r>
              <a:rPr sz="3200" dirty="0">
                <a:latin typeface="Calibri"/>
                <a:cs typeface="Calibri"/>
              </a:rPr>
              <a:t>identifying</a:t>
            </a:r>
            <a:r>
              <a:rPr sz="3200" spc="3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36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fixing</a:t>
            </a:r>
            <a:r>
              <a:rPr sz="3200" spc="36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3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removing</a:t>
            </a:r>
            <a:r>
              <a:rPr sz="3200" spc="36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errors, 	</a:t>
            </a:r>
            <a:r>
              <a:rPr sz="3200" dirty="0">
                <a:latin typeface="Calibri"/>
                <a:cs typeface="Calibri"/>
              </a:rPr>
              <a:t>inconsistencies,</a:t>
            </a:r>
            <a:r>
              <a:rPr sz="3200" spc="4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4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inaccuracies</a:t>
            </a:r>
            <a:r>
              <a:rPr sz="3200" spc="4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4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ensure</a:t>
            </a:r>
            <a:r>
              <a:rPr sz="3200" spc="459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	</a:t>
            </a:r>
            <a:r>
              <a:rPr sz="3200" dirty="0">
                <a:latin typeface="Calibri"/>
                <a:cs typeface="Calibri"/>
              </a:rPr>
              <a:t>dataset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reliable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analysis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AI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modeling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69465"/>
            <a:ext cx="8052434" cy="3766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Handling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Missing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Values: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Gaps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caused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incomplete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collection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entry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errors.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b="1" dirty="0">
                <a:latin typeface="Calibri"/>
                <a:cs typeface="Calibri"/>
              </a:rPr>
              <a:t>Imputation: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Filling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gaps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statistical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estimates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like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mean,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median,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mode.</a:t>
            </a:r>
            <a:endParaRPr sz="1500">
              <a:latin typeface="Calibri"/>
              <a:cs typeface="Calibri"/>
            </a:endParaRPr>
          </a:p>
          <a:p>
            <a:pPr marL="756285" lvl="1" indent="-286385">
              <a:lnSpc>
                <a:spcPts val="162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b="1" dirty="0">
                <a:latin typeface="Calibri"/>
                <a:cs typeface="Calibri"/>
              </a:rPr>
              <a:t>Advanced</a:t>
            </a:r>
            <a:r>
              <a:rPr sz="1500" b="1" spc="-6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Imputation: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algorithms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like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b="1" spc="-20" dirty="0">
                <a:latin typeface="Calibri"/>
                <a:cs typeface="Calibri"/>
              </a:rPr>
              <a:t>K-</a:t>
            </a:r>
            <a:r>
              <a:rPr sz="1500" b="1" dirty="0">
                <a:latin typeface="Calibri"/>
                <a:cs typeface="Calibri"/>
              </a:rPr>
              <a:t>Nearest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Neighbors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(KNN)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regression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to</a:t>
            </a:r>
            <a:endParaRPr sz="1500">
              <a:latin typeface="Calibri"/>
              <a:cs typeface="Calibri"/>
            </a:endParaRPr>
          </a:p>
          <a:p>
            <a:pPr marL="756285">
              <a:lnSpc>
                <a:spcPts val="1620"/>
              </a:lnSpc>
            </a:pPr>
            <a:r>
              <a:rPr sz="1500" dirty="0">
                <a:latin typeface="Calibri"/>
                <a:cs typeface="Calibri"/>
              </a:rPr>
              <a:t>predict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missing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based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other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variables.</a:t>
            </a:r>
            <a:endParaRPr sz="1500">
              <a:latin typeface="Calibri"/>
              <a:cs typeface="Calibri"/>
            </a:endParaRPr>
          </a:p>
          <a:p>
            <a:pPr marL="756285" marR="434340" lvl="1" indent="-287020">
              <a:lnSpc>
                <a:spcPct val="80000"/>
              </a:lnSpc>
              <a:spcBef>
                <a:spcPts val="359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b="1" dirty="0">
                <a:latin typeface="Calibri"/>
                <a:cs typeface="Calibri"/>
              </a:rPr>
              <a:t>Deletion: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Removing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entire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rows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columns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missingness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extensive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cannot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be </a:t>
            </a:r>
            <a:r>
              <a:rPr sz="1500" spc="-10" dirty="0">
                <a:latin typeface="Calibri"/>
                <a:cs typeface="Calibri"/>
              </a:rPr>
              <a:t>accurately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imputed.</a:t>
            </a:r>
            <a:endParaRPr sz="1500">
              <a:latin typeface="Calibri"/>
              <a:cs typeface="Calibri"/>
            </a:endParaRPr>
          </a:p>
          <a:p>
            <a:pPr marL="355600" marR="5080" indent="-343535">
              <a:lnSpc>
                <a:spcPct val="80000"/>
              </a:lnSpc>
              <a:spcBef>
                <a:spcPts val="42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Removing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Duplicates: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Eliminating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identical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near-</a:t>
            </a:r>
            <a:r>
              <a:rPr sz="1800" dirty="0">
                <a:latin typeface="Calibri"/>
                <a:cs typeface="Calibri"/>
              </a:rPr>
              <a:t>identical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entries—often </a:t>
            </a:r>
            <a:r>
              <a:rPr sz="1800" dirty="0">
                <a:latin typeface="Calibri"/>
                <a:cs typeface="Calibri"/>
              </a:rPr>
              <a:t>identified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fuzzy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matching</a:t>
            </a:r>
            <a:r>
              <a:rPr sz="1800" spc="-10" dirty="0">
                <a:latin typeface="Calibri"/>
                <a:cs typeface="Calibri"/>
              </a:rPr>
              <a:t>—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skew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over-represent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certain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points.</a:t>
            </a:r>
            <a:endParaRPr sz="1800">
              <a:latin typeface="Calibri"/>
              <a:cs typeface="Calibri"/>
            </a:endParaRPr>
          </a:p>
          <a:p>
            <a:pPr marL="355600" marR="793750" indent="-343535" algn="just">
              <a:lnSpc>
                <a:spcPct val="8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Detecting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Managing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Outliers: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Identifying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extreme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deviate significantly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Z-</a:t>
            </a:r>
            <a:r>
              <a:rPr sz="1800" b="1" dirty="0">
                <a:latin typeface="Calibri"/>
                <a:cs typeface="Calibri"/>
              </a:rPr>
              <a:t>score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(standard </a:t>
            </a:r>
            <a:r>
              <a:rPr sz="1800" dirty="0">
                <a:latin typeface="Calibri"/>
                <a:cs typeface="Calibri"/>
              </a:rPr>
              <a:t>deviations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mean)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IQR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(Interquartile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Range)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method.</a:t>
            </a:r>
            <a:endParaRPr sz="1800">
              <a:latin typeface="Calibri"/>
              <a:cs typeface="Calibri"/>
            </a:endParaRPr>
          </a:p>
          <a:p>
            <a:pPr marL="355600" marR="248285" indent="-343535" algn="just">
              <a:lnSpc>
                <a:spcPct val="8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Correcting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Structural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Errors: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Fixing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typos,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inconsistent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capitalization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“RTN" </a:t>
            </a:r>
            <a:r>
              <a:rPr sz="1800" dirty="0">
                <a:latin typeface="Calibri"/>
                <a:cs typeface="Calibri"/>
              </a:rPr>
              <a:t>vs.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“Ratnagiri"),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mismatched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conventions.</a:t>
            </a:r>
            <a:endParaRPr sz="1800">
              <a:latin typeface="Calibri"/>
              <a:cs typeface="Calibri"/>
            </a:endParaRPr>
          </a:p>
          <a:p>
            <a:pPr marL="355600" indent="-342900" algn="just">
              <a:lnSpc>
                <a:spcPts val="1945"/>
              </a:lnSpc>
              <a:buFont typeface="Arial MT"/>
              <a:buChar char="•"/>
              <a:tabLst>
                <a:tab pos="355600" algn="l"/>
              </a:tabLst>
            </a:pPr>
            <a:r>
              <a:rPr sz="1800" b="1" spc="-10" dirty="0">
                <a:latin typeface="Calibri"/>
                <a:cs typeface="Calibri"/>
              </a:rPr>
              <a:t>Standardizing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Formats: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uniformity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8601),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units</a:t>
            </a:r>
            <a:endParaRPr sz="1800">
              <a:latin typeface="Calibri"/>
              <a:cs typeface="Calibri"/>
            </a:endParaRPr>
          </a:p>
          <a:p>
            <a:pPr marL="355600" algn="just">
              <a:lnSpc>
                <a:spcPts val="1945"/>
              </a:lnSpc>
            </a:pPr>
            <a:r>
              <a:rPr sz="1800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measurement,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currency.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Data</a:t>
            </a:r>
            <a:r>
              <a:rPr sz="4000" spc="-110" dirty="0"/>
              <a:t> </a:t>
            </a:r>
            <a:r>
              <a:rPr sz="4000" spc="-10" dirty="0"/>
              <a:t>Integration</a:t>
            </a:r>
            <a:r>
              <a:rPr sz="4000" spc="-80" dirty="0"/>
              <a:t> </a:t>
            </a:r>
            <a:r>
              <a:rPr sz="4000" dirty="0"/>
              <a:t>and</a:t>
            </a:r>
            <a:r>
              <a:rPr sz="4000" spc="-90" dirty="0"/>
              <a:t> </a:t>
            </a:r>
            <a:r>
              <a:rPr sz="4000" spc="-30" dirty="0"/>
              <a:t>Transformation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69465"/>
            <a:ext cx="8032115" cy="3768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1.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Data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Integration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1945"/>
              </a:lnSpc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integration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involves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combining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heterogeneous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sources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ts val="1945"/>
              </a:lnSpc>
            </a:pP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files,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APIs)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single,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unified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view.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Standard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Approaches:</a:t>
            </a:r>
            <a:endParaRPr sz="1800">
              <a:latin typeface="Calibri"/>
              <a:cs typeface="Calibri"/>
            </a:endParaRPr>
          </a:p>
          <a:p>
            <a:pPr marL="756285" marR="197485" lvl="1" indent="-287020">
              <a:lnSpc>
                <a:spcPct val="80000"/>
              </a:lnSpc>
              <a:spcBef>
                <a:spcPts val="370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b="1" dirty="0">
                <a:latin typeface="Calibri"/>
                <a:cs typeface="Calibri"/>
              </a:rPr>
              <a:t>Tight</a:t>
            </a:r>
            <a:r>
              <a:rPr sz="1500" b="1" spc="-4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Coupling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(Data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Warehousing):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0" dirty="0">
                <a:latin typeface="Calibri"/>
                <a:cs typeface="Calibri"/>
              </a:rPr>
              <a:t> physically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extracted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sources,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transformed,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stored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centralized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repository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like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warehouse.</a:t>
            </a:r>
            <a:endParaRPr sz="1500">
              <a:latin typeface="Calibri"/>
              <a:cs typeface="Calibri"/>
            </a:endParaRPr>
          </a:p>
          <a:p>
            <a:pPr marL="756285" marR="46990" lvl="1" indent="-287020">
              <a:lnSpc>
                <a:spcPct val="80000"/>
              </a:lnSpc>
              <a:spcBef>
                <a:spcPts val="360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b="1" dirty="0">
                <a:latin typeface="Calibri"/>
                <a:cs typeface="Calibri"/>
              </a:rPr>
              <a:t>Loose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Coupling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(Data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Federation):</a:t>
            </a:r>
            <a:r>
              <a:rPr sz="1500" b="1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Creates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virtual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layer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allows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users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query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from </a:t>
            </a:r>
            <a:r>
              <a:rPr sz="1500" dirty="0">
                <a:latin typeface="Calibri"/>
                <a:cs typeface="Calibri"/>
              </a:rPr>
              <a:t>multiple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sources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real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time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without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physically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moving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it.</a:t>
            </a:r>
            <a:endParaRPr sz="1500">
              <a:latin typeface="Calibri"/>
              <a:cs typeface="Calibri"/>
            </a:endParaRPr>
          </a:p>
          <a:p>
            <a:pPr marL="355600" indent="-342900">
              <a:lnSpc>
                <a:spcPts val="2150"/>
              </a:lnSpc>
              <a:buFont typeface="Arial MT"/>
              <a:buChar char="•"/>
              <a:tabLst>
                <a:tab pos="355600" algn="l"/>
              </a:tabLst>
            </a:pPr>
            <a:r>
              <a:rPr sz="1800" b="1" dirty="0">
                <a:latin typeface="Calibri"/>
                <a:cs typeface="Calibri"/>
              </a:rPr>
              <a:t>Modern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Techniques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2026:</a:t>
            </a:r>
            <a:endParaRPr sz="1800">
              <a:latin typeface="Calibri"/>
              <a:cs typeface="Calibri"/>
            </a:endParaRPr>
          </a:p>
          <a:p>
            <a:pPr marL="756285" marR="33655" lvl="1" indent="-287020">
              <a:lnSpc>
                <a:spcPts val="1440"/>
              </a:lnSpc>
              <a:spcBef>
                <a:spcPts val="365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b="1" dirty="0">
                <a:latin typeface="Calibri"/>
                <a:cs typeface="Calibri"/>
              </a:rPr>
              <a:t>Extract,</a:t>
            </a:r>
            <a:r>
              <a:rPr sz="1500" b="1" spc="-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Load,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20" dirty="0">
                <a:latin typeface="Calibri"/>
                <a:cs typeface="Calibri"/>
              </a:rPr>
              <a:t>Transform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(ELT):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Reverses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traditional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ETL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loading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high-power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cloud warehouses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(like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Snowflake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BigQuery)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before transforming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it,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taking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advantage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modern </a:t>
            </a:r>
            <a:r>
              <a:rPr sz="1500" dirty="0">
                <a:latin typeface="Calibri"/>
                <a:cs typeface="Calibri"/>
              </a:rPr>
              <a:t>scalable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compute.</a:t>
            </a:r>
            <a:endParaRPr sz="150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370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b="1" dirty="0">
                <a:latin typeface="Calibri"/>
                <a:cs typeface="Calibri"/>
              </a:rPr>
              <a:t>Change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Data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Capture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(CDC):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Efficiently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tracks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replicates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only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i="1" dirty="0">
                <a:latin typeface="Calibri"/>
                <a:cs typeface="Calibri"/>
              </a:rPr>
              <a:t>changes</a:t>
            </a:r>
            <a:r>
              <a:rPr sz="1500" i="1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source systems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(insertions,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deletions,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updates)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keep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target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synchronized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near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real-time.</a:t>
            </a:r>
            <a:endParaRPr sz="1500">
              <a:latin typeface="Calibri"/>
              <a:cs typeface="Calibri"/>
            </a:endParaRPr>
          </a:p>
          <a:p>
            <a:pPr marL="756285" marR="384810" lvl="1" indent="-287020">
              <a:lnSpc>
                <a:spcPct val="80100"/>
              </a:lnSpc>
              <a:spcBef>
                <a:spcPts val="359"/>
              </a:spcBef>
              <a:buFont typeface="Arial MT"/>
              <a:buChar char="–"/>
              <a:tabLst>
                <a:tab pos="756285" algn="l"/>
              </a:tabLst>
            </a:pPr>
            <a:r>
              <a:rPr sz="1500" b="1" spc="-10" dirty="0">
                <a:latin typeface="Calibri"/>
                <a:cs typeface="Calibri"/>
              </a:rPr>
              <a:t>Agentic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Orchestration:</a:t>
            </a:r>
            <a:r>
              <a:rPr sz="1500" b="1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2026,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AI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agents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autonomously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plan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execute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integration workflows,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often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using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natural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language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prompts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like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"Sync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Salesforce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leads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Snowflake daily".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23645"/>
            <a:ext cx="8053705" cy="5190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2.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Data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Transformation</a:t>
            </a:r>
            <a:endParaRPr sz="2000">
              <a:latin typeface="Calibri"/>
              <a:cs typeface="Calibri"/>
            </a:endParaRPr>
          </a:p>
          <a:p>
            <a:pPr marL="355600" marR="249554" indent="-343535">
              <a:lnSpc>
                <a:spcPts val="1920"/>
              </a:lnSpc>
              <a:spcBef>
                <a:spcPts val="459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transformation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converts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raw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format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suitable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specific </a:t>
            </a:r>
            <a:r>
              <a:rPr sz="2000" dirty="0">
                <a:latin typeface="Calibri"/>
                <a:cs typeface="Calibri"/>
              </a:rPr>
              <a:t>mining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modeling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tasks.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Key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Transformation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Strategies:</a:t>
            </a:r>
            <a:endParaRPr sz="2000">
              <a:latin typeface="Calibri"/>
              <a:cs typeface="Calibri"/>
            </a:endParaRPr>
          </a:p>
          <a:p>
            <a:pPr marL="756285" marR="68580" lvl="1" indent="-287020">
              <a:lnSpc>
                <a:spcPts val="1730"/>
              </a:lnSpc>
              <a:spcBef>
                <a:spcPts val="420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b="1" spc="-10" dirty="0">
                <a:latin typeface="Calibri"/>
                <a:cs typeface="Calibri"/>
              </a:rPr>
              <a:t>Normalization: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Scaling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numerical</a:t>
            </a:r>
            <a:r>
              <a:rPr sz="1800" spc="-10" dirty="0">
                <a:latin typeface="Calibri"/>
                <a:cs typeface="Calibri"/>
              </a:rPr>
              <a:t> features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standard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-1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1)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variables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contribute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equally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model.</a:t>
            </a:r>
            <a:endParaRPr sz="1800">
              <a:latin typeface="Calibri"/>
              <a:cs typeface="Calibri"/>
            </a:endParaRPr>
          </a:p>
          <a:p>
            <a:pPr marL="756285" marR="29209" lvl="1" indent="-287020">
              <a:lnSpc>
                <a:spcPct val="80000"/>
              </a:lnSpc>
              <a:spcBef>
                <a:spcPts val="450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b="1" spc="-10" dirty="0">
                <a:latin typeface="Calibri"/>
                <a:cs typeface="Calibri"/>
              </a:rPr>
              <a:t>Standardization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(Z-score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Scaling):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Adjusting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zero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standard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deviation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essential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assume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 distribution.</a:t>
            </a:r>
            <a:endParaRPr sz="1800">
              <a:latin typeface="Calibri"/>
              <a:cs typeface="Calibri"/>
            </a:endParaRPr>
          </a:p>
          <a:p>
            <a:pPr marL="756285" marR="650240" lvl="1" indent="-287020">
              <a:lnSpc>
                <a:spcPct val="8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b="1" spc="-10" dirty="0">
                <a:latin typeface="Calibri"/>
                <a:cs typeface="Calibri"/>
              </a:rPr>
              <a:t>Categorical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Encoding: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Converting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text-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categories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numbers. </a:t>
            </a:r>
            <a:r>
              <a:rPr sz="1800" dirty="0">
                <a:latin typeface="Calibri"/>
                <a:cs typeface="Calibri"/>
              </a:rPr>
              <a:t>Common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methods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One-Hot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Encoding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(creating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binary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columns)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Label/Ordinal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Encoding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(assigning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unique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integers).</a:t>
            </a:r>
            <a:endParaRPr sz="1800">
              <a:latin typeface="Calibri"/>
              <a:cs typeface="Calibri"/>
            </a:endParaRPr>
          </a:p>
          <a:p>
            <a:pPr marL="756285" marR="478790" lvl="1" indent="-287020">
              <a:lnSpc>
                <a:spcPct val="80000"/>
              </a:lnSpc>
              <a:spcBef>
                <a:spcPts val="434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b="1" spc="-10" dirty="0">
                <a:latin typeface="Calibri"/>
                <a:cs typeface="Calibri"/>
              </a:rPr>
              <a:t>Aggregation: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Summarizing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calculating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monthly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sales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daily </a:t>
            </a:r>
            <a:r>
              <a:rPr sz="1800" spc="-10" dirty="0">
                <a:latin typeface="Calibri"/>
                <a:cs typeface="Calibri"/>
              </a:rPr>
              <a:t>records)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manageable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insightful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datasets.</a:t>
            </a:r>
            <a:endParaRPr sz="1800">
              <a:latin typeface="Calibri"/>
              <a:cs typeface="Calibri"/>
            </a:endParaRPr>
          </a:p>
          <a:p>
            <a:pPr marL="756285" marR="229235" lvl="1" indent="-287020">
              <a:lnSpc>
                <a:spcPts val="1730"/>
              </a:lnSpc>
              <a:spcBef>
                <a:spcPts val="415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b="1" spc="-10" dirty="0">
                <a:latin typeface="Calibri"/>
                <a:cs typeface="Calibri"/>
              </a:rPr>
              <a:t>Discretization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(Binning):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Converting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continuous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numerical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discrete intervals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"bins"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"Child,"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"Youth,"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"Adult").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16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spc="-10" dirty="0">
                <a:latin typeface="Calibri"/>
                <a:cs typeface="Calibri"/>
              </a:rPr>
              <a:t>High-</a:t>
            </a:r>
            <a:r>
              <a:rPr sz="2000" b="1" dirty="0">
                <a:latin typeface="Calibri"/>
                <a:cs typeface="Calibri"/>
              </a:rPr>
              <a:t>Quality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Input: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Preprocessing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vital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160"/>
              </a:lnSpc>
            </a:pPr>
            <a:r>
              <a:rPr sz="2000" spc="-10" dirty="0">
                <a:latin typeface="Calibri"/>
                <a:cs typeface="Calibri"/>
              </a:rPr>
              <a:t>directly</a:t>
            </a:r>
            <a:endParaRPr sz="2000">
              <a:latin typeface="Calibri"/>
              <a:cs typeface="Calibri"/>
            </a:endParaRPr>
          </a:p>
          <a:p>
            <a:pPr marL="355600" marR="1386840" indent="-343535">
              <a:lnSpc>
                <a:spcPct val="80000"/>
              </a:lnSpc>
              <a:spcBef>
                <a:spcPts val="47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Calibri"/>
                <a:cs typeface="Calibri"/>
              </a:rPr>
              <a:t>Efficiency: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Automated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transformation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reduces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manual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effort, </a:t>
            </a:r>
            <a:r>
              <a:rPr sz="2000" b="1" spc="-10" dirty="0">
                <a:latin typeface="Calibri"/>
                <a:cs typeface="Calibri"/>
              </a:rPr>
              <a:t>Consistency: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Integration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eliminates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silos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247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45" dirty="0"/>
              <a:t> </a:t>
            </a:r>
            <a:r>
              <a:rPr spc="-10" dirty="0"/>
              <a:t>Reduction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b="1" dirty="0">
                <a:latin typeface="Calibri"/>
                <a:cs typeface="Calibri"/>
              </a:rPr>
              <a:t>Data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Reduction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vital</a:t>
            </a:r>
            <a:r>
              <a:rPr spc="-55" dirty="0"/>
              <a:t> </a:t>
            </a:r>
            <a:r>
              <a:rPr dirty="0"/>
              <a:t>preprocessing</a:t>
            </a:r>
            <a:r>
              <a:rPr spc="-80" dirty="0"/>
              <a:t> </a:t>
            </a:r>
            <a:r>
              <a:rPr spc="-10" dirty="0"/>
              <a:t>stage 	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aims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obtain</a:t>
            </a:r>
            <a:r>
              <a:rPr spc="-6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reduced</a:t>
            </a:r>
            <a:r>
              <a:rPr spc="-80" dirty="0"/>
              <a:t> </a:t>
            </a:r>
            <a:r>
              <a:rPr spc="-10" dirty="0"/>
              <a:t>representation 	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dataset</a:t>
            </a:r>
            <a:r>
              <a:rPr spc="-55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dirty="0"/>
              <a:t>much</a:t>
            </a:r>
            <a:r>
              <a:rPr spc="-50" dirty="0"/>
              <a:t> </a:t>
            </a:r>
            <a:r>
              <a:rPr dirty="0"/>
              <a:t>smaller</a:t>
            </a:r>
            <a:r>
              <a:rPr spc="-5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10" dirty="0"/>
              <a:t>volume</a:t>
            </a:r>
            <a:r>
              <a:rPr spc="800" dirty="0"/>
              <a:t> 	</a:t>
            </a:r>
            <a:r>
              <a:rPr dirty="0"/>
              <a:t>yet</a:t>
            </a:r>
            <a:r>
              <a:rPr spc="-90" dirty="0"/>
              <a:t> </a:t>
            </a:r>
            <a:r>
              <a:rPr spc="-10" dirty="0"/>
              <a:t>maintains</a:t>
            </a:r>
            <a:r>
              <a:rPr spc="-3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integrity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original</a:t>
            </a:r>
            <a:r>
              <a:rPr spc="-50" dirty="0"/>
              <a:t> </a:t>
            </a:r>
            <a:r>
              <a:rPr spc="-10" dirty="0"/>
              <a:t>data. 	</a:t>
            </a:r>
            <a:r>
              <a:rPr dirty="0"/>
              <a:t>This</a:t>
            </a:r>
            <a:r>
              <a:rPr spc="-70" dirty="0"/>
              <a:t> </a:t>
            </a:r>
            <a:r>
              <a:rPr dirty="0"/>
              <a:t>process</a:t>
            </a:r>
            <a:r>
              <a:rPr spc="-9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dirty="0"/>
              <a:t>essential</a:t>
            </a:r>
            <a:r>
              <a:rPr spc="-75" dirty="0"/>
              <a:t> </a:t>
            </a:r>
            <a:r>
              <a:rPr dirty="0"/>
              <a:t>for</a:t>
            </a:r>
            <a:r>
              <a:rPr spc="-75" dirty="0"/>
              <a:t> </a:t>
            </a:r>
            <a:r>
              <a:rPr dirty="0"/>
              <a:t>managing</a:t>
            </a:r>
            <a:r>
              <a:rPr spc="-55" dirty="0"/>
              <a:t> </a:t>
            </a:r>
            <a:r>
              <a:rPr spc="-25" dirty="0"/>
              <a:t>the 	</a:t>
            </a:r>
            <a:r>
              <a:rPr dirty="0"/>
              <a:t>massive</a:t>
            </a:r>
            <a:r>
              <a:rPr spc="-80" dirty="0"/>
              <a:t> </a:t>
            </a:r>
            <a:r>
              <a:rPr dirty="0"/>
              <a:t>datasets</a:t>
            </a:r>
            <a:r>
              <a:rPr spc="-85" dirty="0"/>
              <a:t> </a:t>
            </a:r>
            <a:r>
              <a:rPr dirty="0"/>
              <a:t>common</a:t>
            </a:r>
            <a:r>
              <a:rPr spc="-8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modern</a:t>
            </a:r>
            <a:r>
              <a:rPr spc="-85" dirty="0"/>
              <a:t> </a:t>
            </a:r>
            <a:r>
              <a:rPr dirty="0"/>
              <a:t>big</a:t>
            </a:r>
            <a:r>
              <a:rPr spc="-65" dirty="0"/>
              <a:t> </a:t>
            </a:r>
            <a:r>
              <a:rPr spc="-20" dirty="0"/>
              <a:t>data 	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AI</a:t>
            </a:r>
            <a:r>
              <a:rPr spc="-40" dirty="0"/>
              <a:t> </a:t>
            </a:r>
            <a:r>
              <a:rPr spc="-20" dirty="0"/>
              <a:t>environments,</a:t>
            </a:r>
            <a:r>
              <a:rPr spc="-3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it</a:t>
            </a:r>
            <a:r>
              <a:rPr spc="-20" dirty="0"/>
              <a:t> </a:t>
            </a:r>
            <a:r>
              <a:rPr spc="-10" dirty="0"/>
              <a:t>significantly 	</a:t>
            </a:r>
            <a:r>
              <a:rPr dirty="0"/>
              <a:t>enhances</a:t>
            </a:r>
            <a:r>
              <a:rPr spc="-135" dirty="0"/>
              <a:t> </a:t>
            </a:r>
            <a:r>
              <a:rPr spc="-10" dirty="0"/>
              <a:t>computational</a:t>
            </a:r>
            <a:r>
              <a:rPr spc="-114" dirty="0"/>
              <a:t> </a:t>
            </a:r>
            <a:r>
              <a:rPr dirty="0"/>
              <a:t>efficiency</a:t>
            </a:r>
            <a:r>
              <a:rPr spc="-135" dirty="0"/>
              <a:t> </a:t>
            </a:r>
            <a:r>
              <a:rPr spc="-25" dirty="0"/>
              <a:t>and 	</a:t>
            </a:r>
            <a:r>
              <a:rPr dirty="0"/>
              <a:t>reduces</a:t>
            </a:r>
            <a:r>
              <a:rPr spc="-130" dirty="0"/>
              <a:t> </a:t>
            </a:r>
            <a:r>
              <a:rPr spc="-10" dirty="0"/>
              <a:t>storage</a:t>
            </a:r>
            <a:r>
              <a:rPr spc="-105" dirty="0"/>
              <a:t> </a:t>
            </a:r>
            <a:r>
              <a:rPr spc="-20" dirty="0"/>
              <a:t>costs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2941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55" dirty="0"/>
              <a:t> </a:t>
            </a:r>
            <a:r>
              <a:rPr spc="-10" dirty="0"/>
              <a:t>Discretization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80664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is</a:t>
            </a:r>
            <a:r>
              <a:rPr sz="3200" spc="5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5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pivotal</a:t>
            </a:r>
            <a:r>
              <a:rPr sz="3200" spc="5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preprocessing</a:t>
            </a:r>
            <a:r>
              <a:rPr sz="3200" spc="5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technique</a:t>
            </a:r>
            <a:r>
              <a:rPr sz="3200" spc="5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5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2095322"/>
            <a:ext cx="133413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libri"/>
                <a:cs typeface="Calibri"/>
              </a:rPr>
              <a:t>convert </a:t>
            </a:r>
            <a:r>
              <a:rPr sz="3200" spc="-25" dirty="0">
                <a:latin typeface="Calibri"/>
                <a:cs typeface="Calibri"/>
              </a:rPr>
              <a:t>discrete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59482" y="2095322"/>
            <a:ext cx="614870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4135">
              <a:lnSpc>
                <a:spcPct val="100000"/>
              </a:lnSpc>
              <a:spcBef>
                <a:spcPts val="105"/>
              </a:spcBef>
              <a:tabLst>
                <a:tab pos="1978660" algn="l"/>
                <a:tab pos="2311400" algn="l"/>
                <a:tab pos="2608580" algn="l"/>
                <a:tab pos="3990975" algn="l"/>
                <a:tab pos="4353560" algn="l"/>
                <a:tab pos="4665980" algn="l"/>
                <a:tab pos="5483225" algn="l"/>
              </a:tabLst>
            </a:pPr>
            <a:r>
              <a:rPr sz="3200" spc="-10" dirty="0">
                <a:latin typeface="Calibri"/>
                <a:cs typeface="Calibri"/>
              </a:rPr>
              <a:t>continuous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10" dirty="0">
                <a:latin typeface="Calibri"/>
                <a:cs typeface="Calibri"/>
              </a:rPr>
              <a:t>numerical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20" dirty="0">
                <a:latin typeface="Calibri"/>
                <a:cs typeface="Calibri"/>
              </a:rPr>
              <a:t>data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30" dirty="0">
                <a:latin typeface="Calibri"/>
                <a:cs typeface="Calibri"/>
              </a:rPr>
              <a:t>into </a:t>
            </a:r>
            <a:r>
              <a:rPr sz="3200" spc="-10" dirty="0">
                <a:latin typeface="Calibri"/>
                <a:cs typeface="Calibri"/>
              </a:rPr>
              <a:t>categories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or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"bins".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By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grouping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144" y="3070987"/>
            <a:ext cx="772858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06525" algn="l"/>
                <a:tab pos="4257040" algn="l"/>
                <a:tab pos="5137150" algn="l"/>
                <a:tab pos="5561965" algn="l"/>
              </a:tabLst>
            </a:pPr>
            <a:r>
              <a:rPr sz="3200" spc="-10" dirty="0">
                <a:latin typeface="Calibri"/>
                <a:cs typeface="Calibri"/>
              </a:rPr>
              <a:t>infinite</a:t>
            </a:r>
            <a:r>
              <a:rPr sz="3200" dirty="0">
                <a:latin typeface="Calibri"/>
                <a:cs typeface="Calibri"/>
              </a:rPr>
              <a:t>	possible</a:t>
            </a:r>
            <a:r>
              <a:rPr sz="3200" spc="165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values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into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	finite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set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144" y="3558616"/>
            <a:ext cx="772985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804670" algn="l"/>
                <a:tab pos="1868805" algn="l"/>
                <a:tab pos="3408679" algn="l"/>
                <a:tab pos="4422140" algn="l"/>
                <a:tab pos="6327140" algn="l"/>
              </a:tabLst>
            </a:pPr>
            <a:r>
              <a:rPr sz="3200" spc="-10" dirty="0">
                <a:latin typeface="Calibri"/>
                <a:cs typeface="Calibri"/>
              </a:rPr>
              <a:t>intervals,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10" dirty="0">
                <a:latin typeface="Calibri"/>
                <a:cs typeface="Calibri"/>
              </a:rPr>
              <a:t>discretization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simplifies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complex </a:t>
            </a:r>
            <a:r>
              <a:rPr sz="3200" spc="-10" dirty="0">
                <a:latin typeface="Calibri"/>
                <a:cs typeface="Calibri"/>
              </a:rPr>
              <a:t>datasets,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reduces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noise,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4504" y="4046601"/>
            <a:ext cx="30435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1069" algn="l"/>
                <a:tab pos="2298700" algn="l"/>
              </a:tabLst>
            </a:pP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makes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05096" y="4534280"/>
            <a:ext cx="17862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latin typeface="Calibri"/>
                <a:cs typeface="Calibri"/>
              </a:rPr>
              <a:t>algorithms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9144" y="4534280"/>
            <a:ext cx="350774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234565" algn="l"/>
                <a:tab pos="2359660" algn="l"/>
              </a:tabLst>
            </a:pPr>
            <a:r>
              <a:rPr sz="3200" spc="-10" dirty="0">
                <a:latin typeface="Calibri"/>
                <a:cs typeface="Calibri"/>
              </a:rPr>
              <a:t>compatible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with </a:t>
            </a:r>
            <a:r>
              <a:rPr sz="3200" spc="-10" dirty="0">
                <a:latin typeface="Calibri"/>
                <a:cs typeface="Calibri"/>
              </a:rPr>
              <a:t>categorical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10" dirty="0">
                <a:latin typeface="Calibri"/>
                <a:cs typeface="Calibri"/>
              </a:rPr>
              <a:t>inputs,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19853" y="4534280"/>
            <a:ext cx="3691254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16050">
              <a:lnSpc>
                <a:spcPct val="100000"/>
              </a:lnSpc>
              <a:spcBef>
                <a:spcPts val="100"/>
              </a:spcBef>
              <a:tabLst>
                <a:tab pos="1332230" algn="l"/>
                <a:tab pos="2246630" algn="l"/>
                <a:tab pos="2477135" algn="l"/>
              </a:tabLst>
            </a:pPr>
            <a:r>
              <a:rPr sz="3200" spc="-20" dirty="0">
                <a:latin typeface="Calibri"/>
                <a:cs typeface="Calibri"/>
              </a:rPr>
              <a:t>that</a:t>
            </a:r>
            <a:r>
              <a:rPr sz="3200" dirty="0">
                <a:latin typeface="Calibri"/>
                <a:cs typeface="Calibri"/>
              </a:rPr>
              <a:t>		</a:t>
            </a:r>
            <a:r>
              <a:rPr sz="3200" spc="-20" dirty="0">
                <a:latin typeface="Calibri"/>
                <a:cs typeface="Calibri"/>
              </a:rPr>
              <a:t>require such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b="1" spc="-10" dirty="0">
                <a:latin typeface="Calibri"/>
                <a:cs typeface="Calibri"/>
              </a:rPr>
              <a:t>Decision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144" y="5509971"/>
            <a:ext cx="37566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latin typeface="Calibri"/>
                <a:cs typeface="Calibri"/>
              </a:rPr>
              <a:t>Trees</a:t>
            </a:r>
            <a:r>
              <a:rPr sz="3200" b="1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Naïve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Bayes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57122" y="-113030"/>
            <a:ext cx="683260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Case</a:t>
            </a:r>
            <a:r>
              <a:rPr sz="4000" spc="-135" dirty="0"/>
              <a:t> </a:t>
            </a:r>
            <a:r>
              <a:rPr sz="4000" dirty="0"/>
              <a:t>Study</a:t>
            </a:r>
            <a:r>
              <a:rPr sz="4000" spc="-114" dirty="0"/>
              <a:t> </a:t>
            </a:r>
            <a:r>
              <a:rPr sz="4000" dirty="0"/>
              <a:t>Data</a:t>
            </a:r>
            <a:r>
              <a:rPr sz="4000" spc="-135" dirty="0"/>
              <a:t> </a:t>
            </a:r>
            <a:r>
              <a:rPr sz="4000" spc="-10" dirty="0"/>
              <a:t>Preprocessing</a:t>
            </a:r>
            <a:r>
              <a:rPr sz="4000" spc="-114" dirty="0"/>
              <a:t> </a:t>
            </a:r>
            <a:r>
              <a:rPr sz="4000" spc="-35" dirty="0"/>
              <a:t>in </a:t>
            </a:r>
            <a:r>
              <a:rPr sz="4000" dirty="0"/>
              <a:t>Credit</a:t>
            </a:r>
            <a:r>
              <a:rPr sz="4000" spc="-135" dirty="0"/>
              <a:t> </a:t>
            </a:r>
            <a:r>
              <a:rPr sz="4000" dirty="0"/>
              <a:t>Card</a:t>
            </a:r>
            <a:r>
              <a:rPr sz="4000" spc="-130" dirty="0"/>
              <a:t> </a:t>
            </a:r>
            <a:r>
              <a:rPr sz="4000" dirty="0"/>
              <a:t>Consuming</a:t>
            </a:r>
            <a:r>
              <a:rPr sz="4000" spc="-120" dirty="0"/>
              <a:t> </a:t>
            </a:r>
            <a:r>
              <a:rPr sz="4000" spc="-10" dirty="0"/>
              <a:t>Behavior Mining</a:t>
            </a:r>
            <a:endParaRPr sz="4000"/>
          </a:p>
        </p:txBody>
      </p:sp>
      <p:pic>
        <p:nvPicPr>
          <p:cNvPr id="3" name="object 3" descr="https://mdpi-res.com/electronics/electronics-11-04003/article_deploy/html/images/electronics-11-04003-g001-550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126488"/>
            <a:ext cx="8153400" cy="32909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1281</Words>
  <Application>Microsoft Office PowerPoint</Application>
  <PresentationFormat>On-screen Show (4:3)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 MT</vt:lpstr>
      <vt:lpstr>Calibri</vt:lpstr>
      <vt:lpstr>Office Theme</vt:lpstr>
      <vt:lpstr>Data Collection and Data Pre-Processing</vt:lpstr>
      <vt:lpstr>Data Collection Strategies</vt:lpstr>
      <vt:lpstr>PowerPoint Presentation</vt:lpstr>
      <vt:lpstr>Data Pre-Processing Overview</vt:lpstr>
      <vt:lpstr>Data Pre-Processing Overview</vt:lpstr>
      <vt:lpstr>Data Cleaning</vt:lpstr>
      <vt:lpstr>PowerPoint Presentation</vt:lpstr>
      <vt:lpstr>Data Integration and Transformation</vt:lpstr>
      <vt:lpstr>PowerPoint Presentation</vt:lpstr>
      <vt:lpstr>Data Reduction</vt:lpstr>
      <vt:lpstr>Data Discretization</vt:lpstr>
      <vt:lpstr>Case Study Data Preprocessing in Credit Card Consuming Behavior Mining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Collection and Data Pre- Processing </dc:title>
  <dc:creator>Admin</dc:creator>
  <cp:lastModifiedBy>Bosubabu Sambana</cp:lastModifiedBy>
  <cp:revision>1</cp:revision>
  <dcterms:created xsi:type="dcterms:W3CDTF">2026-07-23T18:13:18Z</dcterms:created>
  <dcterms:modified xsi:type="dcterms:W3CDTF">2026-07-23T18:16:31Z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2026-01-28T00:00:00Z</vt:filetime>
  </property>
  <property fmtid="{D5CDD505-2E9C-101B-9397-08002B2CF9AE}" pid="4" name="Creator">
    <vt:lpwstr>Microsoft® PowerPoint® 2010</vt:lpwstr>
  </property>
  <property fmtid="{D5CDD505-2E9C-101B-9397-08002B2CF9AE}" pid="5" name="LastSaved">
    <vt:filetime>2026-07-23T00:00:00Z</vt:filetime>
  </property>
  <property fmtid="{D5CDD505-2E9C-101B-9397-08002B2CF9AE}" pid="6" name="Producer">
    <vt:lpwstr>Microsoft® PowerPoint® 2010</vt:lpwstr>
  </property>
</Properties>
</file>