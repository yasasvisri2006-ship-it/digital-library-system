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82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0F24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F24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F24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F24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25" y="-172885"/>
            <a:ext cx="11463281" cy="17753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0F24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062" y="1243289"/>
            <a:ext cx="5734050" cy="2179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7" Type="http://schemas.openxmlformats.org/officeDocument/2006/relationships/image" Target="../media/image41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30773" y="2609117"/>
            <a:ext cx="499300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FFFFFF"/>
                </a:solidFill>
              </a:rPr>
              <a:t>Exploratory </a:t>
            </a:r>
            <a:r>
              <a:rPr sz="6000" dirty="0">
                <a:solidFill>
                  <a:srgbClr val="FFFFFF"/>
                </a:solidFill>
              </a:rPr>
              <a:t>Data</a:t>
            </a:r>
            <a:r>
              <a:rPr sz="6000" spc="-38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Analysis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18051" y="455534"/>
              <a:ext cx="5636895" cy="6271260"/>
            </a:xfrm>
            <a:custGeom>
              <a:avLst/>
              <a:gdLst/>
              <a:ahLst/>
              <a:cxnLst/>
              <a:rect l="l" t="t" r="r" b="b"/>
              <a:pathLst>
                <a:path w="5636895" h="6271259">
                  <a:moveTo>
                    <a:pt x="5564047" y="6270778"/>
                  </a:moveTo>
                  <a:lnTo>
                    <a:pt x="72485" y="6270778"/>
                  </a:lnTo>
                  <a:lnTo>
                    <a:pt x="44271" y="6265081"/>
                  </a:lnTo>
                  <a:lnTo>
                    <a:pt x="21230" y="6249547"/>
                  </a:lnTo>
                  <a:lnTo>
                    <a:pt x="5696" y="6226507"/>
                  </a:lnTo>
                  <a:lnTo>
                    <a:pt x="0" y="6198292"/>
                  </a:lnTo>
                  <a:lnTo>
                    <a:pt x="0" y="72485"/>
                  </a:lnTo>
                  <a:lnTo>
                    <a:pt x="5696" y="44271"/>
                  </a:lnTo>
                  <a:lnTo>
                    <a:pt x="21230" y="21230"/>
                  </a:lnTo>
                  <a:lnTo>
                    <a:pt x="44271" y="5696"/>
                  </a:lnTo>
                  <a:lnTo>
                    <a:pt x="72485" y="0"/>
                  </a:lnTo>
                  <a:lnTo>
                    <a:pt x="5564047" y="0"/>
                  </a:lnTo>
                  <a:lnTo>
                    <a:pt x="5604263" y="12178"/>
                  </a:lnTo>
                  <a:lnTo>
                    <a:pt x="5631016" y="44746"/>
                  </a:lnTo>
                  <a:lnTo>
                    <a:pt x="5636533" y="72485"/>
                  </a:lnTo>
                  <a:lnTo>
                    <a:pt x="5636533" y="6198292"/>
                  </a:lnTo>
                  <a:lnTo>
                    <a:pt x="5630837" y="6226507"/>
                  </a:lnTo>
                  <a:lnTo>
                    <a:pt x="5615303" y="6249547"/>
                  </a:lnTo>
                  <a:lnTo>
                    <a:pt x="5592262" y="6265081"/>
                  </a:lnTo>
                  <a:lnTo>
                    <a:pt x="5564047" y="6270778"/>
                  </a:lnTo>
                  <a:close/>
                </a:path>
              </a:pathLst>
            </a:custGeom>
            <a:solidFill>
              <a:srgbClr val="0B6373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154369" y="3522811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4369" y="4661803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7830" y="1444461"/>
            <a:ext cx="488315" cy="2205990"/>
          </a:xfrm>
          <a:prstGeom prst="rect">
            <a:avLst/>
          </a:prstGeom>
        </p:spPr>
        <p:txBody>
          <a:bodyPr vert="horz" wrap="square" lIns="0" tIns="259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32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935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32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77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08580" y="4097425"/>
            <a:ext cx="477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467527" y="570808"/>
            <a:ext cx="25400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74449" y="1786337"/>
            <a:ext cx="31864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What</a:t>
            </a:r>
            <a:r>
              <a:rPr sz="1600" spc="-2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is</a:t>
            </a:r>
            <a:r>
              <a:rPr sz="1600" spc="-2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Exploratory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Data</a:t>
            </a:r>
            <a:r>
              <a:rPr sz="1600" spc="-10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Analysis?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54369" y="2383819"/>
            <a:ext cx="2233295" cy="40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5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32715">
              <a:lnSpc>
                <a:spcPts val="1730"/>
              </a:lnSpc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Why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EDA</a:t>
            </a:r>
            <a:r>
              <a:rPr sz="1600" spc="-10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is</a:t>
            </a:r>
            <a:r>
              <a:rPr sz="1600" spc="-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important?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74449" y="3249376"/>
            <a:ext cx="379285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Visualisation</a:t>
            </a:r>
            <a:endParaRPr sz="1600">
              <a:latin typeface="Arial"/>
              <a:cs typeface="Arial"/>
            </a:endParaRPr>
          </a:p>
          <a:p>
            <a:pPr marL="811530" indent="-312420">
              <a:lnSpc>
                <a:spcPct val="100000"/>
              </a:lnSpc>
              <a:buFont typeface="Noto Sans Symbols"/>
              <a:buChar char="▪"/>
              <a:tabLst>
                <a:tab pos="811530" algn="l"/>
              </a:tabLst>
            </a:pP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Important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Charts</a:t>
            </a:r>
            <a:r>
              <a:rPr sz="1600" spc="-1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for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visualisation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74449" y="4224736"/>
            <a:ext cx="21710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Steps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Involved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in</a:t>
            </a:r>
            <a:r>
              <a:rPr sz="1600" spc="-1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EDA:-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61334" y="4468576"/>
            <a:ext cx="15690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00"/>
              </a:spcBef>
              <a:buFont typeface="Noto Sans Symbols"/>
              <a:buChar char="▪"/>
              <a:tabLst>
                <a:tab pos="268605" algn="l"/>
              </a:tabLst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Data</a:t>
            </a:r>
            <a:r>
              <a:rPr sz="16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Sourcing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61334" y="4712417"/>
            <a:ext cx="362331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indent="-311785">
              <a:lnSpc>
                <a:spcPct val="100000"/>
              </a:lnSpc>
              <a:spcBef>
                <a:spcPts val="100"/>
              </a:spcBef>
              <a:buFont typeface="Noto Sans Symbols"/>
              <a:buChar char="▪"/>
              <a:tabLst>
                <a:tab pos="324485" algn="l"/>
              </a:tabLst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Data</a:t>
            </a:r>
            <a:r>
              <a:rPr sz="16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Cleaning</a:t>
            </a:r>
            <a:endParaRPr sz="1600">
              <a:latin typeface="Arial"/>
              <a:cs typeface="Arial"/>
            </a:endParaRPr>
          </a:p>
          <a:p>
            <a:pPr marL="324485" indent="-311785">
              <a:lnSpc>
                <a:spcPct val="100000"/>
              </a:lnSpc>
              <a:buFont typeface="Noto Sans Symbols"/>
              <a:buChar char="▪"/>
              <a:tabLst>
                <a:tab pos="324485" algn="l"/>
              </a:tabLst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Univariate</a:t>
            </a:r>
            <a:r>
              <a:rPr sz="1600" spc="-3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analysis</a:t>
            </a:r>
            <a:r>
              <a:rPr sz="1600" spc="-2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with</a:t>
            </a:r>
            <a:r>
              <a:rPr sz="1600" spc="-2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visualisation</a:t>
            </a:r>
            <a:endParaRPr sz="1600">
              <a:latin typeface="Arial"/>
              <a:cs typeface="Arial"/>
            </a:endParaRPr>
          </a:p>
          <a:p>
            <a:pPr marL="381000" indent="-368300">
              <a:lnSpc>
                <a:spcPct val="100000"/>
              </a:lnSpc>
              <a:buFont typeface="Noto Sans Symbols"/>
              <a:buChar char="▪"/>
              <a:tabLst>
                <a:tab pos="381000" algn="l"/>
              </a:tabLst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Bivariate</a:t>
            </a:r>
            <a:r>
              <a:rPr sz="1600" spc="-3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analysis</a:t>
            </a:r>
            <a:r>
              <a:rPr sz="1600" spc="-2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with</a:t>
            </a:r>
            <a:r>
              <a:rPr sz="16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visualisation</a:t>
            </a:r>
            <a:endParaRPr sz="1600">
              <a:latin typeface="Arial"/>
              <a:cs typeface="Arial"/>
            </a:endParaRPr>
          </a:p>
          <a:p>
            <a:pPr marL="437515" indent="-424815">
              <a:lnSpc>
                <a:spcPct val="100000"/>
              </a:lnSpc>
              <a:buFont typeface="Noto Sans Symbols"/>
              <a:buChar char="▪"/>
              <a:tabLst>
                <a:tab pos="437515" algn="l"/>
              </a:tabLst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Derived</a:t>
            </a:r>
            <a:r>
              <a:rPr sz="1600" spc="-3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metrics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74449" y="5931617"/>
            <a:ext cx="11207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DFDFD"/>
                </a:solidFill>
                <a:latin typeface="Arial"/>
                <a:cs typeface="Arial"/>
              </a:rPr>
              <a:t>Uses</a:t>
            </a:r>
            <a:r>
              <a:rPr sz="1600" spc="-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DFDFD"/>
                </a:solidFill>
                <a:latin typeface="Arial"/>
                <a:cs typeface="Arial"/>
              </a:rPr>
              <a:t>Cases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2084" y="5810242"/>
            <a:ext cx="477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1920627"/>
            <a:ext cx="3143250" cy="4937760"/>
            <a:chOff x="0" y="1920627"/>
            <a:chExt cx="3143250" cy="49377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073" y="1920627"/>
              <a:ext cx="1950624" cy="13311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2873" y="1933327"/>
              <a:ext cx="1849023" cy="122953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528359"/>
              <a:ext cx="1849027" cy="3296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7175" y="218636"/>
              <a:ext cx="11677650" cy="6367780"/>
            </a:xfrm>
            <a:custGeom>
              <a:avLst/>
              <a:gdLst/>
              <a:ahLst/>
              <a:cxnLst/>
              <a:rect l="l" t="t" r="r" b="b"/>
              <a:pathLst>
                <a:path w="11677650" h="6367780">
                  <a:moveTo>
                    <a:pt x="11601049" y="6367461"/>
                  </a:moveTo>
                  <a:lnTo>
                    <a:pt x="76600" y="6367461"/>
                  </a:lnTo>
                  <a:lnTo>
                    <a:pt x="46784" y="6361441"/>
                  </a:lnTo>
                  <a:lnTo>
                    <a:pt x="22435" y="6345025"/>
                  </a:lnTo>
                  <a:lnTo>
                    <a:pt x="6019" y="6320677"/>
                  </a:lnTo>
                  <a:lnTo>
                    <a:pt x="0" y="6290861"/>
                  </a:lnTo>
                  <a:lnTo>
                    <a:pt x="0" y="76600"/>
                  </a:lnTo>
                  <a:lnTo>
                    <a:pt x="6019" y="46784"/>
                  </a:lnTo>
                  <a:lnTo>
                    <a:pt x="22435" y="22435"/>
                  </a:lnTo>
                  <a:lnTo>
                    <a:pt x="46784" y="6019"/>
                  </a:lnTo>
                  <a:lnTo>
                    <a:pt x="76600" y="0"/>
                  </a:lnTo>
                  <a:lnTo>
                    <a:pt x="11601049" y="0"/>
                  </a:lnTo>
                  <a:lnTo>
                    <a:pt x="11643547" y="12869"/>
                  </a:lnTo>
                  <a:lnTo>
                    <a:pt x="11671819" y="47286"/>
                  </a:lnTo>
                  <a:lnTo>
                    <a:pt x="11677649" y="76600"/>
                  </a:lnTo>
                  <a:lnTo>
                    <a:pt x="11677649" y="6290861"/>
                  </a:lnTo>
                  <a:lnTo>
                    <a:pt x="11671630" y="6320677"/>
                  </a:lnTo>
                  <a:lnTo>
                    <a:pt x="11655214" y="6345025"/>
                  </a:lnTo>
                  <a:lnTo>
                    <a:pt x="11630865" y="6361441"/>
                  </a:lnTo>
                  <a:lnTo>
                    <a:pt x="11601049" y="6367461"/>
                  </a:lnTo>
                  <a:close/>
                </a:path>
              </a:pathLst>
            </a:custGeom>
            <a:solidFill>
              <a:srgbClr val="C0781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9406" y="998856"/>
              <a:ext cx="8611339" cy="517995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0149" rIns="0" bIns="0" rtlCol="0">
            <a:spAutoFit/>
          </a:bodyPr>
          <a:lstStyle/>
          <a:p>
            <a:pPr marL="314642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5E3F4"/>
                </a:solidFill>
              </a:rPr>
              <a:t>Data</a:t>
            </a:r>
            <a:r>
              <a:rPr sz="3600" spc="-30" dirty="0">
                <a:solidFill>
                  <a:srgbClr val="C5E3F4"/>
                </a:solidFill>
              </a:rPr>
              <a:t> </a:t>
            </a:r>
            <a:r>
              <a:rPr sz="3600" dirty="0">
                <a:solidFill>
                  <a:srgbClr val="C5E3F4"/>
                </a:solidFill>
              </a:rPr>
              <a:t>Science</a:t>
            </a:r>
            <a:r>
              <a:rPr sz="3600" spc="-25" dirty="0">
                <a:solidFill>
                  <a:srgbClr val="C5E3F4"/>
                </a:solidFill>
              </a:rPr>
              <a:t> </a:t>
            </a:r>
            <a:r>
              <a:rPr sz="3600" spc="-10" dirty="0">
                <a:solidFill>
                  <a:srgbClr val="C5E3F4"/>
                </a:solidFill>
              </a:rPr>
              <a:t>Process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28358"/>
            <a:ext cx="1849027" cy="329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4025" y="454910"/>
            <a:ext cx="4902835" cy="5973445"/>
            <a:chOff x="464025" y="454910"/>
            <a:chExt cx="4902835" cy="5973445"/>
          </a:xfrm>
        </p:grpSpPr>
        <p:sp>
          <p:nvSpPr>
            <p:cNvPr id="3" name="object 3"/>
            <p:cNvSpPr/>
            <p:nvPr/>
          </p:nvSpPr>
          <p:spPr>
            <a:xfrm>
              <a:off x="486250" y="477135"/>
              <a:ext cx="4880610" cy="0"/>
            </a:xfrm>
            <a:custGeom>
              <a:avLst/>
              <a:gdLst/>
              <a:ahLst/>
              <a:cxnLst/>
              <a:rect l="l" t="t" r="r" b="b"/>
              <a:pathLst>
                <a:path w="4880610">
                  <a:moveTo>
                    <a:pt x="0" y="0"/>
                  </a:moveTo>
                  <a:lnTo>
                    <a:pt x="4880089" y="0"/>
                  </a:lnTo>
                </a:path>
              </a:pathLst>
            </a:custGeom>
            <a:ln w="44449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6250" y="477065"/>
              <a:ext cx="0" cy="5935345"/>
            </a:xfrm>
            <a:custGeom>
              <a:avLst/>
              <a:gdLst/>
              <a:ahLst/>
              <a:cxnLst/>
              <a:rect l="l" t="t" r="r" b="b"/>
              <a:pathLst>
                <a:path h="5935345">
                  <a:moveTo>
                    <a:pt x="0" y="5935199"/>
                  </a:moveTo>
                  <a:lnTo>
                    <a:pt x="0" y="0"/>
                  </a:lnTo>
                </a:path>
              </a:pathLst>
            </a:custGeom>
            <a:ln w="44449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4025" y="6399450"/>
              <a:ext cx="4902835" cy="0"/>
            </a:xfrm>
            <a:custGeom>
              <a:avLst/>
              <a:gdLst/>
              <a:ahLst/>
              <a:cxnLst/>
              <a:rect l="l" t="t" r="r" b="b"/>
              <a:pathLst>
                <a:path w="4902835">
                  <a:moveTo>
                    <a:pt x="0" y="0"/>
                  </a:moveTo>
                  <a:lnTo>
                    <a:pt x="4902314" y="0"/>
                  </a:lnTo>
                </a:path>
              </a:pathLst>
            </a:custGeom>
            <a:ln w="57649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366339" y="0"/>
            <a:ext cx="6846570" cy="6858000"/>
            <a:chOff x="5366339" y="0"/>
            <a:chExt cx="6846570" cy="6858000"/>
          </a:xfrm>
        </p:grpSpPr>
        <p:sp>
          <p:nvSpPr>
            <p:cNvPr id="7" name="object 7"/>
            <p:cNvSpPr/>
            <p:nvPr/>
          </p:nvSpPr>
          <p:spPr>
            <a:xfrm>
              <a:off x="12202337" y="6370625"/>
              <a:ext cx="0" cy="57785"/>
            </a:xfrm>
            <a:custGeom>
              <a:avLst/>
              <a:gdLst/>
              <a:ahLst/>
              <a:cxnLst/>
              <a:rect l="l" t="t" r="r" b="b"/>
              <a:pathLst>
                <a:path h="57785">
                  <a:moveTo>
                    <a:pt x="0" y="0"/>
                  </a:moveTo>
                  <a:lnTo>
                    <a:pt x="0" y="57649"/>
                  </a:lnTo>
                </a:path>
              </a:pathLst>
            </a:custGeom>
            <a:ln w="20675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6339" y="0"/>
              <a:ext cx="6825660" cy="68580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84824" y="700494"/>
            <a:ext cx="39998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Exploratory </a:t>
            </a:r>
            <a:r>
              <a:rPr sz="4800" dirty="0"/>
              <a:t>Data</a:t>
            </a:r>
            <a:r>
              <a:rPr sz="4800" spc="-305" dirty="0"/>
              <a:t> </a:t>
            </a:r>
            <a:r>
              <a:rPr sz="4800" spc="-10" dirty="0"/>
              <a:t>Analysis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1159924" y="2983525"/>
            <a:ext cx="393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9092" y="2624312"/>
            <a:ext cx="37953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170" marR="5080" indent="-344805">
              <a:lnSpc>
                <a:spcPct val="100000"/>
              </a:lnSpc>
              <a:spcBef>
                <a:spcPts val="100"/>
              </a:spcBef>
              <a:buFont typeface="Noto Sans Symbols"/>
              <a:buChar char="❑"/>
              <a:tabLst>
                <a:tab pos="344170" algn="l"/>
              </a:tabLst>
            </a:pP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Exploratory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400" spc="-9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Analysis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an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approach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analyse</a:t>
            </a:r>
            <a:r>
              <a:rPr sz="14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datasets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summarize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their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main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characteristics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form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400" spc="37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visual methods.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6392" y="3691112"/>
            <a:ext cx="37585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Font typeface="Noto Sans Symbols"/>
              <a:buChar char="❑"/>
              <a:tabLst>
                <a:tab pos="356870" algn="l"/>
              </a:tabLst>
            </a:pP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EDA</a:t>
            </a:r>
            <a:r>
              <a:rPr sz="1400" spc="-8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nothing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but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an</a:t>
            </a:r>
            <a:r>
              <a:rPr sz="1400" spc="36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exploration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technique</a:t>
            </a:r>
            <a:r>
              <a:rPr sz="14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understand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various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aspects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6392" y="4544551"/>
            <a:ext cx="38855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Font typeface="Noto Sans Symbols"/>
              <a:buChar char="❑"/>
              <a:tabLst>
                <a:tab pos="356870" algn="l"/>
              </a:tabLst>
            </a:pP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main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aim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EDA</a:t>
            </a:r>
            <a:r>
              <a:rPr sz="1400" spc="-8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obtain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confidence 	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an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extent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where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we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are</a:t>
            </a:r>
            <a:r>
              <a:rPr sz="1400" spc="36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ready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to 	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engage</a:t>
            </a:r>
            <a:r>
              <a:rPr sz="14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machine</a:t>
            </a:r>
            <a:r>
              <a:rPr sz="14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learning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model.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65311" y="1135869"/>
            <a:ext cx="391604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sz="480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Arial Black"/>
                <a:cs typeface="Arial Black"/>
              </a:rPr>
              <a:t>is </a:t>
            </a:r>
            <a:r>
              <a:rPr sz="4800" spc="-10" dirty="0">
                <a:solidFill>
                  <a:srgbClr val="FFFFFF"/>
                </a:solidFill>
                <a:latin typeface="Arial Black"/>
                <a:cs typeface="Arial Black"/>
              </a:rPr>
              <a:t>Exploratory </a:t>
            </a:r>
            <a:r>
              <a:rPr sz="4800" spc="-20" dirty="0">
                <a:solidFill>
                  <a:srgbClr val="FFFFFF"/>
                </a:solidFill>
                <a:latin typeface="Arial Black"/>
                <a:cs typeface="Arial Black"/>
              </a:rPr>
              <a:t>Data </a:t>
            </a:r>
            <a:r>
              <a:rPr sz="4800" spc="-10" dirty="0">
                <a:solidFill>
                  <a:srgbClr val="FFFFFF"/>
                </a:solidFill>
                <a:latin typeface="Arial Black"/>
                <a:cs typeface="Arial Black"/>
              </a:rPr>
              <a:t>Analysis?</a:t>
            </a:r>
            <a:endParaRPr sz="4800">
              <a:latin typeface="Arial Black"/>
              <a:cs typeface="Arial Black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28358"/>
            <a:ext cx="1849027" cy="329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3237" y="547605"/>
            <a:ext cx="311404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65"/>
              </a:lnSpc>
            </a:pPr>
            <a:r>
              <a:rPr sz="4400" b="1" dirty="0">
                <a:solidFill>
                  <a:srgbClr val="0C3148"/>
                </a:solidFill>
                <a:latin typeface="Arial"/>
                <a:cs typeface="Arial"/>
              </a:rPr>
              <a:t>Why</a:t>
            </a:r>
            <a:r>
              <a:rPr sz="4400" b="1" spc="-20" dirty="0">
                <a:solidFill>
                  <a:srgbClr val="0C3148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0C3148"/>
                </a:solidFill>
                <a:latin typeface="Arial"/>
                <a:cs typeface="Arial"/>
              </a:rPr>
              <a:t>EDA</a:t>
            </a:r>
            <a:r>
              <a:rPr sz="4400" b="1" spc="-175" dirty="0">
                <a:solidFill>
                  <a:srgbClr val="0C3148"/>
                </a:solidFill>
                <a:latin typeface="Arial"/>
                <a:cs typeface="Arial"/>
              </a:rPr>
              <a:t> </a:t>
            </a:r>
            <a:r>
              <a:rPr sz="4400" b="1" spc="-25" dirty="0">
                <a:solidFill>
                  <a:srgbClr val="0C3148"/>
                </a:solidFill>
                <a:latin typeface="Arial"/>
                <a:cs typeface="Arial"/>
              </a:rPr>
              <a:t>is</a:t>
            </a:r>
            <a:endParaRPr sz="4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400" b="1" spc="-10" dirty="0">
                <a:solidFill>
                  <a:srgbClr val="0C3148"/>
                </a:solidFill>
                <a:latin typeface="Arial"/>
                <a:cs typeface="Arial"/>
              </a:rPr>
              <a:t>Important?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514" y="0"/>
            <a:ext cx="7964488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1837" y="878956"/>
            <a:ext cx="3737610" cy="471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0370" marR="165735" indent="-408305">
              <a:lnSpc>
                <a:spcPct val="100000"/>
              </a:lnSpc>
              <a:spcBef>
                <a:spcPts val="100"/>
              </a:spcBef>
              <a:buFont typeface="Noto Sans Symbols"/>
              <a:buChar char="❖"/>
              <a:tabLst>
                <a:tab pos="420370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EDA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important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analyse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it’s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a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first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steps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process.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C0C0C"/>
              </a:buClr>
              <a:buFont typeface="Noto Sans Symbols"/>
              <a:buChar char="❖"/>
            </a:pPr>
            <a:endParaRPr sz="1400">
              <a:latin typeface="Cambria"/>
              <a:cs typeface="Cambria"/>
            </a:endParaRPr>
          </a:p>
          <a:p>
            <a:pPr marL="361950" marR="5080" indent="-349885" algn="just">
              <a:lnSpc>
                <a:spcPct val="100000"/>
              </a:lnSpc>
              <a:buFont typeface="Noto Sans Symbols"/>
              <a:buChar char="❖"/>
              <a:tabLst>
                <a:tab pos="363220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EDA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give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basic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idea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understand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make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sense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figure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question</a:t>
            </a:r>
            <a:r>
              <a:rPr sz="1400" spc="2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you</a:t>
            </a:r>
            <a:r>
              <a:rPr sz="1400" spc="20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need</a:t>
            </a:r>
            <a:r>
              <a:rPr sz="1400" spc="2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20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ask</a:t>
            </a:r>
            <a:r>
              <a:rPr sz="1400" spc="2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20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find</a:t>
            </a:r>
            <a:r>
              <a:rPr sz="1400" spc="2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</a:t>
            </a:r>
            <a:r>
              <a:rPr sz="1400" spc="20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best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way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manipulate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get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answer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your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question.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C0C0C"/>
              </a:buClr>
              <a:buFont typeface="Noto Sans Symbols"/>
              <a:buChar char="❖"/>
            </a:pPr>
            <a:endParaRPr sz="1400">
              <a:latin typeface="Cambria"/>
              <a:cs typeface="Cambria"/>
            </a:endParaRPr>
          </a:p>
          <a:p>
            <a:pPr marL="361950" marR="8255" indent="-349885" algn="just">
              <a:lnSpc>
                <a:spcPct val="100000"/>
              </a:lnSpc>
              <a:buFont typeface="Noto Sans Symbols"/>
              <a:buChar char="❖"/>
              <a:tabLst>
                <a:tab pos="363220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Exploratory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help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finding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errors,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discovering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data,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mapping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out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structure,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finding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anomalies.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C0C0C"/>
              </a:buClr>
              <a:buFont typeface="Noto Sans Symbols"/>
              <a:buChar char="❖"/>
            </a:pPr>
            <a:endParaRPr sz="1400">
              <a:latin typeface="Cambria"/>
              <a:cs typeface="Cambria"/>
            </a:endParaRPr>
          </a:p>
          <a:p>
            <a:pPr marL="361950" marR="10160" indent="-349885" algn="just">
              <a:lnSpc>
                <a:spcPct val="100000"/>
              </a:lnSpc>
              <a:buFont typeface="Noto Sans Symbols"/>
              <a:buChar char="❖"/>
              <a:tabLst>
                <a:tab pos="363220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Exploratory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important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for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business</a:t>
            </a:r>
            <a:r>
              <a:rPr sz="1400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process</a:t>
            </a:r>
            <a:r>
              <a:rPr sz="1400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because</a:t>
            </a:r>
            <a:r>
              <a:rPr sz="14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400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preparing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400" spc="1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400" spc="1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deep</a:t>
            </a:r>
            <a:r>
              <a:rPr sz="1400" spc="1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through</a:t>
            </a:r>
            <a:r>
              <a:rPr sz="1400" spc="1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400" spc="1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1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will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detect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you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business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problem.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C0C0C"/>
              </a:buClr>
              <a:buFont typeface="Noto Sans Symbols"/>
              <a:buChar char="❖"/>
            </a:pPr>
            <a:endParaRPr sz="1400">
              <a:latin typeface="Cambria"/>
              <a:cs typeface="Cambria"/>
            </a:endParaRPr>
          </a:p>
          <a:p>
            <a:pPr marL="361950" marR="5080" indent="-349885" algn="just">
              <a:lnSpc>
                <a:spcPct val="100000"/>
              </a:lnSpc>
              <a:spcBef>
                <a:spcPts val="5"/>
              </a:spcBef>
              <a:buFont typeface="Noto Sans Symbols"/>
              <a:buChar char="❖"/>
              <a:tabLst>
                <a:tab pos="363220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EDA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help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build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quick</a:t>
            </a:r>
            <a:r>
              <a:rPr sz="1400" spc="1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dirty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model,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baseline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model,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serve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400" spc="2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a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comparison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against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later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models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you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will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build.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528358"/>
            <a:ext cx="1849027" cy="329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1257" y="312876"/>
            <a:ext cx="7324090" cy="724535"/>
          </a:xfrm>
          <a:custGeom>
            <a:avLst/>
            <a:gdLst/>
            <a:ahLst/>
            <a:cxnLst/>
            <a:rect l="l" t="t" r="r" b="b"/>
            <a:pathLst>
              <a:path w="7324090" h="724535">
                <a:moveTo>
                  <a:pt x="7324077" y="724246"/>
                </a:moveTo>
                <a:lnTo>
                  <a:pt x="0" y="724246"/>
                </a:lnTo>
                <a:lnTo>
                  <a:pt x="0" y="0"/>
                </a:lnTo>
                <a:lnTo>
                  <a:pt x="7324077" y="0"/>
                </a:lnTo>
                <a:lnTo>
                  <a:pt x="7324077" y="724246"/>
                </a:lnTo>
                <a:close/>
              </a:path>
            </a:pathLst>
          </a:custGeom>
          <a:solidFill>
            <a:srgbClr val="DDD9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0882" y="149321"/>
            <a:ext cx="41973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Visualization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39157" y="2145331"/>
            <a:ext cx="10535920" cy="4678680"/>
            <a:chOff x="839157" y="2145331"/>
            <a:chExt cx="10535920" cy="4678680"/>
          </a:xfrm>
        </p:grpSpPr>
        <p:sp>
          <p:nvSpPr>
            <p:cNvPr id="5" name="object 5"/>
            <p:cNvSpPr/>
            <p:nvPr/>
          </p:nvSpPr>
          <p:spPr>
            <a:xfrm>
              <a:off x="6155059" y="2294427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4" h="684530">
                  <a:moveTo>
                    <a:pt x="5219999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19999" y="0"/>
                  </a:lnTo>
                  <a:lnTo>
                    <a:pt x="5219999" y="683999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9157" y="2978284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5" h="684529">
                  <a:moveTo>
                    <a:pt x="5220000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20000" y="0"/>
                  </a:lnTo>
                  <a:lnTo>
                    <a:pt x="5220000" y="683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79097" y="3619552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4" h="684529">
                  <a:moveTo>
                    <a:pt x="5220000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20000" y="0"/>
                  </a:lnTo>
                  <a:lnTo>
                    <a:pt x="5220000" y="683999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157" y="4347953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5" h="684529">
                  <a:moveTo>
                    <a:pt x="5220000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20000" y="0"/>
                  </a:lnTo>
                  <a:lnTo>
                    <a:pt x="5220000" y="683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1626" y="2145331"/>
              <a:ext cx="4760127" cy="467831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569790" y="2968540"/>
              <a:ext cx="2691130" cy="688340"/>
            </a:xfrm>
            <a:custGeom>
              <a:avLst/>
              <a:gdLst/>
              <a:ahLst/>
              <a:cxnLst/>
              <a:rect l="l" t="t" r="r" b="b"/>
              <a:pathLst>
                <a:path w="2691129" h="688339">
                  <a:moveTo>
                    <a:pt x="2690886" y="688283"/>
                  </a:moveTo>
                  <a:lnTo>
                    <a:pt x="0" y="688283"/>
                  </a:lnTo>
                  <a:lnTo>
                    <a:pt x="1194" y="634595"/>
                  </a:lnTo>
                  <a:lnTo>
                    <a:pt x="4437" y="581442"/>
                  </a:lnTo>
                  <a:lnTo>
                    <a:pt x="9693" y="528864"/>
                  </a:lnTo>
                  <a:lnTo>
                    <a:pt x="16925" y="476901"/>
                  </a:lnTo>
                  <a:lnTo>
                    <a:pt x="26098" y="425594"/>
                  </a:lnTo>
                  <a:lnTo>
                    <a:pt x="37176" y="374984"/>
                  </a:lnTo>
                  <a:lnTo>
                    <a:pt x="50122" y="325110"/>
                  </a:lnTo>
                  <a:lnTo>
                    <a:pt x="64901" y="276012"/>
                  </a:lnTo>
                  <a:lnTo>
                    <a:pt x="81476" y="227732"/>
                  </a:lnTo>
                  <a:lnTo>
                    <a:pt x="99813" y="180309"/>
                  </a:lnTo>
                  <a:lnTo>
                    <a:pt x="119874" y="133785"/>
                  </a:lnTo>
                  <a:lnTo>
                    <a:pt x="141624" y="88198"/>
                  </a:lnTo>
                  <a:lnTo>
                    <a:pt x="165026" y="43589"/>
                  </a:lnTo>
                  <a:lnTo>
                    <a:pt x="190046" y="0"/>
                  </a:lnTo>
                  <a:lnTo>
                    <a:pt x="2500840" y="0"/>
                  </a:lnTo>
                  <a:lnTo>
                    <a:pt x="2525860" y="43589"/>
                  </a:lnTo>
                  <a:lnTo>
                    <a:pt x="2549262" y="88198"/>
                  </a:lnTo>
                  <a:lnTo>
                    <a:pt x="2571012" y="133785"/>
                  </a:lnTo>
                  <a:lnTo>
                    <a:pt x="2591073" y="180309"/>
                  </a:lnTo>
                  <a:lnTo>
                    <a:pt x="2609410" y="227732"/>
                  </a:lnTo>
                  <a:lnTo>
                    <a:pt x="2625985" y="276012"/>
                  </a:lnTo>
                  <a:lnTo>
                    <a:pt x="2640764" y="325110"/>
                  </a:lnTo>
                  <a:lnTo>
                    <a:pt x="2653710" y="374984"/>
                  </a:lnTo>
                  <a:lnTo>
                    <a:pt x="2664788" y="425594"/>
                  </a:lnTo>
                  <a:lnTo>
                    <a:pt x="2673961" y="476901"/>
                  </a:lnTo>
                  <a:lnTo>
                    <a:pt x="2681193" y="528864"/>
                  </a:lnTo>
                  <a:lnTo>
                    <a:pt x="2686449" y="581442"/>
                  </a:lnTo>
                  <a:lnTo>
                    <a:pt x="2689692" y="634595"/>
                  </a:lnTo>
                  <a:lnTo>
                    <a:pt x="2690886" y="688283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69510" y="3656824"/>
              <a:ext cx="2691765" cy="688340"/>
            </a:xfrm>
            <a:custGeom>
              <a:avLst/>
              <a:gdLst/>
              <a:ahLst/>
              <a:cxnLst/>
              <a:rect l="l" t="t" r="r" b="b"/>
              <a:pathLst>
                <a:path w="2691765" h="688339">
                  <a:moveTo>
                    <a:pt x="2507864" y="688283"/>
                  </a:moveTo>
                  <a:lnTo>
                    <a:pt x="183582" y="688283"/>
                  </a:lnTo>
                  <a:lnTo>
                    <a:pt x="159263" y="644909"/>
                  </a:lnTo>
                  <a:lnTo>
                    <a:pt x="136529" y="600550"/>
                  </a:lnTo>
                  <a:lnTo>
                    <a:pt x="115417" y="555246"/>
                  </a:lnTo>
                  <a:lnTo>
                    <a:pt x="95960" y="509035"/>
                  </a:lnTo>
                  <a:lnTo>
                    <a:pt x="78192" y="461956"/>
                  </a:lnTo>
                  <a:lnTo>
                    <a:pt x="62148" y="414049"/>
                  </a:lnTo>
                  <a:lnTo>
                    <a:pt x="47863" y="365351"/>
                  </a:lnTo>
                  <a:lnTo>
                    <a:pt x="35371" y="315901"/>
                  </a:lnTo>
                  <a:lnTo>
                    <a:pt x="24707" y="265740"/>
                  </a:lnTo>
                  <a:lnTo>
                    <a:pt x="15904" y="214904"/>
                  </a:lnTo>
                  <a:lnTo>
                    <a:pt x="8997" y="163434"/>
                  </a:lnTo>
                  <a:lnTo>
                    <a:pt x="4022" y="111368"/>
                  </a:lnTo>
                  <a:lnTo>
                    <a:pt x="1011" y="58744"/>
                  </a:lnTo>
                  <a:lnTo>
                    <a:pt x="0" y="5602"/>
                  </a:lnTo>
                  <a:lnTo>
                    <a:pt x="280" y="0"/>
                  </a:lnTo>
                  <a:lnTo>
                    <a:pt x="2691167" y="0"/>
                  </a:lnTo>
                  <a:lnTo>
                    <a:pt x="2691442" y="1866"/>
                  </a:lnTo>
                  <a:lnTo>
                    <a:pt x="2691446" y="3734"/>
                  </a:lnTo>
                  <a:lnTo>
                    <a:pt x="2691446" y="5602"/>
                  </a:lnTo>
                  <a:lnTo>
                    <a:pt x="2690435" y="58744"/>
                  </a:lnTo>
                  <a:lnTo>
                    <a:pt x="2687425" y="111368"/>
                  </a:lnTo>
                  <a:lnTo>
                    <a:pt x="2682449" y="163434"/>
                  </a:lnTo>
                  <a:lnTo>
                    <a:pt x="2675542" y="214904"/>
                  </a:lnTo>
                  <a:lnTo>
                    <a:pt x="2666740" y="265740"/>
                  </a:lnTo>
                  <a:lnTo>
                    <a:pt x="2656075" y="315901"/>
                  </a:lnTo>
                  <a:lnTo>
                    <a:pt x="2643583" y="365351"/>
                  </a:lnTo>
                  <a:lnTo>
                    <a:pt x="2629298" y="414049"/>
                  </a:lnTo>
                  <a:lnTo>
                    <a:pt x="2613255" y="461956"/>
                  </a:lnTo>
                  <a:lnTo>
                    <a:pt x="2595487" y="509035"/>
                  </a:lnTo>
                  <a:lnTo>
                    <a:pt x="2576030" y="555246"/>
                  </a:lnTo>
                  <a:lnTo>
                    <a:pt x="2554917" y="600550"/>
                  </a:lnTo>
                  <a:lnTo>
                    <a:pt x="2532184" y="644909"/>
                  </a:lnTo>
                  <a:lnTo>
                    <a:pt x="2507864" y="688283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53092" y="4345108"/>
              <a:ext cx="2324735" cy="676275"/>
            </a:xfrm>
            <a:custGeom>
              <a:avLst/>
              <a:gdLst/>
              <a:ahLst/>
              <a:cxnLst/>
              <a:rect l="l" t="t" r="r" b="b"/>
              <a:pathLst>
                <a:path w="2324734" h="676275">
                  <a:moveTo>
                    <a:pt x="1162140" y="675773"/>
                  </a:moveTo>
                  <a:lnTo>
                    <a:pt x="1111017" y="674811"/>
                  </a:lnTo>
                  <a:lnTo>
                    <a:pt x="1060375" y="671947"/>
                  </a:lnTo>
                  <a:lnTo>
                    <a:pt x="1010250" y="667215"/>
                  </a:lnTo>
                  <a:lnTo>
                    <a:pt x="960675" y="660650"/>
                  </a:lnTo>
                  <a:lnTo>
                    <a:pt x="911685" y="652285"/>
                  </a:lnTo>
                  <a:lnTo>
                    <a:pt x="863313" y="642154"/>
                  </a:lnTo>
                  <a:lnTo>
                    <a:pt x="815594" y="630291"/>
                  </a:lnTo>
                  <a:lnTo>
                    <a:pt x="768561" y="616730"/>
                  </a:lnTo>
                  <a:lnTo>
                    <a:pt x="722250" y="601506"/>
                  </a:lnTo>
                  <a:lnTo>
                    <a:pt x="676694" y="584652"/>
                  </a:lnTo>
                  <a:lnTo>
                    <a:pt x="631927" y="566203"/>
                  </a:lnTo>
                  <a:lnTo>
                    <a:pt x="587983" y="546191"/>
                  </a:lnTo>
                  <a:lnTo>
                    <a:pt x="544897" y="524652"/>
                  </a:lnTo>
                  <a:lnTo>
                    <a:pt x="502702" y="501619"/>
                  </a:lnTo>
                  <a:lnTo>
                    <a:pt x="461434" y="477127"/>
                  </a:lnTo>
                  <a:lnTo>
                    <a:pt x="421125" y="451208"/>
                  </a:lnTo>
                  <a:lnTo>
                    <a:pt x="381810" y="423898"/>
                  </a:lnTo>
                  <a:lnTo>
                    <a:pt x="343524" y="395230"/>
                  </a:lnTo>
                  <a:lnTo>
                    <a:pt x="306300" y="365239"/>
                  </a:lnTo>
                  <a:lnTo>
                    <a:pt x="270173" y="333958"/>
                  </a:lnTo>
                  <a:lnTo>
                    <a:pt x="235176" y="301421"/>
                  </a:lnTo>
                  <a:lnTo>
                    <a:pt x="201343" y="267662"/>
                  </a:lnTo>
                  <a:lnTo>
                    <a:pt x="168710" y="232716"/>
                  </a:lnTo>
                  <a:lnTo>
                    <a:pt x="137310" y="196615"/>
                  </a:lnTo>
                  <a:lnTo>
                    <a:pt x="107177" y="159396"/>
                  </a:lnTo>
                  <a:lnTo>
                    <a:pt x="78345" y="121090"/>
                  </a:lnTo>
                  <a:lnTo>
                    <a:pt x="50849" y="81733"/>
                  </a:lnTo>
                  <a:lnTo>
                    <a:pt x="24722" y="41358"/>
                  </a:lnTo>
                  <a:lnTo>
                    <a:pt x="0" y="0"/>
                  </a:lnTo>
                  <a:lnTo>
                    <a:pt x="2324281" y="0"/>
                  </a:lnTo>
                  <a:lnTo>
                    <a:pt x="2299558" y="41358"/>
                  </a:lnTo>
                  <a:lnTo>
                    <a:pt x="2273432" y="81733"/>
                  </a:lnTo>
                  <a:lnTo>
                    <a:pt x="2245935" y="121090"/>
                  </a:lnTo>
                  <a:lnTo>
                    <a:pt x="2217104" y="159396"/>
                  </a:lnTo>
                  <a:lnTo>
                    <a:pt x="2186971" y="196615"/>
                  </a:lnTo>
                  <a:lnTo>
                    <a:pt x="2155570" y="232716"/>
                  </a:lnTo>
                  <a:lnTo>
                    <a:pt x="2122937" y="267662"/>
                  </a:lnTo>
                  <a:lnTo>
                    <a:pt x="2089105" y="301421"/>
                  </a:lnTo>
                  <a:lnTo>
                    <a:pt x="2054108" y="333958"/>
                  </a:lnTo>
                  <a:lnTo>
                    <a:pt x="2017981" y="365239"/>
                  </a:lnTo>
                  <a:lnTo>
                    <a:pt x="1980756" y="395230"/>
                  </a:lnTo>
                  <a:lnTo>
                    <a:pt x="1942470" y="423898"/>
                  </a:lnTo>
                  <a:lnTo>
                    <a:pt x="1903155" y="451208"/>
                  </a:lnTo>
                  <a:lnTo>
                    <a:pt x="1862847" y="477127"/>
                  </a:lnTo>
                  <a:lnTo>
                    <a:pt x="1821578" y="501619"/>
                  </a:lnTo>
                  <a:lnTo>
                    <a:pt x="1779384" y="524652"/>
                  </a:lnTo>
                  <a:lnTo>
                    <a:pt x="1736298" y="546191"/>
                  </a:lnTo>
                  <a:lnTo>
                    <a:pt x="1692354" y="566203"/>
                  </a:lnTo>
                  <a:lnTo>
                    <a:pt x="1647587" y="584652"/>
                  </a:lnTo>
                  <a:lnTo>
                    <a:pt x="1602031" y="601506"/>
                  </a:lnTo>
                  <a:lnTo>
                    <a:pt x="1555719" y="616730"/>
                  </a:lnTo>
                  <a:lnTo>
                    <a:pt x="1508687" y="630291"/>
                  </a:lnTo>
                  <a:lnTo>
                    <a:pt x="1460968" y="642154"/>
                  </a:lnTo>
                  <a:lnTo>
                    <a:pt x="1412596" y="652285"/>
                  </a:lnTo>
                  <a:lnTo>
                    <a:pt x="1363605" y="660650"/>
                  </a:lnTo>
                  <a:lnTo>
                    <a:pt x="1314030" y="667215"/>
                  </a:lnTo>
                  <a:lnTo>
                    <a:pt x="1263905" y="671947"/>
                  </a:lnTo>
                  <a:lnTo>
                    <a:pt x="1213264" y="674811"/>
                  </a:lnTo>
                  <a:lnTo>
                    <a:pt x="1162140" y="675773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59836" y="2303972"/>
              <a:ext cx="2311400" cy="664845"/>
            </a:xfrm>
            <a:custGeom>
              <a:avLst/>
              <a:gdLst/>
              <a:ahLst/>
              <a:cxnLst/>
              <a:rect l="l" t="t" r="r" b="b"/>
              <a:pathLst>
                <a:path w="2311400" h="664844">
                  <a:moveTo>
                    <a:pt x="2310794" y="664567"/>
                  </a:moveTo>
                  <a:lnTo>
                    <a:pt x="0" y="664567"/>
                  </a:lnTo>
                  <a:lnTo>
                    <a:pt x="24848" y="623841"/>
                  </a:lnTo>
                  <a:lnTo>
                    <a:pt x="51067" y="584089"/>
                  </a:lnTo>
                  <a:lnTo>
                    <a:pt x="78622" y="545346"/>
                  </a:lnTo>
                  <a:lnTo>
                    <a:pt x="107481" y="507643"/>
                  </a:lnTo>
                  <a:lnTo>
                    <a:pt x="137610" y="471014"/>
                  </a:lnTo>
                  <a:lnTo>
                    <a:pt x="168976" y="435493"/>
                  </a:lnTo>
                  <a:lnTo>
                    <a:pt x="201546" y="401111"/>
                  </a:lnTo>
                  <a:lnTo>
                    <a:pt x="235287" y="367903"/>
                  </a:lnTo>
                  <a:lnTo>
                    <a:pt x="270165" y="335900"/>
                  </a:lnTo>
                  <a:lnTo>
                    <a:pt x="306147" y="305137"/>
                  </a:lnTo>
                  <a:lnTo>
                    <a:pt x="343200" y="275646"/>
                  </a:lnTo>
                  <a:lnTo>
                    <a:pt x="381291" y="247460"/>
                  </a:lnTo>
                  <a:lnTo>
                    <a:pt x="420386" y="220613"/>
                  </a:lnTo>
                  <a:lnTo>
                    <a:pt x="460452" y="195136"/>
                  </a:lnTo>
                  <a:lnTo>
                    <a:pt x="501457" y="171064"/>
                  </a:lnTo>
                  <a:lnTo>
                    <a:pt x="543366" y="148429"/>
                  </a:lnTo>
                  <a:lnTo>
                    <a:pt x="586146" y="127265"/>
                  </a:lnTo>
                  <a:lnTo>
                    <a:pt x="629765" y="107604"/>
                  </a:lnTo>
                  <a:lnTo>
                    <a:pt x="674189" y="89479"/>
                  </a:lnTo>
                  <a:lnTo>
                    <a:pt x="719385" y="72924"/>
                  </a:lnTo>
                  <a:lnTo>
                    <a:pt x="765319" y="57971"/>
                  </a:lnTo>
                  <a:lnTo>
                    <a:pt x="811959" y="44654"/>
                  </a:lnTo>
                  <a:lnTo>
                    <a:pt x="859271" y="33005"/>
                  </a:lnTo>
                  <a:lnTo>
                    <a:pt x="907222" y="23057"/>
                  </a:lnTo>
                  <a:lnTo>
                    <a:pt x="955778" y="14845"/>
                  </a:lnTo>
                  <a:lnTo>
                    <a:pt x="1004907" y="8399"/>
                  </a:lnTo>
                  <a:lnTo>
                    <a:pt x="1054576" y="3755"/>
                  </a:lnTo>
                  <a:lnTo>
                    <a:pt x="1104750" y="944"/>
                  </a:lnTo>
                  <a:lnTo>
                    <a:pt x="1155397" y="0"/>
                  </a:lnTo>
                  <a:lnTo>
                    <a:pt x="1206044" y="944"/>
                  </a:lnTo>
                  <a:lnTo>
                    <a:pt x="1256218" y="3755"/>
                  </a:lnTo>
                  <a:lnTo>
                    <a:pt x="1305886" y="8399"/>
                  </a:lnTo>
                  <a:lnTo>
                    <a:pt x="1355015" y="14845"/>
                  </a:lnTo>
                  <a:lnTo>
                    <a:pt x="1403572" y="23057"/>
                  </a:lnTo>
                  <a:lnTo>
                    <a:pt x="1451522" y="33005"/>
                  </a:lnTo>
                  <a:lnTo>
                    <a:pt x="1498834" y="44654"/>
                  </a:lnTo>
                  <a:lnTo>
                    <a:pt x="1545474" y="57971"/>
                  </a:lnTo>
                  <a:lnTo>
                    <a:pt x="1591409" y="72924"/>
                  </a:lnTo>
                  <a:lnTo>
                    <a:pt x="1636604" y="89479"/>
                  </a:lnTo>
                  <a:lnTo>
                    <a:pt x="1681028" y="107604"/>
                  </a:lnTo>
                  <a:lnTo>
                    <a:pt x="1724647" y="127265"/>
                  </a:lnTo>
                  <a:lnTo>
                    <a:pt x="1767428" y="148429"/>
                  </a:lnTo>
                  <a:lnTo>
                    <a:pt x="1809337" y="171064"/>
                  </a:lnTo>
                  <a:lnTo>
                    <a:pt x="1850341" y="195136"/>
                  </a:lnTo>
                  <a:lnTo>
                    <a:pt x="1890408" y="220613"/>
                  </a:lnTo>
                  <a:lnTo>
                    <a:pt x="1929503" y="247460"/>
                  </a:lnTo>
                  <a:lnTo>
                    <a:pt x="1967593" y="275646"/>
                  </a:lnTo>
                  <a:lnTo>
                    <a:pt x="2004646" y="305137"/>
                  </a:lnTo>
                  <a:lnTo>
                    <a:pt x="2040629" y="335900"/>
                  </a:lnTo>
                  <a:lnTo>
                    <a:pt x="2075506" y="367903"/>
                  </a:lnTo>
                  <a:lnTo>
                    <a:pt x="2109247" y="401111"/>
                  </a:lnTo>
                  <a:lnTo>
                    <a:pt x="2141817" y="435493"/>
                  </a:lnTo>
                  <a:lnTo>
                    <a:pt x="2173183" y="471014"/>
                  </a:lnTo>
                  <a:lnTo>
                    <a:pt x="2203312" y="507643"/>
                  </a:lnTo>
                  <a:lnTo>
                    <a:pt x="2232171" y="545346"/>
                  </a:lnTo>
                  <a:lnTo>
                    <a:pt x="2259727" y="584089"/>
                  </a:lnTo>
                  <a:lnTo>
                    <a:pt x="2285945" y="623841"/>
                  </a:lnTo>
                  <a:lnTo>
                    <a:pt x="2310794" y="664567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32941" y="2453340"/>
              <a:ext cx="346710" cy="339090"/>
            </a:xfrm>
            <a:custGeom>
              <a:avLst/>
              <a:gdLst/>
              <a:ahLst/>
              <a:cxnLst/>
              <a:rect l="l" t="t" r="r" b="b"/>
              <a:pathLst>
                <a:path w="346710" h="339089">
                  <a:moveTo>
                    <a:pt x="346158" y="338501"/>
                  </a:moveTo>
                  <a:lnTo>
                    <a:pt x="0" y="338501"/>
                  </a:lnTo>
                  <a:lnTo>
                    <a:pt x="0" y="0"/>
                  </a:lnTo>
                  <a:lnTo>
                    <a:pt x="19230" y="0"/>
                  </a:lnTo>
                  <a:lnTo>
                    <a:pt x="19230" y="319696"/>
                  </a:lnTo>
                  <a:lnTo>
                    <a:pt x="346158" y="319696"/>
                  </a:lnTo>
                  <a:lnTo>
                    <a:pt x="346158" y="338501"/>
                  </a:lnTo>
                  <a:close/>
                </a:path>
                <a:path w="346710" h="339089">
                  <a:moveTo>
                    <a:pt x="57858" y="184973"/>
                  </a:moveTo>
                  <a:lnTo>
                    <a:pt x="41888" y="157924"/>
                  </a:lnTo>
                  <a:lnTo>
                    <a:pt x="256053" y="37011"/>
                  </a:lnTo>
                  <a:lnTo>
                    <a:pt x="248067" y="23486"/>
                  </a:lnTo>
                  <a:lnTo>
                    <a:pt x="307763" y="25849"/>
                  </a:lnTo>
                  <a:lnTo>
                    <a:pt x="287263" y="64060"/>
                  </a:lnTo>
                  <a:lnTo>
                    <a:pt x="272022" y="64060"/>
                  </a:lnTo>
                  <a:lnTo>
                    <a:pt x="57858" y="184973"/>
                  </a:lnTo>
                  <a:close/>
                </a:path>
                <a:path w="346710" h="339089">
                  <a:moveTo>
                    <a:pt x="280008" y="77585"/>
                  </a:moveTo>
                  <a:lnTo>
                    <a:pt x="272022" y="64060"/>
                  </a:lnTo>
                  <a:lnTo>
                    <a:pt x="287263" y="64060"/>
                  </a:lnTo>
                  <a:lnTo>
                    <a:pt x="280008" y="77585"/>
                  </a:lnTo>
                  <a:close/>
                </a:path>
                <a:path w="346710" h="339089">
                  <a:moveTo>
                    <a:pt x="323733" y="305015"/>
                  </a:moveTo>
                  <a:lnTo>
                    <a:pt x="273732" y="305015"/>
                  </a:lnTo>
                  <a:lnTo>
                    <a:pt x="273732" y="101914"/>
                  </a:lnTo>
                  <a:lnTo>
                    <a:pt x="323733" y="101914"/>
                  </a:lnTo>
                  <a:lnTo>
                    <a:pt x="323733" y="305015"/>
                  </a:lnTo>
                  <a:close/>
                </a:path>
                <a:path w="346710" h="339089">
                  <a:moveTo>
                    <a:pt x="246800" y="305015"/>
                  </a:moveTo>
                  <a:lnTo>
                    <a:pt x="196800" y="305015"/>
                  </a:lnTo>
                  <a:lnTo>
                    <a:pt x="196800" y="139525"/>
                  </a:lnTo>
                  <a:lnTo>
                    <a:pt x="246800" y="139525"/>
                  </a:lnTo>
                  <a:lnTo>
                    <a:pt x="246800" y="305015"/>
                  </a:lnTo>
                  <a:close/>
                </a:path>
                <a:path w="346710" h="339089">
                  <a:moveTo>
                    <a:pt x="169868" y="305015"/>
                  </a:moveTo>
                  <a:lnTo>
                    <a:pt x="119867" y="305015"/>
                  </a:lnTo>
                  <a:lnTo>
                    <a:pt x="119867" y="177137"/>
                  </a:lnTo>
                  <a:lnTo>
                    <a:pt x="169868" y="177137"/>
                  </a:lnTo>
                  <a:lnTo>
                    <a:pt x="169868" y="305015"/>
                  </a:lnTo>
                  <a:close/>
                </a:path>
                <a:path w="346710" h="339089">
                  <a:moveTo>
                    <a:pt x="92935" y="305015"/>
                  </a:moveTo>
                  <a:lnTo>
                    <a:pt x="42935" y="305015"/>
                  </a:lnTo>
                  <a:lnTo>
                    <a:pt x="42935" y="214748"/>
                  </a:lnTo>
                  <a:lnTo>
                    <a:pt x="92935" y="214748"/>
                  </a:lnTo>
                  <a:lnTo>
                    <a:pt x="92935" y="3050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1394" y="2995853"/>
              <a:ext cx="475528" cy="4755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48673" y="3662428"/>
              <a:ext cx="530663" cy="5306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28456" y="4256104"/>
              <a:ext cx="647909" cy="64790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03248" y="2394710"/>
            <a:ext cx="3304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Easily</a:t>
            </a:r>
            <a:r>
              <a:rPr sz="14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analyse</a:t>
            </a:r>
            <a:r>
              <a:rPr sz="14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the</a:t>
            </a:r>
            <a:r>
              <a:rPr sz="14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data</a:t>
            </a:r>
            <a:r>
              <a:rPr sz="1400" spc="-2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and</a:t>
            </a:r>
            <a:r>
              <a:rPr sz="14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summarize</a:t>
            </a:r>
            <a:r>
              <a:rPr sz="14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DFDFD"/>
                </a:solidFill>
                <a:latin typeface="Arial"/>
                <a:cs typeface="Arial"/>
              </a:rPr>
              <a:t>it.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9157" y="3027817"/>
            <a:ext cx="52400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Easily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understand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features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79097" y="3719481"/>
            <a:ext cx="52203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2110" marR="61658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Help</a:t>
            </a:r>
            <a:r>
              <a:rPr sz="1400" spc="-3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find</a:t>
            </a:r>
            <a:r>
              <a:rPr sz="14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trend</a:t>
            </a:r>
            <a:r>
              <a:rPr sz="14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or</a:t>
            </a:r>
            <a:r>
              <a:rPr sz="1400" spc="-1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pattern</a:t>
            </a:r>
            <a:r>
              <a:rPr sz="1400" spc="-20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DFDFD"/>
                </a:solidFill>
                <a:latin typeface="Arial"/>
                <a:cs typeface="Arial"/>
              </a:rPr>
              <a:t>of</a:t>
            </a:r>
            <a:r>
              <a:rPr sz="1400" spc="-15" dirty="0">
                <a:solidFill>
                  <a:srgbClr val="FDFDFD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DFDFD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FDFDFD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7984" y="4428285"/>
            <a:ext cx="3156585" cy="511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10"/>
              </a:spcBef>
            </a:pP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Help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get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meaningful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insights</a:t>
            </a:r>
            <a:r>
              <a:rPr sz="14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C0C0C"/>
                </a:solidFill>
                <a:latin typeface="Arial"/>
                <a:cs typeface="Arial"/>
              </a:rPr>
              <a:t>from</a:t>
            </a:r>
            <a:r>
              <a:rPr sz="14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Arial"/>
                <a:cs typeface="Arial"/>
              </a:rPr>
              <a:t>the </a:t>
            </a:r>
            <a:r>
              <a:rPr sz="1400" spc="-1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800" spc="-10" dirty="0">
                <a:solidFill>
                  <a:srgbClr val="0C0C0C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7385" y="1535965"/>
            <a:ext cx="46456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Visualisation</a:t>
            </a:r>
            <a:r>
              <a:rPr sz="1400" spc="5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is</a:t>
            </a:r>
            <a:r>
              <a:rPr sz="1400" spc="5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the</a:t>
            </a:r>
            <a:r>
              <a:rPr sz="1400" spc="60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presentation</a:t>
            </a:r>
            <a:r>
              <a:rPr sz="1400" spc="5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of</a:t>
            </a:r>
            <a:r>
              <a:rPr sz="1400" spc="60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the</a:t>
            </a:r>
            <a:r>
              <a:rPr sz="1400" spc="5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data</a:t>
            </a:r>
            <a:r>
              <a:rPr sz="1400" spc="5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in</a:t>
            </a:r>
            <a:r>
              <a:rPr sz="1400" spc="60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the</a:t>
            </a:r>
            <a:r>
              <a:rPr sz="1400" spc="5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C0781B"/>
                </a:solidFill>
                <a:latin typeface="Cambria"/>
                <a:cs typeface="Cambria"/>
              </a:rPr>
              <a:t>graphical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or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visual</a:t>
            </a:r>
            <a:r>
              <a:rPr sz="1400" spc="200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form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to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understand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the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data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more</a:t>
            </a:r>
            <a:r>
              <a:rPr sz="1400" spc="204" dirty="0">
                <a:solidFill>
                  <a:srgbClr val="C0781B"/>
                </a:solidFill>
                <a:latin typeface="Cambria"/>
                <a:cs typeface="Cambria"/>
              </a:rPr>
              <a:t>  </a:t>
            </a:r>
            <a:r>
              <a:rPr sz="1400" spc="-10" dirty="0">
                <a:solidFill>
                  <a:srgbClr val="C0781B"/>
                </a:solidFill>
                <a:latin typeface="Cambria"/>
                <a:cs typeface="Cambria"/>
              </a:rPr>
              <a:t>clearly. Visualisation</a:t>
            </a:r>
            <a:r>
              <a:rPr sz="1400" spc="-30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is</a:t>
            </a:r>
            <a:r>
              <a:rPr sz="1400" spc="-2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easy</a:t>
            </a:r>
            <a:r>
              <a:rPr sz="1400" spc="-2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to</a:t>
            </a:r>
            <a:r>
              <a:rPr sz="1400" spc="-2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C0781B"/>
                </a:solidFill>
                <a:latin typeface="Cambria"/>
                <a:cs typeface="Cambria"/>
              </a:rPr>
              <a:t>understand</a:t>
            </a:r>
            <a:r>
              <a:rPr sz="1400" spc="-2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C0781B"/>
                </a:solidFill>
                <a:latin typeface="Cambria"/>
                <a:cs typeface="Cambria"/>
              </a:rPr>
              <a:t>the</a:t>
            </a:r>
            <a:r>
              <a:rPr sz="1400" spc="-25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C0781B"/>
                </a:solidFill>
                <a:latin typeface="Cambria"/>
                <a:cs typeface="Cambria"/>
              </a:rPr>
              <a:t>data</a:t>
            </a:r>
            <a:r>
              <a:rPr sz="1400" b="1" spc="-10" dirty="0">
                <a:solidFill>
                  <a:srgbClr val="C0781B"/>
                </a:solidFill>
                <a:latin typeface="Cambria"/>
                <a:cs typeface="Cambria"/>
              </a:rPr>
              <a:t>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528358"/>
            <a:ext cx="1849027" cy="329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7949" y="707473"/>
            <a:ext cx="5202419" cy="253423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3542" y="1848923"/>
            <a:ext cx="4416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Histogram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represent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frequency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distribution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of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4226" y="981880"/>
            <a:ext cx="2268855" cy="462280"/>
          </a:xfrm>
          <a:prstGeom prst="rect">
            <a:avLst/>
          </a:prstGeom>
          <a:solidFill>
            <a:srgbClr val="222A35"/>
          </a:solidFill>
        </p:spPr>
        <p:txBody>
          <a:bodyPr vert="horz" wrap="square" lIns="0" tIns="25400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200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Histogram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61964"/>
            <a:ext cx="5220335" cy="3496310"/>
            <a:chOff x="0" y="3361964"/>
            <a:chExt cx="5220335" cy="34963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361964"/>
              <a:ext cx="5220132" cy="329259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78474"/>
              <a:ext cx="5175681" cy="32036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528359"/>
              <a:ext cx="1849027" cy="3296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92085" y="4811213"/>
            <a:ext cx="51835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Bar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graph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represent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total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observation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0C0C0C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particular</a:t>
            </a:r>
            <a:r>
              <a:rPr sz="1600" spc="-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category</a:t>
            </a:r>
            <a:r>
              <a:rPr sz="1600" spc="-10" dirty="0">
                <a:solidFill>
                  <a:srgbClr val="313E4F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74239" y="3809617"/>
            <a:ext cx="1589405" cy="462280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2540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00"/>
              </a:spcBef>
            </a:pPr>
            <a:r>
              <a:rPr sz="2400" b="1" dirty="0">
                <a:solidFill>
                  <a:srgbClr val="222A35"/>
                </a:solidFill>
                <a:latin typeface="Arial"/>
                <a:cs typeface="Arial"/>
              </a:rPr>
              <a:t>Bar</a:t>
            </a:r>
            <a:r>
              <a:rPr sz="2400" b="1" spc="-60" dirty="0">
                <a:solidFill>
                  <a:srgbClr val="222A3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22A35"/>
                </a:solidFill>
                <a:latin typeface="Arial"/>
                <a:cs typeface="Arial"/>
              </a:rPr>
              <a:t>Chart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77699" y="159797"/>
            <a:ext cx="4385945" cy="487680"/>
          </a:xfrm>
          <a:prstGeom prst="rect">
            <a:avLst/>
          </a:prstGeom>
          <a:solidFill>
            <a:srgbClr val="D8E1F3"/>
          </a:solidFill>
        </p:spPr>
        <p:txBody>
          <a:bodyPr vert="horz" wrap="square" lIns="0" tIns="80645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635"/>
              </a:spcBef>
            </a:pPr>
            <a:r>
              <a:rPr sz="2000" dirty="0">
                <a:solidFill>
                  <a:srgbClr val="222A35"/>
                </a:solidFill>
              </a:rPr>
              <a:t>Important</a:t>
            </a:r>
            <a:r>
              <a:rPr sz="2000" spc="-40" dirty="0">
                <a:solidFill>
                  <a:srgbClr val="222A35"/>
                </a:solidFill>
              </a:rPr>
              <a:t> </a:t>
            </a:r>
            <a:r>
              <a:rPr sz="2000" dirty="0">
                <a:solidFill>
                  <a:srgbClr val="222A35"/>
                </a:solidFill>
              </a:rPr>
              <a:t>Charts</a:t>
            </a:r>
            <a:r>
              <a:rPr sz="2000" spc="-40" dirty="0">
                <a:solidFill>
                  <a:srgbClr val="222A35"/>
                </a:solidFill>
              </a:rPr>
              <a:t> </a:t>
            </a:r>
            <a:r>
              <a:rPr sz="2000" dirty="0">
                <a:solidFill>
                  <a:srgbClr val="222A35"/>
                </a:solidFill>
              </a:rPr>
              <a:t>for</a:t>
            </a:r>
            <a:r>
              <a:rPr sz="2000" spc="-35" dirty="0">
                <a:solidFill>
                  <a:srgbClr val="222A35"/>
                </a:solidFill>
              </a:rPr>
              <a:t> </a:t>
            </a:r>
            <a:r>
              <a:rPr sz="2000" spc="-10" dirty="0">
                <a:solidFill>
                  <a:srgbClr val="222A35"/>
                </a:solidFill>
              </a:rPr>
              <a:t>Visualisation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21" y="2722120"/>
            <a:ext cx="5131292" cy="36298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4885" y="322814"/>
            <a:ext cx="4184373" cy="28515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43511" y="4656091"/>
            <a:ext cx="49345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Pie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chart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represent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percentage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by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each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category.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1695" y="3526654"/>
            <a:ext cx="1536065" cy="462280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204"/>
              </a:spcBef>
            </a:pPr>
            <a:r>
              <a:rPr sz="2400" b="1" dirty="0">
                <a:solidFill>
                  <a:srgbClr val="222A35"/>
                </a:solidFill>
                <a:latin typeface="Arial"/>
                <a:cs typeface="Arial"/>
              </a:rPr>
              <a:t>Pie</a:t>
            </a:r>
            <a:r>
              <a:rPr sz="2400" b="1" spc="-15" dirty="0">
                <a:solidFill>
                  <a:srgbClr val="222A3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22A35"/>
                </a:solidFill>
                <a:latin typeface="Arial"/>
                <a:cs typeface="Arial"/>
              </a:rPr>
              <a:t>Chart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806" y="1155089"/>
            <a:ext cx="59785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Boxplot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display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distribution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based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on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five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number summary(minimum,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first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quartile,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median,</a:t>
            </a:r>
            <a:r>
              <a:rPr sz="1600" spc="-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third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quartile,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maximum)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70185" y="321534"/>
            <a:ext cx="1858010" cy="462280"/>
          </a:xfrm>
          <a:prstGeom prst="rect">
            <a:avLst/>
          </a:prstGeom>
          <a:solidFill>
            <a:srgbClr val="222A35"/>
          </a:solidFill>
        </p:spPr>
        <p:txBody>
          <a:bodyPr vert="horz" wrap="square" lIns="0" tIns="25400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solidFill>
                  <a:srgbClr val="FFFFFF"/>
                </a:solidFill>
              </a:rPr>
              <a:t>Box</a:t>
            </a:r>
            <a:r>
              <a:rPr sz="2400" spc="-65" dirty="0">
                <a:solidFill>
                  <a:srgbClr val="FFFFFF"/>
                </a:solidFill>
              </a:rPr>
              <a:t> </a:t>
            </a:r>
            <a:r>
              <a:rPr sz="2400" spc="-20" dirty="0">
                <a:solidFill>
                  <a:srgbClr val="FFFFFF"/>
                </a:solidFill>
              </a:rPr>
              <a:t>Plot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27500"/>
            <a:ext cx="5464810" cy="3796029"/>
            <a:chOff x="0" y="2827500"/>
            <a:chExt cx="5464810" cy="37960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827500"/>
              <a:ext cx="5464716" cy="379565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44011"/>
              <a:ext cx="5420265" cy="370675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244117" y="98125"/>
            <a:ext cx="4918710" cy="3427095"/>
            <a:chOff x="7244117" y="98125"/>
            <a:chExt cx="4918710" cy="342709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4117" y="98125"/>
              <a:ext cx="4918580" cy="34266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8567" y="114635"/>
              <a:ext cx="4829680" cy="33377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47192" y="4714661"/>
            <a:ext cx="5387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Scatter</a:t>
            </a:r>
            <a:r>
              <a:rPr sz="1600" spc="270" dirty="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plot</a:t>
            </a:r>
            <a:r>
              <a:rPr sz="1600" spc="275" dirty="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represent</a:t>
            </a:r>
            <a:r>
              <a:rPr sz="1600" spc="270" dirty="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275" dirty="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relationship</a:t>
            </a:r>
            <a:r>
              <a:rPr sz="1600" spc="275" dirty="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between</a:t>
            </a:r>
            <a:r>
              <a:rPr sz="1600" spc="270" dirty="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two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numerical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variable.</a:t>
            </a:r>
            <a:r>
              <a:rPr sz="1600" spc="434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It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show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4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correlation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between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two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variable.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09369" y="3844032"/>
            <a:ext cx="2827655" cy="462280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25400" rIns="0" bIns="0" rtlCol="0">
            <a:spAutoFit/>
          </a:bodyPr>
          <a:lstStyle/>
          <a:p>
            <a:pPr marL="566420">
              <a:lnSpc>
                <a:spcPct val="100000"/>
              </a:lnSpc>
              <a:spcBef>
                <a:spcPts val="200"/>
              </a:spcBef>
            </a:pPr>
            <a:r>
              <a:rPr sz="2400" b="1" dirty="0">
                <a:solidFill>
                  <a:srgbClr val="222A35"/>
                </a:solidFill>
                <a:latin typeface="Arial"/>
                <a:cs typeface="Arial"/>
              </a:rPr>
              <a:t>Scatter</a:t>
            </a:r>
            <a:r>
              <a:rPr sz="2400" b="1" spc="-120" dirty="0">
                <a:solidFill>
                  <a:srgbClr val="222A35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222A35"/>
                </a:solidFill>
                <a:latin typeface="Arial"/>
                <a:cs typeface="Arial"/>
              </a:rPr>
              <a:t>Plot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420" y="1375555"/>
            <a:ext cx="60191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Pair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plot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show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bivariate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distribution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datasets.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It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show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the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pairwise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relationship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between</a:t>
            </a:r>
            <a:r>
              <a:rPr sz="1600" spc="-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variable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6316" y="588669"/>
            <a:ext cx="1984375" cy="462280"/>
          </a:xfrm>
          <a:prstGeom prst="rect">
            <a:avLst/>
          </a:prstGeom>
          <a:solidFill>
            <a:srgbClr val="222A35"/>
          </a:solidFill>
        </p:spPr>
        <p:txBody>
          <a:bodyPr vert="horz" wrap="square" lIns="0" tIns="26034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204"/>
              </a:spcBef>
            </a:pPr>
            <a:r>
              <a:rPr sz="2400" dirty="0">
                <a:solidFill>
                  <a:srgbClr val="FFFFFF"/>
                </a:solidFill>
              </a:rPr>
              <a:t>Pair-</a:t>
            </a:r>
            <a:r>
              <a:rPr sz="2400" spc="-20" dirty="0">
                <a:solidFill>
                  <a:srgbClr val="FFFFFF"/>
                </a:solidFill>
              </a:rPr>
              <a:t>plot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165" y="3268043"/>
            <a:ext cx="5779770" cy="3171190"/>
            <a:chOff x="56165" y="3268043"/>
            <a:chExt cx="5779770" cy="3171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65" y="3268043"/>
              <a:ext cx="5779486" cy="31706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615" y="3284553"/>
              <a:ext cx="5690586" cy="3081762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6853500" y="0"/>
            <a:ext cx="5339080" cy="3674745"/>
            <a:chOff x="6853500" y="0"/>
            <a:chExt cx="5339080" cy="367474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3500" y="0"/>
              <a:ext cx="5338499" cy="36741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7950" y="0"/>
              <a:ext cx="5294049" cy="360172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44934" y="4782722"/>
            <a:ext cx="4963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Line chart</a:t>
            </a:r>
            <a:r>
              <a:rPr sz="1600" spc="-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are used to track change over line and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short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period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time.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Line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chart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are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used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time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series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data.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2763" y="3952755"/>
            <a:ext cx="1706245" cy="462280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204"/>
              </a:spcBef>
            </a:pPr>
            <a:r>
              <a:rPr sz="2400" b="1" dirty="0">
                <a:solidFill>
                  <a:srgbClr val="1F3764"/>
                </a:solidFill>
                <a:latin typeface="Arial"/>
                <a:cs typeface="Arial"/>
              </a:rPr>
              <a:t>Line</a:t>
            </a:r>
            <a:r>
              <a:rPr sz="2400" b="1" spc="-20" dirty="0">
                <a:solidFill>
                  <a:srgbClr val="1F3764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F3764"/>
                </a:solidFill>
                <a:latin typeface="Arial"/>
                <a:cs typeface="Arial"/>
              </a:rPr>
              <a:t>Chart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6606" y="1304533"/>
            <a:ext cx="3712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Violin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chart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are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used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plot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numeric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20091" y="481586"/>
            <a:ext cx="2112645" cy="462280"/>
          </a:xfrm>
          <a:prstGeom prst="rect">
            <a:avLst/>
          </a:prstGeom>
          <a:solidFill>
            <a:srgbClr val="222A35"/>
          </a:solidFill>
        </p:spPr>
        <p:txBody>
          <a:bodyPr vert="horz" wrap="square" lIns="0" tIns="25400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solidFill>
                  <a:srgbClr val="FFFFFF"/>
                </a:solidFill>
              </a:rPr>
              <a:t>Violin</a:t>
            </a:r>
            <a:r>
              <a:rPr sz="2400" spc="-75" dirty="0">
                <a:solidFill>
                  <a:srgbClr val="FFFFFF"/>
                </a:solidFill>
              </a:rPr>
              <a:t> </a:t>
            </a:r>
            <a:r>
              <a:rPr sz="2400" spc="-20" dirty="0">
                <a:solidFill>
                  <a:srgbClr val="FFFFFF"/>
                </a:solidFill>
              </a:rPr>
              <a:t>Plot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30750"/>
            <a:ext cx="12007000" cy="3981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4684" y="494450"/>
            <a:ext cx="4239260" cy="462280"/>
          </a:xfrm>
          <a:prstGeom prst="rect">
            <a:avLst/>
          </a:prstGeom>
          <a:solidFill>
            <a:srgbClr val="222A35"/>
          </a:solidFill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2400" dirty="0">
                <a:solidFill>
                  <a:srgbClr val="FFFFFF"/>
                </a:solidFill>
              </a:rPr>
              <a:t>Box</a:t>
            </a:r>
            <a:r>
              <a:rPr sz="2400" spc="-3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Plot</a:t>
            </a:r>
            <a:r>
              <a:rPr sz="2400" spc="-3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vs</a:t>
            </a:r>
            <a:r>
              <a:rPr sz="2400" spc="-35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ViolinPlot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862502" y="1304533"/>
            <a:ext cx="42430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Violin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Graphs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are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better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than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Box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Plots</a:t>
            </a: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buChar char="●"/>
              <a:tabLst>
                <a:tab pos="363855" algn="l"/>
              </a:tabLst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Violin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graph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visually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intuitive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&amp;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attractive.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02224" y="6292304"/>
            <a:ext cx="2926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Image</a:t>
            </a:r>
            <a:r>
              <a:rPr sz="12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Courtesy:</a:t>
            </a:r>
            <a:r>
              <a:rPr sz="12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Arial"/>
                <a:cs typeface="Arial"/>
              </a:rPr>
              <a:t>https://blog.bioturing.com/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44934" y="4782722"/>
            <a:ext cx="49523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600" spc="1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heat</a:t>
            </a:r>
            <a:r>
              <a:rPr sz="1600" spc="19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map</a:t>
            </a:r>
            <a:r>
              <a:rPr sz="1600" spc="20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sz="1600" spc="20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20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analysis</a:t>
            </a:r>
            <a:r>
              <a:rPr sz="1600" spc="20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software</a:t>
            </a:r>
            <a:r>
              <a:rPr sz="1600" spc="20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that</a:t>
            </a:r>
            <a:r>
              <a:rPr sz="1600" spc="19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uses</a:t>
            </a:r>
            <a:r>
              <a:rPr sz="1600" spc="20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color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way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bar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graph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uses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height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width.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2763" y="3952755"/>
            <a:ext cx="1706245" cy="462280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204"/>
              </a:spcBef>
            </a:pPr>
            <a:r>
              <a:rPr sz="2400" b="1" spc="-10" dirty="0">
                <a:solidFill>
                  <a:srgbClr val="1F3764"/>
                </a:solidFill>
                <a:latin typeface="Arial"/>
                <a:cs typeface="Arial"/>
              </a:rPr>
              <a:t>Heatmaps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606" y="1304533"/>
            <a:ext cx="52635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Strip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plots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are</a:t>
            </a:r>
            <a:r>
              <a:rPr sz="1600" spc="434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used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draw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scatter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plot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on</a:t>
            </a:r>
            <a:r>
              <a:rPr sz="16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the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categorical</a:t>
            </a:r>
            <a:r>
              <a:rPr sz="1600" spc="-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basis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20091" y="481586"/>
            <a:ext cx="2112645" cy="462280"/>
          </a:xfrm>
          <a:prstGeom prst="rect">
            <a:avLst/>
          </a:prstGeom>
          <a:solidFill>
            <a:srgbClr val="222A35"/>
          </a:solidFill>
        </p:spPr>
        <p:txBody>
          <a:bodyPr vert="horz" wrap="square" lIns="0" tIns="2540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solidFill>
                  <a:srgbClr val="FFFFFF"/>
                </a:solidFill>
              </a:rPr>
              <a:t>Strip</a:t>
            </a:r>
            <a:r>
              <a:rPr sz="2400" spc="-25" dirty="0">
                <a:solidFill>
                  <a:srgbClr val="FFFFFF"/>
                </a:solidFill>
              </a:rPr>
              <a:t> </a:t>
            </a:r>
            <a:r>
              <a:rPr sz="2400" spc="-20" dirty="0">
                <a:solidFill>
                  <a:srgbClr val="FFFFFF"/>
                </a:solidFill>
              </a:rPr>
              <a:t>Plot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284775" y="2299290"/>
            <a:ext cx="5100926" cy="4558709"/>
            <a:chOff x="284775" y="2299290"/>
            <a:chExt cx="5100926" cy="455870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775" y="2299290"/>
              <a:ext cx="5100926" cy="45587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225" y="2315800"/>
              <a:ext cx="5012025" cy="4477951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9700" y="70633"/>
            <a:ext cx="5412299" cy="34428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4887" y="334746"/>
            <a:ext cx="10134600" cy="734060"/>
            <a:chOff x="1004887" y="334746"/>
            <a:chExt cx="10134600" cy="734060"/>
          </a:xfrm>
        </p:grpSpPr>
        <p:sp>
          <p:nvSpPr>
            <p:cNvPr id="3" name="object 3"/>
            <p:cNvSpPr/>
            <p:nvPr/>
          </p:nvSpPr>
          <p:spPr>
            <a:xfrm>
              <a:off x="1009650" y="339509"/>
              <a:ext cx="10125075" cy="724535"/>
            </a:xfrm>
            <a:custGeom>
              <a:avLst/>
              <a:gdLst/>
              <a:ahLst/>
              <a:cxnLst/>
              <a:rect l="l" t="t" r="r" b="b"/>
              <a:pathLst>
                <a:path w="10125075" h="724535">
                  <a:moveTo>
                    <a:pt x="10125075" y="724246"/>
                  </a:moveTo>
                  <a:lnTo>
                    <a:pt x="0" y="724246"/>
                  </a:lnTo>
                  <a:lnTo>
                    <a:pt x="0" y="0"/>
                  </a:lnTo>
                  <a:lnTo>
                    <a:pt x="10125075" y="0"/>
                  </a:lnTo>
                  <a:lnTo>
                    <a:pt x="10125075" y="724246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9650" y="339509"/>
              <a:ext cx="10125075" cy="724535"/>
            </a:xfrm>
            <a:custGeom>
              <a:avLst/>
              <a:gdLst/>
              <a:ahLst/>
              <a:cxnLst/>
              <a:rect l="l" t="t" r="r" b="b"/>
              <a:pathLst>
                <a:path w="10125075" h="724535">
                  <a:moveTo>
                    <a:pt x="0" y="0"/>
                  </a:moveTo>
                  <a:lnTo>
                    <a:pt x="10125075" y="0"/>
                  </a:lnTo>
                  <a:lnTo>
                    <a:pt x="10125075" y="724246"/>
                  </a:lnTo>
                  <a:lnTo>
                    <a:pt x="0" y="72424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539" rIns="0" bIns="0" rtlCol="0">
            <a:spAutoFit/>
          </a:bodyPr>
          <a:lstStyle/>
          <a:p>
            <a:pPr marL="238506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Steps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Involved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EDA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424863" y="1725767"/>
            <a:ext cx="1346835" cy="4282440"/>
            <a:chOff x="5424863" y="1725767"/>
            <a:chExt cx="1346835" cy="4282440"/>
          </a:xfrm>
        </p:grpSpPr>
        <p:sp>
          <p:nvSpPr>
            <p:cNvPr id="7" name="object 7"/>
            <p:cNvSpPr/>
            <p:nvPr/>
          </p:nvSpPr>
          <p:spPr>
            <a:xfrm>
              <a:off x="5902121" y="2560177"/>
              <a:ext cx="841375" cy="2604770"/>
            </a:xfrm>
            <a:custGeom>
              <a:avLst/>
              <a:gdLst/>
              <a:ahLst/>
              <a:cxnLst/>
              <a:rect l="l" t="t" r="r" b="b"/>
              <a:pathLst>
                <a:path w="841375" h="2604770">
                  <a:moveTo>
                    <a:pt x="420417" y="1629253"/>
                  </a:moveTo>
                  <a:lnTo>
                    <a:pt x="840834" y="1839462"/>
                  </a:lnTo>
                  <a:lnTo>
                    <a:pt x="840834" y="2394412"/>
                  </a:lnTo>
                  <a:lnTo>
                    <a:pt x="420417" y="2604620"/>
                  </a:lnTo>
                  <a:lnTo>
                    <a:pt x="0" y="2394412"/>
                  </a:lnTo>
                  <a:lnTo>
                    <a:pt x="0" y="1839462"/>
                  </a:lnTo>
                  <a:lnTo>
                    <a:pt x="420417" y="1629253"/>
                  </a:lnTo>
                  <a:close/>
                </a:path>
                <a:path w="841375" h="2604770">
                  <a:moveTo>
                    <a:pt x="420417" y="0"/>
                  </a:moveTo>
                  <a:lnTo>
                    <a:pt x="840834" y="210208"/>
                  </a:lnTo>
                  <a:lnTo>
                    <a:pt x="840834" y="765158"/>
                  </a:lnTo>
                  <a:lnTo>
                    <a:pt x="420417" y="975366"/>
                  </a:lnTo>
                  <a:lnTo>
                    <a:pt x="0" y="765158"/>
                  </a:lnTo>
                  <a:lnTo>
                    <a:pt x="0" y="210208"/>
                  </a:lnTo>
                  <a:lnTo>
                    <a:pt x="420417" y="0"/>
                  </a:lnTo>
                  <a:close/>
                </a:path>
              </a:pathLst>
            </a:custGeom>
            <a:ln w="5714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3438" y="3383596"/>
              <a:ext cx="841375" cy="975994"/>
            </a:xfrm>
            <a:custGeom>
              <a:avLst/>
              <a:gdLst/>
              <a:ahLst/>
              <a:cxnLst/>
              <a:rect l="l" t="t" r="r" b="b"/>
              <a:pathLst>
                <a:path w="841375" h="975995">
                  <a:moveTo>
                    <a:pt x="420417" y="975366"/>
                  </a:moveTo>
                  <a:lnTo>
                    <a:pt x="0" y="765157"/>
                  </a:lnTo>
                  <a:lnTo>
                    <a:pt x="0" y="210208"/>
                  </a:lnTo>
                  <a:lnTo>
                    <a:pt x="420417" y="0"/>
                  </a:lnTo>
                  <a:lnTo>
                    <a:pt x="840834" y="210208"/>
                  </a:lnTo>
                  <a:lnTo>
                    <a:pt x="840834" y="765157"/>
                  </a:lnTo>
                  <a:lnTo>
                    <a:pt x="420417" y="9753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53438" y="3383596"/>
              <a:ext cx="841375" cy="975994"/>
            </a:xfrm>
            <a:custGeom>
              <a:avLst/>
              <a:gdLst/>
              <a:ahLst/>
              <a:cxnLst/>
              <a:rect l="l" t="t" r="r" b="b"/>
              <a:pathLst>
                <a:path w="841375" h="975995">
                  <a:moveTo>
                    <a:pt x="420417" y="0"/>
                  </a:moveTo>
                  <a:lnTo>
                    <a:pt x="840834" y="210208"/>
                  </a:lnTo>
                  <a:lnTo>
                    <a:pt x="840834" y="765157"/>
                  </a:lnTo>
                  <a:lnTo>
                    <a:pt x="420417" y="975366"/>
                  </a:lnTo>
                  <a:lnTo>
                    <a:pt x="0" y="765157"/>
                  </a:lnTo>
                  <a:lnTo>
                    <a:pt x="0" y="210208"/>
                  </a:lnTo>
                  <a:lnTo>
                    <a:pt x="420417" y="0"/>
                  </a:lnTo>
                  <a:close/>
                </a:path>
              </a:pathLst>
            </a:custGeom>
            <a:ln w="57149">
              <a:solidFill>
                <a:srgbClr val="124B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3438" y="1754342"/>
              <a:ext cx="841375" cy="975994"/>
            </a:xfrm>
            <a:custGeom>
              <a:avLst/>
              <a:gdLst/>
              <a:ahLst/>
              <a:cxnLst/>
              <a:rect l="l" t="t" r="r" b="b"/>
              <a:pathLst>
                <a:path w="841375" h="975994">
                  <a:moveTo>
                    <a:pt x="420417" y="975366"/>
                  </a:moveTo>
                  <a:lnTo>
                    <a:pt x="0" y="765158"/>
                  </a:lnTo>
                  <a:lnTo>
                    <a:pt x="0" y="210208"/>
                  </a:lnTo>
                  <a:lnTo>
                    <a:pt x="420417" y="0"/>
                  </a:lnTo>
                  <a:lnTo>
                    <a:pt x="840834" y="210208"/>
                  </a:lnTo>
                  <a:lnTo>
                    <a:pt x="840834" y="765158"/>
                  </a:lnTo>
                  <a:lnTo>
                    <a:pt x="420417" y="9753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53438" y="1754342"/>
              <a:ext cx="841375" cy="975994"/>
            </a:xfrm>
            <a:custGeom>
              <a:avLst/>
              <a:gdLst/>
              <a:ahLst/>
              <a:cxnLst/>
              <a:rect l="l" t="t" r="r" b="b"/>
              <a:pathLst>
                <a:path w="841375" h="975994">
                  <a:moveTo>
                    <a:pt x="420417" y="0"/>
                  </a:moveTo>
                  <a:lnTo>
                    <a:pt x="840834" y="210208"/>
                  </a:lnTo>
                  <a:lnTo>
                    <a:pt x="840834" y="765158"/>
                  </a:lnTo>
                  <a:lnTo>
                    <a:pt x="420417" y="975366"/>
                  </a:lnTo>
                  <a:lnTo>
                    <a:pt x="0" y="765158"/>
                  </a:lnTo>
                  <a:lnTo>
                    <a:pt x="0" y="210208"/>
                  </a:lnTo>
                  <a:lnTo>
                    <a:pt x="420417" y="0"/>
                  </a:lnTo>
                  <a:close/>
                </a:path>
              </a:pathLst>
            </a:custGeom>
            <a:ln w="57149">
              <a:solidFill>
                <a:srgbClr val="124B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53438" y="5004060"/>
              <a:ext cx="841375" cy="975994"/>
            </a:xfrm>
            <a:custGeom>
              <a:avLst/>
              <a:gdLst/>
              <a:ahLst/>
              <a:cxnLst/>
              <a:rect l="l" t="t" r="r" b="b"/>
              <a:pathLst>
                <a:path w="841375" h="975995">
                  <a:moveTo>
                    <a:pt x="420417" y="975366"/>
                  </a:moveTo>
                  <a:lnTo>
                    <a:pt x="0" y="765158"/>
                  </a:lnTo>
                  <a:lnTo>
                    <a:pt x="0" y="210208"/>
                  </a:lnTo>
                  <a:lnTo>
                    <a:pt x="420417" y="0"/>
                  </a:lnTo>
                  <a:lnTo>
                    <a:pt x="840834" y="210208"/>
                  </a:lnTo>
                  <a:lnTo>
                    <a:pt x="840834" y="765158"/>
                  </a:lnTo>
                  <a:lnTo>
                    <a:pt x="420417" y="9753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53438" y="5004060"/>
              <a:ext cx="841375" cy="975994"/>
            </a:xfrm>
            <a:custGeom>
              <a:avLst/>
              <a:gdLst/>
              <a:ahLst/>
              <a:cxnLst/>
              <a:rect l="l" t="t" r="r" b="b"/>
              <a:pathLst>
                <a:path w="841375" h="975995">
                  <a:moveTo>
                    <a:pt x="420417" y="0"/>
                  </a:moveTo>
                  <a:lnTo>
                    <a:pt x="840834" y="210208"/>
                  </a:lnTo>
                  <a:lnTo>
                    <a:pt x="840834" y="765158"/>
                  </a:lnTo>
                  <a:lnTo>
                    <a:pt x="420417" y="975366"/>
                  </a:lnTo>
                  <a:lnTo>
                    <a:pt x="0" y="765158"/>
                  </a:lnTo>
                  <a:lnTo>
                    <a:pt x="0" y="210208"/>
                  </a:lnTo>
                  <a:lnTo>
                    <a:pt x="420417" y="0"/>
                  </a:lnTo>
                  <a:close/>
                </a:path>
              </a:pathLst>
            </a:custGeom>
            <a:ln w="57149">
              <a:solidFill>
                <a:srgbClr val="124B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6840" y="1970671"/>
              <a:ext cx="642561" cy="6425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0062" y="2825086"/>
              <a:ext cx="583896" cy="4786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3404" y="3632169"/>
              <a:ext cx="469432" cy="46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5147" y="4409613"/>
              <a:ext cx="737743" cy="6167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8182" y="5252263"/>
              <a:ext cx="494653" cy="49465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39729" y="1975751"/>
            <a:ext cx="5905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124B6C"/>
                </a:solidFill>
                <a:latin typeface="Arial"/>
                <a:cs typeface="Arial"/>
              </a:rPr>
              <a:t>01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1979" y="3659092"/>
            <a:ext cx="5905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FF9900"/>
                </a:solidFill>
                <a:latin typeface="Arial"/>
                <a:cs typeface="Arial"/>
              </a:rPr>
              <a:t>03</a:t>
            </a:r>
            <a:endParaRPr sz="4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7165" y="5203641"/>
            <a:ext cx="5905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1A8EA9"/>
                </a:solidFill>
                <a:latin typeface="Arial"/>
                <a:cs typeface="Arial"/>
              </a:rPr>
              <a:t>05</a:t>
            </a:r>
            <a:endParaRPr sz="4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43038" y="2703074"/>
            <a:ext cx="5905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FF9900"/>
                </a:solidFill>
                <a:latin typeface="Arial"/>
                <a:cs typeface="Arial"/>
              </a:rPr>
              <a:t>02</a:t>
            </a:r>
            <a:endParaRPr sz="4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93014" y="4383915"/>
            <a:ext cx="5905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>
                <a:solidFill>
                  <a:srgbClr val="196491"/>
                </a:solidFill>
                <a:latin typeface="Arial"/>
                <a:cs typeface="Arial"/>
              </a:rPr>
              <a:t>04</a:t>
            </a:r>
            <a:endParaRPr sz="4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05271" y="4567416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5511" y="2129693"/>
            <a:ext cx="1788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781B"/>
                </a:solidFill>
                <a:latin typeface="Arial Black"/>
                <a:cs typeface="Arial Black"/>
              </a:rPr>
              <a:t>Data</a:t>
            </a:r>
            <a:r>
              <a:rPr sz="1800" spc="-70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Sourcing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80397" y="2858951"/>
            <a:ext cx="1771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781B"/>
                </a:solidFill>
                <a:latin typeface="Arial Black"/>
                <a:cs typeface="Arial Black"/>
              </a:rPr>
              <a:t>Data</a:t>
            </a:r>
            <a:r>
              <a:rPr sz="1800" spc="-70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Cleaning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15238" y="3760030"/>
            <a:ext cx="2447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5080" indent="-895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Univariate</a:t>
            </a:r>
            <a:r>
              <a:rPr sz="1800" spc="-85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Analysis </a:t>
            </a:r>
            <a:r>
              <a:rPr sz="1800" dirty="0">
                <a:solidFill>
                  <a:srgbClr val="C0781B"/>
                </a:solidFill>
                <a:latin typeface="Arial Black"/>
                <a:cs typeface="Arial Black"/>
              </a:rPr>
              <a:t>with</a:t>
            </a:r>
            <a:r>
              <a:rPr sz="1800" spc="-65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Visualisation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62128" y="4559225"/>
            <a:ext cx="2903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0715" marR="5080" indent="-6286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Bivariate</a:t>
            </a:r>
            <a:r>
              <a:rPr sz="1800" spc="-55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dirty="0">
                <a:solidFill>
                  <a:srgbClr val="C0781B"/>
                </a:solidFill>
                <a:latin typeface="Arial Black"/>
                <a:cs typeface="Arial Black"/>
              </a:rPr>
              <a:t>Analysis</a:t>
            </a:r>
            <a:r>
              <a:rPr sz="1800" spc="-50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spc="-20" dirty="0">
                <a:solidFill>
                  <a:srgbClr val="C0781B"/>
                </a:solidFill>
                <a:latin typeface="Arial Black"/>
                <a:cs typeface="Arial Black"/>
              </a:rPr>
              <a:t>with </a:t>
            </a: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Visualisation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46796" y="5372793"/>
            <a:ext cx="1985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781B"/>
                </a:solidFill>
                <a:latin typeface="Arial Black"/>
                <a:cs typeface="Arial Black"/>
              </a:rPr>
              <a:t>Derived</a:t>
            </a:r>
            <a:r>
              <a:rPr sz="1800" spc="-135" dirty="0">
                <a:solidFill>
                  <a:srgbClr val="C0781B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C0781B"/>
                </a:solidFill>
                <a:latin typeface="Arial Black"/>
                <a:cs typeface="Arial Black"/>
              </a:rPr>
              <a:t>Metrics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8307" y="483760"/>
            <a:ext cx="2418080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65"/>
              </a:lnSpc>
            </a:pPr>
            <a:r>
              <a:rPr sz="4400" b="1" spc="-20" dirty="0">
                <a:solidFill>
                  <a:srgbClr val="0C3148"/>
                </a:solidFill>
                <a:latin typeface="Arial"/>
                <a:cs typeface="Arial"/>
              </a:rPr>
              <a:t>Data</a:t>
            </a:r>
            <a:endParaRPr sz="4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400" b="1" spc="-20" dirty="0">
                <a:solidFill>
                  <a:srgbClr val="0C3148"/>
                </a:solidFill>
                <a:latin typeface="Arial"/>
                <a:cs typeface="Arial"/>
              </a:rPr>
              <a:t>Sourcing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514" y="0"/>
            <a:ext cx="7964488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2712" y="781763"/>
            <a:ext cx="3785235" cy="493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 marR="8255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Sourcing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process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gathering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multiple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sources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external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internal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collection.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58419" marR="11430" algn="just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There</a:t>
            </a:r>
            <a:r>
              <a:rPr sz="1400" b="1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b="1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two</a:t>
            </a:r>
            <a:r>
              <a:rPr sz="1400" b="1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major</a:t>
            </a:r>
            <a:r>
              <a:rPr sz="1400" b="1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kind</a:t>
            </a:r>
            <a:r>
              <a:rPr sz="1400" b="1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b="1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b="1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b="1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25" dirty="0">
                <a:solidFill>
                  <a:srgbClr val="0C0C0C"/>
                </a:solidFill>
                <a:latin typeface="Cambria"/>
                <a:cs typeface="Cambria"/>
              </a:rPr>
              <a:t>can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400" b="1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classified</a:t>
            </a:r>
            <a:r>
              <a:rPr sz="1400" b="1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according</a:t>
            </a:r>
            <a:r>
              <a:rPr sz="1400" b="1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b="1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1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source: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401320" algn="l"/>
                <a:tab pos="1714500" algn="l"/>
              </a:tabLst>
            </a:pP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1.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Public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2.</a:t>
            </a:r>
            <a:r>
              <a:rPr sz="1400" b="1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Private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Cambria"/>
              <a:cs typeface="Cambria"/>
            </a:endParaRPr>
          </a:p>
          <a:p>
            <a:pPr marL="58419" marR="5080" algn="just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Public</a:t>
            </a:r>
            <a:r>
              <a:rPr sz="1400" b="1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Data:-</a:t>
            </a:r>
            <a:r>
              <a:rPr sz="1400" b="1" spc="114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easy</a:t>
            </a:r>
            <a:r>
              <a:rPr sz="1400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access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without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taking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any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permission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agencies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 called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public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.</a:t>
            </a:r>
            <a:r>
              <a:rPr sz="1400" b="1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agencies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made the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public</a:t>
            </a:r>
            <a:r>
              <a:rPr sz="1400" spc="3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400" spc="34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purpose</a:t>
            </a:r>
            <a:r>
              <a:rPr sz="1400" spc="3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3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research.</a:t>
            </a:r>
            <a:r>
              <a:rPr sz="1400" spc="3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Like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government</a:t>
            </a:r>
            <a:r>
              <a:rPr sz="1400" spc="44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45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other</a:t>
            </a:r>
            <a:r>
              <a:rPr sz="1400" spc="45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public</a:t>
            </a:r>
            <a:r>
              <a:rPr sz="1400" spc="44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sector</a:t>
            </a:r>
            <a:r>
              <a:rPr sz="1400" spc="45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or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ecommerce</a:t>
            </a:r>
            <a:r>
              <a:rPr sz="1400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sites</a:t>
            </a:r>
            <a:r>
              <a:rPr sz="1400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made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there</a:t>
            </a:r>
            <a:r>
              <a:rPr sz="1400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public.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Cambria"/>
              <a:cs typeface="Cambria"/>
            </a:endParaRPr>
          </a:p>
          <a:p>
            <a:pPr marL="58419" marR="8255" algn="just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Private</a:t>
            </a:r>
            <a:r>
              <a:rPr sz="1400" b="1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Data:-</a:t>
            </a:r>
            <a:r>
              <a:rPr sz="1400" b="1" spc="12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not</a:t>
            </a:r>
            <a:r>
              <a:rPr sz="1400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available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on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public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platform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access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we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have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take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permission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organisation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is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called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private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data.</a:t>
            </a:r>
            <a:r>
              <a:rPr sz="14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Like</a:t>
            </a:r>
            <a:r>
              <a:rPr sz="1400" b="1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Banking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,telecom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,retail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sector</a:t>
            </a:r>
            <a:r>
              <a:rPr sz="1400" spc="9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spc="10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there</a:t>
            </a:r>
            <a:r>
              <a:rPr sz="1400" spc="10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10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not</a:t>
            </a:r>
            <a:r>
              <a:rPr sz="1400" spc="9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made</a:t>
            </a:r>
            <a:r>
              <a:rPr sz="1400" spc="10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their</a:t>
            </a:r>
            <a:r>
              <a:rPr sz="1400" spc="10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publicly</a:t>
            </a:r>
            <a:r>
              <a:rPr sz="1400" spc="-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available.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0789" y="374345"/>
            <a:ext cx="2356485" cy="129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65"/>
              </a:lnSpc>
            </a:pPr>
            <a:r>
              <a:rPr sz="4400" b="1" spc="-20" dirty="0">
                <a:solidFill>
                  <a:srgbClr val="0F243E"/>
                </a:solidFill>
                <a:latin typeface="Arial"/>
                <a:cs typeface="Arial"/>
              </a:rPr>
              <a:t>Data</a:t>
            </a:r>
            <a:endParaRPr sz="4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400" b="1" spc="-20" dirty="0">
                <a:solidFill>
                  <a:srgbClr val="0F243E"/>
                </a:solidFill>
                <a:latin typeface="Arial"/>
                <a:cs typeface="Arial"/>
              </a:rPr>
              <a:t>Cleaning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514" y="0"/>
            <a:ext cx="7964488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7236" y="710738"/>
            <a:ext cx="3738879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6985" indent="-25781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1559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After</a:t>
            </a:r>
            <a:r>
              <a:rPr sz="14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collecting</a:t>
            </a:r>
            <a:r>
              <a:rPr sz="1400" spc="3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,</a:t>
            </a:r>
            <a:r>
              <a:rPr sz="1400" spc="3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next</a:t>
            </a:r>
            <a:r>
              <a:rPr sz="14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step</a:t>
            </a:r>
            <a:r>
              <a:rPr sz="1400" spc="3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is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cleaning.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cleaning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means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you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get</a:t>
            </a:r>
            <a:r>
              <a:rPr sz="1400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rid</a:t>
            </a:r>
            <a:r>
              <a:rPr sz="14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any</a:t>
            </a:r>
            <a:r>
              <a:rPr sz="14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information</a:t>
            </a:r>
            <a:r>
              <a:rPr sz="14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doesn’t</a:t>
            </a:r>
            <a:r>
              <a:rPr sz="14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need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there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clean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up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by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mistake.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C0C0C"/>
              </a:buClr>
              <a:buFont typeface="Arial"/>
              <a:buChar char="•"/>
            </a:pPr>
            <a:endParaRPr sz="1400">
              <a:latin typeface="Cambria"/>
              <a:cs typeface="Cambria"/>
            </a:endParaRPr>
          </a:p>
          <a:p>
            <a:pPr marL="314325" marR="7620" indent="-257810" algn="just">
              <a:lnSpc>
                <a:spcPct val="100000"/>
              </a:lnSpc>
              <a:buFont typeface="Arial"/>
              <a:buChar char="•"/>
              <a:tabLst>
                <a:tab pos="31559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Cleaning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process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clean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data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improve the quality of the data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for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further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building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32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machine 	learning model.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C0C0C"/>
              </a:buClr>
              <a:buFont typeface="Arial"/>
              <a:buChar char="•"/>
            </a:pPr>
            <a:endParaRPr sz="1400">
              <a:latin typeface="Cambria"/>
              <a:cs typeface="Cambria"/>
            </a:endParaRPr>
          </a:p>
          <a:p>
            <a:pPr marL="314325" marR="5080" indent="-257810" algn="just">
              <a:lnSpc>
                <a:spcPct val="100000"/>
              </a:lnSpc>
              <a:buFont typeface="Arial"/>
              <a:buChar char="•"/>
              <a:tabLst>
                <a:tab pos="31559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benefit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cleaning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2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all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incorrect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irrelevant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gone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we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get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good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quality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will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help 	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3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improving</a:t>
            </a:r>
            <a:r>
              <a:rPr sz="1400" spc="3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accuracy</a:t>
            </a:r>
            <a:r>
              <a:rPr sz="1400" spc="3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our</a:t>
            </a:r>
            <a:r>
              <a:rPr sz="1400" spc="3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machine 	learning model.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Cambria"/>
              <a:cs typeface="Cambria"/>
            </a:endParaRPr>
          </a:p>
          <a:p>
            <a:pPr marL="29845" marR="3365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1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following</a:t>
            </a:r>
            <a:r>
              <a:rPr sz="1400" b="1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b="1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some</a:t>
            </a:r>
            <a:r>
              <a:rPr sz="1400" b="1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steps</a:t>
            </a:r>
            <a:r>
              <a:rPr sz="1400" b="1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involve</a:t>
            </a:r>
            <a:r>
              <a:rPr sz="1400" b="1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b="1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Data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Cleaning: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315595" indent="-302895">
              <a:lnSpc>
                <a:spcPct val="100000"/>
              </a:lnSpc>
              <a:buFont typeface="Noto Sans Symbols"/>
              <a:buChar char="□"/>
              <a:tabLst>
                <a:tab pos="31559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Handle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endParaRPr sz="1400">
              <a:latin typeface="Cambria"/>
              <a:cs typeface="Cambria"/>
            </a:endParaRPr>
          </a:p>
          <a:p>
            <a:pPr marL="315595" indent="-302895">
              <a:lnSpc>
                <a:spcPct val="100000"/>
              </a:lnSpc>
              <a:buFont typeface="Noto Sans Symbols"/>
              <a:buChar char="□"/>
              <a:tabLst>
                <a:tab pos="315595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Standardisation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endParaRPr sz="1400">
              <a:latin typeface="Cambria"/>
              <a:cs typeface="Cambria"/>
            </a:endParaRPr>
          </a:p>
          <a:p>
            <a:pPr marL="315595" indent="-302895">
              <a:lnSpc>
                <a:spcPct val="100000"/>
              </a:lnSpc>
              <a:buFont typeface="Noto Sans Symbols"/>
              <a:buChar char="□"/>
              <a:tabLst>
                <a:tab pos="31559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Outlier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Treatment</a:t>
            </a:r>
            <a:endParaRPr sz="1400">
              <a:latin typeface="Cambria"/>
              <a:cs typeface="Cambria"/>
            </a:endParaRPr>
          </a:p>
          <a:p>
            <a:pPr marL="315595" indent="-302895">
              <a:lnSpc>
                <a:spcPct val="100000"/>
              </a:lnSpc>
              <a:buFont typeface="Noto Sans Symbols"/>
              <a:buChar char="□"/>
              <a:tabLst>
                <a:tab pos="31559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Handle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Invalid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71971" y="1430845"/>
            <a:ext cx="2080260" cy="5049520"/>
            <a:chOff x="5071971" y="1430845"/>
            <a:chExt cx="2080260" cy="5049520"/>
          </a:xfrm>
        </p:grpSpPr>
        <p:sp>
          <p:nvSpPr>
            <p:cNvPr id="3" name="object 3"/>
            <p:cNvSpPr/>
            <p:nvPr/>
          </p:nvSpPr>
          <p:spPr>
            <a:xfrm>
              <a:off x="5071971" y="2678398"/>
              <a:ext cx="2027555" cy="1609090"/>
            </a:xfrm>
            <a:custGeom>
              <a:avLst/>
              <a:gdLst/>
              <a:ahLst/>
              <a:cxnLst/>
              <a:rect l="l" t="t" r="r" b="b"/>
              <a:pathLst>
                <a:path w="2027554" h="1609089">
                  <a:moveTo>
                    <a:pt x="742031" y="1608835"/>
                  </a:moveTo>
                  <a:lnTo>
                    <a:pt x="0" y="323598"/>
                  </a:lnTo>
                  <a:lnTo>
                    <a:pt x="560488" y="0"/>
                  </a:lnTo>
                  <a:lnTo>
                    <a:pt x="978922" y="724749"/>
                  </a:lnTo>
                  <a:lnTo>
                    <a:pt x="1703672" y="306315"/>
                  </a:lnTo>
                  <a:lnTo>
                    <a:pt x="2027270" y="866802"/>
                  </a:lnTo>
                  <a:lnTo>
                    <a:pt x="742031" y="1608835"/>
                  </a:lnTo>
                  <a:close/>
                </a:path>
              </a:pathLst>
            </a:custGeom>
            <a:solidFill>
              <a:srgbClr val="0C31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71971" y="1430845"/>
              <a:ext cx="2080260" cy="2118995"/>
            </a:xfrm>
            <a:custGeom>
              <a:avLst/>
              <a:gdLst/>
              <a:ahLst/>
              <a:cxnLst/>
              <a:rect l="l" t="t" r="r" b="b"/>
              <a:pathLst>
                <a:path w="2080259" h="2118995">
                  <a:moveTo>
                    <a:pt x="794981" y="2118981"/>
                  </a:moveTo>
                  <a:lnTo>
                    <a:pt x="0" y="742032"/>
                  </a:lnTo>
                  <a:lnTo>
                    <a:pt x="1285237" y="0"/>
                  </a:lnTo>
                  <a:lnTo>
                    <a:pt x="2080220" y="1376949"/>
                  </a:lnTo>
                  <a:lnTo>
                    <a:pt x="794981" y="211898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71971" y="3409425"/>
              <a:ext cx="2027555" cy="1609090"/>
            </a:xfrm>
            <a:custGeom>
              <a:avLst/>
              <a:gdLst/>
              <a:ahLst/>
              <a:cxnLst/>
              <a:rect l="l" t="t" r="r" b="b"/>
              <a:pathLst>
                <a:path w="2027554" h="1609089">
                  <a:moveTo>
                    <a:pt x="742031" y="1608835"/>
                  </a:moveTo>
                  <a:lnTo>
                    <a:pt x="0" y="323597"/>
                  </a:lnTo>
                  <a:lnTo>
                    <a:pt x="560488" y="0"/>
                  </a:lnTo>
                  <a:lnTo>
                    <a:pt x="978922" y="724749"/>
                  </a:lnTo>
                  <a:lnTo>
                    <a:pt x="1703672" y="306315"/>
                  </a:lnTo>
                  <a:lnTo>
                    <a:pt x="2027270" y="866802"/>
                  </a:lnTo>
                  <a:lnTo>
                    <a:pt x="742031" y="1608835"/>
                  </a:lnTo>
                  <a:close/>
                </a:path>
              </a:pathLst>
            </a:custGeom>
            <a:solidFill>
              <a:srgbClr val="127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1971" y="4140452"/>
              <a:ext cx="2027555" cy="1609090"/>
            </a:xfrm>
            <a:custGeom>
              <a:avLst/>
              <a:gdLst/>
              <a:ahLst/>
              <a:cxnLst/>
              <a:rect l="l" t="t" r="r" b="b"/>
              <a:pathLst>
                <a:path w="2027554" h="1609089">
                  <a:moveTo>
                    <a:pt x="742031" y="1608834"/>
                  </a:moveTo>
                  <a:lnTo>
                    <a:pt x="0" y="323597"/>
                  </a:lnTo>
                  <a:lnTo>
                    <a:pt x="560488" y="0"/>
                  </a:lnTo>
                  <a:lnTo>
                    <a:pt x="978922" y="724749"/>
                  </a:lnTo>
                  <a:lnTo>
                    <a:pt x="1703672" y="306315"/>
                  </a:lnTo>
                  <a:lnTo>
                    <a:pt x="2027270" y="866802"/>
                  </a:lnTo>
                  <a:lnTo>
                    <a:pt x="742031" y="1608834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71971" y="4871480"/>
              <a:ext cx="2027555" cy="1609090"/>
            </a:xfrm>
            <a:custGeom>
              <a:avLst/>
              <a:gdLst/>
              <a:ahLst/>
              <a:cxnLst/>
              <a:rect l="l" t="t" r="r" b="b"/>
              <a:pathLst>
                <a:path w="2027554" h="1609089">
                  <a:moveTo>
                    <a:pt x="742031" y="1608835"/>
                  </a:moveTo>
                  <a:lnTo>
                    <a:pt x="0" y="323597"/>
                  </a:lnTo>
                  <a:lnTo>
                    <a:pt x="560488" y="0"/>
                  </a:lnTo>
                  <a:lnTo>
                    <a:pt x="978922" y="724749"/>
                  </a:lnTo>
                  <a:lnTo>
                    <a:pt x="1703672" y="306315"/>
                  </a:lnTo>
                  <a:lnTo>
                    <a:pt x="2027270" y="866802"/>
                  </a:lnTo>
                  <a:lnTo>
                    <a:pt x="742031" y="1608835"/>
                  </a:lnTo>
                  <a:close/>
                </a:path>
              </a:pathLst>
            </a:custGeom>
            <a:solidFill>
              <a:srgbClr val="0C31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3813" y="2008339"/>
              <a:ext cx="1323974" cy="83815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9132" rIns="0" bIns="0" rtlCol="0">
            <a:spAutoFit/>
          </a:bodyPr>
          <a:lstStyle/>
          <a:p>
            <a:pPr marL="4609465" marR="5080" indent="-3941445">
              <a:lnSpc>
                <a:spcPct val="80000"/>
              </a:lnSpc>
              <a:spcBef>
                <a:spcPts val="770"/>
              </a:spcBef>
            </a:pPr>
            <a:r>
              <a:rPr sz="2800" dirty="0">
                <a:solidFill>
                  <a:srgbClr val="262626"/>
                </a:solidFill>
              </a:rPr>
              <a:t>Some</a:t>
            </a:r>
            <a:r>
              <a:rPr sz="2800" spc="-9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Questions</a:t>
            </a:r>
            <a:r>
              <a:rPr sz="2800" spc="-90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you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need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to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ask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yourself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about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the</a:t>
            </a:r>
            <a:r>
              <a:rPr sz="2800" spc="-85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data</a:t>
            </a:r>
            <a:r>
              <a:rPr sz="2800" spc="-90" dirty="0">
                <a:solidFill>
                  <a:srgbClr val="262626"/>
                </a:solidFill>
              </a:rPr>
              <a:t> </a:t>
            </a:r>
            <a:r>
              <a:rPr sz="2800" spc="-10" dirty="0">
                <a:solidFill>
                  <a:srgbClr val="262626"/>
                </a:solidFill>
              </a:rPr>
              <a:t>before </a:t>
            </a:r>
            <a:r>
              <a:rPr sz="2800" dirty="0">
                <a:solidFill>
                  <a:srgbClr val="262626"/>
                </a:solidFill>
              </a:rPr>
              <a:t>cleaning</a:t>
            </a:r>
            <a:r>
              <a:rPr sz="2800" spc="-110" dirty="0">
                <a:solidFill>
                  <a:srgbClr val="262626"/>
                </a:solidFill>
              </a:rPr>
              <a:t> </a:t>
            </a:r>
            <a:r>
              <a:rPr sz="2800" dirty="0">
                <a:solidFill>
                  <a:srgbClr val="262626"/>
                </a:solidFill>
              </a:rPr>
              <a:t>the</a:t>
            </a:r>
            <a:r>
              <a:rPr sz="2800" spc="-105" dirty="0">
                <a:solidFill>
                  <a:srgbClr val="262626"/>
                </a:solidFill>
              </a:rPr>
              <a:t> </a:t>
            </a:r>
            <a:r>
              <a:rPr sz="2800" spc="-20" dirty="0">
                <a:solidFill>
                  <a:srgbClr val="262626"/>
                </a:solidFill>
              </a:rPr>
              <a:t>data</a:t>
            </a:r>
            <a:endParaRPr sz="2800"/>
          </a:p>
        </p:txBody>
      </p:sp>
      <p:grpSp>
        <p:nvGrpSpPr>
          <p:cNvPr id="10" name="object 10"/>
          <p:cNvGrpSpPr/>
          <p:nvPr/>
        </p:nvGrpSpPr>
        <p:grpSpPr>
          <a:xfrm>
            <a:off x="7275759" y="4242436"/>
            <a:ext cx="792480" cy="792480"/>
            <a:chOff x="7275759" y="4242436"/>
            <a:chExt cx="792480" cy="792480"/>
          </a:xfrm>
        </p:grpSpPr>
        <p:sp>
          <p:nvSpPr>
            <p:cNvPr id="11" name="object 11"/>
            <p:cNvSpPr/>
            <p:nvPr/>
          </p:nvSpPr>
          <p:spPr>
            <a:xfrm>
              <a:off x="7275759" y="4242436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396043" y="792087"/>
                  </a:moveTo>
                  <a:lnTo>
                    <a:pt x="349856" y="789423"/>
                  </a:lnTo>
                  <a:lnTo>
                    <a:pt x="305234" y="781627"/>
                  </a:lnTo>
                  <a:lnTo>
                    <a:pt x="262474" y="768998"/>
                  </a:lnTo>
                  <a:lnTo>
                    <a:pt x="221873" y="751833"/>
                  </a:lnTo>
                  <a:lnTo>
                    <a:pt x="183729" y="730428"/>
                  </a:lnTo>
                  <a:lnTo>
                    <a:pt x="148338" y="705081"/>
                  </a:lnTo>
                  <a:lnTo>
                    <a:pt x="115998" y="676089"/>
                  </a:lnTo>
                  <a:lnTo>
                    <a:pt x="87006" y="643749"/>
                  </a:lnTo>
                  <a:lnTo>
                    <a:pt x="61659" y="608358"/>
                  </a:lnTo>
                  <a:lnTo>
                    <a:pt x="40254" y="570214"/>
                  </a:lnTo>
                  <a:lnTo>
                    <a:pt x="23088" y="529613"/>
                  </a:lnTo>
                  <a:lnTo>
                    <a:pt x="10459" y="486853"/>
                  </a:lnTo>
                  <a:lnTo>
                    <a:pt x="2664" y="442231"/>
                  </a:lnTo>
                  <a:lnTo>
                    <a:pt x="0" y="396043"/>
                  </a:lnTo>
                  <a:lnTo>
                    <a:pt x="2664" y="349856"/>
                  </a:lnTo>
                  <a:lnTo>
                    <a:pt x="10459" y="305234"/>
                  </a:lnTo>
                  <a:lnTo>
                    <a:pt x="23088" y="262474"/>
                  </a:lnTo>
                  <a:lnTo>
                    <a:pt x="40254" y="221873"/>
                  </a:lnTo>
                  <a:lnTo>
                    <a:pt x="61659" y="183729"/>
                  </a:lnTo>
                  <a:lnTo>
                    <a:pt x="87006" y="148338"/>
                  </a:lnTo>
                  <a:lnTo>
                    <a:pt x="115998" y="115998"/>
                  </a:lnTo>
                  <a:lnTo>
                    <a:pt x="148338" y="87006"/>
                  </a:lnTo>
                  <a:lnTo>
                    <a:pt x="183729" y="61659"/>
                  </a:lnTo>
                  <a:lnTo>
                    <a:pt x="221873" y="40254"/>
                  </a:lnTo>
                  <a:lnTo>
                    <a:pt x="262474" y="23088"/>
                  </a:lnTo>
                  <a:lnTo>
                    <a:pt x="305234" y="10459"/>
                  </a:lnTo>
                  <a:lnTo>
                    <a:pt x="349856" y="2664"/>
                  </a:lnTo>
                  <a:lnTo>
                    <a:pt x="396043" y="0"/>
                  </a:lnTo>
                  <a:lnTo>
                    <a:pt x="448101" y="3434"/>
                  </a:lnTo>
                  <a:lnTo>
                    <a:pt x="498826" y="13568"/>
                  </a:lnTo>
                  <a:lnTo>
                    <a:pt x="547603" y="30146"/>
                  </a:lnTo>
                  <a:lnTo>
                    <a:pt x="593816" y="52914"/>
                  </a:lnTo>
                  <a:lnTo>
                    <a:pt x="636850" y="81616"/>
                  </a:lnTo>
                  <a:lnTo>
                    <a:pt x="676089" y="115998"/>
                  </a:lnTo>
                  <a:lnTo>
                    <a:pt x="710470" y="155237"/>
                  </a:lnTo>
                  <a:lnTo>
                    <a:pt x="739173" y="198271"/>
                  </a:lnTo>
                  <a:lnTo>
                    <a:pt x="761941" y="244484"/>
                  </a:lnTo>
                  <a:lnTo>
                    <a:pt x="778519" y="293261"/>
                  </a:lnTo>
                  <a:lnTo>
                    <a:pt x="788653" y="343986"/>
                  </a:lnTo>
                  <a:lnTo>
                    <a:pt x="792088" y="396043"/>
                  </a:lnTo>
                  <a:lnTo>
                    <a:pt x="789424" y="442231"/>
                  </a:lnTo>
                  <a:lnTo>
                    <a:pt x="781628" y="486853"/>
                  </a:lnTo>
                  <a:lnTo>
                    <a:pt x="768999" y="529613"/>
                  </a:lnTo>
                  <a:lnTo>
                    <a:pt x="751833" y="570214"/>
                  </a:lnTo>
                  <a:lnTo>
                    <a:pt x="730428" y="608358"/>
                  </a:lnTo>
                  <a:lnTo>
                    <a:pt x="705081" y="643749"/>
                  </a:lnTo>
                  <a:lnTo>
                    <a:pt x="676089" y="676089"/>
                  </a:lnTo>
                  <a:lnTo>
                    <a:pt x="643749" y="705081"/>
                  </a:lnTo>
                  <a:lnTo>
                    <a:pt x="608358" y="730428"/>
                  </a:lnTo>
                  <a:lnTo>
                    <a:pt x="570213" y="751833"/>
                  </a:lnTo>
                  <a:lnTo>
                    <a:pt x="529613" y="768998"/>
                  </a:lnTo>
                  <a:lnTo>
                    <a:pt x="486853" y="781627"/>
                  </a:lnTo>
                  <a:lnTo>
                    <a:pt x="442230" y="789423"/>
                  </a:lnTo>
                  <a:lnTo>
                    <a:pt x="396043" y="792087"/>
                  </a:lnTo>
                  <a:close/>
                </a:path>
              </a:pathLst>
            </a:custGeom>
            <a:solidFill>
              <a:srgbClr val="0365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8550" y="4411601"/>
              <a:ext cx="514349" cy="47578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7293457" y="2745897"/>
            <a:ext cx="792480" cy="792480"/>
            <a:chOff x="7293457" y="2745897"/>
            <a:chExt cx="792480" cy="792480"/>
          </a:xfrm>
        </p:grpSpPr>
        <p:sp>
          <p:nvSpPr>
            <p:cNvPr id="14" name="object 14"/>
            <p:cNvSpPr/>
            <p:nvPr/>
          </p:nvSpPr>
          <p:spPr>
            <a:xfrm>
              <a:off x="7293457" y="2745897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396043" y="792087"/>
                  </a:moveTo>
                  <a:lnTo>
                    <a:pt x="349856" y="789423"/>
                  </a:lnTo>
                  <a:lnTo>
                    <a:pt x="305234" y="781628"/>
                  </a:lnTo>
                  <a:lnTo>
                    <a:pt x="262474" y="768999"/>
                  </a:lnTo>
                  <a:lnTo>
                    <a:pt x="221873" y="751833"/>
                  </a:lnTo>
                  <a:lnTo>
                    <a:pt x="183729" y="730428"/>
                  </a:lnTo>
                  <a:lnTo>
                    <a:pt x="148338" y="705081"/>
                  </a:lnTo>
                  <a:lnTo>
                    <a:pt x="115998" y="676089"/>
                  </a:lnTo>
                  <a:lnTo>
                    <a:pt x="87006" y="643749"/>
                  </a:lnTo>
                  <a:lnTo>
                    <a:pt x="61659" y="608358"/>
                  </a:lnTo>
                  <a:lnTo>
                    <a:pt x="40254" y="570214"/>
                  </a:lnTo>
                  <a:lnTo>
                    <a:pt x="23088" y="529613"/>
                  </a:lnTo>
                  <a:lnTo>
                    <a:pt x="10459" y="486853"/>
                  </a:lnTo>
                  <a:lnTo>
                    <a:pt x="2664" y="442231"/>
                  </a:lnTo>
                  <a:lnTo>
                    <a:pt x="0" y="396043"/>
                  </a:lnTo>
                  <a:lnTo>
                    <a:pt x="2664" y="349856"/>
                  </a:lnTo>
                  <a:lnTo>
                    <a:pt x="10459" y="305234"/>
                  </a:lnTo>
                  <a:lnTo>
                    <a:pt x="23088" y="262474"/>
                  </a:lnTo>
                  <a:lnTo>
                    <a:pt x="40254" y="221873"/>
                  </a:lnTo>
                  <a:lnTo>
                    <a:pt x="61659" y="183729"/>
                  </a:lnTo>
                  <a:lnTo>
                    <a:pt x="87006" y="148338"/>
                  </a:lnTo>
                  <a:lnTo>
                    <a:pt x="115998" y="115998"/>
                  </a:lnTo>
                  <a:lnTo>
                    <a:pt x="148338" y="87006"/>
                  </a:lnTo>
                  <a:lnTo>
                    <a:pt x="183729" y="61659"/>
                  </a:lnTo>
                  <a:lnTo>
                    <a:pt x="221873" y="40254"/>
                  </a:lnTo>
                  <a:lnTo>
                    <a:pt x="262474" y="23088"/>
                  </a:lnTo>
                  <a:lnTo>
                    <a:pt x="305234" y="10459"/>
                  </a:lnTo>
                  <a:lnTo>
                    <a:pt x="349856" y="2664"/>
                  </a:lnTo>
                  <a:lnTo>
                    <a:pt x="396043" y="0"/>
                  </a:lnTo>
                  <a:lnTo>
                    <a:pt x="448101" y="3434"/>
                  </a:lnTo>
                  <a:lnTo>
                    <a:pt x="498826" y="13568"/>
                  </a:lnTo>
                  <a:lnTo>
                    <a:pt x="547603" y="30147"/>
                  </a:lnTo>
                  <a:lnTo>
                    <a:pt x="593816" y="52914"/>
                  </a:lnTo>
                  <a:lnTo>
                    <a:pt x="636850" y="81617"/>
                  </a:lnTo>
                  <a:lnTo>
                    <a:pt x="676088" y="115998"/>
                  </a:lnTo>
                  <a:lnTo>
                    <a:pt x="710470" y="155237"/>
                  </a:lnTo>
                  <a:lnTo>
                    <a:pt x="739172" y="198271"/>
                  </a:lnTo>
                  <a:lnTo>
                    <a:pt x="761940" y="244484"/>
                  </a:lnTo>
                  <a:lnTo>
                    <a:pt x="778519" y="293261"/>
                  </a:lnTo>
                  <a:lnTo>
                    <a:pt x="788653" y="343986"/>
                  </a:lnTo>
                  <a:lnTo>
                    <a:pt x="792087" y="396043"/>
                  </a:lnTo>
                  <a:lnTo>
                    <a:pt x="789423" y="442231"/>
                  </a:lnTo>
                  <a:lnTo>
                    <a:pt x="781628" y="486853"/>
                  </a:lnTo>
                  <a:lnTo>
                    <a:pt x="768999" y="529613"/>
                  </a:lnTo>
                  <a:lnTo>
                    <a:pt x="751833" y="570214"/>
                  </a:lnTo>
                  <a:lnTo>
                    <a:pt x="730428" y="608358"/>
                  </a:lnTo>
                  <a:lnTo>
                    <a:pt x="705081" y="643749"/>
                  </a:lnTo>
                  <a:lnTo>
                    <a:pt x="676089" y="676089"/>
                  </a:lnTo>
                  <a:lnTo>
                    <a:pt x="643749" y="705081"/>
                  </a:lnTo>
                  <a:lnTo>
                    <a:pt x="608358" y="730428"/>
                  </a:lnTo>
                  <a:lnTo>
                    <a:pt x="570213" y="751833"/>
                  </a:lnTo>
                  <a:lnTo>
                    <a:pt x="529613" y="768999"/>
                  </a:lnTo>
                  <a:lnTo>
                    <a:pt x="486853" y="781628"/>
                  </a:lnTo>
                  <a:lnTo>
                    <a:pt x="442230" y="789423"/>
                  </a:lnTo>
                  <a:lnTo>
                    <a:pt x="396043" y="792087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2699" y="2813447"/>
              <a:ext cx="765148" cy="506910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068990" y="5005317"/>
            <a:ext cx="792480" cy="792480"/>
            <a:chOff x="4068990" y="5005317"/>
            <a:chExt cx="792480" cy="792480"/>
          </a:xfrm>
        </p:grpSpPr>
        <p:sp>
          <p:nvSpPr>
            <p:cNvPr id="17" name="object 17"/>
            <p:cNvSpPr/>
            <p:nvPr/>
          </p:nvSpPr>
          <p:spPr>
            <a:xfrm>
              <a:off x="4068990" y="5005317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396043" y="792087"/>
                  </a:moveTo>
                  <a:lnTo>
                    <a:pt x="349856" y="789423"/>
                  </a:lnTo>
                  <a:lnTo>
                    <a:pt x="305234" y="781627"/>
                  </a:lnTo>
                  <a:lnTo>
                    <a:pt x="262474" y="768998"/>
                  </a:lnTo>
                  <a:lnTo>
                    <a:pt x="221873" y="751833"/>
                  </a:lnTo>
                  <a:lnTo>
                    <a:pt x="183729" y="730428"/>
                  </a:lnTo>
                  <a:lnTo>
                    <a:pt x="148338" y="705081"/>
                  </a:lnTo>
                  <a:lnTo>
                    <a:pt x="115998" y="676089"/>
                  </a:lnTo>
                  <a:lnTo>
                    <a:pt x="87006" y="643749"/>
                  </a:lnTo>
                  <a:lnTo>
                    <a:pt x="61659" y="608358"/>
                  </a:lnTo>
                  <a:lnTo>
                    <a:pt x="40254" y="570214"/>
                  </a:lnTo>
                  <a:lnTo>
                    <a:pt x="23088" y="529613"/>
                  </a:lnTo>
                  <a:lnTo>
                    <a:pt x="10459" y="486853"/>
                  </a:lnTo>
                  <a:lnTo>
                    <a:pt x="2664" y="442231"/>
                  </a:lnTo>
                  <a:lnTo>
                    <a:pt x="0" y="396043"/>
                  </a:lnTo>
                  <a:lnTo>
                    <a:pt x="2664" y="349856"/>
                  </a:lnTo>
                  <a:lnTo>
                    <a:pt x="10459" y="305234"/>
                  </a:lnTo>
                  <a:lnTo>
                    <a:pt x="23088" y="262474"/>
                  </a:lnTo>
                  <a:lnTo>
                    <a:pt x="40254" y="221873"/>
                  </a:lnTo>
                  <a:lnTo>
                    <a:pt x="61659" y="183729"/>
                  </a:lnTo>
                  <a:lnTo>
                    <a:pt x="87006" y="148338"/>
                  </a:lnTo>
                  <a:lnTo>
                    <a:pt x="115998" y="115998"/>
                  </a:lnTo>
                  <a:lnTo>
                    <a:pt x="148338" y="87006"/>
                  </a:lnTo>
                  <a:lnTo>
                    <a:pt x="183729" y="61659"/>
                  </a:lnTo>
                  <a:lnTo>
                    <a:pt x="221873" y="40254"/>
                  </a:lnTo>
                  <a:lnTo>
                    <a:pt x="262474" y="23088"/>
                  </a:lnTo>
                  <a:lnTo>
                    <a:pt x="305234" y="10459"/>
                  </a:lnTo>
                  <a:lnTo>
                    <a:pt x="349856" y="2664"/>
                  </a:lnTo>
                  <a:lnTo>
                    <a:pt x="396043" y="0"/>
                  </a:lnTo>
                  <a:lnTo>
                    <a:pt x="448101" y="3434"/>
                  </a:lnTo>
                  <a:lnTo>
                    <a:pt x="498826" y="13568"/>
                  </a:lnTo>
                  <a:lnTo>
                    <a:pt x="547603" y="30146"/>
                  </a:lnTo>
                  <a:lnTo>
                    <a:pt x="593816" y="52914"/>
                  </a:lnTo>
                  <a:lnTo>
                    <a:pt x="636850" y="81616"/>
                  </a:lnTo>
                  <a:lnTo>
                    <a:pt x="676089" y="115998"/>
                  </a:lnTo>
                  <a:lnTo>
                    <a:pt x="710471" y="155237"/>
                  </a:lnTo>
                  <a:lnTo>
                    <a:pt x="739173" y="198271"/>
                  </a:lnTo>
                  <a:lnTo>
                    <a:pt x="761940" y="244484"/>
                  </a:lnTo>
                  <a:lnTo>
                    <a:pt x="778519" y="293261"/>
                  </a:lnTo>
                  <a:lnTo>
                    <a:pt x="788653" y="343986"/>
                  </a:lnTo>
                  <a:lnTo>
                    <a:pt x="792087" y="396043"/>
                  </a:lnTo>
                  <a:lnTo>
                    <a:pt x="789423" y="442231"/>
                  </a:lnTo>
                  <a:lnTo>
                    <a:pt x="781628" y="486853"/>
                  </a:lnTo>
                  <a:lnTo>
                    <a:pt x="768999" y="529613"/>
                  </a:lnTo>
                  <a:lnTo>
                    <a:pt x="751833" y="570214"/>
                  </a:lnTo>
                  <a:lnTo>
                    <a:pt x="730428" y="608358"/>
                  </a:lnTo>
                  <a:lnTo>
                    <a:pt x="705081" y="643749"/>
                  </a:lnTo>
                  <a:lnTo>
                    <a:pt x="676089" y="676089"/>
                  </a:lnTo>
                  <a:lnTo>
                    <a:pt x="643749" y="705081"/>
                  </a:lnTo>
                  <a:lnTo>
                    <a:pt x="608358" y="730428"/>
                  </a:lnTo>
                  <a:lnTo>
                    <a:pt x="570214" y="751833"/>
                  </a:lnTo>
                  <a:lnTo>
                    <a:pt x="529613" y="768998"/>
                  </a:lnTo>
                  <a:lnTo>
                    <a:pt x="486853" y="781627"/>
                  </a:lnTo>
                  <a:lnTo>
                    <a:pt x="442231" y="789423"/>
                  </a:lnTo>
                  <a:lnTo>
                    <a:pt x="396043" y="792087"/>
                  </a:lnTo>
                  <a:close/>
                </a:path>
              </a:pathLst>
            </a:custGeom>
            <a:solidFill>
              <a:srgbClr val="173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9923" y="5166908"/>
              <a:ext cx="530221" cy="41063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068990" y="3475215"/>
            <a:ext cx="792480" cy="792480"/>
            <a:chOff x="4068990" y="3475215"/>
            <a:chExt cx="792480" cy="792480"/>
          </a:xfrm>
        </p:grpSpPr>
        <p:sp>
          <p:nvSpPr>
            <p:cNvPr id="20" name="object 20"/>
            <p:cNvSpPr/>
            <p:nvPr/>
          </p:nvSpPr>
          <p:spPr>
            <a:xfrm>
              <a:off x="4068990" y="3475215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396043" y="792087"/>
                  </a:moveTo>
                  <a:lnTo>
                    <a:pt x="349856" y="789423"/>
                  </a:lnTo>
                  <a:lnTo>
                    <a:pt x="305234" y="781628"/>
                  </a:lnTo>
                  <a:lnTo>
                    <a:pt x="262474" y="768999"/>
                  </a:lnTo>
                  <a:lnTo>
                    <a:pt x="221873" y="751833"/>
                  </a:lnTo>
                  <a:lnTo>
                    <a:pt x="183729" y="730428"/>
                  </a:lnTo>
                  <a:lnTo>
                    <a:pt x="148338" y="705081"/>
                  </a:lnTo>
                  <a:lnTo>
                    <a:pt x="115998" y="676089"/>
                  </a:lnTo>
                  <a:lnTo>
                    <a:pt x="87006" y="643749"/>
                  </a:lnTo>
                  <a:lnTo>
                    <a:pt x="61659" y="608358"/>
                  </a:lnTo>
                  <a:lnTo>
                    <a:pt x="40254" y="570214"/>
                  </a:lnTo>
                  <a:lnTo>
                    <a:pt x="23088" y="529613"/>
                  </a:lnTo>
                  <a:lnTo>
                    <a:pt x="10459" y="486853"/>
                  </a:lnTo>
                  <a:lnTo>
                    <a:pt x="2664" y="442231"/>
                  </a:lnTo>
                  <a:lnTo>
                    <a:pt x="0" y="396043"/>
                  </a:lnTo>
                  <a:lnTo>
                    <a:pt x="2664" y="349856"/>
                  </a:lnTo>
                  <a:lnTo>
                    <a:pt x="10459" y="305234"/>
                  </a:lnTo>
                  <a:lnTo>
                    <a:pt x="23088" y="262474"/>
                  </a:lnTo>
                  <a:lnTo>
                    <a:pt x="40254" y="221873"/>
                  </a:lnTo>
                  <a:lnTo>
                    <a:pt x="61659" y="183729"/>
                  </a:lnTo>
                  <a:lnTo>
                    <a:pt x="87006" y="148338"/>
                  </a:lnTo>
                  <a:lnTo>
                    <a:pt x="115998" y="115998"/>
                  </a:lnTo>
                  <a:lnTo>
                    <a:pt x="148338" y="87006"/>
                  </a:lnTo>
                  <a:lnTo>
                    <a:pt x="183729" y="61659"/>
                  </a:lnTo>
                  <a:lnTo>
                    <a:pt x="221873" y="40254"/>
                  </a:lnTo>
                  <a:lnTo>
                    <a:pt x="262474" y="23088"/>
                  </a:lnTo>
                  <a:lnTo>
                    <a:pt x="305234" y="10459"/>
                  </a:lnTo>
                  <a:lnTo>
                    <a:pt x="349856" y="2664"/>
                  </a:lnTo>
                  <a:lnTo>
                    <a:pt x="396043" y="0"/>
                  </a:lnTo>
                  <a:lnTo>
                    <a:pt x="448101" y="3434"/>
                  </a:lnTo>
                  <a:lnTo>
                    <a:pt x="498826" y="13568"/>
                  </a:lnTo>
                  <a:lnTo>
                    <a:pt x="547603" y="30146"/>
                  </a:lnTo>
                  <a:lnTo>
                    <a:pt x="593816" y="52914"/>
                  </a:lnTo>
                  <a:lnTo>
                    <a:pt x="636850" y="81616"/>
                  </a:lnTo>
                  <a:lnTo>
                    <a:pt x="676089" y="115998"/>
                  </a:lnTo>
                  <a:lnTo>
                    <a:pt x="710471" y="155237"/>
                  </a:lnTo>
                  <a:lnTo>
                    <a:pt x="739173" y="198271"/>
                  </a:lnTo>
                  <a:lnTo>
                    <a:pt x="761940" y="244484"/>
                  </a:lnTo>
                  <a:lnTo>
                    <a:pt x="778519" y="293261"/>
                  </a:lnTo>
                  <a:lnTo>
                    <a:pt x="788653" y="343986"/>
                  </a:lnTo>
                  <a:lnTo>
                    <a:pt x="792087" y="396043"/>
                  </a:lnTo>
                  <a:lnTo>
                    <a:pt x="789423" y="442231"/>
                  </a:lnTo>
                  <a:lnTo>
                    <a:pt x="781628" y="486853"/>
                  </a:lnTo>
                  <a:lnTo>
                    <a:pt x="768999" y="529613"/>
                  </a:lnTo>
                  <a:lnTo>
                    <a:pt x="751833" y="570214"/>
                  </a:lnTo>
                  <a:lnTo>
                    <a:pt x="730428" y="608358"/>
                  </a:lnTo>
                  <a:lnTo>
                    <a:pt x="705081" y="643749"/>
                  </a:lnTo>
                  <a:lnTo>
                    <a:pt x="676089" y="676089"/>
                  </a:lnTo>
                  <a:lnTo>
                    <a:pt x="643749" y="705081"/>
                  </a:lnTo>
                  <a:lnTo>
                    <a:pt x="608358" y="730428"/>
                  </a:lnTo>
                  <a:lnTo>
                    <a:pt x="570214" y="751833"/>
                  </a:lnTo>
                  <a:lnTo>
                    <a:pt x="529613" y="768999"/>
                  </a:lnTo>
                  <a:lnTo>
                    <a:pt x="486853" y="781628"/>
                  </a:lnTo>
                  <a:lnTo>
                    <a:pt x="442231" y="789423"/>
                  </a:lnTo>
                  <a:lnTo>
                    <a:pt x="396043" y="792087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59852" y="3518308"/>
              <a:ext cx="670492" cy="67049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068990" y="1940775"/>
            <a:ext cx="792480" cy="792480"/>
            <a:chOff x="4068990" y="1940775"/>
            <a:chExt cx="792480" cy="792480"/>
          </a:xfrm>
        </p:grpSpPr>
        <p:sp>
          <p:nvSpPr>
            <p:cNvPr id="23" name="object 23"/>
            <p:cNvSpPr/>
            <p:nvPr/>
          </p:nvSpPr>
          <p:spPr>
            <a:xfrm>
              <a:off x="4068990" y="1940775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80">
                  <a:moveTo>
                    <a:pt x="396043" y="792087"/>
                  </a:moveTo>
                  <a:lnTo>
                    <a:pt x="349856" y="789423"/>
                  </a:lnTo>
                  <a:lnTo>
                    <a:pt x="305234" y="781628"/>
                  </a:lnTo>
                  <a:lnTo>
                    <a:pt x="262474" y="768999"/>
                  </a:lnTo>
                  <a:lnTo>
                    <a:pt x="221873" y="751833"/>
                  </a:lnTo>
                  <a:lnTo>
                    <a:pt x="183729" y="730428"/>
                  </a:lnTo>
                  <a:lnTo>
                    <a:pt x="148338" y="705081"/>
                  </a:lnTo>
                  <a:lnTo>
                    <a:pt x="115998" y="676089"/>
                  </a:lnTo>
                  <a:lnTo>
                    <a:pt x="87006" y="643749"/>
                  </a:lnTo>
                  <a:lnTo>
                    <a:pt x="61659" y="608358"/>
                  </a:lnTo>
                  <a:lnTo>
                    <a:pt x="40254" y="570214"/>
                  </a:lnTo>
                  <a:lnTo>
                    <a:pt x="23088" y="529613"/>
                  </a:lnTo>
                  <a:lnTo>
                    <a:pt x="10459" y="486853"/>
                  </a:lnTo>
                  <a:lnTo>
                    <a:pt x="2664" y="442231"/>
                  </a:lnTo>
                  <a:lnTo>
                    <a:pt x="0" y="396043"/>
                  </a:lnTo>
                  <a:lnTo>
                    <a:pt x="2664" y="349856"/>
                  </a:lnTo>
                  <a:lnTo>
                    <a:pt x="10459" y="305234"/>
                  </a:lnTo>
                  <a:lnTo>
                    <a:pt x="23088" y="262474"/>
                  </a:lnTo>
                  <a:lnTo>
                    <a:pt x="40254" y="221873"/>
                  </a:lnTo>
                  <a:lnTo>
                    <a:pt x="61659" y="183729"/>
                  </a:lnTo>
                  <a:lnTo>
                    <a:pt x="87006" y="148338"/>
                  </a:lnTo>
                  <a:lnTo>
                    <a:pt x="115998" y="115998"/>
                  </a:lnTo>
                  <a:lnTo>
                    <a:pt x="148338" y="87006"/>
                  </a:lnTo>
                  <a:lnTo>
                    <a:pt x="183729" y="61659"/>
                  </a:lnTo>
                  <a:lnTo>
                    <a:pt x="221873" y="40254"/>
                  </a:lnTo>
                  <a:lnTo>
                    <a:pt x="262474" y="23088"/>
                  </a:lnTo>
                  <a:lnTo>
                    <a:pt x="305234" y="10459"/>
                  </a:lnTo>
                  <a:lnTo>
                    <a:pt x="349856" y="2664"/>
                  </a:lnTo>
                  <a:lnTo>
                    <a:pt x="396043" y="0"/>
                  </a:lnTo>
                  <a:lnTo>
                    <a:pt x="448101" y="3434"/>
                  </a:lnTo>
                  <a:lnTo>
                    <a:pt x="498826" y="13568"/>
                  </a:lnTo>
                  <a:lnTo>
                    <a:pt x="547603" y="30147"/>
                  </a:lnTo>
                  <a:lnTo>
                    <a:pt x="593816" y="52914"/>
                  </a:lnTo>
                  <a:lnTo>
                    <a:pt x="636850" y="81617"/>
                  </a:lnTo>
                  <a:lnTo>
                    <a:pt x="676089" y="115998"/>
                  </a:lnTo>
                  <a:lnTo>
                    <a:pt x="710471" y="155237"/>
                  </a:lnTo>
                  <a:lnTo>
                    <a:pt x="739173" y="198271"/>
                  </a:lnTo>
                  <a:lnTo>
                    <a:pt x="761940" y="244484"/>
                  </a:lnTo>
                  <a:lnTo>
                    <a:pt x="778519" y="293261"/>
                  </a:lnTo>
                  <a:lnTo>
                    <a:pt x="788653" y="343986"/>
                  </a:lnTo>
                  <a:lnTo>
                    <a:pt x="792087" y="396043"/>
                  </a:lnTo>
                  <a:lnTo>
                    <a:pt x="789423" y="442231"/>
                  </a:lnTo>
                  <a:lnTo>
                    <a:pt x="781628" y="486853"/>
                  </a:lnTo>
                  <a:lnTo>
                    <a:pt x="768999" y="529613"/>
                  </a:lnTo>
                  <a:lnTo>
                    <a:pt x="751833" y="570214"/>
                  </a:lnTo>
                  <a:lnTo>
                    <a:pt x="730428" y="608358"/>
                  </a:lnTo>
                  <a:lnTo>
                    <a:pt x="705081" y="643749"/>
                  </a:lnTo>
                  <a:lnTo>
                    <a:pt x="676089" y="676089"/>
                  </a:lnTo>
                  <a:lnTo>
                    <a:pt x="643749" y="705081"/>
                  </a:lnTo>
                  <a:lnTo>
                    <a:pt x="608358" y="730428"/>
                  </a:lnTo>
                  <a:lnTo>
                    <a:pt x="570214" y="751833"/>
                  </a:lnTo>
                  <a:lnTo>
                    <a:pt x="529613" y="768999"/>
                  </a:lnTo>
                  <a:lnTo>
                    <a:pt x="486853" y="781628"/>
                  </a:lnTo>
                  <a:lnTo>
                    <a:pt x="442231" y="789423"/>
                  </a:lnTo>
                  <a:lnTo>
                    <a:pt x="396043" y="792087"/>
                  </a:lnTo>
                  <a:close/>
                </a:path>
              </a:pathLst>
            </a:custGeom>
            <a:solidFill>
              <a:srgbClr val="0F24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8873" y="1965253"/>
              <a:ext cx="614558" cy="61455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808193" y="2159541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8036" y="5184179"/>
            <a:ext cx="341820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Does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follow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rules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this</a:t>
            </a:r>
            <a:r>
              <a:rPr sz="1800" spc="-15" baseline="2314" dirty="0">
                <a:solidFill>
                  <a:srgbClr val="3E3E3E"/>
                </a:solidFill>
                <a:latin typeface="Arial"/>
                <a:cs typeface="Arial"/>
              </a:rPr>
              <a:t>.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field?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08193" y="3693981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27910" y="2830719"/>
            <a:ext cx="26396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1125" dirty="0">
                <a:solidFill>
                  <a:srgbClr val="0C0C0C"/>
                </a:solidFill>
                <a:latin typeface="Arial"/>
                <a:cs typeface="Arial"/>
              </a:rPr>
              <a:t>D</a:t>
            </a:r>
            <a:r>
              <a:rPr sz="1800" spc="-7" baseline="-16203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1800" spc="675" baseline="-16203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oes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this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make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 sense?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45705" y="4354889"/>
            <a:ext cx="33039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600" spc="-425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800" spc="120" baseline="-20833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1600" spc="-5" dirty="0">
                <a:solidFill>
                  <a:srgbClr val="0C0C0C"/>
                </a:solidFill>
                <a:latin typeface="Arial"/>
                <a:cs typeface="Arial"/>
              </a:rPr>
              <a:t>fter</a:t>
            </a:r>
            <a:r>
              <a:rPr sz="1600" spc="-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compute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summarize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statistics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numerical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data,</a:t>
            </a:r>
            <a:r>
              <a:rPr sz="1600" spc="38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does</a:t>
            </a:r>
            <a:r>
              <a:rPr sz="1600" spc="-35" dirty="0">
                <a:solidFill>
                  <a:srgbClr val="0C0C0C"/>
                </a:solidFill>
                <a:latin typeface="Arial"/>
                <a:cs typeface="Arial"/>
              </a:rPr>
              <a:t> it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make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sense?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2622" y="2056553"/>
            <a:ext cx="26314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what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you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are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reading,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does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it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make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sense?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9275" y="3567098"/>
            <a:ext cx="28594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Does</a:t>
            </a:r>
            <a:r>
              <a:rPr sz="1600" spc="-3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this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you’re</a:t>
            </a:r>
            <a:r>
              <a:rPr sz="16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looking</a:t>
            </a:r>
            <a:r>
              <a:rPr sz="16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Arial"/>
                <a:cs typeface="Arial"/>
              </a:rPr>
              <a:t>at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match</a:t>
            </a:r>
            <a:r>
              <a:rPr sz="1600" spc="-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C0C0C"/>
                </a:solidFill>
                <a:latin typeface="Arial"/>
                <a:cs typeface="Arial"/>
              </a:rPr>
              <a:t>column</a:t>
            </a:r>
            <a:r>
              <a:rPr sz="1600" spc="-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Arial"/>
                <a:cs typeface="Arial"/>
              </a:rPr>
              <a:t>labels?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6577" y="481871"/>
            <a:ext cx="6570345" cy="724535"/>
          </a:xfrm>
          <a:custGeom>
            <a:avLst/>
            <a:gdLst/>
            <a:ahLst/>
            <a:cxnLst/>
            <a:rect l="l" t="t" r="r" b="b"/>
            <a:pathLst>
              <a:path w="6570345" h="724535">
                <a:moveTo>
                  <a:pt x="6449102" y="724246"/>
                </a:moveTo>
                <a:lnTo>
                  <a:pt x="120709" y="724246"/>
                </a:lnTo>
                <a:lnTo>
                  <a:pt x="73724" y="714760"/>
                </a:lnTo>
                <a:lnTo>
                  <a:pt x="35355" y="688891"/>
                </a:lnTo>
                <a:lnTo>
                  <a:pt x="9485" y="650522"/>
                </a:lnTo>
                <a:lnTo>
                  <a:pt x="0" y="603536"/>
                </a:lnTo>
                <a:lnTo>
                  <a:pt x="0" y="120710"/>
                </a:lnTo>
                <a:lnTo>
                  <a:pt x="9485" y="73724"/>
                </a:lnTo>
                <a:lnTo>
                  <a:pt x="35355" y="35355"/>
                </a:lnTo>
                <a:lnTo>
                  <a:pt x="73724" y="9486"/>
                </a:lnTo>
                <a:lnTo>
                  <a:pt x="120709" y="0"/>
                </a:lnTo>
                <a:lnTo>
                  <a:pt x="6449102" y="0"/>
                </a:lnTo>
                <a:lnTo>
                  <a:pt x="6495295" y="9188"/>
                </a:lnTo>
                <a:lnTo>
                  <a:pt x="6534456" y="35355"/>
                </a:lnTo>
                <a:lnTo>
                  <a:pt x="6560624" y="74516"/>
                </a:lnTo>
                <a:lnTo>
                  <a:pt x="6569812" y="120710"/>
                </a:lnTo>
                <a:lnTo>
                  <a:pt x="6569812" y="603536"/>
                </a:lnTo>
                <a:lnTo>
                  <a:pt x="6560326" y="650522"/>
                </a:lnTo>
                <a:lnTo>
                  <a:pt x="6534457" y="688891"/>
                </a:lnTo>
                <a:lnTo>
                  <a:pt x="6496088" y="714760"/>
                </a:lnTo>
                <a:lnTo>
                  <a:pt x="6449102" y="724246"/>
                </a:lnTo>
                <a:close/>
              </a:path>
            </a:pathLst>
          </a:custGeom>
          <a:solidFill>
            <a:srgbClr val="DDD9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897" rIns="0" bIns="0" rtlCol="0">
            <a:spAutoFit/>
          </a:bodyPr>
          <a:lstStyle/>
          <a:p>
            <a:pPr marL="3746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Cambria"/>
                <a:cs typeface="Cambria"/>
              </a:rPr>
              <a:t>Handle</a:t>
            </a:r>
            <a:r>
              <a:rPr sz="4000" spc="-170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Missing</a:t>
            </a:r>
            <a:r>
              <a:rPr sz="4000" spc="-170" dirty="0">
                <a:latin typeface="Cambria"/>
                <a:cs typeface="Cambria"/>
              </a:rPr>
              <a:t> </a:t>
            </a:r>
            <a:r>
              <a:rPr sz="4000" spc="-10" dirty="0">
                <a:latin typeface="Cambria"/>
                <a:cs typeface="Cambria"/>
              </a:rPr>
              <a:t>Value</a:t>
            </a:r>
            <a:endParaRPr sz="4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06591" y="1910217"/>
            <a:ext cx="3869690" cy="4174490"/>
            <a:chOff x="1006591" y="1910217"/>
            <a:chExt cx="3869690" cy="4174490"/>
          </a:xfrm>
        </p:grpSpPr>
        <p:sp>
          <p:nvSpPr>
            <p:cNvPr id="5" name="object 5"/>
            <p:cNvSpPr/>
            <p:nvPr/>
          </p:nvSpPr>
          <p:spPr>
            <a:xfrm>
              <a:off x="1093317" y="2222570"/>
              <a:ext cx="2238375" cy="2056130"/>
            </a:xfrm>
            <a:custGeom>
              <a:avLst/>
              <a:gdLst/>
              <a:ahLst/>
              <a:cxnLst/>
              <a:rect l="l" t="t" r="r" b="b"/>
              <a:pathLst>
                <a:path w="2238375" h="2056129">
                  <a:moveTo>
                    <a:pt x="461985" y="2056013"/>
                  </a:moveTo>
                  <a:lnTo>
                    <a:pt x="433415" y="2023197"/>
                  </a:lnTo>
                  <a:lnTo>
                    <a:pt x="404173" y="1985265"/>
                  </a:lnTo>
                  <a:lnTo>
                    <a:pt x="375644" y="1946121"/>
                  </a:lnTo>
                  <a:lnTo>
                    <a:pt x="347850" y="1905853"/>
                  </a:lnTo>
                  <a:lnTo>
                    <a:pt x="320815" y="1864553"/>
                  </a:lnTo>
                  <a:lnTo>
                    <a:pt x="294563" y="1822312"/>
                  </a:lnTo>
                  <a:lnTo>
                    <a:pt x="269116" y="1779219"/>
                  </a:lnTo>
                  <a:lnTo>
                    <a:pt x="244499" y="1735366"/>
                  </a:lnTo>
                  <a:lnTo>
                    <a:pt x="220734" y="1690843"/>
                  </a:lnTo>
                  <a:lnTo>
                    <a:pt x="197845" y="1645740"/>
                  </a:lnTo>
                  <a:lnTo>
                    <a:pt x="175855" y="1600147"/>
                  </a:lnTo>
                  <a:lnTo>
                    <a:pt x="154788" y="1554156"/>
                  </a:lnTo>
                  <a:lnTo>
                    <a:pt x="134666" y="1507858"/>
                  </a:lnTo>
                  <a:lnTo>
                    <a:pt x="115514" y="1461341"/>
                  </a:lnTo>
                  <a:lnTo>
                    <a:pt x="97355" y="1414698"/>
                  </a:lnTo>
                  <a:lnTo>
                    <a:pt x="80212" y="1368018"/>
                  </a:lnTo>
                  <a:lnTo>
                    <a:pt x="64108" y="1321392"/>
                  </a:lnTo>
                  <a:lnTo>
                    <a:pt x="49068" y="1274910"/>
                  </a:lnTo>
                  <a:lnTo>
                    <a:pt x="35113" y="1228664"/>
                  </a:lnTo>
                  <a:lnTo>
                    <a:pt x="22268" y="1182743"/>
                  </a:lnTo>
                  <a:lnTo>
                    <a:pt x="10555" y="1137239"/>
                  </a:lnTo>
                  <a:lnTo>
                    <a:pt x="0" y="1092240"/>
                  </a:lnTo>
                  <a:lnTo>
                    <a:pt x="1429399" y="0"/>
                  </a:lnTo>
                  <a:lnTo>
                    <a:pt x="1470043" y="22006"/>
                  </a:lnTo>
                  <a:lnTo>
                    <a:pt x="1510872" y="45262"/>
                  </a:lnTo>
                  <a:lnTo>
                    <a:pt x="1551805" y="69720"/>
                  </a:lnTo>
                  <a:lnTo>
                    <a:pt x="1592761" y="95334"/>
                  </a:lnTo>
                  <a:lnTo>
                    <a:pt x="1633658" y="122058"/>
                  </a:lnTo>
                  <a:lnTo>
                    <a:pt x="1674416" y="149846"/>
                  </a:lnTo>
                  <a:lnTo>
                    <a:pt x="1714952" y="178650"/>
                  </a:lnTo>
                  <a:lnTo>
                    <a:pt x="1755186" y="208425"/>
                  </a:lnTo>
                  <a:lnTo>
                    <a:pt x="1795037" y="239125"/>
                  </a:lnTo>
                  <a:lnTo>
                    <a:pt x="1834424" y="270703"/>
                  </a:lnTo>
                  <a:lnTo>
                    <a:pt x="1873264" y="303113"/>
                  </a:lnTo>
                  <a:lnTo>
                    <a:pt x="1911478" y="336308"/>
                  </a:lnTo>
                  <a:lnTo>
                    <a:pt x="1948983" y="370242"/>
                  </a:lnTo>
                  <a:lnTo>
                    <a:pt x="1985700" y="404869"/>
                  </a:lnTo>
                  <a:lnTo>
                    <a:pt x="2021545" y="440143"/>
                  </a:lnTo>
                  <a:lnTo>
                    <a:pt x="2056439" y="476017"/>
                  </a:lnTo>
                  <a:lnTo>
                    <a:pt x="2090300" y="512445"/>
                  </a:lnTo>
                  <a:lnTo>
                    <a:pt x="2123046" y="549380"/>
                  </a:lnTo>
                  <a:lnTo>
                    <a:pt x="2154597" y="586777"/>
                  </a:lnTo>
                  <a:lnTo>
                    <a:pt x="2184872" y="624588"/>
                  </a:lnTo>
                  <a:lnTo>
                    <a:pt x="2213789" y="662768"/>
                  </a:lnTo>
                  <a:lnTo>
                    <a:pt x="2237948" y="698954"/>
                  </a:lnTo>
                  <a:lnTo>
                    <a:pt x="461985" y="2056013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7713" y="2984625"/>
              <a:ext cx="2622550" cy="2349500"/>
            </a:xfrm>
            <a:custGeom>
              <a:avLst/>
              <a:gdLst/>
              <a:ahLst/>
              <a:cxnLst/>
              <a:rect l="l" t="t" r="r" b="b"/>
              <a:pathLst>
                <a:path w="2622550" h="2349500">
                  <a:moveTo>
                    <a:pt x="423391" y="2349321"/>
                  </a:moveTo>
                  <a:lnTo>
                    <a:pt x="337796" y="2079412"/>
                  </a:lnTo>
                  <a:lnTo>
                    <a:pt x="460607" y="1762530"/>
                  </a:lnTo>
                  <a:lnTo>
                    <a:pt x="414409" y="1728242"/>
                  </a:lnTo>
                  <a:lnTo>
                    <a:pt x="369119" y="1693764"/>
                  </a:lnTo>
                  <a:lnTo>
                    <a:pt x="324892" y="1659175"/>
                  </a:lnTo>
                  <a:lnTo>
                    <a:pt x="281880" y="1624555"/>
                  </a:lnTo>
                  <a:lnTo>
                    <a:pt x="240237" y="1589984"/>
                  </a:lnTo>
                  <a:lnTo>
                    <a:pt x="200117" y="1555542"/>
                  </a:lnTo>
                  <a:lnTo>
                    <a:pt x="161675" y="1521308"/>
                  </a:lnTo>
                  <a:lnTo>
                    <a:pt x="125063" y="1487363"/>
                  </a:lnTo>
                  <a:lnTo>
                    <a:pt x="90436" y="1453785"/>
                  </a:lnTo>
                  <a:lnTo>
                    <a:pt x="57947" y="1420655"/>
                  </a:lnTo>
                  <a:lnTo>
                    <a:pt x="27750" y="1388052"/>
                  </a:lnTo>
                  <a:lnTo>
                    <a:pt x="0" y="1356057"/>
                  </a:lnTo>
                  <a:lnTo>
                    <a:pt x="1774651" y="0"/>
                  </a:lnTo>
                  <a:lnTo>
                    <a:pt x="1798215" y="35155"/>
                  </a:lnTo>
                  <a:lnTo>
                    <a:pt x="1821722" y="72826"/>
                  </a:lnTo>
                  <a:lnTo>
                    <a:pt x="1845136" y="112844"/>
                  </a:lnTo>
                  <a:lnTo>
                    <a:pt x="1868420" y="155040"/>
                  </a:lnTo>
                  <a:lnTo>
                    <a:pt x="1891539" y="199245"/>
                  </a:lnTo>
                  <a:lnTo>
                    <a:pt x="1914456" y="245290"/>
                  </a:lnTo>
                  <a:lnTo>
                    <a:pt x="1937133" y="293007"/>
                  </a:lnTo>
                  <a:lnTo>
                    <a:pt x="1959535" y="342226"/>
                  </a:lnTo>
                  <a:lnTo>
                    <a:pt x="1981626" y="392777"/>
                  </a:lnTo>
                  <a:lnTo>
                    <a:pt x="2003369" y="444494"/>
                  </a:lnTo>
                  <a:lnTo>
                    <a:pt x="2024727" y="497205"/>
                  </a:lnTo>
                  <a:lnTo>
                    <a:pt x="2045664" y="550743"/>
                  </a:lnTo>
                  <a:lnTo>
                    <a:pt x="2384596" y="515399"/>
                  </a:lnTo>
                  <a:lnTo>
                    <a:pt x="2622536" y="668896"/>
                  </a:lnTo>
                  <a:lnTo>
                    <a:pt x="423391" y="2349321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62970" y="3710320"/>
              <a:ext cx="2813685" cy="2374265"/>
            </a:xfrm>
            <a:custGeom>
              <a:avLst/>
              <a:gdLst/>
              <a:ahLst/>
              <a:cxnLst/>
              <a:rect l="l" t="t" r="r" b="b"/>
              <a:pathLst>
                <a:path w="2813685" h="2374265">
                  <a:moveTo>
                    <a:pt x="218204" y="2374130"/>
                  </a:moveTo>
                  <a:lnTo>
                    <a:pt x="0" y="1686061"/>
                  </a:lnTo>
                  <a:lnTo>
                    <a:pt x="2206523" y="0"/>
                  </a:lnTo>
                  <a:lnTo>
                    <a:pt x="2813097" y="391305"/>
                  </a:lnTo>
                  <a:lnTo>
                    <a:pt x="1862049" y="681870"/>
                  </a:lnTo>
                  <a:lnTo>
                    <a:pt x="1886067" y="731567"/>
                  </a:lnTo>
                  <a:lnTo>
                    <a:pt x="1905038" y="776118"/>
                  </a:lnTo>
                  <a:lnTo>
                    <a:pt x="1920056" y="819907"/>
                  </a:lnTo>
                  <a:lnTo>
                    <a:pt x="1932213" y="867320"/>
                  </a:lnTo>
                  <a:lnTo>
                    <a:pt x="1942603" y="922741"/>
                  </a:lnTo>
                  <a:lnTo>
                    <a:pt x="1952318" y="990555"/>
                  </a:lnTo>
                  <a:lnTo>
                    <a:pt x="1958878" y="1039863"/>
                  </a:lnTo>
                  <a:lnTo>
                    <a:pt x="1962770" y="1089845"/>
                  </a:lnTo>
                  <a:lnTo>
                    <a:pt x="1964529" y="1140366"/>
                  </a:lnTo>
                  <a:lnTo>
                    <a:pt x="1964688" y="1191291"/>
                  </a:lnTo>
                  <a:lnTo>
                    <a:pt x="1963780" y="1242487"/>
                  </a:lnTo>
                  <a:lnTo>
                    <a:pt x="1960897" y="1345147"/>
                  </a:lnTo>
                  <a:lnTo>
                    <a:pt x="1959989" y="1396342"/>
                  </a:lnTo>
                  <a:lnTo>
                    <a:pt x="1960147" y="1447268"/>
                  </a:lnTo>
                  <a:lnTo>
                    <a:pt x="1847241" y="1533542"/>
                  </a:lnTo>
                  <a:lnTo>
                    <a:pt x="747965" y="1533542"/>
                  </a:lnTo>
                  <a:lnTo>
                    <a:pt x="218204" y="2374130"/>
                  </a:lnTo>
                  <a:close/>
                </a:path>
                <a:path w="2813685" h="2374265">
                  <a:moveTo>
                    <a:pt x="1466257" y="1824662"/>
                  </a:moveTo>
                  <a:lnTo>
                    <a:pt x="1417509" y="1811108"/>
                  </a:lnTo>
                  <a:lnTo>
                    <a:pt x="1222410" y="1761515"/>
                  </a:lnTo>
                  <a:lnTo>
                    <a:pt x="1173662" y="1747961"/>
                  </a:lnTo>
                  <a:lnTo>
                    <a:pt x="1124944" y="1733019"/>
                  </a:lnTo>
                  <a:lnTo>
                    <a:pt x="1076268" y="1716228"/>
                  </a:lnTo>
                  <a:lnTo>
                    <a:pt x="973119" y="1675905"/>
                  </a:lnTo>
                  <a:lnTo>
                    <a:pt x="926604" y="1655931"/>
                  </a:lnTo>
                  <a:lnTo>
                    <a:pt x="884464" y="1634454"/>
                  </a:lnTo>
                  <a:lnTo>
                    <a:pt x="843067" y="1608728"/>
                  </a:lnTo>
                  <a:lnTo>
                    <a:pt x="798778" y="1576007"/>
                  </a:lnTo>
                  <a:lnTo>
                    <a:pt x="747965" y="1533542"/>
                  </a:lnTo>
                  <a:lnTo>
                    <a:pt x="1847241" y="1533542"/>
                  </a:lnTo>
                  <a:lnTo>
                    <a:pt x="1466257" y="1824662"/>
                  </a:lnTo>
                  <a:close/>
                </a:path>
                <a:path w="2813685" h="2374265">
                  <a:moveTo>
                    <a:pt x="1863024" y="1579264"/>
                  </a:moveTo>
                  <a:lnTo>
                    <a:pt x="1858319" y="1577515"/>
                  </a:lnTo>
                  <a:lnTo>
                    <a:pt x="1849192" y="1577515"/>
                  </a:lnTo>
                  <a:lnTo>
                    <a:pt x="1871296" y="1572943"/>
                  </a:lnTo>
                  <a:lnTo>
                    <a:pt x="1863024" y="1579264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06589" y="1910219"/>
              <a:ext cx="1473835" cy="1337310"/>
            </a:xfrm>
            <a:custGeom>
              <a:avLst/>
              <a:gdLst/>
              <a:ahLst/>
              <a:cxnLst/>
              <a:rect l="l" t="t" r="r" b="b"/>
              <a:pathLst>
                <a:path w="1473835" h="1337310">
                  <a:moveTo>
                    <a:pt x="152260" y="12928"/>
                  </a:moveTo>
                  <a:lnTo>
                    <a:pt x="147345" y="18402"/>
                  </a:lnTo>
                  <a:lnTo>
                    <a:pt x="149212" y="18199"/>
                  </a:lnTo>
                  <a:lnTo>
                    <a:pt x="150050" y="16319"/>
                  </a:lnTo>
                  <a:lnTo>
                    <a:pt x="152260" y="12928"/>
                  </a:lnTo>
                  <a:close/>
                </a:path>
                <a:path w="1473835" h="1337310">
                  <a:moveTo>
                    <a:pt x="1473225" y="252425"/>
                  </a:moveTo>
                  <a:lnTo>
                    <a:pt x="1387665" y="209537"/>
                  </a:lnTo>
                  <a:lnTo>
                    <a:pt x="1347089" y="194475"/>
                  </a:lnTo>
                  <a:lnTo>
                    <a:pt x="1304709" y="179412"/>
                  </a:lnTo>
                  <a:lnTo>
                    <a:pt x="1260678" y="164426"/>
                  </a:lnTo>
                  <a:lnTo>
                    <a:pt x="1215136" y="149606"/>
                  </a:lnTo>
                  <a:lnTo>
                    <a:pt x="1168196" y="135013"/>
                  </a:lnTo>
                  <a:lnTo>
                    <a:pt x="1120013" y="120751"/>
                  </a:lnTo>
                  <a:lnTo>
                    <a:pt x="1070724" y="106883"/>
                  </a:lnTo>
                  <a:lnTo>
                    <a:pt x="1020457" y="93510"/>
                  </a:lnTo>
                  <a:lnTo>
                    <a:pt x="969352" y="80695"/>
                  </a:lnTo>
                  <a:lnTo>
                    <a:pt x="917549" y="68516"/>
                  </a:lnTo>
                  <a:lnTo>
                    <a:pt x="865174" y="57073"/>
                  </a:lnTo>
                  <a:lnTo>
                    <a:pt x="812380" y="46431"/>
                  </a:lnTo>
                  <a:lnTo>
                    <a:pt x="759282" y="36677"/>
                  </a:lnTo>
                  <a:lnTo>
                    <a:pt x="706043" y="27889"/>
                  </a:lnTo>
                  <a:lnTo>
                    <a:pt x="652780" y="20142"/>
                  </a:lnTo>
                  <a:lnTo>
                    <a:pt x="599630" y="13538"/>
                  </a:lnTo>
                  <a:lnTo>
                    <a:pt x="546747" y="8140"/>
                  </a:lnTo>
                  <a:lnTo>
                    <a:pt x="494245" y="4025"/>
                  </a:lnTo>
                  <a:lnTo>
                    <a:pt x="442277" y="1282"/>
                  </a:lnTo>
                  <a:lnTo>
                    <a:pt x="390982" y="0"/>
                  </a:lnTo>
                  <a:lnTo>
                    <a:pt x="340474" y="254"/>
                  </a:lnTo>
                  <a:lnTo>
                    <a:pt x="290906" y="2108"/>
                  </a:lnTo>
                  <a:lnTo>
                    <a:pt x="242417" y="5676"/>
                  </a:lnTo>
                  <a:lnTo>
                    <a:pt x="195135" y="10998"/>
                  </a:lnTo>
                  <a:lnTo>
                    <a:pt x="149212" y="18199"/>
                  </a:lnTo>
                  <a:lnTo>
                    <a:pt x="125476" y="58077"/>
                  </a:lnTo>
                  <a:lnTo>
                    <a:pt x="104203" y="99987"/>
                  </a:lnTo>
                  <a:lnTo>
                    <a:pt x="85293" y="143738"/>
                  </a:lnTo>
                  <a:lnTo>
                    <a:pt x="68605" y="189191"/>
                  </a:lnTo>
                  <a:lnTo>
                    <a:pt x="54051" y="236181"/>
                  </a:lnTo>
                  <a:lnTo>
                    <a:pt x="41503" y="284518"/>
                  </a:lnTo>
                  <a:lnTo>
                    <a:pt x="30861" y="334060"/>
                  </a:lnTo>
                  <a:lnTo>
                    <a:pt x="21996" y="384644"/>
                  </a:lnTo>
                  <a:lnTo>
                    <a:pt x="14808" y="436092"/>
                  </a:lnTo>
                  <a:lnTo>
                    <a:pt x="9182" y="488238"/>
                  </a:lnTo>
                  <a:lnTo>
                    <a:pt x="5003" y="540931"/>
                  </a:lnTo>
                  <a:lnTo>
                    <a:pt x="2146" y="594004"/>
                  </a:lnTo>
                  <a:lnTo>
                    <a:pt x="520" y="647280"/>
                  </a:lnTo>
                  <a:lnTo>
                    <a:pt x="0" y="700608"/>
                  </a:lnTo>
                  <a:lnTo>
                    <a:pt x="469" y="753821"/>
                  </a:lnTo>
                  <a:lnTo>
                    <a:pt x="1816" y="806742"/>
                  </a:lnTo>
                  <a:lnTo>
                    <a:pt x="3937" y="859218"/>
                  </a:lnTo>
                  <a:lnTo>
                    <a:pt x="6705" y="911085"/>
                  </a:lnTo>
                  <a:lnTo>
                    <a:pt x="10020" y="962177"/>
                  </a:lnTo>
                  <a:lnTo>
                    <a:pt x="13754" y="1012329"/>
                  </a:lnTo>
                  <a:lnTo>
                    <a:pt x="17818" y="1061364"/>
                  </a:lnTo>
                  <a:lnTo>
                    <a:pt x="22072" y="1109141"/>
                  </a:lnTo>
                  <a:lnTo>
                    <a:pt x="26416" y="1155484"/>
                  </a:lnTo>
                  <a:lnTo>
                    <a:pt x="30734" y="1200226"/>
                  </a:lnTo>
                  <a:lnTo>
                    <a:pt x="34925" y="1243203"/>
                  </a:lnTo>
                  <a:lnTo>
                    <a:pt x="43357" y="1289761"/>
                  </a:lnTo>
                  <a:lnTo>
                    <a:pt x="53822" y="1337017"/>
                  </a:lnTo>
                  <a:lnTo>
                    <a:pt x="1473225" y="252425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 rot="19380000">
            <a:off x="1213317" y="2469073"/>
            <a:ext cx="874826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Option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75" baseline="1736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400" baseline="1736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84546" y="2859386"/>
            <a:ext cx="1106170" cy="956944"/>
          </a:xfrm>
          <a:custGeom>
            <a:avLst/>
            <a:gdLst/>
            <a:ahLst/>
            <a:cxnLst/>
            <a:rect l="l" t="t" r="r" b="b"/>
            <a:pathLst>
              <a:path w="1106170" h="956945">
                <a:moveTo>
                  <a:pt x="205556" y="956849"/>
                </a:moveTo>
                <a:lnTo>
                  <a:pt x="0" y="687842"/>
                </a:lnTo>
                <a:lnTo>
                  <a:pt x="900168" y="0"/>
                </a:lnTo>
                <a:lnTo>
                  <a:pt x="1105724" y="269008"/>
                </a:lnTo>
                <a:lnTo>
                  <a:pt x="205556" y="9568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 rot="19380000">
            <a:off x="1796598" y="3237206"/>
            <a:ext cx="88223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Option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75" baseline="1736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400" baseline="1736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93598" y="3787314"/>
            <a:ext cx="1106170" cy="956944"/>
          </a:xfrm>
          <a:custGeom>
            <a:avLst/>
            <a:gdLst/>
            <a:ahLst/>
            <a:cxnLst/>
            <a:rect l="l" t="t" r="r" b="b"/>
            <a:pathLst>
              <a:path w="1106170" h="956945">
                <a:moveTo>
                  <a:pt x="205556" y="956850"/>
                </a:moveTo>
                <a:lnTo>
                  <a:pt x="0" y="687842"/>
                </a:lnTo>
                <a:lnTo>
                  <a:pt x="900168" y="0"/>
                </a:lnTo>
                <a:lnTo>
                  <a:pt x="1105724" y="269008"/>
                </a:lnTo>
                <a:lnTo>
                  <a:pt x="205556" y="956850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 rot="19380000">
            <a:off x="2505651" y="4165134"/>
            <a:ext cx="88223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Option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75" baseline="1736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 baseline="1736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67450" y="4538307"/>
            <a:ext cx="1106170" cy="956944"/>
          </a:xfrm>
          <a:custGeom>
            <a:avLst/>
            <a:gdLst/>
            <a:ahLst/>
            <a:cxnLst/>
            <a:rect l="l" t="t" r="r" b="b"/>
            <a:pathLst>
              <a:path w="1106170" h="956945">
                <a:moveTo>
                  <a:pt x="205555" y="956849"/>
                </a:moveTo>
                <a:lnTo>
                  <a:pt x="0" y="687842"/>
                </a:lnTo>
                <a:lnTo>
                  <a:pt x="900168" y="0"/>
                </a:lnTo>
                <a:lnTo>
                  <a:pt x="1105724" y="269008"/>
                </a:lnTo>
                <a:lnTo>
                  <a:pt x="205555" y="9568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 rot="19380000">
            <a:off x="3079503" y="4916126"/>
            <a:ext cx="882239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Option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75" baseline="1736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2400" baseline="1736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39424" y="1752770"/>
            <a:ext cx="7523480" cy="4326890"/>
            <a:chOff x="3839424" y="1752770"/>
            <a:chExt cx="7523480" cy="4326890"/>
          </a:xfrm>
        </p:grpSpPr>
        <p:sp>
          <p:nvSpPr>
            <p:cNvPr id="17" name="object 17"/>
            <p:cNvSpPr/>
            <p:nvPr/>
          </p:nvSpPr>
          <p:spPr>
            <a:xfrm>
              <a:off x="10815754" y="553259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73508" y="547019"/>
                  </a:moveTo>
                  <a:lnTo>
                    <a:pt x="224345" y="542612"/>
                  </a:lnTo>
                  <a:lnTo>
                    <a:pt x="178072" y="529907"/>
                  </a:lnTo>
                  <a:lnTo>
                    <a:pt x="135463" y="509677"/>
                  </a:lnTo>
                  <a:lnTo>
                    <a:pt x="97290" y="482693"/>
                  </a:lnTo>
                  <a:lnTo>
                    <a:pt x="64326" y="449728"/>
                  </a:lnTo>
                  <a:lnTo>
                    <a:pt x="37342" y="411554"/>
                  </a:lnTo>
                  <a:lnTo>
                    <a:pt x="17111" y="368945"/>
                  </a:lnTo>
                  <a:lnTo>
                    <a:pt x="4406" y="322673"/>
                  </a:lnTo>
                  <a:lnTo>
                    <a:pt x="0" y="273509"/>
                  </a:lnTo>
                  <a:lnTo>
                    <a:pt x="4406" y="224345"/>
                  </a:lnTo>
                  <a:lnTo>
                    <a:pt x="17111" y="178073"/>
                  </a:lnTo>
                  <a:lnTo>
                    <a:pt x="37342" y="135463"/>
                  </a:lnTo>
                  <a:lnTo>
                    <a:pt x="64326" y="97290"/>
                  </a:lnTo>
                  <a:lnTo>
                    <a:pt x="97290" y="64325"/>
                  </a:lnTo>
                  <a:lnTo>
                    <a:pt x="135463" y="37342"/>
                  </a:lnTo>
                  <a:lnTo>
                    <a:pt x="178072" y="17111"/>
                  </a:lnTo>
                  <a:lnTo>
                    <a:pt x="224345" y="4406"/>
                  </a:lnTo>
                  <a:lnTo>
                    <a:pt x="273508" y="0"/>
                  </a:lnTo>
                  <a:lnTo>
                    <a:pt x="327117" y="5303"/>
                  </a:lnTo>
                  <a:lnTo>
                    <a:pt x="378176" y="20819"/>
                  </a:lnTo>
                  <a:lnTo>
                    <a:pt x="425252" y="45952"/>
                  </a:lnTo>
                  <a:lnTo>
                    <a:pt x="466909" y="80108"/>
                  </a:lnTo>
                  <a:lnTo>
                    <a:pt x="501065" y="121766"/>
                  </a:lnTo>
                  <a:lnTo>
                    <a:pt x="526198" y="168841"/>
                  </a:lnTo>
                  <a:lnTo>
                    <a:pt x="541714" y="219901"/>
                  </a:lnTo>
                  <a:lnTo>
                    <a:pt x="547018" y="273509"/>
                  </a:lnTo>
                  <a:lnTo>
                    <a:pt x="542611" y="322673"/>
                  </a:lnTo>
                  <a:lnTo>
                    <a:pt x="529907" y="368945"/>
                  </a:lnTo>
                  <a:lnTo>
                    <a:pt x="509676" y="411554"/>
                  </a:lnTo>
                  <a:lnTo>
                    <a:pt x="482692" y="449728"/>
                  </a:lnTo>
                  <a:lnTo>
                    <a:pt x="449727" y="482693"/>
                  </a:lnTo>
                  <a:lnTo>
                    <a:pt x="411554" y="509677"/>
                  </a:lnTo>
                  <a:lnTo>
                    <a:pt x="368945" y="529907"/>
                  </a:lnTo>
                  <a:lnTo>
                    <a:pt x="322672" y="542612"/>
                  </a:lnTo>
                  <a:lnTo>
                    <a:pt x="273508" y="547019"/>
                  </a:lnTo>
                  <a:close/>
                </a:path>
              </a:pathLst>
            </a:custGeom>
            <a:solidFill>
              <a:srgbClr val="F9B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74254" y="5802532"/>
              <a:ext cx="5541645" cy="3810"/>
            </a:xfrm>
            <a:custGeom>
              <a:avLst/>
              <a:gdLst/>
              <a:ahLst/>
              <a:cxnLst/>
              <a:rect l="l" t="t" r="r" b="b"/>
              <a:pathLst>
                <a:path w="5541645" h="3810">
                  <a:moveTo>
                    <a:pt x="0" y="0"/>
                  </a:moveTo>
                  <a:lnTo>
                    <a:pt x="5541500" y="3576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2911" y="578684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17" y="31348"/>
                  </a:moveTo>
                  <a:lnTo>
                    <a:pt x="7010" y="31336"/>
                  </a:lnTo>
                  <a:lnTo>
                    <a:pt x="0" y="24317"/>
                  </a:lnTo>
                  <a:lnTo>
                    <a:pt x="5" y="15663"/>
                  </a:lnTo>
                  <a:lnTo>
                    <a:pt x="10" y="7010"/>
                  </a:lnTo>
                  <a:lnTo>
                    <a:pt x="7030" y="0"/>
                  </a:lnTo>
                  <a:lnTo>
                    <a:pt x="24337" y="10"/>
                  </a:lnTo>
                  <a:lnTo>
                    <a:pt x="31348" y="7030"/>
                  </a:lnTo>
                  <a:lnTo>
                    <a:pt x="31336" y="24337"/>
                  </a:lnTo>
                  <a:lnTo>
                    <a:pt x="24317" y="31348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42911" y="578684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5" y="15663"/>
                  </a:moveTo>
                  <a:lnTo>
                    <a:pt x="10" y="7010"/>
                  </a:lnTo>
                  <a:lnTo>
                    <a:pt x="7030" y="0"/>
                  </a:lnTo>
                  <a:lnTo>
                    <a:pt x="15684" y="5"/>
                  </a:lnTo>
                  <a:lnTo>
                    <a:pt x="24337" y="10"/>
                  </a:lnTo>
                  <a:lnTo>
                    <a:pt x="31348" y="7030"/>
                  </a:lnTo>
                  <a:lnTo>
                    <a:pt x="31342" y="15684"/>
                  </a:lnTo>
                  <a:lnTo>
                    <a:pt x="31336" y="24337"/>
                  </a:lnTo>
                  <a:lnTo>
                    <a:pt x="24317" y="31348"/>
                  </a:lnTo>
                  <a:lnTo>
                    <a:pt x="15663" y="31342"/>
                  </a:lnTo>
                  <a:lnTo>
                    <a:pt x="7010" y="31336"/>
                  </a:lnTo>
                  <a:lnTo>
                    <a:pt x="0" y="24317"/>
                  </a:lnTo>
                  <a:lnTo>
                    <a:pt x="5" y="15663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01673" y="311547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73508" y="547018"/>
                  </a:moveTo>
                  <a:lnTo>
                    <a:pt x="224345" y="542612"/>
                  </a:lnTo>
                  <a:lnTo>
                    <a:pt x="178072" y="529907"/>
                  </a:lnTo>
                  <a:lnTo>
                    <a:pt x="135463" y="509676"/>
                  </a:lnTo>
                  <a:lnTo>
                    <a:pt x="97290" y="482692"/>
                  </a:lnTo>
                  <a:lnTo>
                    <a:pt x="64325" y="449728"/>
                  </a:lnTo>
                  <a:lnTo>
                    <a:pt x="37341" y="411554"/>
                  </a:lnTo>
                  <a:lnTo>
                    <a:pt x="17111" y="368945"/>
                  </a:lnTo>
                  <a:lnTo>
                    <a:pt x="4406" y="322673"/>
                  </a:lnTo>
                  <a:lnTo>
                    <a:pt x="0" y="273509"/>
                  </a:lnTo>
                  <a:lnTo>
                    <a:pt x="4406" y="224345"/>
                  </a:lnTo>
                  <a:lnTo>
                    <a:pt x="17111" y="178073"/>
                  </a:lnTo>
                  <a:lnTo>
                    <a:pt x="37341" y="135464"/>
                  </a:lnTo>
                  <a:lnTo>
                    <a:pt x="64325" y="97290"/>
                  </a:lnTo>
                  <a:lnTo>
                    <a:pt x="97290" y="64326"/>
                  </a:lnTo>
                  <a:lnTo>
                    <a:pt x="135463" y="37342"/>
                  </a:lnTo>
                  <a:lnTo>
                    <a:pt x="178072" y="17111"/>
                  </a:lnTo>
                  <a:lnTo>
                    <a:pt x="224345" y="4406"/>
                  </a:lnTo>
                  <a:lnTo>
                    <a:pt x="273508" y="0"/>
                  </a:lnTo>
                  <a:lnTo>
                    <a:pt x="327117" y="5303"/>
                  </a:lnTo>
                  <a:lnTo>
                    <a:pt x="378176" y="20819"/>
                  </a:lnTo>
                  <a:lnTo>
                    <a:pt x="425252" y="45952"/>
                  </a:lnTo>
                  <a:lnTo>
                    <a:pt x="466908" y="80108"/>
                  </a:lnTo>
                  <a:lnTo>
                    <a:pt x="501065" y="121766"/>
                  </a:lnTo>
                  <a:lnTo>
                    <a:pt x="526198" y="168841"/>
                  </a:lnTo>
                  <a:lnTo>
                    <a:pt x="541714" y="219901"/>
                  </a:lnTo>
                  <a:lnTo>
                    <a:pt x="547018" y="273509"/>
                  </a:lnTo>
                  <a:lnTo>
                    <a:pt x="542612" y="322673"/>
                  </a:lnTo>
                  <a:lnTo>
                    <a:pt x="529907" y="368945"/>
                  </a:lnTo>
                  <a:lnTo>
                    <a:pt x="509676" y="411554"/>
                  </a:lnTo>
                  <a:lnTo>
                    <a:pt x="482692" y="449728"/>
                  </a:lnTo>
                  <a:lnTo>
                    <a:pt x="449727" y="482692"/>
                  </a:lnTo>
                  <a:lnTo>
                    <a:pt x="411554" y="509676"/>
                  </a:lnTo>
                  <a:lnTo>
                    <a:pt x="368945" y="529907"/>
                  </a:lnTo>
                  <a:lnTo>
                    <a:pt x="322672" y="542612"/>
                  </a:lnTo>
                  <a:lnTo>
                    <a:pt x="273508" y="547018"/>
                  </a:lnTo>
                  <a:close/>
                </a:path>
              </a:pathLst>
            </a:custGeom>
            <a:solidFill>
              <a:srgbClr val="F9B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61172" y="3388989"/>
              <a:ext cx="5640705" cy="10160"/>
            </a:xfrm>
            <a:custGeom>
              <a:avLst/>
              <a:gdLst/>
              <a:ahLst/>
              <a:cxnLst/>
              <a:rect l="l" t="t" r="r" b="b"/>
              <a:pathLst>
                <a:path w="5640705" h="10160">
                  <a:moveTo>
                    <a:pt x="0" y="9836"/>
                  </a:moveTo>
                  <a:lnTo>
                    <a:pt x="5640500" y="0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29820" y="338317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7057" y="31367"/>
                  </a:moveTo>
                  <a:lnTo>
                    <a:pt x="30" y="24364"/>
                  </a:lnTo>
                  <a:lnTo>
                    <a:pt x="15" y="15710"/>
                  </a:lnTo>
                  <a:lnTo>
                    <a:pt x="0" y="7057"/>
                  </a:lnTo>
                  <a:lnTo>
                    <a:pt x="7003" y="30"/>
                  </a:lnTo>
                  <a:lnTo>
                    <a:pt x="15656" y="14"/>
                  </a:lnTo>
                  <a:lnTo>
                    <a:pt x="24310" y="0"/>
                  </a:lnTo>
                  <a:lnTo>
                    <a:pt x="31337" y="7002"/>
                  </a:lnTo>
                  <a:lnTo>
                    <a:pt x="31352" y="15656"/>
                  </a:lnTo>
                  <a:lnTo>
                    <a:pt x="31367" y="24309"/>
                  </a:lnTo>
                  <a:lnTo>
                    <a:pt x="24364" y="31337"/>
                  </a:lnTo>
                  <a:lnTo>
                    <a:pt x="7057" y="31367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29820" y="338317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5" y="15710"/>
                  </a:moveTo>
                  <a:lnTo>
                    <a:pt x="0" y="7057"/>
                  </a:lnTo>
                  <a:lnTo>
                    <a:pt x="7003" y="30"/>
                  </a:lnTo>
                  <a:lnTo>
                    <a:pt x="15656" y="14"/>
                  </a:lnTo>
                  <a:lnTo>
                    <a:pt x="24310" y="0"/>
                  </a:lnTo>
                  <a:lnTo>
                    <a:pt x="31337" y="7002"/>
                  </a:lnTo>
                  <a:lnTo>
                    <a:pt x="31352" y="15656"/>
                  </a:lnTo>
                  <a:lnTo>
                    <a:pt x="31367" y="24309"/>
                  </a:lnTo>
                  <a:lnTo>
                    <a:pt x="24364" y="31337"/>
                  </a:lnTo>
                  <a:lnTo>
                    <a:pt x="15711" y="31351"/>
                  </a:lnTo>
                  <a:lnTo>
                    <a:pt x="7057" y="31367"/>
                  </a:lnTo>
                  <a:lnTo>
                    <a:pt x="30" y="24364"/>
                  </a:lnTo>
                  <a:lnTo>
                    <a:pt x="15" y="15710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709209" y="1752770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69">
                  <a:moveTo>
                    <a:pt x="273509" y="547018"/>
                  </a:moveTo>
                  <a:lnTo>
                    <a:pt x="224345" y="542612"/>
                  </a:lnTo>
                  <a:lnTo>
                    <a:pt x="178073" y="529907"/>
                  </a:lnTo>
                  <a:lnTo>
                    <a:pt x="135464" y="509676"/>
                  </a:lnTo>
                  <a:lnTo>
                    <a:pt x="97291" y="482692"/>
                  </a:lnTo>
                  <a:lnTo>
                    <a:pt x="64326" y="449728"/>
                  </a:lnTo>
                  <a:lnTo>
                    <a:pt x="37342" y="411554"/>
                  </a:lnTo>
                  <a:lnTo>
                    <a:pt x="17111" y="368945"/>
                  </a:lnTo>
                  <a:lnTo>
                    <a:pt x="4406" y="322673"/>
                  </a:lnTo>
                  <a:lnTo>
                    <a:pt x="0" y="273509"/>
                  </a:lnTo>
                  <a:lnTo>
                    <a:pt x="4406" y="224345"/>
                  </a:lnTo>
                  <a:lnTo>
                    <a:pt x="17111" y="178073"/>
                  </a:lnTo>
                  <a:lnTo>
                    <a:pt x="37342" y="135464"/>
                  </a:lnTo>
                  <a:lnTo>
                    <a:pt x="64326" y="97290"/>
                  </a:lnTo>
                  <a:lnTo>
                    <a:pt x="97291" y="64326"/>
                  </a:lnTo>
                  <a:lnTo>
                    <a:pt x="135464" y="37342"/>
                  </a:lnTo>
                  <a:lnTo>
                    <a:pt x="178073" y="17111"/>
                  </a:lnTo>
                  <a:lnTo>
                    <a:pt x="224345" y="4406"/>
                  </a:lnTo>
                  <a:lnTo>
                    <a:pt x="273509" y="0"/>
                  </a:lnTo>
                  <a:lnTo>
                    <a:pt x="327117" y="5303"/>
                  </a:lnTo>
                  <a:lnTo>
                    <a:pt x="378177" y="20819"/>
                  </a:lnTo>
                  <a:lnTo>
                    <a:pt x="425252" y="45952"/>
                  </a:lnTo>
                  <a:lnTo>
                    <a:pt x="466909" y="80108"/>
                  </a:lnTo>
                  <a:lnTo>
                    <a:pt x="501066" y="121766"/>
                  </a:lnTo>
                  <a:lnTo>
                    <a:pt x="526199" y="168841"/>
                  </a:lnTo>
                  <a:lnTo>
                    <a:pt x="541715" y="219901"/>
                  </a:lnTo>
                  <a:lnTo>
                    <a:pt x="547018" y="273509"/>
                  </a:lnTo>
                  <a:lnTo>
                    <a:pt x="542612" y="322673"/>
                  </a:lnTo>
                  <a:lnTo>
                    <a:pt x="529907" y="368945"/>
                  </a:lnTo>
                  <a:lnTo>
                    <a:pt x="509677" y="411554"/>
                  </a:lnTo>
                  <a:lnTo>
                    <a:pt x="482693" y="449728"/>
                  </a:lnTo>
                  <a:lnTo>
                    <a:pt x="449728" y="482692"/>
                  </a:lnTo>
                  <a:lnTo>
                    <a:pt x="411555" y="509676"/>
                  </a:lnTo>
                  <a:lnTo>
                    <a:pt x="368945" y="529907"/>
                  </a:lnTo>
                  <a:lnTo>
                    <a:pt x="322673" y="542612"/>
                  </a:lnTo>
                  <a:lnTo>
                    <a:pt x="273509" y="547018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87556" y="2026279"/>
              <a:ext cx="6821805" cy="0"/>
            </a:xfrm>
            <a:custGeom>
              <a:avLst/>
              <a:gdLst/>
              <a:ahLst/>
              <a:cxnLst/>
              <a:rect l="l" t="t" r="r" b="b"/>
              <a:pathLst>
                <a:path w="6821805">
                  <a:moveTo>
                    <a:pt x="0" y="0"/>
                  </a:moveTo>
                  <a:lnTo>
                    <a:pt x="6821652" y="0"/>
                  </a:lnTo>
                </a:path>
              </a:pathLst>
            </a:custGeom>
            <a:ln w="126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45774" y="2005388"/>
              <a:ext cx="41910" cy="41910"/>
            </a:xfrm>
            <a:custGeom>
              <a:avLst/>
              <a:gdLst/>
              <a:ahLst/>
              <a:cxnLst/>
              <a:rect l="l" t="t" r="r" b="b"/>
              <a:pathLst>
                <a:path w="41910" h="41910">
                  <a:moveTo>
                    <a:pt x="20891" y="41782"/>
                  </a:moveTo>
                  <a:lnTo>
                    <a:pt x="12759" y="40141"/>
                  </a:lnTo>
                  <a:lnTo>
                    <a:pt x="6118" y="35663"/>
                  </a:lnTo>
                  <a:lnTo>
                    <a:pt x="1641" y="29023"/>
                  </a:lnTo>
                  <a:lnTo>
                    <a:pt x="0" y="20891"/>
                  </a:lnTo>
                  <a:lnTo>
                    <a:pt x="1641" y="12759"/>
                  </a:lnTo>
                  <a:lnTo>
                    <a:pt x="6118" y="6118"/>
                  </a:lnTo>
                  <a:lnTo>
                    <a:pt x="12759" y="1641"/>
                  </a:lnTo>
                  <a:lnTo>
                    <a:pt x="20891" y="0"/>
                  </a:lnTo>
                  <a:lnTo>
                    <a:pt x="29023" y="1641"/>
                  </a:lnTo>
                  <a:lnTo>
                    <a:pt x="35663" y="6118"/>
                  </a:lnTo>
                  <a:lnTo>
                    <a:pt x="40141" y="12759"/>
                  </a:lnTo>
                  <a:lnTo>
                    <a:pt x="41782" y="20891"/>
                  </a:lnTo>
                  <a:lnTo>
                    <a:pt x="40141" y="29023"/>
                  </a:lnTo>
                  <a:lnTo>
                    <a:pt x="35663" y="35663"/>
                  </a:lnTo>
                  <a:lnTo>
                    <a:pt x="29023" y="40141"/>
                  </a:lnTo>
                  <a:lnTo>
                    <a:pt x="20891" y="41782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45774" y="2005388"/>
              <a:ext cx="41910" cy="41910"/>
            </a:xfrm>
            <a:custGeom>
              <a:avLst/>
              <a:gdLst/>
              <a:ahLst/>
              <a:cxnLst/>
              <a:rect l="l" t="t" r="r" b="b"/>
              <a:pathLst>
                <a:path w="41910" h="41910">
                  <a:moveTo>
                    <a:pt x="0" y="20891"/>
                  </a:moveTo>
                  <a:lnTo>
                    <a:pt x="1641" y="12759"/>
                  </a:lnTo>
                  <a:lnTo>
                    <a:pt x="6118" y="6118"/>
                  </a:lnTo>
                  <a:lnTo>
                    <a:pt x="12759" y="1641"/>
                  </a:lnTo>
                  <a:lnTo>
                    <a:pt x="20891" y="0"/>
                  </a:lnTo>
                  <a:lnTo>
                    <a:pt x="29023" y="1641"/>
                  </a:lnTo>
                  <a:lnTo>
                    <a:pt x="35663" y="6118"/>
                  </a:lnTo>
                  <a:lnTo>
                    <a:pt x="40141" y="12759"/>
                  </a:lnTo>
                  <a:lnTo>
                    <a:pt x="41782" y="20891"/>
                  </a:lnTo>
                  <a:lnTo>
                    <a:pt x="40141" y="29023"/>
                  </a:lnTo>
                  <a:lnTo>
                    <a:pt x="35663" y="35663"/>
                  </a:lnTo>
                  <a:lnTo>
                    <a:pt x="29023" y="40141"/>
                  </a:lnTo>
                  <a:lnTo>
                    <a:pt x="20891" y="41782"/>
                  </a:lnTo>
                  <a:lnTo>
                    <a:pt x="12759" y="40141"/>
                  </a:lnTo>
                  <a:lnTo>
                    <a:pt x="6118" y="35663"/>
                  </a:lnTo>
                  <a:lnTo>
                    <a:pt x="1641" y="29023"/>
                  </a:lnTo>
                  <a:lnTo>
                    <a:pt x="0" y="20891"/>
                  </a:lnTo>
                  <a:close/>
                </a:path>
              </a:pathLst>
            </a:custGeom>
            <a:ln w="126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12189" y="4365763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70" h="547370">
                  <a:moveTo>
                    <a:pt x="273509" y="547019"/>
                  </a:moveTo>
                  <a:lnTo>
                    <a:pt x="224345" y="542612"/>
                  </a:lnTo>
                  <a:lnTo>
                    <a:pt x="178073" y="529907"/>
                  </a:lnTo>
                  <a:lnTo>
                    <a:pt x="135464" y="509677"/>
                  </a:lnTo>
                  <a:lnTo>
                    <a:pt x="97290" y="482693"/>
                  </a:lnTo>
                  <a:lnTo>
                    <a:pt x="64326" y="449728"/>
                  </a:lnTo>
                  <a:lnTo>
                    <a:pt x="37342" y="411554"/>
                  </a:lnTo>
                  <a:lnTo>
                    <a:pt x="17111" y="368945"/>
                  </a:lnTo>
                  <a:lnTo>
                    <a:pt x="4406" y="322673"/>
                  </a:lnTo>
                  <a:lnTo>
                    <a:pt x="0" y="273509"/>
                  </a:lnTo>
                  <a:lnTo>
                    <a:pt x="4406" y="224345"/>
                  </a:lnTo>
                  <a:lnTo>
                    <a:pt x="17111" y="178073"/>
                  </a:lnTo>
                  <a:lnTo>
                    <a:pt x="37342" y="135463"/>
                  </a:lnTo>
                  <a:lnTo>
                    <a:pt x="64326" y="97290"/>
                  </a:lnTo>
                  <a:lnTo>
                    <a:pt x="97290" y="64325"/>
                  </a:lnTo>
                  <a:lnTo>
                    <a:pt x="135464" y="37342"/>
                  </a:lnTo>
                  <a:lnTo>
                    <a:pt x="178073" y="17111"/>
                  </a:lnTo>
                  <a:lnTo>
                    <a:pt x="224345" y="4406"/>
                  </a:lnTo>
                  <a:lnTo>
                    <a:pt x="273509" y="0"/>
                  </a:lnTo>
                  <a:lnTo>
                    <a:pt x="327117" y="5303"/>
                  </a:lnTo>
                  <a:lnTo>
                    <a:pt x="378177" y="20819"/>
                  </a:lnTo>
                  <a:lnTo>
                    <a:pt x="425252" y="45952"/>
                  </a:lnTo>
                  <a:lnTo>
                    <a:pt x="466910" y="80108"/>
                  </a:lnTo>
                  <a:lnTo>
                    <a:pt x="501066" y="121766"/>
                  </a:lnTo>
                  <a:lnTo>
                    <a:pt x="526199" y="168841"/>
                  </a:lnTo>
                  <a:lnTo>
                    <a:pt x="541714" y="219901"/>
                  </a:lnTo>
                  <a:lnTo>
                    <a:pt x="547018" y="273509"/>
                  </a:lnTo>
                  <a:lnTo>
                    <a:pt x="542611" y="322673"/>
                  </a:lnTo>
                  <a:lnTo>
                    <a:pt x="529907" y="368945"/>
                  </a:lnTo>
                  <a:lnTo>
                    <a:pt x="509676" y="411554"/>
                  </a:lnTo>
                  <a:lnTo>
                    <a:pt x="482692" y="449728"/>
                  </a:lnTo>
                  <a:lnTo>
                    <a:pt x="449728" y="482693"/>
                  </a:lnTo>
                  <a:lnTo>
                    <a:pt x="411555" y="509677"/>
                  </a:lnTo>
                  <a:lnTo>
                    <a:pt x="368945" y="529907"/>
                  </a:lnTo>
                  <a:lnTo>
                    <a:pt x="322673" y="542612"/>
                  </a:lnTo>
                  <a:lnTo>
                    <a:pt x="273509" y="547019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24188" y="4639273"/>
              <a:ext cx="5288280" cy="15875"/>
            </a:xfrm>
            <a:custGeom>
              <a:avLst/>
              <a:gdLst/>
              <a:ahLst/>
              <a:cxnLst/>
              <a:rect l="l" t="t" r="r" b="b"/>
              <a:pathLst>
                <a:path w="5288280" h="15875">
                  <a:moveTo>
                    <a:pt x="0" y="15791"/>
                  </a:moveTo>
                  <a:lnTo>
                    <a:pt x="5288000" y="0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92825" y="463941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7087" y="31388"/>
                  </a:moveTo>
                  <a:lnTo>
                    <a:pt x="51" y="24394"/>
                  </a:lnTo>
                  <a:lnTo>
                    <a:pt x="25" y="15741"/>
                  </a:lnTo>
                  <a:lnTo>
                    <a:pt x="0" y="7087"/>
                  </a:lnTo>
                  <a:lnTo>
                    <a:pt x="6994" y="51"/>
                  </a:lnTo>
                  <a:lnTo>
                    <a:pt x="24301" y="0"/>
                  </a:lnTo>
                  <a:lnTo>
                    <a:pt x="31337" y="6993"/>
                  </a:lnTo>
                  <a:lnTo>
                    <a:pt x="31388" y="24301"/>
                  </a:lnTo>
                  <a:lnTo>
                    <a:pt x="24394" y="31336"/>
                  </a:lnTo>
                  <a:lnTo>
                    <a:pt x="7087" y="31388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92825" y="463941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5" y="15741"/>
                  </a:moveTo>
                  <a:lnTo>
                    <a:pt x="0" y="7087"/>
                  </a:lnTo>
                  <a:lnTo>
                    <a:pt x="6994" y="51"/>
                  </a:lnTo>
                  <a:lnTo>
                    <a:pt x="15647" y="25"/>
                  </a:lnTo>
                  <a:lnTo>
                    <a:pt x="24301" y="0"/>
                  </a:lnTo>
                  <a:lnTo>
                    <a:pt x="31337" y="6993"/>
                  </a:lnTo>
                  <a:lnTo>
                    <a:pt x="31362" y="15647"/>
                  </a:lnTo>
                  <a:lnTo>
                    <a:pt x="31388" y="24301"/>
                  </a:lnTo>
                  <a:lnTo>
                    <a:pt x="24394" y="31336"/>
                  </a:lnTo>
                  <a:lnTo>
                    <a:pt x="15740" y="31362"/>
                  </a:lnTo>
                  <a:lnTo>
                    <a:pt x="7087" y="31388"/>
                  </a:lnTo>
                  <a:lnTo>
                    <a:pt x="51" y="24394"/>
                  </a:lnTo>
                  <a:lnTo>
                    <a:pt x="25" y="15741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045032" y="1688174"/>
            <a:ext cx="6678295" cy="490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0751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Delete</a:t>
            </a:r>
            <a:r>
              <a:rPr sz="1600" b="1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Rows/Columns</a:t>
            </a:r>
            <a:endParaRPr sz="1600">
              <a:latin typeface="Cambria"/>
              <a:cs typeface="Cambria"/>
            </a:endParaRPr>
          </a:p>
          <a:p>
            <a:pPr marL="12700" marR="236854" algn="just">
              <a:lnSpc>
                <a:spcPct val="100000"/>
              </a:lnSpc>
              <a:spcBef>
                <a:spcPts val="969"/>
              </a:spcBef>
            </a:pP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This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commonly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used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handle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values.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Rows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deleted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if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25" dirty="0">
                <a:solidFill>
                  <a:srgbClr val="0C0C0C"/>
                </a:solidFill>
                <a:latin typeface="Cambria"/>
                <a:cs typeface="Cambria"/>
              </a:rPr>
              <a:t>has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insignificant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number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Columns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200" spc="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delete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if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has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more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than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75%</a:t>
            </a:r>
            <a:r>
              <a:rPr sz="1200" spc="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200" spc="8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missing value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ambria"/>
              <a:cs typeface="Cambria"/>
            </a:endParaRPr>
          </a:p>
          <a:p>
            <a:pPr marL="3074035">
              <a:lnSpc>
                <a:spcPct val="100000"/>
              </a:lnSpc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Replacing</a:t>
            </a:r>
            <a:r>
              <a:rPr sz="16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6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mean/median/mode</a:t>
            </a:r>
            <a:endParaRPr sz="1600">
              <a:latin typeface="Cambria"/>
              <a:cs typeface="Cambria"/>
            </a:endParaRPr>
          </a:p>
          <a:p>
            <a:pPr marL="1158240" marR="241300">
              <a:lnSpc>
                <a:spcPct val="100000"/>
              </a:lnSpc>
              <a:spcBef>
                <a:spcPts val="950"/>
              </a:spcBef>
            </a:pP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This</a:t>
            </a:r>
            <a:r>
              <a:rPr sz="12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2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used</a:t>
            </a:r>
            <a:r>
              <a:rPr sz="12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on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independent</a:t>
            </a:r>
            <a:r>
              <a:rPr sz="12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when</a:t>
            </a:r>
            <a:r>
              <a:rPr sz="12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2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has</a:t>
            </a:r>
            <a:r>
              <a:rPr sz="12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numerical variables.</a:t>
            </a:r>
            <a:r>
              <a:rPr sz="12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On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r>
              <a:rPr sz="12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feature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apply</a:t>
            </a:r>
            <a:r>
              <a:rPr sz="12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b="1" dirty="0">
                <a:solidFill>
                  <a:srgbClr val="0C0C0C"/>
                </a:solidFill>
                <a:latin typeface="Cambria"/>
                <a:cs typeface="Cambria"/>
              </a:rPr>
              <a:t>mode</a:t>
            </a:r>
            <a:r>
              <a:rPr sz="1200" b="1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r>
              <a:rPr sz="12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fill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2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value.</a:t>
            </a:r>
            <a:endParaRPr sz="1200">
              <a:latin typeface="Cambria"/>
              <a:cs typeface="Cambria"/>
            </a:endParaRPr>
          </a:p>
          <a:p>
            <a:pPr marL="1158240">
              <a:lnSpc>
                <a:spcPct val="100000"/>
              </a:lnSpc>
            </a:pPr>
            <a:r>
              <a:rPr sz="1200" spc="-50" dirty="0">
                <a:solidFill>
                  <a:srgbClr val="0C0C0C"/>
                </a:solidFill>
                <a:latin typeface="Cambria"/>
                <a:cs typeface="Cambria"/>
              </a:rPr>
              <a:t>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Algorithm</a:t>
            </a:r>
            <a:r>
              <a:rPr sz="16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Imputation</a:t>
            </a:r>
            <a:endParaRPr sz="1600">
              <a:latin typeface="Cambria"/>
              <a:cs typeface="Cambria"/>
            </a:endParaRPr>
          </a:p>
          <a:p>
            <a:pPr marL="1363345" marR="225425">
              <a:lnSpc>
                <a:spcPct val="100000"/>
              </a:lnSpc>
              <a:spcBef>
                <a:spcPts val="1080"/>
              </a:spcBef>
            </a:pP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Some</a:t>
            </a:r>
            <a:r>
              <a:rPr sz="12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machine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learning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algorithm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supports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2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handle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2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25" dirty="0">
                <a:solidFill>
                  <a:srgbClr val="0C0C0C"/>
                </a:solidFill>
                <a:latin typeface="Cambria"/>
                <a:cs typeface="Cambria"/>
              </a:rPr>
              <a:t>the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datasets.</a:t>
            </a:r>
            <a:r>
              <a:rPr sz="12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Like</a:t>
            </a:r>
            <a:r>
              <a:rPr sz="12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KNN,</a:t>
            </a:r>
            <a:r>
              <a:rPr sz="12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Naïve</a:t>
            </a:r>
            <a:r>
              <a:rPr sz="12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Bayes,</a:t>
            </a:r>
            <a:r>
              <a:rPr sz="12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Random</a:t>
            </a:r>
            <a:r>
              <a:rPr sz="12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forest.</a:t>
            </a:r>
            <a:endParaRPr sz="1200">
              <a:latin typeface="Cambria"/>
              <a:cs typeface="Cambria"/>
            </a:endParaRPr>
          </a:p>
          <a:p>
            <a:pPr marR="215900" algn="r">
              <a:lnSpc>
                <a:spcPct val="100000"/>
              </a:lnSpc>
            </a:pPr>
            <a:r>
              <a:rPr sz="1200" spc="-50" dirty="0">
                <a:solidFill>
                  <a:srgbClr val="0C0C0C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200">
              <a:latin typeface="Arial"/>
              <a:cs typeface="Arial"/>
            </a:endParaRPr>
          </a:p>
          <a:p>
            <a:pPr marL="3832225">
              <a:lnSpc>
                <a:spcPct val="100000"/>
              </a:lnSpc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Predicting</a:t>
            </a:r>
            <a:r>
              <a:rPr sz="16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b="1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endParaRPr sz="1600">
              <a:latin typeface="Cambria"/>
              <a:cs typeface="Cambria"/>
            </a:endParaRPr>
          </a:p>
          <a:p>
            <a:pPr marL="1187450" marR="119380" algn="just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Prediction</a:t>
            </a:r>
            <a:r>
              <a:rPr sz="12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model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one</a:t>
            </a:r>
            <a:r>
              <a:rPr sz="12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advanced</a:t>
            </a:r>
            <a:r>
              <a:rPr sz="12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handle</a:t>
            </a:r>
            <a:r>
              <a:rPr sz="12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values.</a:t>
            </a:r>
            <a:r>
              <a:rPr sz="1200" spc="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2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this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r>
              <a:rPr sz="1200" spc="2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no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become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training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set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200" spc="2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200" spc="2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20" dirty="0">
                <a:solidFill>
                  <a:srgbClr val="0C0C0C"/>
                </a:solidFill>
                <a:latin typeface="Cambria"/>
                <a:cs typeface="Cambria"/>
              </a:rPr>
              <a:t>with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become</a:t>
            </a:r>
            <a:r>
              <a:rPr sz="12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test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set</a:t>
            </a:r>
            <a:r>
              <a:rPr sz="12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2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2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treated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2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Cambria"/>
                <a:cs typeface="Cambria"/>
              </a:rPr>
              <a:t>target variable</a:t>
            </a:r>
            <a:r>
              <a:rPr sz="1200" spc="-1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786364" y="1837956"/>
            <a:ext cx="438150" cy="4119879"/>
          </a:xfrm>
          <a:custGeom>
            <a:avLst/>
            <a:gdLst/>
            <a:ahLst/>
            <a:cxnLst/>
            <a:rect l="l" t="t" r="r" b="b"/>
            <a:pathLst>
              <a:path w="438150" h="4119879">
                <a:moveTo>
                  <a:pt x="212559" y="3996017"/>
                </a:moveTo>
                <a:lnTo>
                  <a:pt x="168084" y="3996017"/>
                </a:lnTo>
                <a:lnTo>
                  <a:pt x="168084" y="4086301"/>
                </a:lnTo>
                <a:lnTo>
                  <a:pt x="212559" y="4086301"/>
                </a:lnTo>
                <a:lnTo>
                  <a:pt x="212559" y="3996017"/>
                </a:lnTo>
                <a:close/>
              </a:path>
              <a:path w="438150" h="4119879">
                <a:moveTo>
                  <a:pt x="281000" y="3958399"/>
                </a:moveTo>
                <a:lnTo>
                  <a:pt x="236524" y="3958399"/>
                </a:lnTo>
                <a:lnTo>
                  <a:pt x="236524" y="4086301"/>
                </a:lnTo>
                <a:lnTo>
                  <a:pt x="281000" y="4086301"/>
                </a:lnTo>
                <a:lnTo>
                  <a:pt x="281000" y="3958399"/>
                </a:lnTo>
                <a:close/>
              </a:path>
              <a:path w="438150" h="4119879">
                <a:moveTo>
                  <a:pt x="302437" y="2785643"/>
                </a:moveTo>
                <a:lnTo>
                  <a:pt x="288455" y="2744990"/>
                </a:lnTo>
                <a:lnTo>
                  <a:pt x="279958" y="2735224"/>
                </a:lnTo>
                <a:lnTo>
                  <a:pt x="260235" y="2712555"/>
                </a:lnTo>
                <a:lnTo>
                  <a:pt x="257175" y="2711043"/>
                </a:lnTo>
                <a:lnTo>
                  <a:pt x="257175" y="2791930"/>
                </a:lnTo>
                <a:lnTo>
                  <a:pt x="255524" y="2818257"/>
                </a:lnTo>
                <a:lnTo>
                  <a:pt x="243789" y="2841891"/>
                </a:lnTo>
                <a:lnTo>
                  <a:pt x="224561" y="2858605"/>
                </a:lnTo>
                <a:lnTo>
                  <a:pt x="200482" y="2866898"/>
                </a:lnTo>
                <a:lnTo>
                  <a:pt x="174142" y="2865247"/>
                </a:lnTo>
                <a:lnTo>
                  <a:pt x="150507" y="2853512"/>
                </a:lnTo>
                <a:lnTo>
                  <a:pt x="133794" y="2834284"/>
                </a:lnTo>
                <a:lnTo>
                  <a:pt x="125501" y="2810192"/>
                </a:lnTo>
                <a:lnTo>
                  <a:pt x="127152" y="2783865"/>
                </a:lnTo>
                <a:lnTo>
                  <a:pt x="138899" y="2760230"/>
                </a:lnTo>
                <a:lnTo>
                  <a:pt x="158115" y="2743517"/>
                </a:lnTo>
                <a:lnTo>
                  <a:pt x="182206" y="2735224"/>
                </a:lnTo>
                <a:lnTo>
                  <a:pt x="208534" y="2736875"/>
                </a:lnTo>
                <a:lnTo>
                  <a:pt x="232168" y="2748610"/>
                </a:lnTo>
                <a:lnTo>
                  <a:pt x="248805" y="2767736"/>
                </a:lnTo>
                <a:lnTo>
                  <a:pt x="250329" y="2772041"/>
                </a:lnTo>
                <a:lnTo>
                  <a:pt x="257175" y="2791930"/>
                </a:lnTo>
                <a:lnTo>
                  <a:pt x="257175" y="2711043"/>
                </a:lnTo>
                <a:lnTo>
                  <a:pt x="220357" y="2692755"/>
                </a:lnTo>
                <a:lnTo>
                  <a:pt x="175920" y="2689961"/>
                </a:lnTo>
                <a:lnTo>
                  <a:pt x="135280" y="2703957"/>
                </a:lnTo>
                <a:lnTo>
                  <a:pt x="102831" y="2732163"/>
                </a:lnTo>
                <a:lnTo>
                  <a:pt x="83032" y="2772041"/>
                </a:lnTo>
                <a:lnTo>
                  <a:pt x="80238" y="2816479"/>
                </a:lnTo>
                <a:lnTo>
                  <a:pt x="94234" y="2857131"/>
                </a:lnTo>
                <a:lnTo>
                  <a:pt x="122440" y="2889567"/>
                </a:lnTo>
                <a:lnTo>
                  <a:pt x="162318" y="2909366"/>
                </a:lnTo>
                <a:lnTo>
                  <a:pt x="206756" y="2912160"/>
                </a:lnTo>
                <a:lnTo>
                  <a:pt x="247408" y="2898165"/>
                </a:lnTo>
                <a:lnTo>
                  <a:pt x="279844" y="2869958"/>
                </a:lnTo>
                <a:lnTo>
                  <a:pt x="281368" y="2866898"/>
                </a:lnTo>
                <a:lnTo>
                  <a:pt x="299656" y="2830080"/>
                </a:lnTo>
                <a:lnTo>
                  <a:pt x="299732" y="2828798"/>
                </a:lnTo>
                <a:lnTo>
                  <a:pt x="302437" y="2785643"/>
                </a:lnTo>
                <a:close/>
              </a:path>
              <a:path w="438150" h="4119879">
                <a:moveTo>
                  <a:pt x="314261" y="73037"/>
                </a:moveTo>
                <a:lnTo>
                  <a:pt x="266115" y="73037"/>
                </a:lnTo>
                <a:lnTo>
                  <a:pt x="266115" y="106870"/>
                </a:lnTo>
                <a:lnTo>
                  <a:pt x="266115" y="285432"/>
                </a:lnTo>
                <a:lnTo>
                  <a:pt x="261569" y="289445"/>
                </a:lnTo>
                <a:lnTo>
                  <a:pt x="250342" y="289445"/>
                </a:lnTo>
                <a:lnTo>
                  <a:pt x="245795" y="285432"/>
                </a:lnTo>
                <a:lnTo>
                  <a:pt x="245795" y="106870"/>
                </a:lnTo>
                <a:lnTo>
                  <a:pt x="250342" y="102857"/>
                </a:lnTo>
                <a:lnTo>
                  <a:pt x="261569" y="102857"/>
                </a:lnTo>
                <a:lnTo>
                  <a:pt x="266115" y="106870"/>
                </a:lnTo>
                <a:lnTo>
                  <a:pt x="266115" y="73037"/>
                </a:lnTo>
                <a:lnTo>
                  <a:pt x="201091" y="73037"/>
                </a:lnTo>
                <a:lnTo>
                  <a:pt x="201091" y="106870"/>
                </a:lnTo>
                <a:lnTo>
                  <a:pt x="201091" y="285432"/>
                </a:lnTo>
                <a:lnTo>
                  <a:pt x="196545" y="289445"/>
                </a:lnTo>
                <a:lnTo>
                  <a:pt x="185318" y="289445"/>
                </a:lnTo>
                <a:lnTo>
                  <a:pt x="180771" y="285432"/>
                </a:lnTo>
                <a:lnTo>
                  <a:pt x="180771" y="106870"/>
                </a:lnTo>
                <a:lnTo>
                  <a:pt x="185318" y="102857"/>
                </a:lnTo>
                <a:lnTo>
                  <a:pt x="196545" y="102857"/>
                </a:lnTo>
                <a:lnTo>
                  <a:pt x="201091" y="106870"/>
                </a:lnTo>
                <a:lnTo>
                  <a:pt x="201091" y="73037"/>
                </a:lnTo>
                <a:lnTo>
                  <a:pt x="136067" y="73037"/>
                </a:lnTo>
                <a:lnTo>
                  <a:pt x="136067" y="106870"/>
                </a:lnTo>
                <a:lnTo>
                  <a:pt x="136067" y="285432"/>
                </a:lnTo>
                <a:lnTo>
                  <a:pt x="131521" y="289445"/>
                </a:lnTo>
                <a:lnTo>
                  <a:pt x="120294" y="289445"/>
                </a:lnTo>
                <a:lnTo>
                  <a:pt x="115747" y="285432"/>
                </a:lnTo>
                <a:lnTo>
                  <a:pt x="115747" y="106870"/>
                </a:lnTo>
                <a:lnTo>
                  <a:pt x="120294" y="102857"/>
                </a:lnTo>
                <a:lnTo>
                  <a:pt x="131521" y="102857"/>
                </a:lnTo>
                <a:lnTo>
                  <a:pt x="136067" y="106870"/>
                </a:lnTo>
                <a:lnTo>
                  <a:pt x="136067" y="73037"/>
                </a:lnTo>
                <a:lnTo>
                  <a:pt x="71043" y="73037"/>
                </a:lnTo>
                <a:lnTo>
                  <a:pt x="71043" y="106870"/>
                </a:lnTo>
                <a:lnTo>
                  <a:pt x="71043" y="285432"/>
                </a:lnTo>
                <a:lnTo>
                  <a:pt x="66497" y="289445"/>
                </a:lnTo>
                <a:lnTo>
                  <a:pt x="55270" y="289445"/>
                </a:lnTo>
                <a:lnTo>
                  <a:pt x="50723" y="285432"/>
                </a:lnTo>
                <a:lnTo>
                  <a:pt x="50723" y="106870"/>
                </a:lnTo>
                <a:lnTo>
                  <a:pt x="55270" y="102857"/>
                </a:lnTo>
                <a:lnTo>
                  <a:pt x="66497" y="102857"/>
                </a:lnTo>
                <a:lnTo>
                  <a:pt x="71043" y="106870"/>
                </a:lnTo>
                <a:lnTo>
                  <a:pt x="71043" y="73037"/>
                </a:lnTo>
                <a:lnTo>
                  <a:pt x="10845" y="73037"/>
                </a:lnTo>
                <a:lnTo>
                  <a:pt x="10845" y="282346"/>
                </a:lnTo>
                <a:lnTo>
                  <a:pt x="14579" y="298640"/>
                </a:lnTo>
                <a:lnTo>
                  <a:pt x="24739" y="311950"/>
                </a:lnTo>
                <a:lnTo>
                  <a:pt x="39801" y="320929"/>
                </a:lnTo>
                <a:lnTo>
                  <a:pt x="58254" y="324218"/>
                </a:lnTo>
                <a:lnTo>
                  <a:pt x="266852" y="324218"/>
                </a:lnTo>
                <a:lnTo>
                  <a:pt x="285305" y="320929"/>
                </a:lnTo>
                <a:lnTo>
                  <a:pt x="300380" y="311950"/>
                </a:lnTo>
                <a:lnTo>
                  <a:pt x="310540" y="298640"/>
                </a:lnTo>
                <a:lnTo>
                  <a:pt x="312635" y="289445"/>
                </a:lnTo>
                <a:lnTo>
                  <a:pt x="314261" y="282346"/>
                </a:lnTo>
                <a:lnTo>
                  <a:pt x="314261" y="102857"/>
                </a:lnTo>
                <a:lnTo>
                  <a:pt x="314261" y="73037"/>
                </a:lnTo>
                <a:close/>
              </a:path>
              <a:path w="438150" h="4119879">
                <a:moveTo>
                  <a:pt x="325120" y="25463"/>
                </a:moveTo>
                <a:lnTo>
                  <a:pt x="322084" y="22796"/>
                </a:lnTo>
                <a:lnTo>
                  <a:pt x="203428" y="22796"/>
                </a:lnTo>
                <a:lnTo>
                  <a:pt x="203428" y="5105"/>
                </a:lnTo>
                <a:lnTo>
                  <a:pt x="197650" y="0"/>
                </a:lnTo>
                <a:lnTo>
                  <a:pt x="127457" y="0"/>
                </a:lnTo>
                <a:lnTo>
                  <a:pt x="121678" y="5105"/>
                </a:lnTo>
                <a:lnTo>
                  <a:pt x="121678" y="22796"/>
                </a:lnTo>
                <a:lnTo>
                  <a:pt x="3035" y="22796"/>
                </a:lnTo>
                <a:lnTo>
                  <a:pt x="0" y="25463"/>
                </a:lnTo>
                <a:lnTo>
                  <a:pt x="0" y="56007"/>
                </a:lnTo>
                <a:lnTo>
                  <a:pt x="3035" y="58674"/>
                </a:lnTo>
                <a:lnTo>
                  <a:pt x="322084" y="58674"/>
                </a:lnTo>
                <a:lnTo>
                  <a:pt x="325120" y="56007"/>
                </a:lnTo>
                <a:lnTo>
                  <a:pt x="325120" y="25463"/>
                </a:lnTo>
                <a:close/>
              </a:path>
              <a:path w="438150" h="4119879">
                <a:moveTo>
                  <a:pt x="341477" y="1421650"/>
                </a:moveTo>
                <a:lnTo>
                  <a:pt x="323215" y="1431074"/>
                </a:lnTo>
                <a:lnTo>
                  <a:pt x="308419" y="1416837"/>
                </a:lnTo>
                <a:lnTo>
                  <a:pt x="294805" y="1403731"/>
                </a:lnTo>
                <a:lnTo>
                  <a:pt x="260540" y="1383614"/>
                </a:lnTo>
                <a:lnTo>
                  <a:pt x="222084" y="1371269"/>
                </a:lnTo>
                <a:lnTo>
                  <a:pt x="181114" y="1367256"/>
                </a:lnTo>
                <a:lnTo>
                  <a:pt x="170726" y="1367612"/>
                </a:lnTo>
                <a:lnTo>
                  <a:pt x="88455" y="1391793"/>
                </a:lnTo>
                <a:lnTo>
                  <a:pt x="47726" y="1423911"/>
                </a:lnTo>
                <a:lnTo>
                  <a:pt x="19926" y="1465618"/>
                </a:lnTo>
                <a:lnTo>
                  <a:pt x="7683" y="1514094"/>
                </a:lnTo>
                <a:lnTo>
                  <a:pt x="62966" y="1517205"/>
                </a:lnTo>
                <a:lnTo>
                  <a:pt x="71348" y="1484045"/>
                </a:lnTo>
                <a:lnTo>
                  <a:pt x="90360" y="1455521"/>
                </a:lnTo>
                <a:lnTo>
                  <a:pt x="118224" y="1433537"/>
                </a:lnTo>
                <a:lnTo>
                  <a:pt x="153149" y="1420063"/>
                </a:lnTo>
                <a:lnTo>
                  <a:pt x="187274" y="1416837"/>
                </a:lnTo>
                <a:lnTo>
                  <a:pt x="220256" y="1422171"/>
                </a:lnTo>
                <a:lnTo>
                  <a:pt x="250164" y="1435430"/>
                </a:lnTo>
                <a:lnTo>
                  <a:pt x="275069" y="1455915"/>
                </a:lnTo>
                <a:lnTo>
                  <a:pt x="259308" y="1464043"/>
                </a:lnTo>
                <a:lnTo>
                  <a:pt x="341299" y="1506156"/>
                </a:lnTo>
                <a:lnTo>
                  <a:pt x="341337" y="1484045"/>
                </a:lnTo>
                <a:lnTo>
                  <a:pt x="341464" y="1431074"/>
                </a:lnTo>
                <a:lnTo>
                  <a:pt x="341477" y="1421650"/>
                </a:lnTo>
                <a:close/>
              </a:path>
              <a:path w="438150" h="4119879">
                <a:moveTo>
                  <a:pt x="349440" y="3920782"/>
                </a:moveTo>
                <a:lnTo>
                  <a:pt x="304965" y="3920782"/>
                </a:lnTo>
                <a:lnTo>
                  <a:pt x="304965" y="4086301"/>
                </a:lnTo>
                <a:lnTo>
                  <a:pt x="349440" y="4086301"/>
                </a:lnTo>
                <a:lnTo>
                  <a:pt x="349440" y="3920782"/>
                </a:lnTo>
                <a:close/>
              </a:path>
              <a:path w="438150" h="4119879">
                <a:moveTo>
                  <a:pt x="354025" y="1533829"/>
                </a:moveTo>
                <a:lnTo>
                  <a:pt x="298742" y="1530705"/>
                </a:lnTo>
                <a:lnTo>
                  <a:pt x="290360" y="1563865"/>
                </a:lnTo>
                <a:lnTo>
                  <a:pt x="271348" y="1592402"/>
                </a:lnTo>
                <a:lnTo>
                  <a:pt x="243484" y="1614373"/>
                </a:lnTo>
                <a:lnTo>
                  <a:pt x="208559" y="1627847"/>
                </a:lnTo>
                <a:lnTo>
                  <a:pt x="174434" y="1631086"/>
                </a:lnTo>
                <a:lnTo>
                  <a:pt x="141452" y="1625739"/>
                </a:lnTo>
                <a:lnTo>
                  <a:pt x="121361" y="1616837"/>
                </a:lnTo>
                <a:lnTo>
                  <a:pt x="111544" y="1612493"/>
                </a:lnTo>
                <a:lnTo>
                  <a:pt x="86639" y="1591995"/>
                </a:lnTo>
                <a:lnTo>
                  <a:pt x="102400" y="1583867"/>
                </a:lnTo>
                <a:lnTo>
                  <a:pt x="20408" y="1541754"/>
                </a:lnTo>
                <a:lnTo>
                  <a:pt x="20307" y="1592402"/>
                </a:lnTo>
                <a:lnTo>
                  <a:pt x="20231" y="1626260"/>
                </a:lnTo>
                <a:lnTo>
                  <a:pt x="38493" y="1616837"/>
                </a:lnTo>
                <a:lnTo>
                  <a:pt x="74980" y="1649857"/>
                </a:lnTo>
                <a:lnTo>
                  <a:pt x="119913" y="1671421"/>
                </a:lnTo>
                <a:lnTo>
                  <a:pt x="170065" y="1680451"/>
                </a:lnTo>
                <a:lnTo>
                  <a:pt x="222199" y="1675828"/>
                </a:lnTo>
                <a:lnTo>
                  <a:pt x="273253" y="1656118"/>
                </a:lnTo>
                <a:lnTo>
                  <a:pt x="305003" y="1631086"/>
                </a:lnTo>
                <a:lnTo>
                  <a:pt x="313982" y="1623999"/>
                </a:lnTo>
                <a:lnTo>
                  <a:pt x="341782" y="1582293"/>
                </a:lnTo>
                <a:lnTo>
                  <a:pt x="354025" y="1533829"/>
                </a:lnTo>
                <a:close/>
              </a:path>
              <a:path w="438150" h="4119879">
                <a:moveTo>
                  <a:pt x="372541" y="2825229"/>
                </a:moveTo>
                <a:lnTo>
                  <a:pt x="336423" y="2805176"/>
                </a:lnTo>
                <a:lnTo>
                  <a:pt x="336461" y="2794685"/>
                </a:lnTo>
                <a:lnTo>
                  <a:pt x="335661" y="2784310"/>
                </a:lnTo>
                <a:lnTo>
                  <a:pt x="335584" y="2783865"/>
                </a:lnTo>
                <a:lnTo>
                  <a:pt x="335508" y="2783357"/>
                </a:lnTo>
                <a:lnTo>
                  <a:pt x="334060" y="2774111"/>
                </a:lnTo>
                <a:lnTo>
                  <a:pt x="331711" y="2764091"/>
                </a:lnTo>
                <a:lnTo>
                  <a:pt x="360616" y="2738031"/>
                </a:lnTo>
                <a:lnTo>
                  <a:pt x="339979" y="2699194"/>
                </a:lnTo>
                <a:lnTo>
                  <a:pt x="334606" y="2689110"/>
                </a:lnTo>
                <a:lnTo>
                  <a:pt x="318897" y="2693022"/>
                </a:lnTo>
                <a:lnTo>
                  <a:pt x="318897" y="2783357"/>
                </a:lnTo>
                <a:lnTo>
                  <a:pt x="318833" y="2784310"/>
                </a:lnTo>
                <a:lnTo>
                  <a:pt x="315709" y="2834284"/>
                </a:lnTo>
                <a:lnTo>
                  <a:pt x="292950" y="2880169"/>
                </a:lnTo>
                <a:lnTo>
                  <a:pt x="255739" y="2912529"/>
                </a:lnTo>
                <a:lnTo>
                  <a:pt x="209042" y="2928620"/>
                </a:lnTo>
                <a:lnTo>
                  <a:pt x="158013" y="2925419"/>
                </a:lnTo>
                <a:lnTo>
                  <a:pt x="112229" y="2902674"/>
                </a:lnTo>
                <a:lnTo>
                  <a:pt x="111963" y="2902369"/>
                </a:lnTo>
                <a:lnTo>
                  <a:pt x="79844" y="2865437"/>
                </a:lnTo>
                <a:lnTo>
                  <a:pt x="79781" y="2865247"/>
                </a:lnTo>
                <a:lnTo>
                  <a:pt x="63779" y="2818765"/>
                </a:lnTo>
                <a:lnTo>
                  <a:pt x="63817" y="2818257"/>
                </a:lnTo>
                <a:lnTo>
                  <a:pt x="63931" y="2816479"/>
                </a:lnTo>
                <a:lnTo>
                  <a:pt x="66979" y="2767736"/>
                </a:lnTo>
                <a:lnTo>
                  <a:pt x="86512" y="2728417"/>
                </a:lnTo>
                <a:lnTo>
                  <a:pt x="89725" y="2721953"/>
                </a:lnTo>
                <a:lnTo>
                  <a:pt x="126961" y="2689568"/>
                </a:lnTo>
                <a:lnTo>
                  <a:pt x="173634" y="2673502"/>
                </a:lnTo>
                <a:lnTo>
                  <a:pt x="224663" y="2676702"/>
                </a:lnTo>
                <a:lnTo>
                  <a:pt x="270446" y="2699448"/>
                </a:lnTo>
                <a:lnTo>
                  <a:pt x="302831" y="2736685"/>
                </a:lnTo>
                <a:lnTo>
                  <a:pt x="302895" y="2736875"/>
                </a:lnTo>
                <a:lnTo>
                  <a:pt x="318897" y="2783357"/>
                </a:lnTo>
                <a:lnTo>
                  <a:pt x="318897" y="2693022"/>
                </a:lnTo>
                <a:lnTo>
                  <a:pt x="294030" y="2699194"/>
                </a:lnTo>
                <a:lnTo>
                  <a:pt x="287197" y="2692463"/>
                </a:lnTo>
                <a:lnTo>
                  <a:pt x="279819" y="2686291"/>
                </a:lnTo>
                <a:lnTo>
                  <a:pt x="271932" y="2680652"/>
                </a:lnTo>
                <a:lnTo>
                  <a:pt x="263588" y="2675572"/>
                </a:lnTo>
                <a:lnTo>
                  <a:pt x="264998" y="2675940"/>
                </a:lnTo>
                <a:lnTo>
                  <a:pt x="264998" y="2675572"/>
                </a:lnTo>
                <a:lnTo>
                  <a:pt x="265036" y="2673502"/>
                </a:lnTo>
                <a:lnTo>
                  <a:pt x="265226" y="2661894"/>
                </a:lnTo>
                <a:lnTo>
                  <a:pt x="265328" y="2655887"/>
                </a:lnTo>
                <a:lnTo>
                  <a:pt x="265760" y="2630360"/>
                </a:lnTo>
                <a:lnTo>
                  <a:pt x="212242" y="2616022"/>
                </a:lnTo>
                <a:lnTo>
                  <a:pt x="190119" y="2655887"/>
                </a:lnTo>
                <a:lnTo>
                  <a:pt x="191516" y="2656255"/>
                </a:lnTo>
                <a:lnTo>
                  <a:pt x="181165" y="2656522"/>
                </a:lnTo>
                <a:lnTo>
                  <a:pt x="170954" y="2657564"/>
                </a:lnTo>
                <a:lnTo>
                  <a:pt x="160921" y="2659405"/>
                </a:lnTo>
                <a:lnTo>
                  <a:pt x="151638" y="2661894"/>
                </a:lnTo>
                <a:lnTo>
                  <a:pt x="118643" y="2630182"/>
                </a:lnTo>
                <a:lnTo>
                  <a:pt x="71653" y="2659545"/>
                </a:lnTo>
                <a:lnTo>
                  <a:pt x="85331" y="2701734"/>
                </a:lnTo>
                <a:lnTo>
                  <a:pt x="79819" y="2707894"/>
                </a:lnTo>
                <a:lnTo>
                  <a:pt x="74676" y="2714396"/>
                </a:lnTo>
                <a:lnTo>
                  <a:pt x="69900" y="2721241"/>
                </a:lnTo>
                <a:lnTo>
                  <a:pt x="65532" y="2728417"/>
                </a:lnTo>
                <a:lnTo>
                  <a:pt x="24688" y="2727731"/>
                </a:lnTo>
                <a:lnTo>
                  <a:pt x="10350" y="2781249"/>
                </a:lnTo>
                <a:lnTo>
                  <a:pt x="45986" y="2801035"/>
                </a:lnTo>
                <a:lnTo>
                  <a:pt x="46304" y="2810408"/>
                </a:lnTo>
                <a:lnTo>
                  <a:pt x="47244" y="2819666"/>
                </a:lnTo>
                <a:lnTo>
                  <a:pt x="48780" y="2828798"/>
                </a:lnTo>
                <a:lnTo>
                  <a:pt x="50914" y="2837777"/>
                </a:lnTo>
                <a:lnTo>
                  <a:pt x="20637" y="2862313"/>
                </a:lnTo>
                <a:lnTo>
                  <a:pt x="44056" y="2912529"/>
                </a:lnTo>
                <a:lnTo>
                  <a:pt x="88811" y="2903855"/>
                </a:lnTo>
                <a:lnTo>
                  <a:pt x="88125" y="2902369"/>
                </a:lnTo>
                <a:lnTo>
                  <a:pt x="94907" y="2909112"/>
                </a:lnTo>
                <a:lnTo>
                  <a:pt x="102235" y="2915323"/>
                </a:lnTo>
                <a:lnTo>
                  <a:pt x="110070" y="2920974"/>
                </a:lnTo>
                <a:lnTo>
                  <a:pt x="118364" y="2926092"/>
                </a:lnTo>
                <a:lnTo>
                  <a:pt x="118325" y="2928620"/>
                </a:lnTo>
                <a:lnTo>
                  <a:pt x="117640" y="2969082"/>
                </a:lnTo>
                <a:lnTo>
                  <a:pt x="171157" y="2983420"/>
                </a:lnTo>
                <a:lnTo>
                  <a:pt x="192024" y="2945828"/>
                </a:lnTo>
                <a:lnTo>
                  <a:pt x="202628" y="2945485"/>
                </a:lnTo>
                <a:lnTo>
                  <a:pt x="213080" y="2944342"/>
                </a:lnTo>
                <a:lnTo>
                  <a:pt x="223342" y="2942374"/>
                </a:lnTo>
                <a:lnTo>
                  <a:pt x="233375" y="2939592"/>
                </a:lnTo>
                <a:lnTo>
                  <a:pt x="229184" y="2942526"/>
                </a:lnTo>
                <a:lnTo>
                  <a:pt x="263601" y="2972409"/>
                </a:lnTo>
                <a:lnTo>
                  <a:pt x="308991" y="2940634"/>
                </a:lnTo>
                <a:lnTo>
                  <a:pt x="308597" y="2939592"/>
                </a:lnTo>
                <a:lnTo>
                  <a:pt x="304393" y="2928620"/>
                </a:lnTo>
                <a:lnTo>
                  <a:pt x="294601" y="2903067"/>
                </a:lnTo>
                <a:lnTo>
                  <a:pt x="300088" y="2897314"/>
                </a:lnTo>
                <a:lnTo>
                  <a:pt x="305231" y="2891218"/>
                </a:lnTo>
                <a:lnTo>
                  <a:pt x="310007" y="2884779"/>
                </a:lnTo>
                <a:lnTo>
                  <a:pt x="314375" y="2878010"/>
                </a:lnTo>
                <a:lnTo>
                  <a:pt x="358203" y="2878747"/>
                </a:lnTo>
                <a:lnTo>
                  <a:pt x="358394" y="2878010"/>
                </a:lnTo>
                <a:lnTo>
                  <a:pt x="372541" y="2825229"/>
                </a:lnTo>
                <a:close/>
              </a:path>
              <a:path w="438150" h="4119879">
                <a:moveTo>
                  <a:pt x="403669" y="3807091"/>
                </a:moveTo>
                <a:lnTo>
                  <a:pt x="350570" y="3804729"/>
                </a:lnTo>
                <a:lnTo>
                  <a:pt x="357670" y="3818255"/>
                </a:lnTo>
                <a:lnTo>
                  <a:pt x="167157" y="3939184"/>
                </a:lnTo>
                <a:lnTo>
                  <a:pt x="181356" y="3966235"/>
                </a:lnTo>
                <a:lnTo>
                  <a:pt x="371881" y="3845306"/>
                </a:lnTo>
                <a:lnTo>
                  <a:pt x="378980" y="3858831"/>
                </a:lnTo>
                <a:lnTo>
                  <a:pt x="385432" y="3845306"/>
                </a:lnTo>
                <a:lnTo>
                  <a:pt x="403669" y="3807091"/>
                </a:lnTo>
                <a:close/>
              </a:path>
              <a:path w="438150" h="4119879">
                <a:moveTo>
                  <a:pt x="417880" y="3883164"/>
                </a:moveTo>
                <a:lnTo>
                  <a:pt x="373392" y="3883164"/>
                </a:lnTo>
                <a:lnTo>
                  <a:pt x="373392" y="4086301"/>
                </a:lnTo>
                <a:lnTo>
                  <a:pt x="417880" y="4086301"/>
                </a:lnTo>
                <a:lnTo>
                  <a:pt x="417880" y="3883164"/>
                </a:lnTo>
                <a:close/>
              </a:path>
              <a:path w="438150" h="4119879">
                <a:moveTo>
                  <a:pt x="437832" y="4100982"/>
                </a:moveTo>
                <a:lnTo>
                  <a:pt x="147002" y="4100982"/>
                </a:lnTo>
                <a:lnTo>
                  <a:pt x="147002" y="3781234"/>
                </a:lnTo>
                <a:lnTo>
                  <a:pt x="129882" y="3781234"/>
                </a:lnTo>
                <a:lnTo>
                  <a:pt x="129882" y="4119791"/>
                </a:lnTo>
                <a:lnTo>
                  <a:pt x="437832" y="4119791"/>
                </a:lnTo>
                <a:lnTo>
                  <a:pt x="437832" y="41009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06628" y="2039073"/>
            <a:ext cx="466090" cy="486409"/>
          </a:xfrm>
          <a:custGeom>
            <a:avLst/>
            <a:gdLst/>
            <a:ahLst/>
            <a:cxnLst/>
            <a:rect l="l" t="t" r="r" b="b"/>
            <a:pathLst>
              <a:path w="466089" h="486410">
                <a:moveTo>
                  <a:pt x="255354" y="68172"/>
                </a:moveTo>
                <a:lnTo>
                  <a:pt x="171324" y="68172"/>
                </a:lnTo>
                <a:lnTo>
                  <a:pt x="272394" y="0"/>
                </a:lnTo>
                <a:lnTo>
                  <a:pt x="276938" y="1164"/>
                </a:lnTo>
                <a:lnTo>
                  <a:pt x="299292" y="34306"/>
                </a:lnTo>
                <a:lnTo>
                  <a:pt x="298670" y="38955"/>
                </a:lnTo>
                <a:lnTo>
                  <a:pt x="255354" y="68172"/>
                </a:lnTo>
                <a:close/>
              </a:path>
              <a:path w="466089" h="486410">
                <a:moveTo>
                  <a:pt x="26898" y="222268"/>
                </a:moveTo>
                <a:lnTo>
                  <a:pt x="22354" y="221103"/>
                </a:lnTo>
                <a:lnTo>
                  <a:pt x="0" y="187961"/>
                </a:lnTo>
                <a:lnTo>
                  <a:pt x="622" y="183312"/>
                </a:lnTo>
                <a:lnTo>
                  <a:pt x="101692" y="115139"/>
                </a:lnTo>
                <a:lnTo>
                  <a:pt x="88743" y="95942"/>
                </a:lnTo>
                <a:lnTo>
                  <a:pt x="89929" y="87087"/>
                </a:lnTo>
                <a:lnTo>
                  <a:pt x="149721" y="46756"/>
                </a:lnTo>
                <a:lnTo>
                  <a:pt x="158376" y="48975"/>
                </a:lnTo>
                <a:lnTo>
                  <a:pt x="171324" y="68172"/>
                </a:lnTo>
                <a:lnTo>
                  <a:pt x="255354" y="68172"/>
                </a:lnTo>
                <a:lnTo>
                  <a:pt x="26898" y="222268"/>
                </a:lnTo>
                <a:close/>
              </a:path>
              <a:path w="466089" h="486410">
                <a:moveTo>
                  <a:pt x="250229" y="485802"/>
                </a:moveTo>
                <a:lnTo>
                  <a:pt x="230824" y="484721"/>
                </a:lnTo>
                <a:lnTo>
                  <a:pt x="212427" y="476114"/>
                </a:lnTo>
                <a:lnTo>
                  <a:pt x="197323" y="460566"/>
                </a:lnTo>
                <a:lnTo>
                  <a:pt x="44069" y="233357"/>
                </a:lnTo>
                <a:lnTo>
                  <a:pt x="302520" y="59030"/>
                </a:lnTo>
                <a:lnTo>
                  <a:pt x="344776" y="121676"/>
                </a:lnTo>
                <a:lnTo>
                  <a:pt x="279462" y="121676"/>
                </a:lnTo>
                <a:lnTo>
                  <a:pt x="269904" y="128123"/>
                </a:lnTo>
                <a:lnTo>
                  <a:pt x="268970" y="135096"/>
                </a:lnTo>
                <a:lnTo>
                  <a:pt x="285117" y="159035"/>
                </a:lnTo>
                <a:lnTo>
                  <a:pt x="224074" y="159035"/>
                </a:lnTo>
                <a:lnTo>
                  <a:pt x="214516" y="165483"/>
                </a:lnTo>
                <a:lnTo>
                  <a:pt x="213583" y="172455"/>
                </a:lnTo>
                <a:lnTo>
                  <a:pt x="229730" y="196395"/>
                </a:lnTo>
                <a:lnTo>
                  <a:pt x="168687" y="196395"/>
                </a:lnTo>
                <a:lnTo>
                  <a:pt x="159128" y="202842"/>
                </a:lnTo>
                <a:lnTo>
                  <a:pt x="158195" y="209815"/>
                </a:lnTo>
                <a:lnTo>
                  <a:pt x="174342" y="233754"/>
                </a:lnTo>
                <a:lnTo>
                  <a:pt x="113299" y="233754"/>
                </a:lnTo>
                <a:lnTo>
                  <a:pt x="103741" y="240202"/>
                </a:lnTo>
                <a:lnTo>
                  <a:pt x="102807" y="247174"/>
                </a:lnTo>
                <a:lnTo>
                  <a:pt x="233546" y="441002"/>
                </a:lnTo>
                <a:lnTo>
                  <a:pt x="240360" y="442749"/>
                </a:lnTo>
                <a:lnTo>
                  <a:pt x="321761" y="442749"/>
                </a:lnTo>
                <a:lnTo>
                  <a:pt x="268356" y="478771"/>
                </a:lnTo>
                <a:lnTo>
                  <a:pt x="250229" y="485802"/>
                </a:lnTo>
                <a:close/>
              </a:path>
              <a:path w="466089" h="486410">
                <a:moveTo>
                  <a:pt x="464148" y="330670"/>
                </a:moveTo>
                <a:lnTo>
                  <a:pt x="406524" y="330670"/>
                </a:lnTo>
                <a:lnTo>
                  <a:pt x="416082" y="324223"/>
                </a:lnTo>
                <a:lnTo>
                  <a:pt x="417015" y="317250"/>
                </a:lnTo>
                <a:lnTo>
                  <a:pt x="286277" y="123422"/>
                </a:lnTo>
                <a:lnTo>
                  <a:pt x="279462" y="121676"/>
                </a:lnTo>
                <a:lnTo>
                  <a:pt x="344776" y="121676"/>
                </a:lnTo>
                <a:lnTo>
                  <a:pt x="455774" y="286238"/>
                </a:lnTo>
                <a:lnTo>
                  <a:pt x="464532" y="306067"/>
                </a:lnTo>
                <a:lnTo>
                  <a:pt x="465506" y="324223"/>
                </a:lnTo>
                <a:lnTo>
                  <a:pt x="465620" y="326349"/>
                </a:lnTo>
                <a:lnTo>
                  <a:pt x="464148" y="330670"/>
                </a:lnTo>
                <a:close/>
              </a:path>
              <a:path w="466089" h="486410">
                <a:moveTo>
                  <a:pt x="432536" y="368030"/>
                </a:moveTo>
                <a:lnTo>
                  <a:pt x="351136" y="368030"/>
                </a:lnTo>
                <a:lnTo>
                  <a:pt x="360694" y="361583"/>
                </a:lnTo>
                <a:lnTo>
                  <a:pt x="361628" y="354610"/>
                </a:lnTo>
                <a:lnTo>
                  <a:pt x="230889" y="160782"/>
                </a:lnTo>
                <a:lnTo>
                  <a:pt x="224074" y="159035"/>
                </a:lnTo>
                <a:lnTo>
                  <a:pt x="285117" y="159035"/>
                </a:lnTo>
                <a:lnTo>
                  <a:pt x="399709" y="328924"/>
                </a:lnTo>
                <a:lnTo>
                  <a:pt x="406524" y="330670"/>
                </a:lnTo>
                <a:lnTo>
                  <a:pt x="464148" y="330670"/>
                </a:lnTo>
                <a:lnTo>
                  <a:pt x="459353" y="344745"/>
                </a:lnTo>
                <a:lnTo>
                  <a:pt x="446044" y="358919"/>
                </a:lnTo>
                <a:lnTo>
                  <a:pt x="432536" y="368030"/>
                </a:lnTo>
                <a:close/>
              </a:path>
              <a:path w="466089" h="486410">
                <a:moveTo>
                  <a:pt x="377148" y="405389"/>
                </a:moveTo>
                <a:lnTo>
                  <a:pt x="295748" y="405389"/>
                </a:lnTo>
                <a:lnTo>
                  <a:pt x="305306" y="398942"/>
                </a:lnTo>
                <a:lnTo>
                  <a:pt x="306240" y="391969"/>
                </a:lnTo>
                <a:lnTo>
                  <a:pt x="175502" y="198141"/>
                </a:lnTo>
                <a:lnTo>
                  <a:pt x="168687" y="196395"/>
                </a:lnTo>
                <a:lnTo>
                  <a:pt x="229730" y="196395"/>
                </a:lnTo>
                <a:lnTo>
                  <a:pt x="344321" y="366283"/>
                </a:lnTo>
                <a:lnTo>
                  <a:pt x="351136" y="368030"/>
                </a:lnTo>
                <a:lnTo>
                  <a:pt x="432536" y="368030"/>
                </a:lnTo>
                <a:lnTo>
                  <a:pt x="377148" y="405389"/>
                </a:lnTo>
                <a:close/>
              </a:path>
              <a:path w="466089" h="486410">
                <a:moveTo>
                  <a:pt x="321761" y="442749"/>
                </a:moveTo>
                <a:lnTo>
                  <a:pt x="240360" y="442749"/>
                </a:lnTo>
                <a:lnTo>
                  <a:pt x="249919" y="436302"/>
                </a:lnTo>
                <a:lnTo>
                  <a:pt x="250852" y="429329"/>
                </a:lnTo>
                <a:lnTo>
                  <a:pt x="120114" y="235501"/>
                </a:lnTo>
                <a:lnTo>
                  <a:pt x="113299" y="233754"/>
                </a:lnTo>
                <a:lnTo>
                  <a:pt x="174342" y="233754"/>
                </a:lnTo>
                <a:lnTo>
                  <a:pt x="288933" y="403643"/>
                </a:lnTo>
                <a:lnTo>
                  <a:pt x="295748" y="405389"/>
                </a:lnTo>
                <a:lnTo>
                  <a:pt x="377148" y="405389"/>
                </a:lnTo>
                <a:lnTo>
                  <a:pt x="321761" y="442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17137" y="2792858"/>
            <a:ext cx="426720" cy="441959"/>
          </a:xfrm>
          <a:custGeom>
            <a:avLst/>
            <a:gdLst/>
            <a:ahLst/>
            <a:cxnLst/>
            <a:rect l="l" t="t" r="r" b="b"/>
            <a:pathLst>
              <a:path w="426719" h="441960">
                <a:moveTo>
                  <a:pt x="15766" y="297734"/>
                </a:moveTo>
                <a:lnTo>
                  <a:pt x="3069" y="252281"/>
                </a:lnTo>
                <a:lnTo>
                  <a:pt x="0" y="206378"/>
                </a:lnTo>
                <a:lnTo>
                  <a:pt x="6199" y="161496"/>
                </a:lnTo>
                <a:lnTo>
                  <a:pt x="21307" y="119109"/>
                </a:lnTo>
                <a:lnTo>
                  <a:pt x="44966" y="80687"/>
                </a:lnTo>
                <a:lnTo>
                  <a:pt x="76814" y="47704"/>
                </a:lnTo>
                <a:lnTo>
                  <a:pt x="108708" y="25856"/>
                </a:lnTo>
                <a:lnTo>
                  <a:pt x="167740" y="4028"/>
                </a:lnTo>
                <a:lnTo>
                  <a:pt x="217683" y="0"/>
                </a:lnTo>
                <a:lnTo>
                  <a:pt x="267638" y="8098"/>
                </a:lnTo>
                <a:lnTo>
                  <a:pt x="315421" y="28475"/>
                </a:lnTo>
                <a:lnTo>
                  <a:pt x="339986" y="28475"/>
                </a:lnTo>
                <a:lnTo>
                  <a:pt x="359352" y="70214"/>
                </a:lnTo>
                <a:lnTo>
                  <a:pt x="196137" y="70214"/>
                </a:lnTo>
                <a:lnTo>
                  <a:pt x="156438" y="80388"/>
                </a:lnTo>
                <a:lnTo>
                  <a:pt x="120584" y="102145"/>
                </a:lnTo>
                <a:lnTo>
                  <a:pt x="89987" y="137450"/>
                </a:lnTo>
                <a:lnTo>
                  <a:pt x="72274" y="179993"/>
                </a:lnTo>
                <a:lnTo>
                  <a:pt x="68275" y="226375"/>
                </a:lnTo>
                <a:lnTo>
                  <a:pt x="78819" y="273196"/>
                </a:lnTo>
                <a:lnTo>
                  <a:pt x="15766" y="297734"/>
                </a:lnTo>
                <a:close/>
              </a:path>
              <a:path w="426719" h="441960">
                <a:moveTo>
                  <a:pt x="339986" y="28475"/>
                </a:moveTo>
                <a:lnTo>
                  <a:pt x="315421" y="28475"/>
                </a:lnTo>
                <a:lnTo>
                  <a:pt x="330008" y="6969"/>
                </a:lnTo>
                <a:lnTo>
                  <a:pt x="339986" y="28475"/>
                </a:lnTo>
                <a:close/>
              </a:path>
              <a:path w="426719" h="441960">
                <a:moveTo>
                  <a:pt x="380303" y="115368"/>
                </a:moveTo>
                <a:lnTo>
                  <a:pt x="264383" y="103724"/>
                </a:lnTo>
                <a:lnTo>
                  <a:pt x="276973" y="85161"/>
                </a:lnTo>
                <a:lnTo>
                  <a:pt x="237156" y="71760"/>
                </a:lnTo>
                <a:lnTo>
                  <a:pt x="196137" y="70214"/>
                </a:lnTo>
                <a:lnTo>
                  <a:pt x="359352" y="70214"/>
                </a:lnTo>
                <a:lnTo>
                  <a:pt x="380303" y="115368"/>
                </a:lnTo>
                <a:close/>
              </a:path>
              <a:path w="426719" h="441960">
                <a:moveTo>
                  <a:pt x="371617" y="371783"/>
                </a:moveTo>
                <a:lnTo>
                  <a:pt x="230558" y="371783"/>
                </a:lnTo>
                <a:lnTo>
                  <a:pt x="270256" y="361610"/>
                </a:lnTo>
                <a:lnTo>
                  <a:pt x="306111" y="339852"/>
                </a:lnTo>
                <a:lnTo>
                  <a:pt x="336708" y="304547"/>
                </a:lnTo>
                <a:lnTo>
                  <a:pt x="354421" y="262004"/>
                </a:lnTo>
                <a:lnTo>
                  <a:pt x="358420" y="215623"/>
                </a:lnTo>
                <a:lnTo>
                  <a:pt x="347875" y="168801"/>
                </a:lnTo>
                <a:lnTo>
                  <a:pt x="410929" y="144263"/>
                </a:lnTo>
                <a:lnTo>
                  <a:pt x="423626" y="189716"/>
                </a:lnTo>
                <a:lnTo>
                  <a:pt x="426695" y="235620"/>
                </a:lnTo>
                <a:lnTo>
                  <a:pt x="420496" y="280501"/>
                </a:lnTo>
                <a:lnTo>
                  <a:pt x="405387" y="322889"/>
                </a:lnTo>
                <a:lnTo>
                  <a:pt x="381729" y="361311"/>
                </a:lnTo>
                <a:lnTo>
                  <a:pt x="371617" y="371783"/>
                </a:lnTo>
                <a:close/>
              </a:path>
              <a:path w="426719" h="441960">
                <a:moveTo>
                  <a:pt x="96687" y="435028"/>
                </a:moveTo>
                <a:lnTo>
                  <a:pt x="46392" y="326629"/>
                </a:lnTo>
                <a:lnTo>
                  <a:pt x="162312" y="338274"/>
                </a:lnTo>
                <a:lnTo>
                  <a:pt x="149722" y="356837"/>
                </a:lnTo>
                <a:lnTo>
                  <a:pt x="189539" y="370238"/>
                </a:lnTo>
                <a:lnTo>
                  <a:pt x="230558" y="371783"/>
                </a:lnTo>
                <a:lnTo>
                  <a:pt x="371617" y="371783"/>
                </a:lnTo>
                <a:lnTo>
                  <a:pt x="349881" y="394294"/>
                </a:lnTo>
                <a:lnTo>
                  <a:pt x="319843" y="413523"/>
                </a:lnTo>
                <a:lnTo>
                  <a:pt x="111273" y="413523"/>
                </a:lnTo>
                <a:lnTo>
                  <a:pt x="96687" y="435028"/>
                </a:lnTo>
                <a:close/>
              </a:path>
              <a:path w="426719" h="441960">
                <a:moveTo>
                  <a:pt x="208943" y="441938"/>
                </a:moveTo>
                <a:lnTo>
                  <a:pt x="159038" y="433831"/>
                </a:lnTo>
                <a:lnTo>
                  <a:pt x="111273" y="413523"/>
                </a:lnTo>
                <a:lnTo>
                  <a:pt x="319843" y="413523"/>
                </a:lnTo>
                <a:lnTo>
                  <a:pt x="306528" y="422046"/>
                </a:lnTo>
                <a:lnTo>
                  <a:pt x="258828" y="437969"/>
                </a:lnTo>
                <a:lnTo>
                  <a:pt x="208943" y="441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79023" y="3678180"/>
            <a:ext cx="499109" cy="479425"/>
          </a:xfrm>
          <a:custGeom>
            <a:avLst/>
            <a:gdLst/>
            <a:ahLst/>
            <a:cxnLst/>
            <a:rect l="l" t="t" r="r" b="b"/>
            <a:pathLst>
              <a:path w="499110" h="479425">
                <a:moveTo>
                  <a:pt x="130338" y="109644"/>
                </a:moveTo>
                <a:lnTo>
                  <a:pt x="96683" y="109644"/>
                </a:lnTo>
                <a:lnTo>
                  <a:pt x="104364" y="101785"/>
                </a:lnTo>
                <a:lnTo>
                  <a:pt x="112466" y="94465"/>
                </a:lnTo>
                <a:lnTo>
                  <a:pt x="120953" y="87688"/>
                </a:lnTo>
                <a:lnTo>
                  <a:pt x="129792" y="81454"/>
                </a:lnTo>
                <a:lnTo>
                  <a:pt x="124768" y="23612"/>
                </a:lnTo>
                <a:lnTo>
                  <a:pt x="193344" y="0"/>
                </a:lnTo>
                <a:lnTo>
                  <a:pt x="225877" y="50027"/>
                </a:lnTo>
                <a:lnTo>
                  <a:pt x="225396" y="50192"/>
                </a:lnTo>
                <a:lnTo>
                  <a:pt x="249027" y="50192"/>
                </a:lnTo>
                <a:lnTo>
                  <a:pt x="252004" y="50330"/>
                </a:lnTo>
                <a:lnTo>
                  <a:pt x="265334" y="52005"/>
                </a:lnTo>
                <a:lnTo>
                  <a:pt x="278611" y="54710"/>
                </a:lnTo>
                <a:lnTo>
                  <a:pt x="378157" y="54710"/>
                </a:lnTo>
                <a:lnTo>
                  <a:pt x="374123" y="70932"/>
                </a:lnTo>
                <a:lnTo>
                  <a:pt x="228966" y="70932"/>
                </a:lnTo>
                <a:lnTo>
                  <a:pt x="186480" y="78187"/>
                </a:lnTo>
                <a:lnTo>
                  <a:pt x="147201" y="95931"/>
                </a:lnTo>
                <a:lnTo>
                  <a:pt x="130338" y="109644"/>
                </a:lnTo>
                <a:close/>
              </a:path>
              <a:path w="499110" h="479425">
                <a:moveTo>
                  <a:pt x="378157" y="54710"/>
                </a:moveTo>
                <a:lnTo>
                  <a:pt x="278611" y="54710"/>
                </a:lnTo>
                <a:lnTo>
                  <a:pt x="276936" y="53819"/>
                </a:lnTo>
                <a:lnTo>
                  <a:pt x="316895" y="9497"/>
                </a:lnTo>
                <a:lnTo>
                  <a:pt x="380933" y="43547"/>
                </a:lnTo>
                <a:lnTo>
                  <a:pt x="378157" y="54710"/>
                </a:lnTo>
                <a:close/>
              </a:path>
              <a:path w="499110" h="479425">
                <a:moveTo>
                  <a:pt x="249027" y="50192"/>
                </a:moveTo>
                <a:lnTo>
                  <a:pt x="225396" y="50192"/>
                </a:lnTo>
                <a:lnTo>
                  <a:pt x="238674" y="49715"/>
                </a:lnTo>
                <a:lnTo>
                  <a:pt x="249027" y="50192"/>
                </a:lnTo>
                <a:close/>
              </a:path>
              <a:path w="499110" h="479425">
                <a:moveTo>
                  <a:pt x="338524" y="407763"/>
                </a:moveTo>
                <a:lnTo>
                  <a:pt x="242538" y="407763"/>
                </a:lnTo>
                <a:lnTo>
                  <a:pt x="285024" y="400508"/>
                </a:lnTo>
                <a:lnTo>
                  <a:pt x="324303" y="382765"/>
                </a:lnTo>
                <a:lnTo>
                  <a:pt x="358203" y="355195"/>
                </a:lnTo>
                <a:lnTo>
                  <a:pt x="384550" y="318465"/>
                </a:lnTo>
                <a:lnTo>
                  <a:pt x="400268" y="276082"/>
                </a:lnTo>
                <a:lnTo>
                  <a:pt x="404080" y="233533"/>
                </a:lnTo>
                <a:lnTo>
                  <a:pt x="404167" y="232562"/>
                </a:lnTo>
                <a:lnTo>
                  <a:pt x="396913" y="190076"/>
                </a:lnTo>
                <a:lnTo>
                  <a:pt x="379169" y="150797"/>
                </a:lnTo>
                <a:lnTo>
                  <a:pt x="351600" y="116897"/>
                </a:lnTo>
                <a:lnTo>
                  <a:pt x="314869" y="90549"/>
                </a:lnTo>
                <a:lnTo>
                  <a:pt x="272487" y="74832"/>
                </a:lnTo>
                <a:lnTo>
                  <a:pt x="228966" y="70932"/>
                </a:lnTo>
                <a:lnTo>
                  <a:pt x="374123" y="70932"/>
                </a:lnTo>
                <a:lnTo>
                  <a:pt x="366754" y="100568"/>
                </a:lnTo>
                <a:lnTo>
                  <a:pt x="364857" y="100568"/>
                </a:lnTo>
                <a:lnTo>
                  <a:pt x="373998" y="109512"/>
                </a:lnTo>
                <a:lnTo>
                  <a:pt x="382396" y="119018"/>
                </a:lnTo>
                <a:lnTo>
                  <a:pt x="389989" y="129073"/>
                </a:lnTo>
                <a:lnTo>
                  <a:pt x="396720" y="139663"/>
                </a:lnTo>
                <a:lnTo>
                  <a:pt x="451695" y="139663"/>
                </a:lnTo>
                <a:lnTo>
                  <a:pt x="470156" y="208559"/>
                </a:lnTo>
                <a:lnTo>
                  <a:pt x="470220" y="208799"/>
                </a:lnTo>
                <a:lnTo>
                  <a:pt x="425666" y="233533"/>
                </a:lnTo>
                <a:lnTo>
                  <a:pt x="425719" y="246995"/>
                </a:lnTo>
                <a:lnTo>
                  <a:pt x="424764" y="260274"/>
                </a:lnTo>
                <a:lnTo>
                  <a:pt x="424748" y="260486"/>
                </a:lnTo>
                <a:lnTo>
                  <a:pt x="422718" y="273945"/>
                </a:lnTo>
                <a:lnTo>
                  <a:pt x="419589" y="287316"/>
                </a:lnTo>
                <a:lnTo>
                  <a:pt x="459749" y="323522"/>
                </a:lnTo>
                <a:lnTo>
                  <a:pt x="433061" y="373715"/>
                </a:lnTo>
                <a:lnTo>
                  <a:pt x="370021" y="373715"/>
                </a:lnTo>
                <a:lnTo>
                  <a:pt x="362453" y="381068"/>
                </a:lnTo>
                <a:lnTo>
                  <a:pt x="354468" y="387868"/>
                </a:lnTo>
                <a:lnTo>
                  <a:pt x="346109" y="394127"/>
                </a:lnTo>
                <a:lnTo>
                  <a:pt x="337418" y="399857"/>
                </a:lnTo>
                <a:lnTo>
                  <a:pt x="338524" y="407763"/>
                </a:lnTo>
                <a:close/>
              </a:path>
              <a:path w="499110" h="479425">
                <a:moveTo>
                  <a:pt x="256678" y="384638"/>
                </a:moveTo>
                <a:lnTo>
                  <a:pt x="211319" y="384120"/>
                </a:lnTo>
                <a:lnTo>
                  <a:pt x="166843" y="368946"/>
                </a:lnTo>
                <a:lnTo>
                  <a:pt x="129393" y="340559"/>
                </a:lnTo>
                <a:lnTo>
                  <a:pt x="103599" y="303245"/>
                </a:lnTo>
                <a:lnTo>
                  <a:pt x="90527" y="260486"/>
                </a:lnTo>
                <a:lnTo>
                  <a:pt x="90462" y="260274"/>
                </a:lnTo>
                <a:lnTo>
                  <a:pt x="90767" y="233533"/>
                </a:lnTo>
                <a:lnTo>
                  <a:pt x="90789" y="231616"/>
                </a:lnTo>
                <a:lnTo>
                  <a:pt x="90914" y="220652"/>
                </a:lnTo>
                <a:lnTo>
                  <a:pt x="106153" y="170439"/>
                </a:lnTo>
                <a:lnTo>
                  <a:pt x="134541" y="132989"/>
                </a:lnTo>
                <a:lnTo>
                  <a:pt x="171855" y="107195"/>
                </a:lnTo>
                <a:lnTo>
                  <a:pt x="214826" y="94057"/>
                </a:lnTo>
                <a:lnTo>
                  <a:pt x="250544" y="94465"/>
                </a:lnTo>
                <a:lnTo>
                  <a:pt x="259862" y="94465"/>
                </a:lnTo>
                <a:lnTo>
                  <a:pt x="304354" y="109644"/>
                </a:lnTo>
                <a:lnTo>
                  <a:pt x="304523" y="109644"/>
                </a:lnTo>
                <a:lnTo>
                  <a:pt x="342111" y="138137"/>
                </a:lnTo>
                <a:lnTo>
                  <a:pt x="352170" y="152689"/>
                </a:lnTo>
                <a:lnTo>
                  <a:pt x="243484" y="152689"/>
                </a:lnTo>
                <a:lnTo>
                  <a:pt x="210321" y="156168"/>
                </a:lnTo>
                <a:lnTo>
                  <a:pt x="180883" y="171828"/>
                </a:lnTo>
                <a:lnTo>
                  <a:pt x="158953" y="198513"/>
                </a:lnTo>
                <a:lnTo>
                  <a:pt x="149093" y="231616"/>
                </a:lnTo>
                <a:lnTo>
                  <a:pt x="152467" y="263780"/>
                </a:lnTo>
                <a:lnTo>
                  <a:pt x="152572" y="264778"/>
                </a:lnTo>
                <a:lnTo>
                  <a:pt x="168232" y="294217"/>
                </a:lnTo>
                <a:lnTo>
                  <a:pt x="194917" y="316147"/>
                </a:lnTo>
                <a:lnTo>
                  <a:pt x="228020" y="326006"/>
                </a:lnTo>
                <a:lnTo>
                  <a:pt x="351896" y="326006"/>
                </a:lnTo>
                <a:lnTo>
                  <a:pt x="336963" y="345707"/>
                </a:lnTo>
                <a:lnTo>
                  <a:pt x="299649" y="371500"/>
                </a:lnTo>
                <a:lnTo>
                  <a:pt x="256678" y="384638"/>
                </a:lnTo>
                <a:close/>
              </a:path>
              <a:path w="499110" h="479425">
                <a:moveTo>
                  <a:pt x="156316" y="465989"/>
                </a:moveTo>
                <a:lnTo>
                  <a:pt x="92278" y="431940"/>
                </a:lnTo>
                <a:lnTo>
                  <a:pt x="105857" y="377331"/>
                </a:lnTo>
                <a:lnTo>
                  <a:pt x="96787" y="368362"/>
                </a:lnTo>
                <a:lnTo>
                  <a:pt x="88461" y="358837"/>
                </a:lnTo>
                <a:lnTo>
                  <a:pt x="80936" y="348769"/>
                </a:lnTo>
                <a:lnTo>
                  <a:pt x="74258" y="338153"/>
                </a:lnTo>
                <a:lnTo>
                  <a:pt x="15079" y="338153"/>
                </a:lnTo>
                <a:lnTo>
                  <a:pt x="0" y="267211"/>
                </a:lnTo>
                <a:lnTo>
                  <a:pt x="45833" y="244821"/>
                </a:lnTo>
                <a:lnTo>
                  <a:pt x="45823" y="231616"/>
                </a:lnTo>
                <a:lnTo>
                  <a:pt x="46480" y="220652"/>
                </a:lnTo>
                <a:lnTo>
                  <a:pt x="47987" y="208799"/>
                </a:lnTo>
                <a:lnTo>
                  <a:pt x="48017" y="208559"/>
                </a:lnTo>
                <a:lnTo>
                  <a:pt x="50375" y="196510"/>
                </a:lnTo>
                <a:lnTo>
                  <a:pt x="10743" y="160779"/>
                </a:lnTo>
                <a:lnTo>
                  <a:pt x="44792" y="96741"/>
                </a:lnTo>
                <a:lnTo>
                  <a:pt x="96683" y="109644"/>
                </a:lnTo>
                <a:lnTo>
                  <a:pt x="130338" y="109644"/>
                </a:lnTo>
                <a:lnTo>
                  <a:pt x="113301" y="123500"/>
                </a:lnTo>
                <a:lnTo>
                  <a:pt x="86954" y="160230"/>
                </a:lnTo>
                <a:lnTo>
                  <a:pt x="71236" y="202613"/>
                </a:lnTo>
                <a:lnTo>
                  <a:pt x="67455" y="244821"/>
                </a:lnTo>
                <a:lnTo>
                  <a:pt x="67337" y="246134"/>
                </a:lnTo>
                <a:lnTo>
                  <a:pt x="74591" y="288620"/>
                </a:lnTo>
                <a:lnTo>
                  <a:pt x="92335" y="327899"/>
                </a:lnTo>
                <a:lnTo>
                  <a:pt x="100674" y="338153"/>
                </a:lnTo>
                <a:lnTo>
                  <a:pt x="74266" y="338153"/>
                </a:lnTo>
                <a:lnTo>
                  <a:pt x="74716" y="340274"/>
                </a:lnTo>
                <a:lnTo>
                  <a:pt x="102399" y="340274"/>
                </a:lnTo>
                <a:lnTo>
                  <a:pt x="119904" y="361799"/>
                </a:lnTo>
                <a:lnTo>
                  <a:pt x="156635" y="388146"/>
                </a:lnTo>
                <a:lnTo>
                  <a:pt x="199017" y="403864"/>
                </a:lnTo>
                <a:lnTo>
                  <a:pt x="242538" y="407763"/>
                </a:lnTo>
                <a:lnTo>
                  <a:pt x="338524" y="407763"/>
                </a:lnTo>
                <a:lnTo>
                  <a:pt x="340823" y="424195"/>
                </a:lnTo>
                <a:lnTo>
                  <a:pt x="193995" y="424195"/>
                </a:lnTo>
                <a:lnTo>
                  <a:pt x="156316" y="465989"/>
                </a:lnTo>
                <a:close/>
              </a:path>
              <a:path w="499110" h="479425">
                <a:moveTo>
                  <a:pt x="366532" y="101458"/>
                </a:moveTo>
                <a:lnTo>
                  <a:pt x="364857" y="100568"/>
                </a:lnTo>
                <a:lnTo>
                  <a:pt x="366754" y="100568"/>
                </a:lnTo>
                <a:lnTo>
                  <a:pt x="366532" y="101458"/>
                </a:lnTo>
                <a:close/>
              </a:path>
              <a:path w="499110" h="479425">
                <a:moveTo>
                  <a:pt x="451695" y="139663"/>
                </a:moveTo>
                <a:lnTo>
                  <a:pt x="396720" y="139663"/>
                </a:lnTo>
                <a:lnTo>
                  <a:pt x="451448" y="138743"/>
                </a:lnTo>
                <a:lnTo>
                  <a:pt x="451695" y="139663"/>
                </a:lnTo>
                <a:close/>
              </a:path>
              <a:path w="499110" h="479425">
                <a:moveTo>
                  <a:pt x="351896" y="326006"/>
                </a:moveTo>
                <a:lnTo>
                  <a:pt x="228020" y="326006"/>
                </a:lnTo>
                <a:lnTo>
                  <a:pt x="261183" y="322528"/>
                </a:lnTo>
                <a:lnTo>
                  <a:pt x="290621" y="306868"/>
                </a:lnTo>
                <a:lnTo>
                  <a:pt x="312551" y="280183"/>
                </a:lnTo>
                <a:lnTo>
                  <a:pt x="318418" y="260486"/>
                </a:lnTo>
                <a:lnTo>
                  <a:pt x="322402" y="246995"/>
                </a:lnTo>
                <a:lnTo>
                  <a:pt x="319037" y="214915"/>
                </a:lnTo>
                <a:lnTo>
                  <a:pt x="318932" y="213917"/>
                </a:lnTo>
                <a:lnTo>
                  <a:pt x="303272" y="184479"/>
                </a:lnTo>
                <a:lnTo>
                  <a:pt x="276587" y="162549"/>
                </a:lnTo>
                <a:lnTo>
                  <a:pt x="243484" y="152689"/>
                </a:lnTo>
                <a:lnTo>
                  <a:pt x="352170" y="152689"/>
                </a:lnTo>
                <a:lnTo>
                  <a:pt x="367904" y="175451"/>
                </a:lnTo>
                <a:lnTo>
                  <a:pt x="381042" y="218422"/>
                </a:lnTo>
                <a:lnTo>
                  <a:pt x="380564" y="260274"/>
                </a:lnTo>
                <a:lnTo>
                  <a:pt x="380524" y="263780"/>
                </a:lnTo>
                <a:lnTo>
                  <a:pt x="365350" y="308256"/>
                </a:lnTo>
                <a:lnTo>
                  <a:pt x="351896" y="326006"/>
                </a:lnTo>
                <a:close/>
              </a:path>
              <a:path w="499110" h="479425">
                <a:moveTo>
                  <a:pt x="425700" y="387560"/>
                </a:moveTo>
                <a:lnTo>
                  <a:pt x="370021" y="373715"/>
                </a:lnTo>
                <a:lnTo>
                  <a:pt x="433061" y="373715"/>
                </a:lnTo>
                <a:lnTo>
                  <a:pt x="425700" y="387560"/>
                </a:lnTo>
                <a:close/>
              </a:path>
              <a:path w="499110" h="479425">
                <a:moveTo>
                  <a:pt x="277468" y="479175"/>
                </a:moveTo>
                <a:lnTo>
                  <a:pt x="242361" y="430919"/>
                </a:lnTo>
                <a:lnTo>
                  <a:pt x="248568" y="428411"/>
                </a:lnTo>
                <a:lnTo>
                  <a:pt x="220577" y="428411"/>
                </a:lnTo>
                <a:lnTo>
                  <a:pt x="207621" y="426882"/>
                </a:lnTo>
                <a:lnTo>
                  <a:pt x="193995" y="424195"/>
                </a:lnTo>
                <a:lnTo>
                  <a:pt x="340823" y="424195"/>
                </a:lnTo>
                <a:lnTo>
                  <a:pt x="344714" y="452006"/>
                </a:lnTo>
                <a:lnTo>
                  <a:pt x="277468" y="479175"/>
                </a:lnTo>
                <a:close/>
              </a:path>
              <a:path w="499110" h="479425">
                <a:moveTo>
                  <a:pt x="234963" y="429014"/>
                </a:moveTo>
                <a:lnTo>
                  <a:pt x="219058" y="428411"/>
                </a:lnTo>
                <a:lnTo>
                  <a:pt x="248568" y="428411"/>
                </a:lnTo>
                <a:lnTo>
                  <a:pt x="234963" y="429014"/>
                </a:lnTo>
                <a:close/>
              </a:path>
              <a:path w="499110" h="479425">
                <a:moveTo>
                  <a:pt x="497183" y="170748"/>
                </a:moveTo>
                <a:lnTo>
                  <a:pt x="496726" y="169491"/>
                </a:lnTo>
                <a:lnTo>
                  <a:pt x="498481" y="168307"/>
                </a:lnTo>
                <a:lnTo>
                  <a:pt x="497183" y="1707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48099" y="4484640"/>
            <a:ext cx="580390" cy="513080"/>
          </a:xfrm>
          <a:custGeom>
            <a:avLst/>
            <a:gdLst/>
            <a:ahLst/>
            <a:cxnLst/>
            <a:rect l="l" t="t" r="r" b="b"/>
            <a:pathLst>
              <a:path w="580389" h="513079">
                <a:moveTo>
                  <a:pt x="179679" y="329425"/>
                </a:moveTo>
                <a:lnTo>
                  <a:pt x="145549" y="316235"/>
                </a:lnTo>
                <a:lnTo>
                  <a:pt x="291665" y="48141"/>
                </a:lnTo>
                <a:lnTo>
                  <a:pt x="274601" y="41546"/>
                </a:lnTo>
                <a:lnTo>
                  <a:pt x="338562" y="0"/>
                </a:lnTo>
                <a:lnTo>
                  <a:pt x="342442" y="61330"/>
                </a:lnTo>
                <a:lnTo>
                  <a:pt x="325795" y="61330"/>
                </a:lnTo>
                <a:lnTo>
                  <a:pt x="179679" y="329425"/>
                </a:lnTo>
                <a:close/>
              </a:path>
              <a:path w="580389" h="513079">
                <a:moveTo>
                  <a:pt x="482807" y="281761"/>
                </a:moveTo>
                <a:lnTo>
                  <a:pt x="351969" y="94904"/>
                </a:lnTo>
                <a:lnTo>
                  <a:pt x="404268" y="58284"/>
                </a:lnTo>
                <a:lnTo>
                  <a:pt x="535106" y="245141"/>
                </a:lnTo>
                <a:lnTo>
                  <a:pt x="482807" y="281761"/>
                </a:lnTo>
                <a:close/>
              </a:path>
              <a:path w="580389" h="513079">
                <a:moveTo>
                  <a:pt x="342859" y="67925"/>
                </a:moveTo>
                <a:lnTo>
                  <a:pt x="325795" y="61330"/>
                </a:lnTo>
                <a:lnTo>
                  <a:pt x="342442" y="61330"/>
                </a:lnTo>
                <a:lnTo>
                  <a:pt x="342859" y="67925"/>
                </a:lnTo>
                <a:close/>
              </a:path>
              <a:path w="580389" h="513079">
                <a:moveTo>
                  <a:pt x="402338" y="338106"/>
                </a:moveTo>
                <a:lnTo>
                  <a:pt x="295729" y="185852"/>
                </a:lnTo>
                <a:lnTo>
                  <a:pt x="348028" y="149232"/>
                </a:lnTo>
                <a:lnTo>
                  <a:pt x="454637" y="301486"/>
                </a:lnTo>
                <a:lnTo>
                  <a:pt x="402338" y="338106"/>
                </a:lnTo>
                <a:close/>
              </a:path>
              <a:path w="580389" h="513079">
                <a:moveTo>
                  <a:pt x="218063" y="513049"/>
                </a:moveTo>
                <a:lnTo>
                  <a:pt x="0" y="201622"/>
                </a:lnTo>
                <a:lnTo>
                  <a:pt x="20114" y="187537"/>
                </a:lnTo>
                <a:lnTo>
                  <a:pt x="226064" y="481663"/>
                </a:lnTo>
                <a:lnTo>
                  <a:pt x="262888" y="481663"/>
                </a:lnTo>
                <a:lnTo>
                  <a:pt x="218063" y="513049"/>
                </a:lnTo>
                <a:close/>
              </a:path>
              <a:path w="580389" h="513079">
                <a:moveTo>
                  <a:pt x="321869" y="394451"/>
                </a:moveTo>
                <a:lnTo>
                  <a:pt x="239490" y="276800"/>
                </a:lnTo>
                <a:lnTo>
                  <a:pt x="291788" y="240180"/>
                </a:lnTo>
                <a:lnTo>
                  <a:pt x="374168" y="357831"/>
                </a:lnTo>
                <a:lnTo>
                  <a:pt x="321869" y="394451"/>
                </a:lnTo>
                <a:close/>
              </a:path>
              <a:path w="580389" h="513079">
                <a:moveTo>
                  <a:pt x="262888" y="481663"/>
                </a:moveTo>
                <a:lnTo>
                  <a:pt x="226064" y="481663"/>
                </a:lnTo>
                <a:lnTo>
                  <a:pt x="568019" y="242224"/>
                </a:lnTo>
                <a:lnTo>
                  <a:pt x="580133" y="259525"/>
                </a:lnTo>
                <a:lnTo>
                  <a:pt x="262888" y="481663"/>
                </a:lnTo>
                <a:close/>
              </a:path>
              <a:path w="580389" h="513079">
                <a:moveTo>
                  <a:pt x="241400" y="450796"/>
                </a:moveTo>
                <a:lnTo>
                  <a:pt x="183250" y="367748"/>
                </a:lnTo>
                <a:lnTo>
                  <a:pt x="235549" y="331128"/>
                </a:lnTo>
                <a:lnTo>
                  <a:pt x="293699" y="414176"/>
                </a:lnTo>
                <a:lnTo>
                  <a:pt x="241400" y="4507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88" y="1033762"/>
            <a:ext cx="3613224" cy="278854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5338" y="1027412"/>
          <a:ext cx="3613149" cy="2787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3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46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Airlines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124B6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Ticket</a:t>
                      </a:r>
                      <a:r>
                        <a:rPr sz="15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124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Indigo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FFFFFF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3887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FFFFFF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Air</a:t>
                      </a:r>
                      <a:r>
                        <a:rPr sz="15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Asia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7662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Jet</a:t>
                      </a:r>
                      <a:r>
                        <a:rPr sz="1500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Airways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FFFFFF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FFFFFF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Air</a:t>
                      </a:r>
                      <a:r>
                        <a:rPr sz="15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India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5221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SpiceJet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FFFFFF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4321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FFFFFF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78510" y="1161522"/>
            <a:ext cx="654240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Suppose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have</a:t>
            </a:r>
            <a:r>
              <a:rPr sz="1600" spc="2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Airlines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ticket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price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there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value.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Steps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fill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numeric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value:-</a:t>
            </a:r>
            <a:endParaRPr sz="1600">
              <a:latin typeface="Cambria"/>
              <a:cs typeface="Cambria"/>
            </a:endParaRPr>
          </a:p>
          <a:p>
            <a:pPr marL="443865" marR="2555240" indent="-431800">
              <a:lnSpc>
                <a:spcPct val="100000"/>
              </a:lnSpc>
              <a:buAutoNum type="arabicParenR"/>
              <a:tabLst>
                <a:tab pos="502920" algn="l"/>
              </a:tabLst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Compute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mean/median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data 	(3887+7662+5221+4321)/4</a:t>
            </a:r>
            <a:r>
              <a:rPr sz="16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=</a:t>
            </a:r>
            <a:r>
              <a:rPr sz="1600" spc="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5272.75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C0C0C"/>
              </a:buClr>
              <a:buFont typeface="Cambria"/>
              <a:buAutoNum type="arabicParenR"/>
            </a:pPr>
            <a:endParaRPr sz="1600">
              <a:latin typeface="Cambria"/>
              <a:cs typeface="Cambria"/>
            </a:endParaRPr>
          </a:p>
          <a:p>
            <a:pPr marL="334010" indent="-233045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334010" algn="l"/>
              </a:tabLst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Substitute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Mean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place.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249842" y="4050822"/>
          <a:ext cx="422275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irlines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124B6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Ticket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  <a:solidFill>
                      <a:srgbClr val="124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781B"/>
                      </a:solidFill>
                      <a:prstDash val="solid"/>
                    </a:lnL>
                    <a:lnR w="12700">
                      <a:solidFill>
                        <a:srgbClr val="C0781B"/>
                      </a:solidFill>
                      <a:prstDash val="solid"/>
                    </a:lnR>
                    <a:lnT w="12700">
                      <a:solidFill>
                        <a:srgbClr val="C0781B"/>
                      </a:solidFill>
                      <a:prstDash val="solid"/>
                    </a:lnT>
                    <a:lnB w="12700">
                      <a:solidFill>
                        <a:srgbClr val="C078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50075" y="4447228"/>
            <a:ext cx="587248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Suppose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have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data:</a:t>
            </a:r>
            <a:endParaRPr sz="1600">
              <a:latin typeface="Cambria"/>
              <a:cs typeface="Cambria"/>
            </a:endParaRPr>
          </a:p>
          <a:p>
            <a:pPr marL="57150" marR="295275" indent="-45085">
              <a:lnSpc>
                <a:spcPct val="100000"/>
              </a:lnSpc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Then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take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mode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fill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values: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Here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: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Mode</a:t>
            </a:r>
            <a:r>
              <a:rPr sz="16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=</a:t>
            </a:r>
            <a:r>
              <a:rPr sz="1600" b="1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Indigo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substitute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Indigo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place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missing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Airline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column.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5475" y="3445255"/>
            <a:ext cx="2122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800" b="1" spc="-1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r>
              <a:rPr sz="1800" b="1" spc="-1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7323" y="597639"/>
            <a:ext cx="2059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800" b="1" spc="-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0C0C0C"/>
                </a:solidFill>
                <a:latin typeface="Cambria"/>
                <a:cs typeface="Cambria"/>
              </a:rPr>
              <a:t>Numerical</a:t>
            </a:r>
            <a:r>
              <a:rPr sz="18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88772" y="75955"/>
            <a:ext cx="28460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374" y="235963"/>
            <a:ext cx="436499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Standardization/ </a:t>
            </a:r>
            <a:r>
              <a:rPr sz="4400" dirty="0"/>
              <a:t>Feature</a:t>
            </a:r>
            <a:r>
              <a:rPr sz="4400" spc="-195" dirty="0"/>
              <a:t> </a:t>
            </a:r>
            <a:r>
              <a:rPr sz="4400" spc="-10" dirty="0"/>
              <a:t>Scaling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3239" y="0"/>
            <a:ext cx="7168761" cy="6830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2574" y="1727313"/>
            <a:ext cx="4058285" cy="279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Feature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scaling</a:t>
            </a:r>
            <a:r>
              <a:rPr sz="1400" spc="1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13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r>
              <a:rPr sz="1400" spc="1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1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rescale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values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present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 the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features. In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feature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scaling we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convert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scale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different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measurement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into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single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scale.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standardise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whole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one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range.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Cambria"/>
              <a:cs typeface="Cambria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Importance</a:t>
            </a:r>
            <a:r>
              <a:rPr sz="1400" b="1" spc="4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b="1" spc="4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Feature</a:t>
            </a:r>
            <a:r>
              <a:rPr sz="1400" b="1" spc="4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Scaling:-</a:t>
            </a:r>
            <a:r>
              <a:rPr sz="1400" b="1" spc="48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When</a:t>
            </a:r>
            <a:r>
              <a:rPr sz="1400" spc="4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400" spc="4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are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dealing</a:t>
            </a:r>
            <a:r>
              <a:rPr sz="1400" spc="2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independent</a:t>
            </a:r>
            <a:r>
              <a:rPr sz="1400" spc="2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400" spc="2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features</a:t>
            </a:r>
            <a:r>
              <a:rPr sz="1400" spc="2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that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differ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each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other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terms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or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units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features,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then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have</a:t>
            </a:r>
            <a:r>
              <a:rPr sz="1400" spc="2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to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normalise/standardise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so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difference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doesn’t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affect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outcome</a:t>
            </a:r>
            <a:r>
              <a:rPr sz="14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data.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532" rIns="0" bIns="0" rtlCol="0">
            <a:spAutoFit/>
          </a:bodyPr>
          <a:lstStyle/>
          <a:p>
            <a:pPr marL="316992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Feature</a:t>
            </a:r>
            <a:r>
              <a:rPr sz="3600" spc="-50" dirty="0"/>
              <a:t> </a:t>
            </a:r>
            <a:r>
              <a:rPr sz="3600" dirty="0"/>
              <a:t>Scaling</a:t>
            </a:r>
            <a:r>
              <a:rPr sz="3600" spc="-35" dirty="0"/>
              <a:t> </a:t>
            </a:r>
            <a:r>
              <a:rPr sz="3600" spc="-25" dirty="0"/>
              <a:t>Technique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561903" y="2025275"/>
            <a:ext cx="5126990" cy="3750310"/>
            <a:chOff x="3561903" y="2025275"/>
            <a:chExt cx="5126990" cy="3750310"/>
          </a:xfrm>
        </p:grpSpPr>
        <p:sp>
          <p:nvSpPr>
            <p:cNvPr id="4" name="object 4"/>
            <p:cNvSpPr/>
            <p:nvPr/>
          </p:nvSpPr>
          <p:spPr>
            <a:xfrm>
              <a:off x="4563050" y="3292509"/>
              <a:ext cx="4125595" cy="2483485"/>
            </a:xfrm>
            <a:custGeom>
              <a:avLst/>
              <a:gdLst/>
              <a:ahLst/>
              <a:cxnLst/>
              <a:rect l="l" t="t" r="r" b="b"/>
              <a:pathLst>
                <a:path w="4125595" h="2483485">
                  <a:moveTo>
                    <a:pt x="3618442" y="2255104"/>
                  </a:moveTo>
                  <a:lnTo>
                    <a:pt x="1751711" y="2255104"/>
                  </a:lnTo>
                  <a:lnTo>
                    <a:pt x="1244917" y="1241516"/>
                  </a:lnTo>
                  <a:lnTo>
                    <a:pt x="1865675" y="0"/>
                  </a:lnTo>
                  <a:lnTo>
                    <a:pt x="3504478" y="0"/>
                  </a:lnTo>
                  <a:lnTo>
                    <a:pt x="3625488" y="242018"/>
                  </a:lnTo>
                  <a:lnTo>
                    <a:pt x="2025408" y="242018"/>
                  </a:lnTo>
                  <a:lnTo>
                    <a:pt x="1525660" y="1241516"/>
                  </a:lnTo>
                  <a:lnTo>
                    <a:pt x="2025408" y="2241012"/>
                  </a:lnTo>
                  <a:lnTo>
                    <a:pt x="3625488" y="2241012"/>
                  </a:lnTo>
                  <a:lnTo>
                    <a:pt x="3618442" y="2255104"/>
                  </a:lnTo>
                  <a:close/>
                </a:path>
                <a:path w="4125595" h="2483485">
                  <a:moveTo>
                    <a:pt x="3625488" y="2241012"/>
                  </a:moveTo>
                  <a:lnTo>
                    <a:pt x="3344745" y="2241012"/>
                  </a:lnTo>
                  <a:lnTo>
                    <a:pt x="3844494" y="1241516"/>
                  </a:lnTo>
                  <a:lnTo>
                    <a:pt x="3344745" y="242018"/>
                  </a:lnTo>
                  <a:lnTo>
                    <a:pt x="3625488" y="242018"/>
                  </a:lnTo>
                  <a:lnTo>
                    <a:pt x="4125237" y="1241516"/>
                  </a:lnTo>
                  <a:lnTo>
                    <a:pt x="3625488" y="2241012"/>
                  </a:lnTo>
                  <a:close/>
                </a:path>
                <a:path w="4125595" h="2483485">
                  <a:moveTo>
                    <a:pt x="604709" y="1575967"/>
                  </a:moveTo>
                  <a:lnTo>
                    <a:pt x="0" y="1575967"/>
                  </a:lnTo>
                  <a:lnTo>
                    <a:pt x="302354" y="1273612"/>
                  </a:lnTo>
                  <a:lnTo>
                    <a:pt x="604709" y="1575967"/>
                  </a:lnTo>
                  <a:close/>
                </a:path>
                <a:path w="4125595" h="2483485">
                  <a:moveTo>
                    <a:pt x="3504478" y="2483031"/>
                  </a:moveTo>
                  <a:lnTo>
                    <a:pt x="717484" y="2483031"/>
                  </a:lnTo>
                  <a:lnTo>
                    <a:pt x="669351" y="2480870"/>
                  </a:lnTo>
                  <a:lnTo>
                    <a:pt x="622401" y="2474508"/>
                  </a:lnTo>
                  <a:lnTo>
                    <a:pt x="576850" y="2464132"/>
                  </a:lnTo>
                  <a:lnTo>
                    <a:pt x="532884" y="2449929"/>
                  </a:lnTo>
                  <a:lnTo>
                    <a:pt x="490690" y="2432087"/>
                  </a:lnTo>
                  <a:lnTo>
                    <a:pt x="450454" y="2410792"/>
                  </a:lnTo>
                  <a:lnTo>
                    <a:pt x="412364" y="2386230"/>
                  </a:lnTo>
                  <a:lnTo>
                    <a:pt x="376606" y="2358589"/>
                  </a:lnTo>
                  <a:lnTo>
                    <a:pt x="343367" y="2328056"/>
                  </a:lnTo>
                  <a:lnTo>
                    <a:pt x="312833" y="2294817"/>
                  </a:lnTo>
                  <a:lnTo>
                    <a:pt x="285193" y="2259058"/>
                  </a:lnTo>
                  <a:lnTo>
                    <a:pt x="260631" y="2220968"/>
                  </a:lnTo>
                  <a:lnTo>
                    <a:pt x="239336" y="2180732"/>
                  </a:lnTo>
                  <a:lnTo>
                    <a:pt x="221494" y="2138538"/>
                  </a:lnTo>
                  <a:lnTo>
                    <a:pt x="207291" y="2094572"/>
                  </a:lnTo>
                  <a:lnTo>
                    <a:pt x="196915" y="2049021"/>
                  </a:lnTo>
                  <a:lnTo>
                    <a:pt x="190647" y="2002766"/>
                  </a:lnTo>
                  <a:lnTo>
                    <a:pt x="188390" y="1953910"/>
                  </a:lnTo>
                  <a:lnTo>
                    <a:pt x="188390" y="1575967"/>
                  </a:lnTo>
                  <a:lnTo>
                    <a:pt x="416317" y="1575967"/>
                  </a:lnTo>
                  <a:lnTo>
                    <a:pt x="416317" y="1953910"/>
                  </a:lnTo>
                  <a:lnTo>
                    <a:pt x="420203" y="2002071"/>
                  </a:lnTo>
                  <a:lnTo>
                    <a:pt x="431650" y="2049021"/>
                  </a:lnTo>
                  <a:lnTo>
                    <a:pt x="449936" y="2092327"/>
                  </a:lnTo>
                  <a:lnTo>
                    <a:pt x="474430" y="2131792"/>
                  </a:lnTo>
                  <a:lnTo>
                    <a:pt x="504535" y="2166887"/>
                  </a:lnTo>
                  <a:lnTo>
                    <a:pt x="539630" y="2196992"/>
                  </a:lnTo>
                  <a:lnTo>
                    <a:pt x="579095" y="2221486"/>
                  </a:lnTo>
                  <a:lnTo>
                    <a:pt x="622311" y="2239749"/>
                  </a:lnTo>
                  <a:lnTo>
                    <a:pt x="668656" y="2251162"/>
                  </a:lnTo>
                  <a:lnTo>
                    <a:pt x="717511" y="2255104"/>
                  </a:lnTo>
                  <a:lnTo>
                    <a:pt x="3618442" y="2255104"/>
                  </a:lnTo>
                  <a:lnTo>
                    <a:pt x="3504478" y="248303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61903" y="2025275"/>
              <a:ext cx="4125595" cy="2483485"/>
            </a:xfrm>
            <a:custGeom>
              <a:avLst/>
              <a:gdLst/>
              <a:ahLst/>
              <a:cxnLst/>
              <a:rect l="l" t="t" r="r" b="b"/>
              <a:pathLst>
                <a:path w="4125595" h="2483485">
                  <a:moveTo>
                    <a:pt x="2259562" y="2483032"/>
                  </a:moveTo>
                  <a:lnTo>
                    <a:pt x="620758" y="2483032"/>
                  </a:lnTo>
                  <a:lnTo>
                    <a:pt x="0" y="1241516"/>
                  </a:lnTo>
                  <a:lnTo>
                    <a:pt x="620759" y="0"/>
                  </a:lnTo>
                  <a:lnTo>
                    <a:pt x="3407725" y="0"/>
                  </a:lnTo>
                  <a:lnTo>
                    <a:pt x="3455886" y="2162"/>
                  </a:lnTo>
                  <a:lnTo>
                    <a:pt x="3502836" y="8524"/>
                  </a:lnTo>
                  <a:lnTo>
                    <a:pt x="3548387" y="18900"/>
                  </a:lnTo>
                  <a:lnTo>
                    <a:pt x="3592353" y="33103"/>
                  </a:lnTo>
                  <a:lnTo>
                    <a:pt x="3634547" y="50945"/>
                  </a:lnTo>
                  <a:lnTo>
                    <a:pt x="3674783" y="72240"/>
                  </a:lnTo>
                  <a:lnTo>
                    <a:pt x="3712873" y="96802"/>
                  </a:lnTo>
                  <a:lnTo>
                    <a:pt x="3748631" y="124443"/>
                  </a:lnTo>
                  <a:lnTo>
                    <a:pt x="3781870" y="154976"/>
                  </a:lnTo>
                  <a:lnTo>
                    <a:pt x="3812404" y="188215"/>
                  </a:lnTo>
                  <a:lnTo>
                    <a:pt x="3840044" y="223974"/>
                  </a:lnTo>
                  <a:lnTo>
                    <a:pt x="3842594" y="227927"/>
                  </a:lnTo>
                  <a:lnTo>
                    <a:pt x="2373525" y="227927"/>
                  </a:lnTo>
                  <a:lnTo>
                    <a:pt x="2380571" y="242019"/>
                  </a:lnTo>
                  <a:lnTo>
                    <a:pt x="780491" y="242019"/>
                  </a:lnTo>
                  <a:lnTo>
                    <a:pt x="280742" y="1241516"/>
                  </a:lnTo>
                  <a:lnTo>
                    <a:pt x="780491" y="2241013"/>
                  </a:lnTo>
                  <a:lnTo>
                    <a:pt x="2380571" y="2241013"/>
                  </a:lnTo>
                  <a:lnTo>
                    <a:pt x="2259562" y="2483032"/>
                  </a:lnTo>
                  <a:close/>
                </a:path>
                <a:path w="4125595" h="2483485">
                  <a:moveTo>
                    <a:pt x="3936846" y="907064"/>
                  </a:moveTo>
                  <a:lnTo>
                    <a:pt x="3708919" y="907064"/>
                  </a:lnTo>
                  <a:lnTo>
                    <a:pt x="3708919" y="529121"/>
                  </a:lnTo>
                  <a:lnTo>
                    <a:pt x="3705033" y="480961"/>
                  </a:lnTo>
                  <a:lnTo>
                    <a:pt x="3693564" y="433921"/>
                  </a:lnTo>
                  <a:lnTo>
                    <a:pt x="3675300" y="390705"/>
                  </a:lnTo>
                  <a:lnTo>
                    <a:pt x="3650806" y="351240"/>
                  </a:lnTo>
                  <a:lnTo>
                    <a:pt x="3620702" y="316145"/>
                  </a:lnTo>
                  <a:lnTo>
                    <a:pt x="3585607" y="286040"/>
                  </a:lnTo>
                  <a:lnTo>
                    <a:pt x="3546142" y="261546"/>
                  </a:lnTo>
                  <a:lnTo>
                    <a:pt x="3502926" y="243283"/>
                  </a:lnTo>
                  <a:lnTo>
                    <a:pt x="3456581" y="231870"/>
                  </a:lnTo>
                  <a:lnTo>
                    <a:pt x="3407725" y="227927"/>
                  </a:lnTo>
                  <a:lnTo>
                    <a:pt x="3842594" y="227927"/>
                  </a:lnTo>
                  <a:lnTo>
                    <a:pt x="3864606" y="262064"/>
                  </a:lnTo>
                  <a:lnTo>
                    <a:pt x="3885901" y="302300"/>
                  </a:lnTo>
                  <a:lnTo>
                    <a:pt x="3903743" y="344494"/>
                  </a:lnTo>
                  <a:lnTo>
                    <a:pt x="3917946" y="388460"/>
                  </a:lnTo>
                  <a:lnTo>
                    <a:pt x="3928301" y="433921"/>
                  </a:lnTo>
                  <a:lnTo>
                    <a:pt x="3934590" y="480266"/>
                  </a:lnTo>
                  <a:lnTo>
                    <a:pt x="3936846" y="529121"/>
                  </a:lnTo>
                  <a:lnTo>
                    <a:pt x="3936846" y="907064"/>
                  </a:lnTo>
                  <a:close/>
                </a:path>
                <a:path w="4125595" h="2483485">
                  <a:moveTo>
                    <a:pt x="2380571" y="2241013"/>
                  </a:moveTo>
                  <a:lnTo>
                    <a:pt x="2099828" y="2241013"/>
                  </a:lnTo>
                  <a:lnTo>
                    <a:pt x="2599576" y="1241516"/>
                  </a:lnTo>
                  <a:lnTo>
                    <a:pt x="2099828" y="242019"/>
                  </a:lnTo>
                  <a:lnTo>
                    <a:pt x="2380571" y="242019"/>
                  </a:lnTo>
                  <a:lnTo>
                    <a:pt x="2880319" y="1241516"/>
                  </a:lnTo>
                  <a:lnTo>
                    <a:pt x="2380571" y="2241013"/>
                  </a:lnTo>
                  <a:close/>
                </a:path>
                <a:path w="4125595" h="2483485">
                  <a:moveTo>
                    <a:pt x="3822882" y="1209419"/>
                  </a:moveTo>
                  <a:lnTo>
                    <a:pt x="3520528" y="907064"/>
                  </a:lnTo>
                  <a:lnTo>
                    <a:pt x="4125238" y="907064"/>
                  </a:lnTo>
                  <a:lnTo>
                    <a:pt x="3822882" y="1209419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04606" y="1772445"/>
            <a:ext cx="4244975" cy="1347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19"/>
              </a:spcBef>
            </a:pPr>
            <a:r>
              <a:rPr sz="1400" b="1" dirty="0">
                <a:solidFill>
                  <a:srgbClr val="3E3E3E"/>
                </a:solidFill>
                <a:latin typeface="Arial"/>
                <a:cs typeface="Arial"/>
              </a:rPr>
              <a:t>Standard</a:t>
            </a:r>
            <a:r>
              <a:rPr sz="1400" b="1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Arial"/>
                <a:cs typeface="Arial"/>
              </a:rPr>
              <a:t>Scaler</a:t>
            </a:r>
            <a:endParaRPr sz="1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705"/>
              </a:spcBef>
            </a:pP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Standard</a:t>
            </a:r>
            <a:r>
              <a:rPr sz="1200" spc="2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scaler</a:t>
            </a:r>
            <a:r>
              <a:rPr sz="1200" spc="2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ensures</a:t>
            </a:r>
            <a:r>
              <a:rPr sz="1200" spc="2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that</a:t>
            </a:r>
            <a:r>
              <a:rPr sz="1200" spc="2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sz="1200" spc="2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each</a:t>
            </a:r>
            <a:r>
              <a:rPr sz="1200" spc="2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feature,</a:t>
            </a:r>
            <a:r>
              <a:rPr sz="1200" spc="2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200" spc="2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mean</a:t>
            </a:r>
            <a:r>
              <a:rPr sz="1200" spc="2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0C0C0C"/>
                </a:solidFill>
                <a:latin typeface="Arial"/>
                <a:cs typeface="Arial"/>
              </a:rPr>
              <a:t>is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zero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standard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deviation</a:t>
            </a:r>
            <a:r>
              <a:rPr sz="1200" spc="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1,bringing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all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feature</a:t>
            </a:r>
            <a:r>
              <a:rPr sz="1200" spc="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200" spc="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0C0C0C"/>
                </a:solidFill>
                <a:latin typeface="Arial"/>
                <a:cs typeface="Arial"/>
              </a:rPr>
              <a:t>the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same</a:t>
            </a:r>
            <a:r>
              <a:rPr sz="1200" spc="1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magnitude.</a:t>
            </a:r>
            <a:r>
              <a:rPr sz="1200" spc="14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In</a:t>
            </a:r>
            <a:r>
              <a:rPr sz="1200" spc="1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simple</a:t>
            </a:r>
            <a:r>
              <a:rPr sz="1200" spc="1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words</a:t>
            </a:r>
            <a:r>
              <a:rPr sz="1200" spc="1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Standardization</a:t>
            </a:r>
            <a:r>
              <a:rPr sz="1200" spc="15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helps</a:t>
            </a:r>
            <a:r>
              <a:rPr sz="1200" spc="1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0C0C0C"/>
                </a:solidFill>
                <a:latin typeface="Arial"/>
                <a:cs typeface="Arial"/>
              </a:rPr>
              <a:t>you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200" spc="29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scale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down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your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feature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based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on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the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standard</a:t>
            </a:r>
            <a:r>
              <a:rPr sz="1200" spc="30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Arial"/>
                <a:cs typeface="Arial"/>
              </a:rPr>
              <a:t>normal distribution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224" y="4889736"/>
            <a:ext cx="3977004" cy="73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9695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3E3E3E"/>
                </a:solidFill>
                <a:latin typeface="Arial"/>
                <a:cs typeface="Arial"/>
              </a:rPr>
              <a:t>Min-</a:t>
            </a:r>
            <a:r>
              <a:rPr sz="1400" b="1" dirty="0">
                <a:solidFill>
                  <a:srgbClr val="3E3E3E"/>
                </a:solidFill>
                <a:latin typeface="Arial"/>
                <a:cs typeface="Arial"/>
              </a:rPr>
              <a:t>Max</a:t>
            </a:r>
            <a:r>
              <a:rPr sz="1400" b="1" spc="-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Arial"/>
                <a:cs typeface="Arial"/>
              </a:rPr>
              <a:t>Scaler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</a:pP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Normalization</a:t>
            </a:r>
            <a:r>
              <a:rPr sz="1200" spc="44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helps</a:t>
            </a:r>
            <a:r>
              <a:rPr sz="1200" spc="4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you</a:t>
            </a:r>
            <a:r>
              <a:rPr sz="1200" spc="4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200" spc="4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scale</a:t>
            </a:r>
            <a:r>
              <a:rPr sz="1200" spc="4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down</a:t>
            </a:r>
            <a:r>
              <a:rPr sz="1200" spc="4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your</a:t>
            </a:r>
            <a:r>
              <a:rPr sz="1200" spc="45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Arial"/>
                <a:cs typeface="Arial"/>
              </a:rPr>
              <a:t>features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between</a:t>
            </a:r>
            <a:r>
              <a:rPr sz="1200" spc="-20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range</a:t>
            </a:r>
            <a:r>
              <a:rPr sz="12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0</a:t>
            </a:r>
            <a:r>
              <a:rPr sz="12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0C0C0C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9699" y="4582378"/>
            <a:ext cx="1534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3E3E3E"/>
                </a:solidFill>
                <a:latin typeface="Arial"/>
                <a:cs typeface="Arial"/>
              </a:rPr>
              <a:t>Normalization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73087" y="3187819"/>
            <a:ext cx="1710055" cy="68453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1800" b="1" spc="-10" dirty="0">
                <a:solidFill>
                  <a:srgbClr val="C0781B"/>
                </a:solidFill>
                <a:latin typeface="Cambria"/>
                <a:cs typeface="Cambria"/>
              </a:rPr>
              <a:t>Standardization</a:t>
            </a:r>
            <a:endParaRPr sz="1800">
              <a:latin typeface="Cambria"/>
              <a:cs typeface="Cambria"/>
            </a:endParaRPr>
          </a:p>
          <a:p>
            <a:pPr marL="40005" algn="ctr">
              <a:lnSpc>
                <a:spcPct val="100000"/>
              </a:lnSpc>
              <a:spcBef>
                <a:spcPts val="635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005" y="2382599"/>
            <a:ext cx="1283517" cy="1046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4298" y="3968317"/>
            <a:ext cx="1761299" cy="8910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" y="1252814"/>
            <a:ext cx="5648324" cy="217614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7162" y="1243289"/>
          <a:ext cx="5647055" cy="2179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3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137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FC5B58"/>
                      </a:solidFill>
                      <a:prstDash val="solid"/>
                    </a:lnL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C5B5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358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Income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(£)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C5B5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value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9525">
                      <a:solidFill>
                        <a:srgbClr val="FC5B58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C5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15000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(15000</a:t>
                      </a:r>
                      <a:r>
                        <a:rPr sz="1800" spc="-4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4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12000)/18000</a:t>
                      </a:r>
                      <a:r>
                        <a:rPr sz="1800" spc="-3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4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0.16667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(12000</a:t>
                      </a:r>
                      <a:r>
                        <a:rPr sz="1800" spc="-5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12000)/18000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=0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30000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(30000</a:t>
                      </a:r>
                      <a:r>
                        <a:rPr sz="1800" spc="-5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12000)/18000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=1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1725" y="4661452"/>
            <a:ext cx="41414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latin typeface="Cambria"/>
                <a:cs typeface="Cambria"/>
              </a:rPr>
              <a:t>Average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(15000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+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12000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+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30000)/3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19000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mbria"/>
                <a:cs typeface="Cambria"/>
              </a:rPr>
              <a:t>Standard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deviation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25" dirty="0">
                <a:latin typeface="Cambria"/>
                <a:cs typeface="Cambria"/>
              </a:rPr>
              <a:t> ??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5225" y="1148805"/>
            <a:ext cx="533971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7942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"/>
                <a:cs typeface="Cambria"/>
              </a:rPr>
              <a:t>Income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Minimum</a:t>
            </a:r>
            <a:r>
              <a:rPr sz="1600" spc="28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12000 </a:t>
            </a:r>
            <a:r>
              <a:rPr sz="1600" dirty="0">
                <a:latin typeface="Cambria"/>
                <a:cs typeface="Cambria"/>
              </a:rPr>
              <a:t>Income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Maximum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30000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mbria"/>
                <a:cs typeface="Cambria"/>
              </a:rPr>
              <a:t>(Max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–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min)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(30000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–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12000)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=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18000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200000"/>
              </a:lnSpc>
            </a:pPr>
            <a:r>
              <a:rPr sz="1600" dirty="0">
                <a:latin typeface="Cambria"/>
                <a:cs typeface="Cambria"/>
              </a:rPr>
              <a:t>Hence,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have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converted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the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income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values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between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0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1 </a:t>
            </a:r>
            <a:r>
              <a:rPr sz="1600" dirty="0">
                <a:solidFill>
                  <a:srgbClr val="171616"/>
                </a:solidFill>
                <a:latin typeface="Cambria"/>
                <a:cs typeface="Cambria"/>
              </a:rPr>
              <a:t>Please</a:t>
            </a:r>
            <a:r>
              <a:rPr sz="1600" spc="-40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171616"/>
                </a:solidFill>
                <a:latin typeface="Cambria"/>
                <a:cs typeface="Cambria"/>
              </a:rPr>
              <a:t>note,</a:t>
            </a:r>
            <a:r>
              <a:rPr sz="16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171616"/>
                </a:solidFill>
                <a:latin typeface="Cambria"/>
                <a:cs typeface="Cambria"/>
              </a:rPr>
              <a:t>the</a:t>
            </a:r>
            <a:r>
              <a:rPr sz="16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171616"/>
                </a:solidFill>
                <a:latin typeface="Cambria"/>
                <a:cs typeface="Cambria"/>
              </a:rPr>
              <a:t>new</a:t>
            </a:r>
            <a:r>
              <a:rPr sz="1600" spc="-40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Cambria"/>
                <a:cs typeface="Cambria"/>
              </a:rPr>
              <a:t>values</a:t>
            </a:r>
            <a:r>
              <a:rPr sz="16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171616"/>
                </a:solidFill>
                <a:latin typeface="Cambria"/>
                <a:cs typeface="Cambria"/>
              </a:rPr>
              <a:t>have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171616"/>
                </a:solidFill>
                <a:latin typeface="Cambria"/>
                <a:cs typeface="Cambria"/>
              </a:rPr>
              <a:t>Minimum</a:t>
            </a:r>
            <a:r>
              <a:rPr sz="1600" spc="-2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171616"/>
                </a:solidFill>
                <a:latin typeface="Cambria"/>
                <a:cs typeface="Cambria"/>
              </a:rPr>
              <a:t>=</a:t>
            </a:r>
            <a:r>
              <a:rPr sz="1600" spc="-2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spc="-50" dirty="0">
                <a:solidFill>
                  <a:srgbClr val="171616"/>
                </a:solidFill>
                <a:latin typeface="Cambria"/>
                <a:cs typeface="Cambria"/>
              </a:rPr>
              <a:t>0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171616"/>
                </a:solidFill>
                <a:latin typeface="Cambria"/>
                <a:cs typeface="Cambria"/>
              </a:rPr>
              <a:t>Maximum</a:t>
            </a:r>
            <a:r>
              <a:rPr sz="1600" spc="-2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171616"/>
                </a:solidFill>
                <a:latin typeface="Cambria"/>
                <a:cs typeface="Cambria"/>
              </a:rPr>
              <a:t>=</a:t>
            </a:r>
            <a:r>
              <a:rPr sz="1600" spc="-2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600" spc="-50" dirty="0">
                <a:solidFill>
                  <a:srgbClr val="171616"/>
                </a:solidFill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57900" y="4634645"/>
          <a:ext cx="6076950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9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7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FC5B58"/>
                      </a:solidFill>
                      <a:prstDash val="solid"/>
                    </a:lnL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C5B58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438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Income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(£)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C5B5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value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Income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9525">
                      <a:solidFill>
                        <a:srgbClr val="FC5B58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C5B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15000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(15000</a:t>
                      </a:r>
                      <a:r>
                        <a:rPr sz="1800" spc="-5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19000)/std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4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??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(12000</a:t>
                      </a:r>
                      <a:r>
                        <a:rPr sz="1800" spc="-4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3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19000)/std</a:t>
                      </a:r>
                      <a:r>
                        <a:rPr sz="1800" spc="-4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34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??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30000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(30000-</a:t>
                      </a:r>
                      <a:r>
                        <a:rPr sz="1800" spc="-1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19000)/std</a:t>
                      </a: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-25" dirty="0">
                          <a:solidFill>
                            <a:srgbClr val="980000"/>
                          </a:solidFill>
                          <a:latin typeface="Calibri"/>
                          <a:cs typeface="Calibri"/>
                        </a:rPr>
                        <a:t> ??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C5B58"/>
                      </a:solidFill>
                      <a:prstDash val="solid"/>
                    </a:lnL>
                    <a:lnR w="9525">
                      <a:solidFill>
                        <a:srgbClr val="FC5B58"/>
                      </a:solidFill>
                      <a:prstDash val="solid"/>
                    </a:lnR>
                    <a:lnT w="9525">
                      <a:solidFill>
                        <a:srgbClr val="FC5B58"/>
                      </a:solidFill>
                      <a:prstDash val="solid"/>
                    </a:lnT>
                    <a:lnB w="9525">
                      <a:solidFill>
                        <a:srgbClr val="FC5B58"/>
                      </a:solidFill>
                      <a:prstDash val="solid"/>
                    </a:lnB>
                    <a:solidFill>
                      <a:srgbClr val="FC5B58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42827" y="4014095"/>
            <a:ext cx="171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1616"/>
                </a:solidFill>
                <a:latin typeface="Cambria"/>
                <a:cs typeface="Cambria"/>
              </a:rPr>
              <a:t>Standardization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706" y="735346"/>
            <a:ext cx="153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71616"/>
                </a:solidFill>
                <a:latin typeface="Cambria"/>
                <a:cs typeface="Cambria"/>
              </a:rPr>
              <a:t>Normalisation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648503" y="183655"/>
            <a:ext cx="2323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313E4F"/>
                </a:solidFill>
              </a:rPr>
              <a:t>Example</a:t>
            </a:r>
            <a:endParaRPr sz="4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25" y="-172885"/>
            <a:ext cx="4701540" cy="1711325"/>
          </a:xfrm>
          <a:prstGeom prst="rect">
            <a:avLst/>
          </a:prstGeom>
        </p:spPr>
        <p:txBody>
          <a:bodyPr vert="horz" wrap="square" lIns="0" tIns="2971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40"/>
              </a:spcBef>
            </a:pPr>
            <a:r>
              <a:rPr sz="4400" dirty="0">
                <a:solidFill>
                  <a:srgbClr val="124B6C"/>
                </a:solidFill>
              </a:rPr>
              <a:t>Outlier</a:t>
            </a:r>
            <a:r>
              <a:rPr sz="4400" spc="-180" dirty="0">
                <a:solidFill>
                  <a:srgbClr val="124B6C"/>
                </a:solidFill>
              </a:rPr>
              <a:t> </a:t>
            </a:r>
            <a:r>
              <a:rPr sz="4400" spc="-10" dirty="0">
                <a:solidFill>
                  <a:srgbClr val="124B6C"/>
                </a:solidFill>
              </a:rPr>
              <a:t>Treatment</a:t>
            </a:r>
            <a:endParaRPr sz="4400"/>
          </a:p>
          <a:p>
            <a:pPr marL="99695" marR="275590" algn="just">
              <a:lnSpc>
                <a:spcPct val="100000"/>
              </a:lnSpc>
              <a:spcBef>
                <a:spcPts val="710"/>
              </a:spcBef>
            </a:pP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Outliers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most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extremes</a:t>
            </a:r>
            <a:r>
              <a:rPr sz="1400" b="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b="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data.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b="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b="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spc="-50" dirty="0">
                <a:solidFill>
                  <a:srgbClr val="0C0C0C"/>
                </a:solidFill>
                <a:latin typeface="Cambria"/>
                <a:cs typeface="Cambria"/>
              </a:rPr>
              <a:t>a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abnormal</a:t>
            </a:r>
            <a:r>
              <a:rPr sz="1400" b="0" spc="11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observations</a:t>
            </a:r>
            <a:r>
              <a:rPr sz="1400" b="0" spc="114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b="0" spc="114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deviate</a:t>
            </a:r>
            <a:r>
              <a:rPr sz="1400" b="0" spc="114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400" b="0" spc="114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0" spc="11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b="0" spc="-10" dirty="0">
                <a:solidFill>
                  <a:srgbClr val="0C0C0C"/>
                </a:solidFill>
                <a:latin typeface="Cambria"/>
                <a:cs typeface="Cambria"/>
              </a:rPr>
              <a:t>norm.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Outliers</a:t>
            </a:r>
            <a:r>
              <a:rPr sz="1400" b="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spc="40" dirty="0">
                <a:solidFill>
                  <a:srgbClr val="0C0C0C"/>
                </a:solidFill>
                <a:latin typeface="Cambria"/>
                <a:cs typeface="Cambria"/>
              </a:rPr>
              <a:t>d</a:t>
            </a:r>
            <a:r>
              <a:rPr sz="1400" b="0" spc="-520" dirty="0">
                <a:solidFill>
                  <a:srgbClr val="0C0C0C"/>
                </a:solidFill>
                <a:latin typeface="Cambria"/>
                <a:cs typeface="Cambria"/>
              </a:rPr>
              <a:t>o</a:t>
            </a:r>
            <a:r>
              <a:rPr sz="1800" b="0" spc="67" baseline="-6944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1800" b="0" spc="225" baseline="-694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not</a:t>
            </a:r>
            <a:r>
              <a:rPr sz="1400" b="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fit</a:t>
            </a:r>
            <a:r>
              <a:rPr sz="1400" b="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b="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normal</a:t>
            </a:r>
            <a:r>
              <a:rPr sz="1400" b="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spc="-10" dirty="0">
                <a:solidFill>
                  <a:srgbClr val="0C0C0C"/>
                </a:solidFill>
                <a:latin typeface="Cambria"/>
                <a:cs typeface="Cambria"/>
              </a:rPr>
              <a:t>behaviour</a:t>
            </a:r>
            <a:r>
              <a:rPr sz="1400" b="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b="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0" spc="-10" dirty="0">
                <a:solidFill>
                  <a:srgbClr val="0C0C0C"/>
                </a:solidFill>
                <a:latin typeface="Cambria"/>
                <a:cs typeface="Cambria"/>
              </a:rPr>
              <a:t>data.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6288" y="0"/>
            <a:ext cx="6535711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169" y="1939600"/>
            <a:ext cx="4339590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Detect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Outliers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using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following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methods: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630680" algn="l"/>
                <a:tab pos="3234055" algn="l"/>
              </a:tabLst>
            </a:pP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1.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Boxplot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2.</a:t>
            </a:r>
            <a:r>
              <a:rPr sz="1400" b="1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Histogram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3.</a:t>
            </a:r>
            <a:r>
              <a:rPr sz="1400" b="1" spc="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Scatter</a:t>
            </a:r>
            <a:r>
              <a:rPr sz="1400" spc="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plot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4.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Z-score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5.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Interquartile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range(values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1.5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time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IQR)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Handle</a:t>
            </a:r>
            <a:r>
              <a:rPr sz="1400" b="1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Outlier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using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following</a:t>
            </a:r>
            <a:r>
              <a:rPr sz="1400" b="1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methods:-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146050" indent="-138430">
              <a:lnSpc>
                <a:spcPct val="100000"/>
              </a:lnSpc>
              <a:spcBef>
                <a:spcPts val="5"/>
              </a:spcBef>
              <a:buSzPct val="92857"/>
              <a:buAutoNum type="arabicPeriod"/>
              <a:tabLst>
                <a:tab pos="146050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Remove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outliers.</a:t>
            </a:r>
            <a:endParaRPr sz="1400">
              <a:latin typeface="Cambria"/>
              <a:cs typeface="Cambria"/>
            </a:endParaRPr>
          </a:p>
          <a:p>
            <a:pPr marL="12700" marR="5080" indent="-5080">
              <a:lnSpc>
                <a:spcPct val="100000"/>
              </a:lnSpc>
              <a:buSzPct val="92857"/>
              <a:buAutoNum type="arabicPeriod"/>
              <a:tabLst>
                <a:tab pos="146050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Replace</a:t>
            </a:r>
            <a:r>
              <a:rPr sz="1400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outlier</a:t>
            </a:r>
            <a:r>
              <a:rPr sz="1400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4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suitable</a:t>
            </a:r>
            <a:r>
              <a:rPr sz="1400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4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by</a:t>
            </a:r>
            <a:r>
              <a:rPr sz="1400" spc="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using</a:t>
            </a:r>
            <a:r>
              <a:rPr sz="1400" spc="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following methods:-</a:t>
            </a:r>
            <a:endParaRPr sz="1400">
              <a:latin typeface="Cambria"/>
              <a:cs typeface="Cambria"/>
            </a:endParaRPr>
          </a:p>
          <a:p>
            <a:pPr marL="794385" lvl="1" indent="-297815">
              <a:lnSpc>
                <a:spcPct val="100000"/>
              </a:lnSpc>
              <a:buFont typeface="Arial"/>
              <a:buChar char="•"/>
              <a:tabLst>
                <a:tab pos="794385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Quantile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method</a:t>
            </a:r>
            <a:endParaRPr sz="1400">
              <a:latin typeface="Cambria"/>
              <a:cs typeface="Cambria"/>
            </a:endParaRPr>
          </a:p>
          <a:p>
            <a:pPr marL="755015" lvl="1" indent="-258445">
              <a:lnSpc>
                <a:spcPct val="100000"/>
              </a:lnSpc>
              <a:buFont typeface="Arial"/>
              <a:buChar char="•"/>
              <a:tabLst>
                <a:tab pos="755015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Interquartile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endParaRPr sz="1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C0C0C"/>
              </a:buClr>
              <a:buFont typeface="Arial"/>
              <a:buChar char="•"/>
            </a:pPr>
            <a:endParaRPr sz="1400">
              <a:latin typeface="Cambria"/>
              <a:cs typeface="Cambria"/>
            </a:endParaRPr>
          </a:p>
          <a:p>
            <a:pPr marL="145415" marR="20955" indent="-138430">
              <a:lnSpc>
                <a:spcPct val="100000"/>
              </a:lnSpc>
              <a:buSzPct val="92857"/>
              <a:buAutoNum type="arabicPeriod"/>
              <a:tabLst>
                <a:tab pos="32448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ML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model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not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sensitive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outliers 	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Like:-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KNN,Decision</a:t>
            </a:r>
            <a:r>
              <a:rPr sz="1400" spc="14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Tree,SVM,NaïveBayes,Ensemble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methods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" y="77818"/>
            <a:ext cx="54235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124B6C"/>
                </a:solidFill>
                <a:latin typeface="Arial"/>
                <a:cs typeface="Arial"/>
              </a:rPr>
              <a:t>Handle</a:t>
            </a:r>
            <a:r>
              <a:rPr sz="4400" b="1" spc="-180" dirty="0">
                <a:solidFill>
                  <a:srgbClr val="124B6C"/>
                </a:solidFill>
                <a:latin typeface="Arial"/>
                <a:cs typeface="Arial"/>
              </a:rPr>
              <a:t> </a:t>
            </a:r>
            <a:r>
              <a:rPr sz="4400" b="1" dirty="0">
                <a:solidFill>
                  <a:srgbClr val="124B6C"/>
                </a:solidFill>
                <a:latin typeface="Arial"/>
                <a:cs typeface="Arial"/>
              </a:rPr>
              <a:t>Invalid</a:t>
            </a:r>
            <a:r>
              <a:rPr sz="4400" b="1" spc="-180" dirty="0">
                <a:solidFill>
                  <a:srgbClr val="124B6C"/>
                </a:solidFill>
                <a:latin typeface="Arial"/>
                <a:cs typeface="Arial"/>
              </a:rPr>
              <a:t> </a:t>
            </a:r>
            <a:r>
              <a:rPr sz="4400" b="1" spc="-10" dirty="0">
                <a:solidFill>
                  <a:srgbClr val="124B6C"/>
                </a:solidFill>
                <a:latin typeface="Arial"/>
                <a:cs typeface="Arial"/>
              </a:rPr>
              <a:t>Value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6439" y="0"/>
            <a:ext cx="6475561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712" y="18288"/>
            <a:ext cx="52546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1145" algn="l"/>
              </a:tabLst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Encode Unicode </a:t>
            </a:r>
            <a:r>
              <a:rPr sz="1400" b="1" spc="-25" dirty="0">
                <a:solidFill>
                  <a:srgbClr val="0C0C0C"/>
                </a:solidFill>
                <a:latin typeface="Cambria"/>
                <a:cs typeface="Cambria"/>
              </a:rPr>
              <a:t>properly:-</a:t>
            </a:r>
            <a:r>
              <a:rPr sz="1400" dirty="0">
                <a:latin typeface="Cambria"/>
                <a:cs typeface="Cambria"/>
              </a:rPr>
              <a:t>In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case the data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is being read</a:t>
            </a:r>
            <a:r>
              <a:rPr sz="1400" spc="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as </a:t>
            </a:r>
            <a:r>
              <a:rPr sz="1400" spc="-20" dirty="0">
                <a:latin typeface="Cambria"/>
                <a:cs typeface="Cambria"/>
              </a:rPr>
              <a:t>junk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768" y="231647"/>
            <a:ext cx="49149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mbria"/>
                <a:cs typeface="Cambria"/>
              </a:rPr>
              <a:t>characters,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try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change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encoding,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E.g.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CP1252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instead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UTF-</a:t>
            </a:r>
            <a:r>
              <a:rPr sz="1400" spc="-25" dirty="0">
                <a:latin typeface="Cambria"/>
                <a:cs typeface="Cambria"/>
              </a:rPr>
              <a:t>8.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312" y="658367"/>
            <a:ext cx="5332095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275" marR="43180" indent="-25781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6545" algn="l"/>
              </a:tabLst>
            </a:pPr>
            <a:r>
              <a:rPr sz="1400" b="1" dirty="0">
                <a:latin typeface="Cambria"/>
                <a:cs typeface="Cambria"/>
              </a:rPr>
              <a:t>Convert</a:t>
            </a:r>
            <a:r>
              <a:rPr sz="1400" b="1" spc="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incorrect</a:t>
            </a:r>
            <a:r>
              <a:rPr sz="1400" b="1" spc="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data</a:t>
            </a:r>
            <a:r>
              <a:rPr sz="1400" b="1" spc="3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types:-</a:t>
            </a:r>
            <a:r>
              <a:rPr sz="1400" b="1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Correct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incorrect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data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types 	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correct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data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types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for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ease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analysis.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E.g.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if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numeric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values 	</a:t>
            </a:r>
            <a:r>
              <a:rPr sz="1400" dirty="0">
                <a:latin typeface="Cambria"/>
                <a:cs typeface="Cambria"/>
              </a:rPr>
              <a:t>are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stored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as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strings, it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would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not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possible to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calculate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metrics 	</a:t>
            </a:r>
            <a:r>
              <a:rPr sz="1400" dirty="0">
                <a:latin typeface="Cambria"/>
                <a:cs typeface="Cambria"/>
              </a:rPr>
              <a:t>such</a:t>
            </a:r>
            <a:r>
              <a:rPr sz="1400" spc="400" dirty="0">
                <a:latin typeface="Cambria"/>
                <a:cs typeface="Cambria"/>
              </a:rPr>
              <a:t> </a:t>
            </a:r>
            <a:r>
              <a:rPr sz="1400" spc="175" dirty="0">
                <a:latin typeface="Cambria"/>
                <a:cs typeface="Cambria"/>
              </a:rPr>
              <a:t>a</a:t>
            </a:r>
            <a:r>
              <a:rPr sz="1400" spc="-370" dirty="0">
                <a:latin typeface="Cambria"/>
                <a:cs typeface="Cambria"/>
              </a:rPr>
              <a:t>s</a:t>
            </a:r>
            <a:r>
              <a:rPr sz="1800" spc="277" baseline="-6944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1800" spc="172" baseline="-6944" dirty="0">
                <a:solidFill>
                  <a:srgbClr val="3E3E3E"/>
                </a:solidFill>
                <a:latin typeface="Arial"/>
                <a:cs typeface="Arial"/>
              </a:rPr>
              <a:t>  </a:t>
            </a:r>
            <a:r>
              <a:rPr sz="1400" dirty="0">
                <a:latin typeface="Cambria"/>
                <a:cs typeface="Cambria"/>
              </a:rPr>
              <a:t>mean,</a:t>
            </a:r>
            <a:r>
              <a:rPr sz="1400" spc="4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median,</a:t>
            </a:r>
            <a:r>
              <a:rPr sz="1400" spc="4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etc.</a:t>
            </a:r>
            <a:r>
              <a:rPr sz="1400" spc="40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Some</a:t>
            </a:r>
            <a:r>
              <a:rPr sz="1400" spc="40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4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40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common</a:t>
            </a:r>
            <a:r>
              <a:rPr sz="1400" spc="40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data</a:t>
            </a:r>
            <a:r>
              <a:rPr sz="1400" spc="400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type 	</a:t>
            </a:r>
            <a:r>
              <a:rPr sz="1400" dirty="0">
                <a:latin typeface="Cambria"/>
                <a:cs typeface="Cambria"/>
              </a:rPr>
              <a:t>corrections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are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—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string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number: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"12,300"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“12300”;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 	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date: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"2013-</a:t>
            </a:r>
            <a:r>
              <a:rPr sz="1400" dirty="0">
                <a:latin typeface="Cambria"/>
                <a:cs typeface="Cambria"/>
              </a:rPr>
              <a:t>Aug"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“2013/08”;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number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string: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“PIN</a:t>
            </a:r>
            <a:r>
              <a:rPr sz="1400" spc="150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Code 	</a:t>
            </a:r>
            <a:r>
              <a:rPr sz="1400" dirty="0">
                <a:latin typeface="Cambria"/>
                <a:cs typeface="Cambria"/>
              </a:rPr>
              <a:t>110001”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"110001";</a:t>
            </a:r>
            <a:r>
              <a:rPr sz="1400" spc="-2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etc.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712" y="2365247"/>
            <a:ext cx="5259705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marR="10795" indent="-25781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1145" algn="l"/>
              </a:tabLst>
            </a:pPr>
            <a:r>
              <a:rPr sz="1400" b="1" dirty="0">
                <a:latin typeface="Cambria"/>
                <a:cs typeface="Cambria"/>
              </a:rPr>
              <a:t>Correct</a:t>
            </a:r>
            <a:r>
              <a:rPr sz="1400" b="1" spc="-1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values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that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go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beyond</a:t>
            </a:r>
            <a:r>
              <a:rPr sz="1400" b="1" spc="-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range:-</a:t>
            </a:r>
            <a:r>
              <a:rPr sz="1400" b="1" spc="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If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some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values</a:t>
            </a:r>
            <a:r>
              <a:rPr sz="1400" spc="-5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are 	</a:t>
            </a:r>
            <a:r>
              <a:rPr sz="1400" dirty="0">
                <a:latin typeface="Cambria"/>
                <a:cs typeface="Cambria"/>
              </a:rPr>
              <a:t>beyond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logical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range,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e.g.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temperature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less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than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-</a:t>
            </a:r>
            <a:r>
              <a:rPr sz="1400" dirty="0">
                <a:latin typeface="Cambria"/>
                <a:cs typeface="Cambria"/>
              </a:rPr>
              <a:t>273°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(0°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-25" dirty="0">
                <a:latin typeface="Cambria"/>
                <a:cs typeface="Cambria"/>
              </a:rPr>
              <a:t>K), 	</a:t>
            </a:r>
            <a:r>
              <a:rPr sz="1400" dirty="0">
                <a:latin typeface="Cambria"/>
                <a:cs typeface="Cambria"/>
              </a:rPr>
              <a:t>you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would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need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correct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them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as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required.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close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look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would 	</a:t>
            </a:r>
            <a:r>
              <a:rPr sz="1400" dirty="0">
                <a:latin typeface="Cambria"/>
                <a:cs typeface="Cambria"/>
              </a:rPr>
              <a:t>help</a:t>
            </a:r>
            <a:r>
              <a:rPr sz="1400" spc="2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you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check</a:t>
            </a:r>
            <a:r>
              <a:rPr sz="1400" spc="2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if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there</a:t>
            </a:r>
            <a:r>
              <a:rPr sz="1400" spc="2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is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scope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for</a:t>
            </a:r>
            <a:r>
              <a:rPr sz="1400" spc="2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correction,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or</a:t>
            </a:r>
            <a:r>
              <a:rPr sz="1400" spc="2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if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the</a:t>
            </a:r>
            <a:r>
              <a:rPr sz="1400" spc="25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value 	</a:t>
            </a:r>
            <a:r>
              <a:rPr sz="1400" dirty="0">
                <a:latin typeface="Cambria"/>
                <a:cs typeface="Cambria"/>
              </a:rPr>
              <a:t>needs</a:t>
            </a:r>
            <a:r>
              <a:rPr sz="1400" spc="-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removed.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1400">
              <a:latin typeface="Cambria"/>
              <a:cs typeface="Cambria"/>
            </a:endParaRPr>
          </a:p>
          <a:p>
            <a:pPr marL="269875" marR="5080" indent="-257810" algn="just">
              <a:lnSpc>
                <a:spcPct val="100000"/>
              </a:lnSpc>
              <a:buFont typeface="Arial"/>
              <a:buChar char="•"/>
              <a:tabLst>
                <a:tab pos="271145" algn="l"/>
              </a:tabLst>
            </a:pPr>
            <a:r>
              <a:rPr sz="1400" b="1" dirty="0">
                <a:latin typeface="Cambria"/>
                <a:cs typeface="Cambria"/>
              </a:rPr>
              <a:t>Correct</a:t>
            </a:r>
            <a:r>
              <a:rPr sz="1400" b="1" spc="22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wrong</a:t>
            </a:r>
            <a:r>
              <a:rPr sz="1400" b="1" spc="229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structure:-</a:t>
            </a:r>
            <a:r>
              <a:rPr sz="1400" b="1" spc="22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Values</a:t>
            </a:r>
            <a:r>
              <a:rPr sz="1400" spc="2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that</a:t>
            </a:r>
            <a:r>
              <a:rPr sz="1400" spc="229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don’t</a:t>
            </a:r>
            <a:r>
              <a:rPr sz="1400" spc="2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follow</a:t>
            </a:r>
            <a:r>
              <a:rPr sz="1400" spc="22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22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defined 	</a:t>
            </a:r>
            <a:r>
              <a:rPr sz="1400" dirty="0">
                <a:latin typeface="Cambria"/>
                <a:cs typeface="Cambria"/>
              </a:rPr>
              <a:t>structure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can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removed.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E.g.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data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set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containing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pin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codes 	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Indian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cities,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pin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code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12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digits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would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an</a:t>
            </a:r>
            <a:r>
              <a:rPr sz="1400" spc="7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invalid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value 	</a:t>
            </a:r>
            <a:r>
              <a:rPr sz="1400" dirty="0">
                <a:latin typeface="Cambria"/>
                <a:cs typeface="Cambria"/>
              </a:rPr>
              <a:t>and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needs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to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removed.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Similarly,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phone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number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of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12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digits 	</a:t>
            </a:r>
            <a:r>
              <a:rPr sz="1400" dirty="0">
                <a:latin typeface="Cambria"/>
                <a:cs typeface="Cambria"/>
              </a:rPr>
              <a:t>would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be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an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invalid</a:t>
            </a:r>
            <a:r>
              <a:rPr sz="1400" spc="-3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value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666" y="1190730"/>
            <a:ext cx="5452110" cy="4722495"/>
            <a:chOff x="265666" y="1190730"/>
            <a:chExt cx="5452110" cy="4722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666" y="1190730"/>
              <a:ext cx="5441094" cy="47219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54052" y="1190730"/>
              <a:ext cx="3263900" cy="2813685"/>
            </a:xfrm>
            <a:custGeom>
              <a:avLst/>
              <a:gdLst/>
              <a:ahLst/>
              <a:cxnLst/>
              <a:rect l="l" t="t" r="r" b="b"/>
              <a:pathLst>
                <a:path w="3263900" h="2813685">
                  <a:moveTo>
                    <a:pt x="3263498" y="2813360"/>
                  </a:moveTo>
                  <a:lnTo>
                    <a:pt x="0" y="2813360"/>
                  </a:lnTo>
                  <a:lnTo>
                    <a:pt x="1631749" y="0"/>
                  </a:lnTo>
                  <a:lnTo>
                    <a:pt x="3263498" y="2813360"/>
                  </a:lnTo>
                  <a:close/>
                </a:path>
              </a:pathLst>
            </a:custGeom>
            <a:solidFill>
              <a:srgbClr val="FF9900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27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solidFill>
                  <a:srgbClr val="0C3148"/>
                </a:solidFill>
                <a:latin typeface="Arial Black"/>
                <a:cs typeface="Arial Black"/>
              </a:rPr>
              <a:t>Univariate</a:t>
            </a:r>
            <a:r>
              <a:rPr b="0" spc="-400" dirty="0">
                <a:solidFill>
                  <a:srgbClr val="0C3148"/>
                </a:solidFill>
                <a:latin typeface="Arial Black"/>
                <a:cs typeface="Arial Black"/>
              </a:rPr>
              <a:t> </a:t>
            </a:r>
            <a:r>
              <a:rPr b="0" spc="-10" dirty="0">
                <a:solidFill>
                  <a:srgbClr val="0C3148"/>
                </a:solidFill>
                <a:latin typeface="Arial Black"/>
                <a:cs typeface="Arial Black"/>
              </a:rPr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66962" y="4561233"/>
            <a:ext cx="10528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F243E"/>
                </a:solidFill>
                <a:latin typeface="Arial"/>
                <a:cs typeface="Arial"/>
              </a:rPr>
              <a:t>Frequency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5162" y="4612744"/>
            <a:ext cx="194565" cy="20098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101725" y="5479699"/>
            <a:ext cx="171386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243E"/>
                </a:solidFill>
                <a:latin typeface="Arial"/>
                <a:cs typeface="Arial"/>
              </a:rPr>
              <a:t>Central</a:t>
            </a:r>
            <a:r>
              <a:rPr sz="1600" b="1" spc="-35" dirty="0">
                <a:solidFill>
                  <a:srgbClr val="0F243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243E"/>
                </a:solidFill>
                <a:latin typeface="Arial"/>
                <a:cs typeface="Arial"/>
              </a:rPr>
              <a:t>Tendency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6793" y="5227264"/>
            <a:ext cx="3916679" cy="140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>
              <a:lnSpc>
                <a:spcPts val="1185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25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typical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probability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distribution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endParaRPr sz="1400">
              <a:latin typeface="Cambria"/>
              <a:cs typeface="Cambria"/>
            </a:endParaRPr>
          </a:p>
          <a:p>
            <a:pPr marL="12700" marR="18415">
              <a:lnSpc>
                <a:spcPct val="100000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univariate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measure</a:t>
            </a:r>
            <a:r>
              <a:rPr sz="1400" spc="2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central</a:t>
            </a:r>
            <a:r>
              <a:rPr sz="1400" spc="2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tendency</a:t>
            </a:r>
            <a:r>
              <a:rPr sz="1400" spc="2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have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Mean,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Median,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Mode.</a:t>
            </a:r>
            <a:endParaRPr sz="1400">
              <a:latin typeface="Cambria"/>
              <a:cs typeface="Cambria"/>
            </a:endParaRPr>
          </a:p>
          <a:p>
            <a:pPr marL="465455">
              <a:lnSpc>
                <a:spcPts val="1085"/>
              </a:lnSpc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20955" marR="490855">
              <a:lnSpc>
                <a:spcPct val="100000"/>
              </a:lnSpc>
              <a:spcBef>
                <a:spcPts val="400"/>
              </a:spcBef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I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tries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capture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how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your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points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jump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around.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27650" y="5559045"/>
            <a:ext cx="194564" cy="20098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474354" y="6207104"/>
            <a:ext cx="10744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F243E"/>
                </a:solidFill>
                <a:latin typeface="Arial"/>
                <a:cs typeface="Arial"/>
              </a:rPr>
              <a:t>Dispersion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51039" y="6280400"/>
            <a:ext cx="194564" cy="20098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67798" y="1865622"/>
            <a:ext cx="4061460" cy="231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Univariate</a:t>
            </a:r>
            <a:r>
              <a:rPr sz="1600" spc="3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6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deal</a:t>
            </a:r>
            <a:r>
              <a:rPr sz="16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6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analysing</a:t>
            </a:r>
            <a:r>
              <a:rPr sz="1600" spc="3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one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feature</a:t>
            </a:r>
            <a:r>
              <a:rPr sz="1600" spc="15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at</a:t>
            </a:r>
            <a:r>
              <a:rPr sz="1600" spc="15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15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time.</a:t>
            </a:r>
            <a:r>
              <a:rPr sz="1600" spc="15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Univariate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600" spc="15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is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important</a:t>
            </a:r>
            <a:r>
              <a:rPr sz="16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understand</a:t>
            </a:r>
            <a:r>
              <a:rPr sz="16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single</a:t>
            </a:r>
            <a:r>
              <a:rPr sz="16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6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at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26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time.</a:t>
            </a:r>
            <a:r>
              <a:rPr sz="1600" spc="26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26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main</a:t>
            </a:r>
            <a:r>
              <a:rPr sz="1600" spc="26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purpose</a:t>
            </a:r>
            <a:r>
              <a:rPr sz="1600" spc="26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spc="26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univariate analysis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make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easier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interpret.</a:t>
            </a:r>
            <a:endParaRPr sz="1600">
              <a:latin typeface="Cambria"/>
              <a:cs typeface="Cambria"/>
            </a:endParaRPr>
          </a:p>
          <a:p>
            <a:pPr marL="12700" marR="24765" algn="just">
              <a:lnSpc>
                <a:spcPct val="100000"/>
              </a:lnSpc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Mainly,</a:t>
            </a:r>
            <a:r>
              <a:rPr sz="1600" spc="39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Histogram</a:t>
            </a:r>
            <a:r>
              <a:rPr sz="1600" spc="39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600" spc="39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used</a:t>
            </a:r>
            <a:r>
              <a:rPr sz="1600" spc="39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39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visualize univariate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600">
              <a:latin typeface="Cambria"/>
              <a:cs typeface="Cambria"/>
            </a:endParaRPr>
          </a:p>
          <a:p>
            <a:pPr marL="1835785">
              <a:lnSpc>
                <a:spcPct val="100000"/>
              </a:lnSpc>
            </a:pPr>
            <a:r>
              <a:rPr sz="1800" b="1" spc="-10" dirty="0">
                <a:solidFill>
                  <a:srgbClr val="0C0C0C"/>
                </a:solidFill>
                <a:latin typeface="Cambria"/>
                <a:cs typeface="Cambria"/>
              </a:rPr>
              <a:t>Univariate</a:t>
            </a:r>
            <a:r>
              <a:rPr sz="1800" b="1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C0C0C"/>
                </a:solidFill>
                <a:latin typeface="Cambria"/>
                <a:cs typeface="Cambria"/>
              </a:rPr>
              <a:t>Types: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21347" y="4442057"/>
            <a:ext cx="40614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Measure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frequency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include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frequency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table,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where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you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tabulate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how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often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particular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category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or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particular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appear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dataset.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8791" y="601825"/>
            <a:ext cx="4277170" cy="10723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3212" y="594362"/>
            <a:ext cx="3977640" cy="772795"/>
          </a:xfrm>
          <a:prstGeom prst="rect">
            <a:avLst/>
          </a:prstGeom>
          <a:solidFill>
            <a:srgbClr val="313E4F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2800" b="0" dirty="0">
                <a:solidFill>
                  <a:srgbClr val="FFFFFF"/>
                </a:solidFill>
                <a:latin typeface="Arial Black"/>
                <a:cs typeface="Arial Black"/>
              </a:rPr>
              <a:t>Types</a:t>
            </a:r>
            <a:r>
              <a:rPr sz="2800" b="0" spc="-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800" b="0" dirty="0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sz="2800" b="0" spc="1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endParaRPr sz="280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15559" y="1361959"/>
            <a:ext cx="7054215" cy="1783080"/>
            <a:chOff x="1715559" y="1361959"/>
            <a:chExt cx="7054215" cy="1783080"/>
          </a:xfrm>
        </p:grpSpPr>
        <p:sp>
          <p:nvSpPr>
            <p:cNvPr id="5" name="object 5"/>
            <p:cNvSpPr/>
            <p:nvPr/>
          </p:nvSpPr>
          <p:spPr>
            <a:xfrm>
              <a:off x="2745426" y="1366722"/>
              <a:ext cx="6019165" cy="1256665"/>
            </a:xfrm>
            <a:custGeom>
              <a:avLst/>
              <a:gdLst/>
              <a:ahLst/>
              <a:cxnLst/>
              <a:rect l="l" t="t" r="r" b="b"/>
              <a:pathLst>
                <a:path w="6019165" h="1256664">
                  <a:moveTo>
                    <a:pt x="2856382" y="0"/>
                  </a:moveTo>
                  <a:lnTo>
                    <a:pt x="2856382" y="665699"/>
                  </a:lnTo>
                </a:path>
                <a:path w="6019165" h="1256664">
                  <a:moveTo>
                    <a:pt x="0" y="648511"/>
                  </a:moveTo>
                  <a:lnTo>
                    <a:pt x="6019059" y="648511"/>
                  </a:lnTo>
                </a:path>
                <a:path w="6019165" h="1256664">
                  <a:moveTo>
                    <a:pt x="0" y="661829"/>
                  </a:moveTo>
                  <a:lnTo>
                    <a:pt x="0" y="1256633"/>
                  </a:lnTo>
                </a:path>
                <a:path w="6019165" h="1256664">
                  <a:moveTo>
                    <a:pt x="6001304" y="648511"/>
                  </a:moveTo>
                  <a:lnTo>
                    <a:pt x="6001304" y="1243315"/>
                  </a:lnTo>
                </a:path>
              </a:pathLst>
            </a:custGeom>
            <a:ln w="9524">
              <a:solidFill>
                <a:srgbClr val="C078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5559" y="2620163"/>
              <a:ext cx="2059736" cy="5248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760009" y="2617539"/>
            <a:ext cx="1971039" cy="435609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90805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715"/>
              </a:spcBef>
            </a:pPr>
            <a:r>
              <a:rPr sz="1800" spc="-10" dirty="0">
                <a:solidFill>
                  <a:srgbClr val="FDFDFD"/>
                </a:solidFill>
                <a:latin typeface="Cambria"/>
                <a:cs typeface="Cambria"/>
              </a:rPr>
              <a:t>Qualitative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4674" y="2581896"/>
            <a:ext cx="2139623" cy="5238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739124" y="2617539"/>
            <a:ext cx="2051050" cy="435609"/>
          </a:xfrm>
          <a:prstGeom prst="rect">
            <a:avLst/>
          </a:prstGeom>
          <a:solidFill>
            <a:srgbClr val="FF9900"/>
          </a:solidFill>
        </p:spPr>
        <p:txBody>
          <a:bodyPr vert="horz" wrap="square" lIns="0" tIns="52069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solidFill>
                  <a:srgbClr val="FDFDFD"/>
                </a:solidFill>
                <a:latin typeface="Cambria"/>
                <a:cs typeface="Cambria"/>
              </a:rPr>
              <a:t>Quantitative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12055" y="3143929"/>
            <a:ext cx="3622675" cy="436245"/>
          </a:xfrm>
          <a:custGeom>
            <a:avLst/>
            <a:gdLst/>
            <a:ahLst/>
            <a:cxnLst/>
            <a:rect l="l" t="t" r="r" b="b"/>
            <a:pathLst>
              <a:path w="3622675" h="436245">
                <a:moveTo>
                  <a:pt x="0" y="0"/>
                </a:moveTo>
                <a:lnTo>
                  <a:pt x="3549427" y="0"/>
                </a:lnTo>
                <a:lnTo>
                  <a:pt x="3563669" y="1409"/>
                </a:lnTo>
                <a:lnTo>
                  <a:pt x="3600806" y="21281"/>
                </a:lnTo>
                <a:lnTo>
                  <a:pt x="3620679" y="58419"/>
                </a:lnTo>
                <a:lnTo>
                  <a:pt x="3622088" y="72661"/>
                </a:lnTo>
                <a:lnTo>
                  <a:pt x="3622088" y="435958"/>
                </a:lnTo>
                <a:lnTo>
                  <a:pt x="0" y="435958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17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72385" y="3128736"/>
            <a:ext cx="3277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marR="5080" indent="-3302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A</a:t>
            </a:r>
            <a:r>
              <a:rPr sz="1400" spc="-40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variable</a:t>
            </a:r>
            <a:r>
              <a:rPr sz="14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which</a:t>
            </a:r>
            <a:r>
              <a:rPr sz="14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able</a:t>
            </a:r>
            <a:r>
              <a:rPr sz="14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to</a:t>
            </a:r>
            <a:r>
              <a:rPr sz="14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describe</a:t>
            </a:r>
            <a:r>
              <a:rPr sz="14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quality</a:t>
            </a:r>
            <a:r>
              <a:rPr sz="1400" spc="-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171616"/>
                </a:solidFill>
                <a:latin typeface="Cambria"/>
                <a:cs typeface="Cambria"/>
              </a:rPr>
              <a:t>of </a:t>
            </a:r>
            <a:r>
              <a:rPr sz="1400" dirty="0">
                <a:solidFill>
                  <a:srgbClr val="171616"/>
                </a:solidFill>
                <a:latin typeface="Cambria"/>
                <a:cs typeface="Cambria"/>
              </a:rPr>
              <a:t>the</a:t>
            </a:r>
            <a:r>
              <a:rPr sz="1400" spc="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171616"/>
                </a:solidFill>
                <a:latin typeface="Cambria"/>
                <a:cs typeface="Cambria"/>
              </a:rPr>
              <a:t>population.(Numerical</a:t>
            </a:r>
            <a:r>
              <a:rPr sz="1400" spc="35" dirty="0">
                <a:solidFill>
                  <a:srgbClr val="171616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171616"/>
                </a:solidFill>
                <a:latin typeface="Cambria"/>
                <a:cs typeface="Cambria"/>
              </a:rPr>
              <a:t>values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02136" y="3100607"/>
            <a:ext cx="3622675" cy="434975"/>
          </a:xfrm>
          <a:custGeom>
            <a:avLst/>
            <a:gdLst/>
            <a:ahLst/>
            <a:cxnLst/>
            <a:rect l="l" t="t" r="r" b="b"/>
            <a:pathLst>
              <a:path w="3622675" h="434975">
                <a:moveTo>
                  <a:pt x="0" y="0"/>
                </a:moveTo>
                <a:lnTo>
                  <a:pt x="3549591" y="0"/>
                </a:lnTo>
                <a:lnTo>
                  <a:pt x="3563801" y="1405"/>
                </a:lnTo>
                <a:lnTo>
                  <a:pt x="3600855" y="21233"/>
                </a:lnTo>
                <a:lnTo>
                  <a:pt x="3620683" y="58287"/>
                </a:lnTo>
                <a:lnTo>
                  <a:pt x="3622088" y="72496"/>
                </a:lnTo>
                <a:lnTo>
                  <a:pt x="3622088" y="434972"/>
                </a:lnTo>
                <a:lnTo>
                  <a:pt x="0" y="434972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713464" y="3084921"/>
            <a:ext cx="2377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35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quantify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the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population(distinct</a:t>
            </a:r>
            <a:r>
              <a:rPr sz="1400" spc="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categories)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55999" y="3530817"/>
            <a:ext cx="9267190" cy="1668780"/>
            <a:chOff x="1155999" y="3530817"/>
            <a:chExt cx="9267190" cy="1668780"/>
          </a:xfrm>
        </p:grpSpPr>
        <p:sp>
          <p:nvSpPr>
            <p:cNvPr id="15" name="object 15"/>
            <p:cNvSpPr/>
            <p:nvPr/>
          </p:nvSpPr>
          <p:spPr>
            <a:xfrm>
              <a:off x="1160761" y="3535579"/>
              <a:ext cx="9257665" cy="1247140"/>
            </a:xfrm>
            <a:custGeom>
              <a:avLst/>
              <a:gdLst/>
              <a:ahLst/>
              <a:cxnLst/>
              <a:rect l="l" t="t" r="r" b="b"/>
              <a:pathLst>
                <a:path w="9257665" h="1247139">
                  <a:moveTo>
                    <a:pt x="1593542" y="44307"/>
                  </a:moveTo>
                  <a:lnTo>
                    <a:pt x="1593542" y="743456"/>
                  </a:lnTo>
                </a:path>
                <a:path w="9257665" h="1247139">
                  <a:moveTo>
                    <a:pt x="7752416" y="0"/>
                  </a:moveTo>
                  <a:lnTo>
                    <a:pt x="7752417" y="849987"/>
                  </a:lnTo>
                </a:path>
                <a:path w="9257665" h="1247139">
                  <a:moveTo>
                    <a:pt x="0" y="743456"/>
                  </a:moveTo>
                  <a:lnTo>
                    <a:pt x="3169328" y="743456"/>
                  </a:lnTo>
                </a:path>
                <a:path w="9257665" h="1247139">
                  <a:moveTo>
                    <a:pt x="5950256" y="849989"/>
                  </a:moveTo>
                  <a:lnTo>
                    <a:pt x="9257191" y="849989"/>
                  </a:lnTo>
                </a:path>
                <a:path w="9257665" h="1247139">
                  <a:moveTo>
                    <a:pt x="0" y="743456"/>
                  </a:moveTo>
                  <a:lnTo>
                    <a:pt x="0" y="1187340"/>
                  </a:lnTo>
                </a:path>
                <a:path w="9257665" h="1247139">
                  <a:moveTo>
                    <a:pt x="5972449" y="864980"/>
                  </a:moveTo>
                  <a:lnTo>
                    <a:pt x="5972449" y="1246719"/>
                  </a:lnTo>
                </a:path>
              </a:pathLst>
            </a:custGeom>
            <a:ln w="9524">
              <a:solidFill>
                <a:srgbClr val="C078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0917" y="4674414"/>
              <a:ext cx="1398348" cy="52484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75367" y="4690923"/>
              <a:ext cx="1310005" cy="436245"/>
            </a:xfrm>
            <a:custGeom>
              <a:avLst/>
              <a:gdLst/>
              <a:ahLst/>
              <a:cxnLst/>
              <a:rect l="l" t="t" r="r" b="b"/>
              <a:pathLst>
                <a:path w="1310004" h="436245">
                  <a:moveTo>
                    <a:pt x="654723" y="435944"/>
                  </a:moveTo>
                  <a:lnTo>
                    <a:pt x="587782" y="434819"/>
                  </a:lnTo>
                  <a:lnTo>
                    <a:pt x="522774" y="431516"/>
                  </a:lnTo>
                  <a:lnTo>
                    <a:pt x="460029" y="426145"/>
                  </a:lnTo>
                  <a:lnTo>
                    <a:pt x="399875" y="418815"/>
                  </a:lnTo>
                  <a:lnTo>
                    <a:pt x="342643" y="409636"/>
                  </a:lnTo>
                  <a:lnTo>
                    <a:pt x="288661" y="398718"/>
                  </a:lnTo>
                  <a:lnTo>
                    <a:pt x="238258" y="386170"/>
                  </a:lnTo>
                  <a:lnTo>
                    <a:pt x="191764" y="372102"/>
                  </a:lnTo>
                  <a:lnTo>
                    <a:pt x="149507" y="356623"/>
                  </a:lnTo>
                  <a:lnTo>
                    <a:pt x="111816" y="339843"/>
                  </a:lnTo>
                  <a:lnTo>
                    <a:pt x="51451" y="302817"/>
                  </a:lnTo>
                  <a:lnTo>
                    <a:pt x="13301" y="261901"/>
                  </a:lnTo>
                  <a:lnTo>
                    <a:pt x="0" y="217972"/>
                  </a:lnTo>
                  <a:lnTo>
                    <a:pt x="3380" y="195686"/>
                  </a:lnTo>
                  <a:lnTo>
                    <a:pt x="29435" y="153154"/>
                  </a:lnTo>
                  <a:lnTo>
                    <a:pt x="79021" y="114073"/>
                  </a:lnTo>
                  <a:lnTo>
                    <a:pt x="149507" y="79321"/>
                  </a:lnTo>
                  <a:lnTo>
                    <a:pt x="191764" y="63842"/>
                  </a:lnTo>
                  <a:lnTo>
                    <a:pt x="238258" y="49774"/>
                  </a:lnTo>
                  <a:lnTo>
                    <a:pt x="288661" y="37226"/>
                  </a:lnTo>
                  <a:lnTo>
                    <a:pt x="342643" y="26308"/>
                  </a:lnTo>
                  <a:lnTo>
                    <a:pt x="399875" y="17129"/>
                  </a:lnTo>
                  <a:lnTo>
                    <a:pt x="460029" y="9799"/>
                  </a:lnTo>
                  <a:lnTo>
                    <a:pt x="522774" y="4428"/>
                  </a:lnTo>
                  <a:lnTo>
                    <a:pt x="587782" y="1125"/>
                  </a:lnTo>
                  <a:lnTo>
                    <a:pt x="654723" y="0"/>
                  </a:lnTo>
                  <a:lnTo>
                    <a:pt x="721665" y="1125"/>
                  </a:lnTo>
                  <a:lnTo>
                    <a:pt x="786673" y="4428"/>
                  </a:lnTo>
                  <a:lnTo>
                    <a:pt x="849418" y="9799"/>
                  </a:lnTo>
                  <a:lnTo>
                    <a:pt x="909571" y="17129"/>
                  </a:lnTo>
                  <a:lnTo>
                    <a:pt x="966804" y="26308"/>
                  </a:lnTo>
                  <a:lnTo>
                    <a:pt x="1020786" y="37226"/>
                  </a:lnTo>
                  <a:lnTo>
                    <a:pt x="1071189" y="49774"/>
                  </a:lnTo>
                  <a:lnTo>
                    <a:pt x="1117683" y="63842"/>
                  </a:lnTo>
                  <a:lnTo>
                    <a:pt x="1159940" y="79321"/>
                  </a:lnTo>
                  <a:lnTo>
                    <a:pt x="1197631" y="96102"/>
                  </a:lnTo>
                  <a:lnTo>
                    <a:pt x="1257996" y="133127"/>
                  </a:lnTo>
                  <a:lnTo>
                    <a:pt x="1296146" y="174043"/>
                  </a:lnTo>
                  <a:lnTo>
                    <a:pt x="1309447" y="217972"/>
                  </a:lnTo>
                  <a:lnTo>
                    <a:pt x="1306067" y="240259"/>
                  </a:lnTo>
                  <a:lnTo>
                    <a:pt x="1280012" y="282791"/>
                  </a:lnTo>
                  <a:lnTo>
                    <a:pt x="1230426" y="321871"/>
                  </a:lnTo>
                  <a:lnTo>
                    <a:pt x="1159940" y="356623"/>
                  </a:lnTo>
                  <a:lnTo>
                    <a:pt x="1117683" y="372102"/>
                  </a:lnTo>
                  <a:lnTo>
                    <a:pt x="1071189" y="386170"/>
                  </a:lnTo>
                  <a:lnTo>
                    <a:pt x="1020786" y="398718"/>
                  </a:lnTo>
                  <a:lnTo>
                    <a:pt x="966804" y="409636"/>
                  </a:lnTo>
                  <a:lnTo>
                    <a:pt x="909571" y="418815"/>
                  </a:lnTo>
                  <a:lnTo>
                    <a:pt x="849418" y="426145"/>
                  </a:lnTo>
                  <a:lnTo>
                    <a:pt x="786673" y="431516"/>
                  </a:lnTo>
                  <a:lnTo>
                    <a:pt x="721665" y="434819"/>
                  </a:lnTo>
                  <a:lnTo>
                    <a:pt x="654723" y="435944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32836" y="4782404"/>
            <a:ext cx="594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Ordinal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34040" y="4780781"/>
            <a:ext cx="1398905" cy="471170"/>
            <a:chOff x="6434040" y="4780781"/>
            <a:chExt cx="1398905" cy="47117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4040" y="4780781"/>
              <a:ext cx="1398343" cy="4705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78489" y="4797290"/>
              <a:ext cx="1310005" cy="382270"/>
            </a:xfrm>
            <a:custGeom>
              <a:avLst/>
              <a:gdLst/>
              <a:ahLst/>
              <a:cxnLst/>
              <a:rect l="l" t="t" r="r" b="b"/>
              <a:pathLst>
                <a:path w="1310004" h="382270">
                  <a:moveTo>
                    <a:pt x="654721" y="381686"/>
                  </a:moveTo>
                  <a:lnTo>
                    <a:pt x="583382" y="380567"/>
                  </a:lnTo>
                  <a:lnTo>
                    <a:pt x="514268" y="377285"/>
                  </a:lnTo>
                  <a:lnTo>
                    <a:pt x="447778" y="371957"/>
                  </a:lnTo>
                  <a:lnTo>
                    <a:pt x="384313" y="364700"/>
                  </a:lnTo>
                  <a:lnTo>
                    <a:pt x="324271" y="355631"/>
                  </a:lnTo>
                  <a:lnTo>
                    <a:pt x="268051" y="344865"/>
                  </a:lnTo>
                  <a:lnTo>
                    <a:pt x="216054" y="332519"/>
                  </a:lnTo>
                  <a:lnTo>
                    <a:pt x="168678" y="318709"/>
                  </a:lnTo>
                  <a:lnTo>
                    <a:pt x="126323" y="303553"/>
                  </a:lnTo>
                  <a:lnTo>
                    <a:pt x="89388" y="287165"/>
                  </a:lnTo>
                  <a:lnTo>
                    <a:pt x="33378" y="251164"/>
                  </a:lnTo>
                  <a:lnTo>
                    <a:pt x="3841" y="211638"/>
                  </a:lnTo>
                  <a:lnTo>
                    <a:pt x="0" y="190843"/>
                  </a:lnTo>
                  <a:lnTo>
                    <a:pt x="3841" y="170048"/>
                  </a:lnTo>
                  <a:lnTo>
                    <a:pt x="33378" y="130522"/>
                  </a:lnTo>
                  <a:lnTo>
                    <a:pt x="89388" y="94521"/>
                  </a:lnTo>
                  <a:lnTo>
                    <a:pt x="126323" y="78133"/>
                  </a:lnTo>
                  <a:lnTo>
                    <a:pt x="168678" y="62977"/>
                  </a:lnTo>
                  <a:lnTo>
                    <a:pt x="216054" y="49167"/>
                  </a:lnTo>
                  <a:lnTo>
                    <a:pt x="268051" y="36821"/>
                  </a:lnTo>
                  <a:lnTo>
                    <a:pt x="324271" y="26055"/>
                  </a:lnTo>
                  <a:lnTo>
                    <a:pt x="384313" y="16986"/>
                  </a:lnTo>
                  <a:lnTo>
                    <a:pt x="447778" y="9729"/>
                  </a:lnTo>
                  <a:lnTo>
                    <a:pt x="514268" y="4401"/>
                  </a:lnTo>
                  <a:lnTo>
                    <a:pt x="583382" y="1119"/>
                  </a:lnTo>
                  <a:lnTo>
                    <a:pt x="654721" y="0"/>
                  </a:lnTo>
                  <a:lnTo>
                    <a:pt x="726060" y="1119"/>
                  </a:lnTo>
                  <a:lnTo>
                    <a:pt x="795175" y="4401"/>
                  </a:lnTo>
                  <a:lnTo>
                    <a:pt x="861664" y="9729"/>
                  </a:lnTo>
                  <a:lnTo>
                    <a:pt x="925130" y="16986"/>
                  </a:lnTo>
                  <a:lnTo>
                    <a:pt x="985172" y="26055"/>
                  </a:lnTo>
                  <a:lnTo>
                    <a:pt x="1041392" y="36821"/>
                  </a:lnTo>
                  <a:lnTo>
                    <a:pt x="1093389" y="49167"/>
                  </a:lnTo>
                  <a:lnTo>
                    <a:pt x="1140765" y="62977"/>
                  </a:lnTo>
                  <a:lnTo>
                    <a:pt x="1183120" y="78133"/>
                  </a:lnTo>
                  <a:lnTo>
                    <a:pt x="1220054" y="94521"/>
                  </a:lnTo>
                  <a:lnTo>
                    <a:pt x="1276065" y="130522"/>
                  </a:lnTo>
                  <a:lnTo>
                    <a:pt x="1305601" y="170048"/>
                  </a:lnTo>
                  <a:lnTo>
                    <a:pt x="1309443" y="190843"/>
                  </a:lnTo>
                  <a:lnTo>
                    <a:pt x="1305601" y="211638"/>
                  </a:lnTo>
                  <a:lnTo>
                    <a:pt x="1276065" y="251164"/>
                  </a:lnTo>
                  <a:lnTo>
                    <a:pt x="1220054" y="287165"/>
                  </a:lnTo>
                  <a:lnTo>
                    <a:pt x="1183120" y="303553"/>
                  </a:lnTo>
                  <a:lnTo>
                    <a:pt x="1140765" y="318709"/>
                  </a:lnTo>
                  <a:lnTo>
                    <a:pt x="1093389" y="332519"/>
                  </a:lnTo>
                  <a:lnTo>
                    <a:pt x="1041392" y="344865"/>
                  </a:lnTo>
                  <a:lnTo>
                    <a:pt x="985172" y="355631"/>
                  </a:lnTo>
                  <a:lnTo>
                    <a:pt x="925130" y="364700"/>
                  </a:lnTo>
                  <a:lnTo>
                    <a:pt x="861664" y="371957"/>
                  </a:lnTo>
                  <a:lnTo>
                    <a:pt x="795175" y="377285"/>
                  </a:lnTo>
                  <a:lnTo>
                    <a:pt x="726060" y="380567"/>
                  </a:lnTo>
                  <a:lnTo>
                    <a:pt x="654721" y="381686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808278" y="4861642"/>
            <a:ext cx="650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Discrete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09128" y="4262861"/>
            <a:ext cx="6903720" cy="1042035"/>
            <a:chOff x="4309128" y="4262861"/>
            <a:chExt cx="6903720" cy="1042035"/>
          </a:xfrm>
        </p:grpSpPr>
        <p:sp>
          <p:nvSpPr>
            <p:cNvPr id="24" name="object 24"/>
            <p:cNvSpPr/>
            <p:nvPr/>
          </p:nvSpPr>
          <p:spPr>
            <a:xfrm>
              <a:off x="10417952" y="4385567"/>
              <a:ext cx="0" cy="396875"/>
            </a:xfrm>
            <a:custGeom>
              <a:avLst/>
              <a:gdLst/>
              <a:ahLst/>
              <a:cxnLst/>
              <a:rect l="l" t="t" r="r" b="b"/>
              <a:pathLst>
                <a:path h="396875">
                  <a:moveTo>
                    <a:pt x="0" y="0"/>
                  </a:moveTo>
                  <a:lnTo>
                    <a:pt x="0" y="396732"/>
                  </a:lnTo>
                </a:path>
              </a:pathLst>
            </a:custGeom>
            <a:ln w="9524">
              <a:solidFill>
                <a:srgbClr val="C078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13890" y="4267623"/>
              <a:ext cx="16510" cy="423545"/>
            </a:xfrm>
            <a:custGeom>
              <a:avLst/>
              <a:gdLst/>
              <a:ahLst/>
              <a:cxnLst/>
              <a:rect l="l" t="t" r="r" b="b"/>
              <a:pathLst>
                <a:path w="16510" h="423545">
                  <a:moveTo>
                    <a:pt x="0" y="0"/>
                  </a:moveTo>
                  <a:lnTo>
                    <a:pt x="16199" y="423299"/>
                  </a:lnTo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23347" y="4780781"/>
              <a:ext cx="1589211" cy="52387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667796" y="4797290"/>
              <a:ext cx="1500505" cy="434975"/>
            </a:xfrm>
            <a:custGeom>
              <a:avLst/>
              <a:gdLst/>
              <a:ahLst/>
              <a:cxnLst/>
              <a:rect l="l" t="t" r="r" b="b"/>
              <a:pathLst>
                <a:path w="1500504" h="434975">
                  <a:moveTo>
                    <a:pt x="750155" y="434971"/>
                  </a:moveTo>
                  <a:lnTo>
                    <a:pt x="677910" y="433976"/>
                  </a:lnTo>
                  <a:lnTo>
                    <a:pt x="607608" y="431050"/>
                  </a:lnTo>
                  <a:lnTo>
                    <a:pt x="539563" y="426285"/>
                  </a:lnTo>
                  <a:lnTo>
                    <a:pt x="474090" y="419771"/>
                  </a:lnTo>
                  <a:lnTo>
                    <a:pt x="411503" y="411601"/>
                  </a:lnTo>
                  <a:lnTo>
                    <a:pt x="352117" y="401865"/>
                  </a:lnTo>
                  <a:lnTo>
                    <a:pt x="296245" y="390654"/>
                  </a:lnTo>
                  <a:lnTo>
                    <a:pt x="244202" y="378059"/>
                  </a:lnTo>
                  <a:lnTo>
                    <a:pt x="196303" y="364172"/>
                  </a:lnTo>
                  <a:lnTo>
                    <a:pt x="152862" y="349084"/>
                  </a:lnTo>
                  <a:lnTo>
                    <a:pt x="114193" y="332885"/>
                  </a:lnTo>
                  <a:lnTo>
                    <a:pt x="52429" y="297523"/>
                  </a:lnTo>
                  <a:lnTo>
                    <a:pt x="13526" y="258813"/>
                  </a:lnTo>
                  <a:lnTo>
                    <a:pt x="0" y="217485"/>
                  </a:lnTo>
                  <a:lnTo>
                    <a:pt x="3434" y="196540"/>
                  </a:lnTo>
                  <a:lnTo>
                    <a:pt x="29962" y="156431"/>
                  </a:lnTo>
                  <a:lnTo>
                    <a:pt x="80610" y="119303"/>
                  </a:lnTo>
                  <a:lnTo>
                    <a:pt x="152862" y="85887"/>
                  </a:lnTo>
                  <a:lnTo>
                    <a:pt x="196303" y="70799"/>
                  </a:lnTo>
                  <a:lnTo>
                    <a:pt x="244202" y="56912"/>
                  </a:lnTo>
                  <a:lnTo>
                    <a:pt x="296245" y="44318"/>
                  </a:lnTo>
                  <a:lnTo>
                    <a:pt x="352117" y="33107"/>
                  </a:lnTo>
                  <a:lnTo>
                    <a:pt x="411503" y="23370"/>
                  </a:lnTo>
                  <a:lnTo>
                    <a:pt x="474090" y="15200"/>
                  </a:lnTo>
                  <a:lnTo>
                    <a:pt x="539563" y="8686"/>
                  </a:lnTo>
                  <a:lnTo>
                    <a:pt x="607608" y="3921"/>
                  </a:lnTo>
                  <a:lnTo>
                    <a:pt x="677910" y="995"/>
                  </a:lnTo>
                  <a:lnTo>
                    <a:pt x="750155" y="0"/>
                  </a:lnTo>
                  <a:lnTo>
                    <a:pt x="822400" y="995"/>
                  </a:lnTo>
                  <a:lnTo>
                    <a:pt x="892702" y="3921"/>
                  </a:lnTo>
                  <a:lnTo>
                    <a:pt x="960747" y="8686"/>
                  </a:lnTo>
                  <a:lnTo>
                    <a:pt x="1026220" y="15200"/>
                  </a:lnTo>
                  <a:lnTo>
                    <a:pt x="1088806" y="23370"/>
                  </a:lnTo>
                  <a:lnTo>
                    <a:pt x="1148193" y="33107"/>
                  </a:lnTo>
                  <a:lnTo>
                    <a:pt x="1204065" y="44318"/>
                  </a:lnTo>
                  <a:lnTo>
                    <a:pt x="1256107" y="56912"/>
                  </a:lnTo>
                  <a:lnTo>
                    <a:pt x="1304007" y="70799"/>
                  </a:lnTo>
                  <a:lnTo>
                    <a:pt x="1347448" y="85887"/>
                  </a:lnTo>
                  <a:lnTo>
                    <a:pt x="1386117" y="102086"/>
                  </a:lnTo>
                  <a:lnTo>
                    <a:pt x="1447881" y="137449"/>
                  </a:lnTo>
                  <a:lnTo>
                    <a:pt x="1486784" y="176158"/>
                  </a:lnTo>
                  <a:lnTo>
                    <a:pt x="1500310" y="217485"/>
                  </a:lnTo>
                  <a:lnTo>
                    <a:pt x="1496876" y="238431"/>
                  </a:lnTo>
                  <a:lnTo>
                    <a:pt x="1470347" y="278541"/>
                  </a:lnTo>
                  <a:lnTo>
                    <a:pt x="1419699" y="315668"/>
                  </a:lnTo>
                  <a:lnTo>
                    <a:pt x="1347448" y="349084"/>
                  </a:lnTo>
                  <a:lnTo>
                    <a:pt x="1304007" y="364172"/>
                  </a:lnTo>
                  <a:lnTo>
                    <a:pt x="1256107" y="378059"/>
                  </a:lnTo>
                  <a:lnTo>
                    <a:pt x="1204065" y="390654"/>
                  </a:lnTo>
                  <a:lnTo>
                    <a:pt x="1148193" y="401865"/>
                  </a:lnTo>
                  <a:lnTo>
                    <a:pt x="1088806" y="411601"/>
                  </a:lnTo>
                  <a:lnTo>
                    <a:pt x="1026220" y="419771"/>
                  </a:lnTo>
                  <a:lnTo>
                    <a:pt x="960747" y="426285"/>
                  </a:lnTo>
                  <a:lnTo>
                    <a:pt x="892702" y="431050"/>
                  </a:lnTo>
                  <a:lnTo>
                    <a:pt x="822400" y="433976"/>
                  </a:lnTo>
                  <a:lnTo>
                    <a:pt x="750155" y="434971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993365" y="4888285"/>
            <a:ext cx="8496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Continuous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4797" y="4674413"/>
            <a:ext cx="1275715" cy="458470"/>
            <a:chOff x="564797" y="4674413"/>
            <a:chExt cx="1275715" cy="45847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797" y="4674413"/>
              <a:ext cx="1275148" cy="45822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9246" y="4690922"/>
              <a:ext cx="1186815" cy="369570"/>
            </a:xfrm>
            <a:custGeom>
              <a:avLst/>
              <a:gdLst/>
              <a:ahLst/>
              <a:cxnLst/>
              <a:rect l="l" t="t" r="r" b="b"/>
              <a:pathLst>
                <a:path w="1186814" h="369570">
                  <a:moveTo>
                    <a:pt x="593124" y="369321"/>
                  </a:moveTo>
                  <a:lnTo>
                    <a:pt x="523953" y="368078"/>
                  </a:lnTo>
                  <a:lnTo>
                    <a:pt x="457126" y="364444"/>
                  </a:lnTo>
                  <a:lnTo>
                    <a:pt x="393088" y="358555"/>
                  </a:lnTo>
                  <a:lnTo>
                    <a:pt x="332283" y="350552"/>
                  </a:lnTo>
                  <a:lnTo>
                    <a:pt x="275157" y="340571"/>
                  </a:lnTo>
                  <a:lnTo>
                    <a:pt x="222155" y="328753"/>
                  </a:lnTo>
                  <a:lnTo>
                    <a:pt x="173722" y="315235"/>
                  </a:lnTo>
                  <a:lnTo>
                    <a:pt x="130302" y="300156"/>
                  </a:lnTo>
                  <a:lnTo>
                    <a:pt x="92342" y="283654"/>
                  </a:lnTo>
                  <a:lnTo>
                    <a:pt x="34578" y="246938"/>
                  </a:lnTo>
                  <a:lnTo>
                    <a:pt x="3990" y="206195"/>
                  </a:lnTo>
                  <a:lnTo>
                    <a:pt x="0" y="184660"/>
                  </a:lnTo>
                  <a:lnTo>
                    <a:pt x="3990" y="163125"/>
                  </a:lnTo>
                  <a:lnTo>
                    <a:pt x="34578" y="122382"/>
                  </a:lnTo>
                  <a:lnTo>
                    <a:pt x="92342" y="85666"/>
                  </a:lnTo>
                  <a:lnTo>
                    <a:pt x="130302" y="69164"/>
                  </a:lnTo>
                  <a:lnTo>
                    <a:pt x="173722" y="54085"/>
                  </a:lnTo>
                  <a:lnTo>
                    <a:pt x="222155" y="40567"/>
                  </a:lnTo>
                  <a:lnTo>
                    <a:pt x="275157" y="28749"/>
                  </a:lnTo>
                  <a:lnTo>
                    <a:pt x="332283" y="18769"/>
                  </a:lnTo>
                  <a:lnTo>
                    <a:pt x="393088" y="10765"/>
                  </a:lnTo>
                  <a:lnTo>
                    <a:pt x="457126" y="4877"/>
                  </a:lnTo>
                  <a:lnTo>
                    <a:pt x="523953" y="1242"/>
                  </a:lnTo>
                  <a:lnTo>
                    <a:pt x="593124" y="0"/>
                  </a:lnTo>
                  <a:lnTo>
                    <a:pt x="662295" y="1242"/>
                  </a:lnTo>
                  <a:lnTo>
                    <a:pt x="729122" y="4877"/>
                  </a:lnTo>
                  <a:lnTo>
                    <a:pt x="793160" y="10765"/>
                  </a:lnTo>
                  <a:lnTo>
                    <a:pt x="853965" y="18769"/>
                  </a:lnTo>
                  <a:lnTo>
                    <a:pt x="911091" y="28749"/>
                  </a:lnTo>
                  <a:lnTo>
                    <a:pt x="964093" y="40567"/>
                  </a:lnTo>
                  <a:lnTo>
                    <a:pt x="1012526" y="54085"/>
                  </a:lnTo>
                  <a:lnTo>
                    <a:pt x="1055946" y="69164"/>
                  </a:lnTo>
                  <a:lnTo>
                    <a:pt x="1093906" y="85666"/>
                  </a:lnTo>
                  <a:lnTo>
                    <a:pt x="1151670" y="122382"/>
                  </a:lnTo>
                  <a:lnTo>
                    <a:pt x="1182258" y="163125"/>
                  </a:lnTo>
                  <a:lnTo>
                    <a:pt x="1186248" y="184660"/>
                  </a:lnTo>
                  <a:lnTo>
                    <a:pt x="1182258" y="206195"/>
                  </a:lnTo>
                  <a:lnTo>
                    <a:pt x="1151670" y="246938"/>
                  </a:lnTo>
                  <a:lnTo>
                    <a:pt x="1093906" y="283654"/>
                  </a:lnTo>
                  <a:lnTo>
                    <a:pt x="1055946" y="300156"/>
                  </a:lnTo>
                  <a:lnTo>
                    <a:pt x="1012526" y="315235"/>
                  </a:lnTo>
                  <a:lnTo>
                    <a:pt x="964093" y="328753"/>
                  </a:lnTo>
                  <a:lnTo>
                    <a:pt x="911091" y="340571"/>
                  </a:lnTo>
                  <a:lnTo>
                    <a:pt x="853965" y="350552"/>
                  </a:lnTo>
                  <a:lnTo>
                    <a:pt x="793160" y="358555"/>
                  </a:lnTo>
                  <a:lnTo>
                    <a:pt x="729122" y="364444"/>
                  </a:lnTo>
                  <a:lnTo>
                    <a:pt x="662295" y="368078"/>
                  </a:lnTo>
                  <a:lnTo>
                    <a:pt x="593124" y="369321"/>
                  </a:lnTo>
                  <a:close/>
                </a:path>
              </a:pathLst>
            </a:custGeom>
            <a:solidFill>
              <a:srgbClr val="313E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84465" y="4749091"/>
            <a:ext cx="635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Nominal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32755" y="4003626"/>
            <a:ext cx="2669540" cy="1228725"/>
            <a:chOff x="4732755" y="4003626"/>
            <a:chExt cx="2669540" cy="1228725"/>
          </a:xfrm>
        </p:grpSpPr>
        <p:sp>
          <p:nvSpPr>
            <p:cNvPr id="3" name="object 3"/>
            <p:cNvSpPr/>
            <p:nvPr/>
          </p:nvSpPr>
          <p:spPr>
            <a:xfrm>
              <a:off x="4831143" y="4057072"/>
              <a:ext cx="2501265" cy="1096645"/>
            </a:xfrm>
            <a:custGeom>
              <a:avLst/>
              <a:gdLst/>
              <a:ahLst/>
              <a:cxnLst/>
              <a:rect l="l" t="t" r="r" b="b"/>
              <a:pathLst>
                <a:path w="2501265" h="1096645">
                  <a:moveTo>
                    <a:pt x="0" y="0"/>
                  </a:moveTo>
                  <a:lnTo>
                    <a:pt x="2501256" y="1096143"/>
                  </a:lnTo>
                </a:path>
              </a:pathLst>
            </a:custGeom>
            <a:ln w="19049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1573" y="4003626"/>
              <a:ext cx="81734" cy="817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0234" y="5124926"/>
              <a:ext cx="81735" cy="817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02325" y="4082703"/>
              <a:ext cx="2501265" cy="1096645"/>
            </a:xfrm>
            <a:custGeom>
              <a:avLst/>
              <a:gdLst/>
              <a:ahLst/>
              <a:cxnLst/>
              <a:rect l="l" t="t" r="r" b="b"/>
              <a:pathLst>
                <a:path w="2501265" h="1096645">
                  <a:moveTo>
                    <a:pt x="2501256" y="0"/>
                  </a:moveTo>
                  <a:lnTo>
                    <a:pt x="0" y="1096143"/>
                  </a:lnTo>
                </a:path>
              </a:pathLst>
            </a:custGeom>
            <a:ln w="19049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1416" y="4029257"/>
              <a:ext cx="81734" cy="817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2755" y="5150557"/>
              <a:ext cx="81735" cy="81735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5365018" y="2766710"/>
            <a:ext cx="1392555" cy="711835"/>
          </a:xfrm>
          <a:custGeom>
            <a:avLst/>
            <a:gdLst/>
            <a:ahLst/>
            <a:cxnLst/>
            <a:rect l="l" t="t" r="r" b="b"/>
            <a:pathLst>
              <a:path w="1392554" h="711835">
                <a:moveTo>
                  <a:pt x="731677" y="711234"/>
                </a:moveTo>
                <a:lnTo>
                  <a:pt x="680952" y="711234"/>
                </a:lnTo>
                <a:lnTo>
                  <a:pt x="630220" y="710626"/>
                </a:lnTo>
                <a:lnTo>
                  <a:pt x="576894" y="709326"/>
                </a:lnTo>
                <a:lnTo>
                  <a:pt x="523655" y="707221"/>
                </a:lnTo>
                <a:lnTo>
                  <a:pt x="470527" y="704144"/>
                </a:lnTo>
                <a:lnTo>
                  <a:pt x="417535" y="699926"/>
                </a:lnTo>
                <a:lnTo>
                  <a:pt x="364702" y="694399"/>
                </a:lnTo>
                <a:lnTo>
                  <a:pt x="312052" y="687395"/>
                </a:lnTo>
                <a:lnTo>
                  <a:pt x="259611" y="678745"/>
                </a:lnTo>
                <a:lnTo>
                  <a:pt x="207401" y="668282"/>
                </a:lnTo>
                <a:lnTo>
                  <a:pt x="155449" y="655836"/>
                </a:lnTo>
                <a:lnTo>
                  <a:pt x="96260" y="636057"/>
                </a:lnTo>
                <a:lnTo>
                  <a:pt x="38335" y="611677"/>
                </a:lnTo>
                <a:lnTo>
                  <a:pt x="2198" y="569704"/>
                </a:lnTo>
                <a:lnTo>
                  <a:pt x="0" y="548301"/>
                </a:lnTo>
                <a:lnTo>
                  <a:pt x="330" y="495300"/>
                </a:lnTo>
                <a:lnTo>
                  <a:pt x="572" y="442279"/>
                </a:lnTo>
                <a:lnTo>
                  <a:pt x="739" y="389243"/>
                </a:lnTo>
                <a:lnTo>
                  <a:pt x="842" y="336197"/>
                </a:lnTo>
                <a:lnTo>
                  <a:pt x="895" y="283146"/>
                </a:lnTo>
                <a:lnTo>
                  <a:pt x="909" y="230095"/>
                </a:lnTo>
                <a:lnTo>
                  <a:pt x="899" y="177049"/>
                </a:lnTo>
                <a:lnTo>
                  <a:pt x="853" y="70992"/>
                </a:lnTo>
                <a:lnTo>
                  <a:pt x="842" y="17990"/>
                </a:lnTo>
                <a:lnTo>
                  <a:pt x="842" y="0"/>
                </a:lnTo>
                <a:lnTo>
                  <a:pt x="41086" y="26008"/>
                </a:lnTo>
                <a:lnTo>
                  <a:pt x="83621" y="45232"/>
                </a:lnTo>
                <a:lnTo>
                  <a:pt x="127736" y="59625"/>
                </a:lnTo>
                <a:lnTo>
                  <a:pt x="172721" y="71143"/>
                </a:lnTo>
                <a:lnTo>
                  <a:pt x="222325" y="81985"/>
                </a:lnTo>
                <a:lnTo>
                  <a:pt x="272140" y="91224"/>
                </a:lnTo>
                <a:lnTo>
                  <a:pt x="322166" y="98896"/>
                </a:lnTo>
                <a:lnTo>
                  <a:pt x="372403" y="105035"/>
                </a:lnTo>
                <a:lnTo>
                  <a:pt x="422850" y="109675"/>
                </a:lnTo>
                <a:lnTo>
                  <a:pt x="473508" y="112850"/>
                </a:lnTo>
                <a:lnTo>
                  <a:pt x="527852" y="115502"/>
                </a:lnTo>
                <a:lnTo>
                  <a:pt x="582195" y="117880"/>
                </a:lnTo>
                <a:lnTo>
                  <a:pt x="636539" y="119708"/>
                </a:lnTo>
                <a:lnTo>
                  <a:pt x="690883" y="120712"/>
                </a:lnTo>
                <a:lnTo>
                  <a:pt x="745227" y="120618"/>
                </a:lnTo>
                <a:lnTo>
                  <a:pt x="795637" y="119591"/>
                </a:lnTo>
                <a:lnTo>
                  <a:pt x="846002" y="117896"/>
                </a:lnTo>
                <a:lnTo>
                  <a:pt x="896300" y="115407"/>
                </a:lnTo>
                <a:lnTo>
                  <a:pt x="946513" y="111995"/>
                </a:lnTo>
                <a:lnTo>
                  <a:pt x="996620" y="107534"/>
                </a:lnTo>
                <a:lnTo>
                  <a:pt x="1046601" y="101895"/>
                </a:lnTo>
                <a:lnTo>
                  <a:pt x="1096435" y="94950"/>
                </a:lnTo>
                <a:lnTo>
                  <a:pt x="1146102" y="86573"/>
                </a:lnTo>
                <a:lnTo>
                  <a:pt x="1195582" y="76636"/>
                </a:lnTo>
                <a:lnTo>
                  <a:pt x="1244855" y="65011"/>
                </a:lnTo>
                <a:lnTo>
                  <a:pt x="1283348" y="54284"/>
                </a:lnTo>
                <a:lnTo>
                  <a:pt x="1320894" y="40836"/>
                </a:lnTo>
                <a:lnTo>
                  <a:pt x="1357176" y="23324"/>
                </a:lnTo>
                <a:lnTo>
                  <a:pt x="1391878" y="408"/>
                </a:lnTo>
                <a:lnTo>
                  <a:pt x="1391878" y="17581"/>
                </a:lnTo>
                <a:lnTo>
                  <a:pt x="1391869" y="66636"/>
                </a:lnTo>
                <a:lnTo>
                  <a:pt x="1391847" y="115675"/>
                </a:lnTo>
                <a:lnTo>
                  <a:pt x="1391818" y="164701"/>
                </a:lnTo>
                <a:lnTo>
                  <a:pt x="1391792" y="213718"/>
                </a:lnTo>
                <a:lnTo>
                  <a:pt x="1391775" y="262729"/>
                </a:lnTo>
                <a:lnTo>
                  <a:pt x="1391775" y="311739"/>
                </a:lnTo>
                <a:lnTo>
                  <a:pt x="1391800" y="360750"/>
                </a:lnTo>
                <a:lnTo>
                  <a:pt x="1391857" y="409767"/>
                </a:lnTo>
                <a:lnTo>
                  <a:pt x="1391954" y="458794"/>
                </a:lnTo>
                <a:lnTo>
                  <a:pt x="1392099" y="507833"/>
                </a:lnTo>
                <a:lnTo>
                  <a:pt x="1392299" y="556888"/>
                </a:lnTo>
                <a:lnTo>
                  <a:pt x="1390647" y="572310"/>
                </a:lnTo>
                <a:lnTo>
                  <a:pt x="1366180" y="605543"/>
                </a:lnTo>
                <a:lnTo>
                  <a:pt x="1315470" y="631968"/>
                </a:lnTo>
                <a:lnTo>
                  <a:pt x="1261284" y="650112"/>
                </a:lnTo>
                <a:lnTo>
                  <a:pt x="1216005" y="661949"/>
                </a:lnTo>
                <a:lnTo>
                  <a:pt x="1170352" y="671888"/>
                </a:lnTo>
                <a:lnTo>
                  <a:pt x="1124371" y="680215"/>
                </a:lnTo>
                <a:lnTo>
                  <a:pt x="1078109" y="687214"/>
                </a:lnTo>
                <a:lnTo>
                  <a:pt x="1031614" y="693167"/>
                </a:lnTo>
                <a:lnTo>
                  <a:pt x="984930" y="698359"/>
                </a:lnTo>
                <a:lnTo>
                  <a:pt x="934354" y="703008"/>
                </a:lnTo>
                <a:lnTo>
                  <a:pt x="883732" y="706513"/>
                </a:lnTo>
                <a:lnTo>
                  <a:pt x="833074" y="708981"/>
                </a:lnTo>
                <a:lnTo>
                  <a:pt x="782387" y="710519"/>
                </a:lnTo>
                <a:lnTo>
                  <a:pt x="731677" y="711234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5432" y="3522725"/>
            <a:ext cx="1392555" cy="1464945"/>
          </a:xfrm>
          <a:custGeom>
            <a:avLst/>
            <a:gdLst/>
            <a:ahLst/>
            <a:cxnLst/>
            <a:rect l="l" t="t" r="r" b="b"/>
            <a:pathLst>
              <a:path w="1392554" h="1464945">
                <a:moveTo>
                  <a:pt x="1390611" y="1313726"/>
                </a:moveTo>
                <a:lnTo>
                  <a:pt x="1390510" y="1264437"/>
                </a:lnTo>
                <a:lnTo>
                  <a:pt x="1390421" y="1215148"/>
                </a:lnTo>
                <a:lnTo>
                  <a:pt x="1390357" y="1165860"/>
                </a:lnTo>
                <a:lnTo>
                  <a:pt x="1390307" y="1116571"/>
                </a:lnTo>
                <a:lnTo>
                  <a:pt x="1390256" y="1067282"/>
                </a:lnTo>
                <a:lnTo>
                  <a:pt x="1390230" y="1017993"/>
                </a:lnTo>
                <a:lnTo>
                  <a:pt x="1390218" y="968705"/>
                </a:lnTo>
                <a:lnTo>
                  <a:pt x="1390205" y="919416"/>
                </a:lnTo>
                <a:lnTo>
                  <a:pt x="1390192" y="870127"/>
                </a:lnTo>
                <a:lnTo>
                  <a:pt x="1390192" y="820839"/>
                </a:lnTo>
                <a:lnTo>
                  <a:pt x="1390192" y="766229"/>
                </a:lnTo>
                <a:lnTo>
                  <a:pt x="1389773" y="761326"/>
                </a:lnTo>
                <a:lnTo>
                  <a:pt x="1389354" y="756018"/>
                </a:lnTo>
                <a:lnTo>
                  <a:pt x="1378051" y="763206"/>
                </a:lnTo>
                <a:lnTo>
                  <a:pt x="1314056" y="793470"/>
                </a:lnTo>
                <a:lnTo>
                  <a:pt x="1251165" y="815174"/>
                </a:lnTo>
                <a:lnTo>
                  <a:pt x="1171155" y="834453"/>
                </a:lnTo>
                <a:lnTo>
                  <a:pt x="1122984" y="843445"/>
                </a:lnTo>
                <a:lnTo>
                  <a:pt x="1074635" y="850976"/>
                </a:lnTo>
                <a:lnTo>
                  <a:pt x="1026134" y="857186"/>
                </a:lnTo>
                <a:lnTo>
                  <a:pt x="977506" y="862215"/>
                </a:lnTo>
                <a:lnTo>
                  <a:pt x="928763" y="866190"/>
                </a:lnTo>
                <a:lnTo>
                  <a:pt x="879919" y="869238"/>
                </a:lnTo>
                <a:lnTo>
                  <a:pt x="831011" y="871499"/>
                </a:lnTo>
                <a:lnTo>
                  <a:pt x="782027" y="873099"/>
                </a:lnTo>
                <a:lnTo>
                  <a:pt x="733005" y="874179"/>
                </a:lnTo>
                <a:lnTo>
                  <a:pt x="683094" y="874166"/>
                </a:lnTo>
                <a:lnTo>
                  <a:pt x="633171" y="873150"/>
                </a:lnTo>
                <a:lnTo>
                  <a:pt x="583247" y="871537"/>
                </a:lnTo>
                <a:lnTo>
                  <a:pt x="533323" y="869683"/>
                </a:lnTo>
                <a:lnTo>
                  <a:pt x="481799" y="867257"/>
                </a:lnTo>
                <a:lnTo>
                  <a:pt x="430415" y="863612"/>
                </a:lnTo>
                <a:lnTo>
                  <a:pt x="379196" y="858697"/>
                </a:lnTo>
                <a:lnTo>
                  <a:pt x="328155" y="852449"/>
                </a:lnTo>
                <a:lnTo>
                  <a:pt x="277304" y="844816"/>
                </a:lnTo>
                <a:lnTo>
                  <a:pt x="226644" y="835748"/>
                </a:lnTo>
                <a:lnTo>
                  <a:pt x="179501" y="826071"/>
                </a:lnTo>
                <a:lnTo>
                  <a:pt x="132880" y="814641"/>
                </a:lnTo>
                <a:lnTo>
                  <a:pt x="87210" y="799922"/>
                </a:lnTo>
                <a:lnTo>
                  <a:pt x="42913" y="780351"/>
                </a:lnTo>
                <a:lnTo>
                  <a:pt x="419" y="754380"/>
                </a:lnTo>
                <a:lnTo>
                  <a:pt x="419" y="822236"/>
                </a:lnTo>
                <a:lnTo>
                  <a:pt x="419" y="871283"/>
                </a:lnTo>
                <a:lnTo>
                  <a:pt x="406" y="920305"/>
                </a:lnTo>
                <a:lnTo>
                  <a:pt x="406" y="969327"/>
                </a:lnTo>
                <a:lnTo>
                  <a:pt x="381" y="1018336"/>
                </a:lnTo>
                <a:lnTo>
                  <a:pt x="355" y="1067346"/>
                </a:lnTo>
                <a:lnTo>
                  <a:pt x="317" y="1116355"/>
                </a:lnTo>
                <a:lnTo>
                  <a:pt x="254" y="1165377"/>
                </a:lnTo>
                <a:lnTo>
                  <a:pt x="190" y="1214399"/>
                </a:lnTo>
                <a:lnTo>
                  <a:pt x="101" y="1263434"/>
                </a:lnTo>
                <a:lnTo>
                  <a:pt x="0" y="1312494"/>
                </a:lnTo>
                <a:lnTo>
                  <a:pt x="21907" y="1355839"/>
                </a:lnTo>
                <a:lnTo>
                  <a:pt x="83045" y="1385112"/>
                </a:lnTo>
                <a:lnTo>
                  <a:pt x="145834" y="1406766"/>
                </a:lnTo>
                <a:lnTo>
                  <a:pt x="227291" y="1426375"/>
                </a:lnTo>
                <a:lnTo>
                  <a:pt x="276999" y="1435569"/>
                </a:lnTo>
                <a:lnTo>
                  <a:pt x="326859" y="1443228"/>
                </a:lnTo>
                <a:lnTo>
                  <a:pt x="376885" y="1449489"/>
                </a:lnTo>
                <a:lnTo>
                  <a:pt x="427050" y="1454467"/>
                </a:lnTo>
                <a:lnTo>
                  <a:pt x="477342" y="1458290"/>
                </a:lnTo>
                <a:lnTo>
                  <a:pt x="527773" y="1461109"/>
                </a:lnTo>
                <a:lnTo>
                  <a:pt x="578307" y="1463027"/>
                </a:lnTo>
                <a:lnTo>
                  <a:pt x="628954" y="1464183"/>
                </a:lnTo>
                <a:lnTo>
                  <a:pt x="680415" y="1464792"/>
                </a:lnTo>
                <a:lnTo>
                  <a:pt x="731812" y="1464703"/>
                </a:lnTo>
                <a:lnTo>
                  <a:pt x="783120" y="1463865"/>
                </a:lnTo>
                <a:lnTo>
                  <a:pt x="834377" y="1462189"/>
                </a:lnTo>
                <a:lnTo>
                  <a:pt x="885571" y="1459623"/>
                </a:lnTo>
                <a:lnTo>
                  <a:pt x="936713" y="1456080"/>
                </a:lnTo>
                <a:lnTo>
                  <a:pt x="987806" y="1451495"/>
                </a:lnTo>
                <a:lnTo>
                  <a:pt x="1038860" y="1445793"/>
                </a:lnTo>
                <a:lnTo>
                  <a:pt x="1089533" y="1439049"/>
                </a:lnTo>
                <a:lnTo>
                  <a:pt x="1139901" y="1431188"/>
                </a:lnTo>
                <a:lnTo>
                  <a:pt x="1189812" y="1421523"/>
                </a:lnTo>
                <a:lnTo>
                  <a:pt x="1239164" y="1409433"/>
                </a:lnTo>
                <a:lnTo>
                  <a:pt x="1287830" y="1394269"/>
                </a:lnTo>
                <a:lnTo>
                  <a:pt x="1330109" y="1375664"/>
                </a:lnTo>
                <a:lnTo>
                  <a:pt x="1370812" y="1353375"/>
                </a:lnTo>
                <a:lnTo>
                  <a:pt x="1389595" y="1326007"/>
                </a:lnTo>
                <a:lnTo>
                  <a:pt x="1390611" y="1313726"/>
                </a:lnTo>
                <a:close/>
              </a:path>
              <a:path w="1392554" h="1464945">
                <a:moveTo>
                  <a:pt x="1392301" y="558520"/>
                </a:moveTo>
                <a:lnTo>
                  <a:pt x="1392199" y="509117"/>
                </a:lnTo>
                <a:lnTo>
                  <a:pt x="1392110" y="459689"/>
                </a:lnTo>
                <a:lnTo>
                  <a:pt x="1392047" y="410248"/>
                </a:lnTo>
                <a:lnTo>
                  <a:pt x="1391983" y="360807"/>
                </a:lnTo>
                <a:lnTo>
                  <a:pt x="1391945" y="311353"/>
                </a:lnTo>
                <a:lnTo>
                  <a:pt x="1391920" y="261899"/>
                </a:lnTo>
                <a:lnTo>
                  <a:pt x="1391894" y="212445"/>
                </a:lnTo>
                <a:lnTo>
                  <a:pt x="1391881" y="162991"/>
                </a:lnTo>
                <a:lnTo>
                  <a:pt x="1391881" y="113563"/>
                </a:lnTo>
                <a:lnTo>
                  <a:pt x="1391881" y="64135"/>
                </a:lnTo>
                <a:lnTo>
                  <a:pt x="1391881" y="3683"/>
                </a:lnTo>
                <a:lnTo>
                  <a:pt x="1369021" y="14808"/>
                </a:lnTo>
                <a:lnTo>
                  <a:pt x="1346428" y="25819"/>
                </a:lnTo>
                <a:lnTo>
                  <a:pt x="1323924" y="36283"/>
                </a:lnTo>
                <a:lnTo>
                  <a:pt x="1283017" y="52527"/>
                </a:lnTo>
                <a:lnTo>
                  <a:pt x="1245323" y="63220"/>
                </a:lnTo>
                <a:lnTo>
                  <a:pt x="1178750" y="78409"/>
                </a:lnTo>
                <a:lnTo>
                  <a:pt x="1130973" y="87439"/>
                </a:lnTo>
                <a:lnTo>
                  <a:pt x="1083030" y="95084"/>
                </a:lnTo>
                <a:lnTo>
                  <a:pt x="1034897" y="101473"/>
                </a:lnTo>
                <a:lnTo>
                  <a:pt x="986637" y="106680"/>
                </a:lnTo>
                <a:lnTo>
                  <a:pt x="938237" y="110858"/>
                </a:lnTo>
                <a:lnTo>
                  <a:pt x="889711" y="114084"/>
                </a:lnTo>
                <a:lnTo>
                  <a:pt x="841108" y="116484"/>
                </a:lnTo>
                <a:lnTo>
                  <a:pt x="792416" y="118160"/>
                </a:lnTo>
                <a:lnTo>
                  <a:pt x="740092" y="119316"/>
                </a:lnTo>
                <a:lnTo>
                  <a:pt x="687781" y="119773"/>
                </a:lnTo>
                <a:lnTo>
                  <a:pt x="635508" y="119456"/>
                </a:lnTo>
                <a:lnTo>
                  <a:pt x="583260" y="118287"/>
                </a:lnTo>
                <a:lnTo>
                  <a:pt x="531063" y="116179"/>
                </a:lnTo>
                <a:lnTo>
                  <a:pt x="478929" y="113042"/>
                </a:lnTo>
                <a:lnTo>
                  <a:pt x="426885" y="108813"/>
                </a:lnTo>
                <a:lnTo>
                  <a:pt x="374916" y="103403"/>
                </a:lnTo>
                <a:lnTo>
                  <a:pt x="323049" y="96735"/>
                </a:lnTo>
                <a:lnTo>
                  <a:pt x="271297" y="88722"/>
                </a:lnTo>
                <a:lnTo>
                  <a:pt x="224345" y="80708"/>
                </a:lnTo>
                <a:lnTo>
                  <a:pt x="177685" y="71450"/>
                </a:lnTo>
                <a:lnTo>
                  <a:pt x="131648" y="59855"/>
                </a:lnTo>
                <a:lnTo>
                  <a:pt x="86601" y="44818"/>
                </a:lnTo>
                <a:lnTo>
                  <a:pt x="42875" y="25234"/>
                </a:lnTo>
                <a:lnTo>
                  <a:pt x="838" y="0"/>
                </a:lnTo>
                <a:lnTo>
                  <a:pt x="838" y="16764"/>
                </a:lnTo>
                <a:lnTo>
                  <a:pt x="863" y="69748"/>
                </a:lnTo>
                <a:lnTo>
                  <a:pt x="914" y="122707"/>
                </a:lnTo>
                <a:lnTo>
                  <a:pt x="977" y="175641"/>
                </a:lnTo>
                <a:lnTo>
                  <a:pt x="1028" y="228561"/>
                </a:lnTo>
                <a:lnTo>
                  <a:pt x="1054" y="281457"/>
                </a:lnTo>
                <a:lnTo>
                  <a:pt x="1028" y="334352"/>
                </a:lnTo>
                <a:lnTo>
                  <a:pt x="927" y="387235"/>
                </a:lnTo>
                <a:lnTo>
                  <a:pt x="736" y="440118"/>
                </a:lnTo>
                <a:lnTo>
                  <a:pt x="431" y="492988"/>
                </a:lnTo>
                <a:lnTo>
                  <a:pt x="0" y="545846"/>
                </a:lnTo>
                <a:lnTo>
                  <a:pt x="2235" y="568274"/>
                </a:lnTo>
                <a:lnTo>
                  <a:pt x="22517" y="601167"/>
                </a:lnTo>
                <a:lnTo>
                  <a:pt x="70027" y="624382"/>
                </a:lnTo>
                <a:lnTo>
                  <a:pt x="129311" y="646988"/>
                </a:lnTo>
                <a:lnTo>
                  <a:pt x="211226" y="668020"/>
                </a:lnTo>
                <a:lnTo>
                  <a:pt x="263093" y="678218"/>
                </a:lnTo>
                <a:lnTo>
                  <a:pt x="315226" y="686638"/>
                </a:lnTo>
                <a:lnTo>
                  <a:pt x="367576" y="693458"/>
                </a:lnTo>
                <a:lnTo>
                  <a:pt x="420128" y="698842"/>
                </a:lnTo>
                <a:lnTo>
                  <a:pt x="472833" y="702995"/>
                </a:lnTo>
                <a:lnTo>
                  <a:pt x="525653" y="706081"/>
                </a:lnTo>
                <a:lnTo>
                  <a:pt x="578548" y="708291"/>
                </a:lnTo>
                <a:lnTo>
                  <a:pt x="631482" y="709815"/>
                </a:lnTo>
                <a:lnTo>
                  <a:pt x="679145" y="710514"/>
                </a:lnTo>
                <a:lnTo>
                  <a:pt x="726808" y="710488"/>
                </a:lnTo>
                <a:lnTo>
                  <a:pt x="774446" y="709714"/>
                </a:lnTo>
                <a:lnTo>
                  <a:pt x="822058" y="708177"/>
                </a:lnTo>
                <a:lnTo>
                  <a:pt x="869645" y="705853"/>
                </a:lnTo>
                <a:lnTo>
                  <a:pt x="917206" y="702729"/>
                </a:lnTo>
                <a:lnTo>
                  <a:pt x="964704" y="698766"/>
                </a:lnTo>
                <a:lnTo>
                  <a:pt x="1013714" y="693915"/>
                </a:lnTo>
                <a:lnTo>
                  <a:pt x="1062520" y="688174"/>
                </a:lnTo>
                <a:lnTo>
                  <a:pt x="1111097" y="681240"/>
                </a:lnTo>
                <a:lnTo>
                  <a:pt x="1159395" y="672846"/>
                </a:lnTo>
                <a:lnTo>
                  <a:pt x="1207376" y="662698"/>
                </a:lnTo>
                <a:lnTo>
                  <a:pt x="1254963" y="650519"/>
                </a:lnTo>
                <a:lnTo>
                  <a:pt x="1316202" y="630491"/>
                </a:lnTo>
                <a:lnTo>
                  <a:pt x="1372082" y="599414"/>
                </a:lnTo>
                <a:lnTo>
                  <a:pt x="1391031" y="570890"/>
                </a:lnTo>
                <a:lnTo>
                  <a:pt x="1392301" y="558520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64648" y="2579445"/>
            <a:ext cx="1393190" cy="290195"/>
          </a:xfrm>
          <a:custGeom>
            <a:avLst/>
            <a:gdLst/>
            <a:ahLst/>
            <a:cxnLst/>
            <a:rect l="l" t="t" r="r" b="b"/>
            <a:pathLst>
              <a:path w="1393190" h="290194">
                <a:moveTo>
                  <a:pt x="680569" y="289893"/>
                </a:moveTo>
                <a:lnTo>
                  <a:pt x="630016" y="289347"/>
                </a:lnTo>
                <a:lnTo>
                  <a:pt x="579514" y="287980"/>
                </a:lnTo>
                <a:lnTo>
                  <a:pt x="529063" y="285754"/>
                </a:lnTo>
                <a:lnTo>
                  <a:pt x="478662" y="282632"/>
                </a:lnTo>
                <a:lnTo>
                  <a:pt x="428312" y="278578"/>
                </a:lnTo>
                <a:lnTo>
                  <a:pt x="378012" y="273555"/>
                </a:lnTo>
                <a:lnTo>
                  <a:pt x="327763" y="267526"/>
                </a:lnTo>
                <a:lnTo>
                  <a:pt x="277564" y="260455"/>
                </a:lnTo>
                <a:lnTo>
                  <a:pt x="228637" y="252117"/>
                </a:lnTo>
                <a:lnTo>
                  <a:pt x="179987" y="241902"/>
                </a:lnTo>
                <a:lnTo>
                  <a:pt x="131890" y="229003"/>
                </a:lnTo>
                <a:lnTo>
                  <a:pt x="84622" y="212616"/>
                </a:lnTo>
                <a:lnTo>
                  <a:pt x="38296" y="190249"/>
                </a:lnTo>
                <a:lnTo>
                  <a:pt x="6233" y="164509"/>
                </a:lnTo>
                <a:lnTo>
                  <a:pt x="0" y="147196"/>
                </a:lnTo>
                <a:lnTo>
                  <a:pt x="5535" y="130189"/>
                </a:lnTo>
                <a:lnTo>
                  <a:pt x="45753" y="101375"/>
                </a:lnTo>
                <a:lnTo>
                  <a:pt x="93554" y="79296"/>
                </a:lnTo>
                <a:lnTo>
                  <a:pt x="170522" y="54890"/>
                </a:lnTo>
                <a:lnTo>
                  <a:pt x="223386" y="42614"/>
                </a:lnTo>
                <a:lnTo>
                  <a:pt x="276776" y="33027"/>
                </a:lnTo>
                <a:lnTo>
                  <a:pt x="330550" y="25658"/>
                </a:lnTo>
                <a:lnTo>
                  <a:pt x="384567" y="20035"/>
                </a:lnTo>
                <a:lnTo>
                  <a:pt x="435814" y="15882"/>
                </a:lnTo>
                <a:lnTo>
                  <a:pt x="487154" y="12296"/>
                </a:lnTo>
                <a:lnTo>
                  <a:pt x="538542" y="9097"/>
                </a:lnTo>
                <a:lnTo>
                  <a:pt x="589929" y="6102"/>
                </a:lnTo>
                <a:lnTo>
                  <a:pt x="641269" y="3130"/>
                </a:lnTo>
                <a:lnTo>
                  <a:pt x="692516" y="0"/>
                </a:lnTo>
                <a:lnTo>
                  <a:pt x="692937" y="1226"/>
                </a:lnTo>
                <a:lnTo>
                  <a:pt x="692937" y="4088"/>
                </a:lnTo>
                <a:lnTo>
                  <a:pt x="743924" y="4561"/>
                </a:lnTo>
                <a:lnTo>
                  <a:pt x="794832" y="5724"/>
                </a:lnTo>
                <a:lnTo>
                  <a:pt x="845661" y="7653"/>
                </a:lnTo>
                <a:lnTo>
                  <a:pt x="896411" y="10426"/>
                </a:lnTo>
                <a:lnTo>
                  <a:pt x="947082" y="14118"/>
                </a:lnTo>
                <a:lnTo>
                  <a:pt x="997674" y="18808"/>
                </a:lnTo>
                <a:lnTo>
                  <a:pt x="1048187" y="24570"/>
                </a:lnTo>
                <a:lnTo>
                  <a:pt x="1098621" y="31483"/>
                </a:lnTo>
                <a:lnTo>
                  <a:pt x="1144994" y="38807"/>
                </a:lnTo>
                <a:lnTo>
                  <a:pt x="1190963" y="47485"/>
                </a:lnTo>
                <a:lnTo>
                  <a:pt x="1236326" y="58185"/>
                </a:lnTo>
                <a:lnTo>
                  <a:pt x="1280880" y="71573"/>
                </a:lnTo>
                <a:lnTo>
                  <a:pt x="1324423" y="88317"/>
                </a:lnTo>
                <a:lnTo>
                  <a:pt x="1366661" y="112811"/>
                </a:lnTo>
                <a:lnTo>
                  <a:pt x="1393194" y="147195"/>
                </a:lnTo>
                <a:lnTo>
                  <a:pt x="1389798" y="159921"/>
                </a:lnTo>
                <a:lnTo>
                  <a:pt x="1352647" y="191099"/>
                </a:lnTo>
                <a:lnTo>
                  <a:pt x="1272257" y="225611"/>
                </a:lnTo>
                <a:lnTo>
                  <a:pt x="1220210" y="240215"/>
                </a:lnTo>
                <a:lnTo>
                  <a:pt x="1167294" y="251447"/>
                </a:lnTo>
                <a:lnTo>
                  <a:pt x="1113787" y="260455"/>
                </a:lnTo>
                <a:lnTo>
                  <a:pt x="1066614" y="267274"/>
                </a:lnTo>
                <a:lnTo>
                  <a:pt x="1019346" y="273057"/>
                </a:lnTo>
                <a:lnTo>
                  <a:pt x="971989" y="277867"/>
                </a:lnTo>
                <a:lnTo>
                  <a:pt x="924551" y="281768"/>
                </a:lnTo>
                <a:lnTo>
                  <a:pt x="877040" y="284826"/>
                </a:lnTo>
                <a:lnTo>
                  <a:pt x="829462" y="287104"/>
                </a:lnTo>
                <a:lnTo>
                  <a:pt x="781826" y="288666"/>
                </a:lnTo>
                <a:lnTo>
                  <a:pt x="731172" y="289654"/>
                </a:lnTo>
                <a:lnTo>
                  <a:pt x="680569" y="289893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64807" y="4169564"/>
            <a:ext cx="1392555" cy="208279"/>
          </a:xfrm>
          <a:custGeom>
            <a:avLst/>
            <a:gdLst/>
            <a:ahLst/>
            <a:cxnLst/>
            <a:rect l="l" t="t" r="r" b="b"/>
            <a:pathLst>
              <a:path w="1392554" h="208279">
                <a:moveTo>
                  <a:pt x="641401" y="207745"/>
                </a:moveTo>
                <a:lnTo>
                  <a:pt x="591746" y="206988"/>
                </a:lnTo>
                <a:lnTo>
                  <a:pt x="542136" y="205377"/>
                </a:lnTo>
                <a:lnTo>
                  <a:pt x="492578" y="202848"/>
                </a:lnTo>
                <a:lnTo>
                  <a:pt x="443079" y="199335"/>
                </a:lnTo>
                <a:lnTo>
                  <a:pt x="393646" y="194776"/>
                </a:lnTo>
                <a:lnTo>
                  <a:pt x="344286" y="189107"/>
                </a:lnTo>
                <a:lnTo>
                  <a:pt x="295005" y="182263"/>
                </a:lnTo>
                <a:lnTo>
                  <a:pt x="245812" y="174181"/>
                </a:lnTo>
                <a:lnTo>
                  <a:pt x="200512" y="165601"/>
                </a:lnTo>
                <a:lnTo>
                  <a:pt x="155765" y="155219"/>
                </a:lnTo>
                <a:lnTo>
                  <a:pt x="111808" y="142154"/>
                </a:lnTo>
                <a:lnTo>
                  <a:pt x="68877" y="125524"/>
                </a:lnTo>
                <a:lnTo>
                  <a:pt x="28178" y="102813"/>
                </a:lnTo>
                <a:lnTo>
                  <a:pt x="0" y="67004"/>
                </a:lnTo>
                <a:lnTo>
                  <a:pt x="3475" y="53211"/>
                </a:lnTo>
                <a:lnTo>
                  <a:pt x="38020" y="23816"/>
                </a:lnTo>
                <a:lnTo>
                  <a:pt x="63400" y="9403"/>
                </a:lnTo>
                <a:lnTo>
                  <a:pt x="66771" y="7359"/>
                </a:lnTo>
                <a:lnTo>
                  <a:pt x="72248" y="8177"/>
                </a:lnTo>
                <a:lnTo>
                  <a:pt x="76039" y="9403"/>
                </a:lnTo>
                <a:lnTo>
                  <a:pt x="125386" y="24009"/>
                </a:lnTo>
                <a:lnTo>
                  <a:pt x="175225" y="36162"/>
                </a:lnTo>
                <a:lnTo>
                  <a:pt x="225485" y="46202"/>
                </a:lnTo>
                <a:lnTo>
                  <a:pt x="276096" y="54471"/>
                </a:lnTo>
                <a:lnTo>
                  <a:pt x="326987" y="61308"/>
                </a:lnTo>
                <a:lnTo>
                  <a:pt x="378090" y="67056"/>
                </a:lnTo>
                <a:lnTo>
                  <a:pt x="427380" y="71689"/>
                </a:lnTo>
                <a:lnTo>
                  <a:pt x="476677" y="75436"/>
                </a:lnTo>
                <a:lnTo>
                  <a:pt x="525989" y="78310"/>
                </a:lnTo>
                <a:lnTo>
                  <a:pt x="575323" y="80325"/>
                </a:lnTo>
                <a:lnTo>
                  <a:pt x="624687" y="81497"/>
                </a:lnTo>
                <a:lnTo>
                  <a:pt x="674087" y="81839"/>
                </a:lnTo>
                <a:lnTo>
                  <a:pt x="723532" y="81366"/>
                </a:lnTo>
                <a:lnTo>
                  <a:pt x="774613" y="80146"/>
                </a:lnTo>
                <a:lnTo>
                  <a:pt x="825622" y="78305"/>
                </a:lnTo>
                <a:lnTo>
                  <a:pt x="876547" y="75702"/>
                </a:lnTo>
                <a:lnTo>
                  <a:pt x="927378" y="72201"/>
                </a:lnTo>
                <a:lnTo>
                  <a:pt x="978106" y="67664"/>
                </a:lnTo>
                <a:lnTo>
                  <a:pt x="1028719" y="61952"/>
                </a:lnTo>
                <a:lnTo>
                  <a:pt x="1079207" y="54927"/>
                </a:lnTo>
                <a:lnTo>
                  <a:pt x="1129561" y="46452"/>
                </a:lnTo>
                <a:lnTo>
                  <a:pt x="1179768" y="36389"/>
                </a:lnTo>
                <a:lnTo>
                  <a:pt x="1239062" y="20750"/>
                </a:lnTo>
                <a:lnTo>
                  <a:pt x="1268393" y="11895"/>
                </a:lnTo>
                <a:lnTo>
                  <a:pt x="1297723" y="3271"/>
                </a:lnTo>
                <a:lnTo>
                  <a:pt x="1301937" y="2043"/>
                </a:lnTo>
                <a:lnTo>
                  <a:pt x="1307835" y="0"/>
                </a:lnTo>
                <a:lnTo>
                  <a:pt x="1310784" y="1635"/>
                </a:lnTo>
                <a:lnTo>
                  <a:pt x="1345644" y="20392"/>
                </a:lnTo>
                <a:lnTo>
                  <a:pt x="1378607" y="41296"/>
                </a:lnTo>
                <a:lnTo>
                  <a:pt x="1392405" y="65522"/>
                </a:lnTo>
                <a:lnTo>
                  <a:pt x="1389035" y="78440"/>
                </a:lnTo>
                <a:lnTo>
                  <a:pt x="1352068" y="109732"/>
                </a:lnTo>
                <a:lnTo>
                  <a:pt x="1270907" y="144423"/>
                </a:lnTo>
                <a:lnTo>
                  <a:pt x="1217893" y="159053"/>
                </a:lnTo>
                <a:lnTo>
                  <a:pt x="1163931" y="170310"/>
                </a:lnTo>
                <a:lnTo>
                  <a:pt x="1109416" y="179497"/>
                </a:lnTo>
                <a:lnTo>
                  <a:pt x="1061859" y="186357"/>
                </a:lnTo>
                <a:lnTo>
                  <a:pt x="1014170" y="192223"/>
                </a:lnTo>
                <a:lnTo>
                  <a:pt x="966370" y="197102"/>
                </a:lnTo>
                <a:lnTo>
                  <a:pt x="918481" y="201001"/>
                </a:lnTo>
                <a:lnTo>
                  <a:pt x="870526" y="203928"/>
                </a:lnTo>
                <a:lnTo>
                  <a:pt x="822527" y="205889"/>
                </a:lnTo>
                <a:lnTo>
                  <a:pt x="774506" y="206892"/>
                </a:lnTo>
                <a:lnTo>
                  <a:pt x="753653" y="207365"/>
                </a:lnTo>
                <a:lnTo>
                  <a:pt x="732800" y="207608"/>
                </a:lnTo>
                <a:lnTo>
                  <a:pt x="711947" y="207697"/>
                </a:lnTo>
                <a:lnTo>
                  <a:pt x="691095" y="207710"/>
                </a:lnTo>
                <a:lnTo>
                  <a:pt x="641401" y="207745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64806" y="3417641"/>
            <a:ext cx="1392555" cy="206375"/>
          </a:xfrm>
          <a:custGeom>
            <a:avLst/>
            <a:gdLst/>
            <a:ahLst/>
            <a:cxnLst/>
            <a:rect l="l" t="t" r="r" b="b"/>
            <a:pathLst>
              <a:path w="1392554" h="206375">
                <a:moveTo>
                  <a:pt x="755188" y="206119"/>
                </a:moveTo>
                <a:lnTo>
                  <a:pt x="706260" y="206073"/>
                </a:lnTo>
                <a:lnTo>
                  <a:pt x="656069" y="206005"/>
                </a:lnTo>
                <a:lnTo>
                  <a:pt x="606555" y="205223"/>
                </a:lnTo>
                <a:lnTo>
                  <a:pt x="557645" y="203680"/>
                </a:lnTo>
                <a:lnTo>
                  <a:pt x="509265" y="201330"/>
                </a:lnTo>
                <a:lnTo>
                  <a:pt x="461342" y="198125"/>
                </a:lnTo>
                <a:lnTo>
                  <a:pt x="413804" y="194019"/>
                </a:lnTo>
                <a:lnTo>
                  <a:pt x="366579" y="188963"/>
                </a:lnTo>
                <a:lnTo>
                  <a:pt x="319592" y="182912"/>
                </a:lnTo>
                <a:lnTo>
                  <a:pt x="272772" y="175817"/>
                </a:lnTo>
                <a:lnTo>
                  <a:pt x="227076" y="168022"/>
                </a:lnTo>
                <a:lnTo>
                  <a:pt x="181704" y="158794"/>
                </a:lnTo>
                <a:lnTo>
                  <a:pt x="136978" y="147290"/>
                </a:lnTo>
                <a:lnTo>
                  <a:pt x="93223" y="132665"/>
                </a:lnTo>
                <a:lnTo>
                  <a:pt x="50762" y="114075"/>
                </a:lnTo>
                <a:lnTo>
                  <a:pt x="12427" y="87090"/>
                </a:lnTo>
                <a:lnTo>
                  <a:pt x="0" y="64039"/>
                </a:lnTo>
                <a:lnTo>
                  <a:pt x="2711" y="52418"/>
                </a:lnTo>
                <a:lnTo>
                  <a:pt x="37809" y="22640"/>
                </a:lnTo>
                <a:lnTo>
                  <a:pt x="68878" y="4497"/>
                </a:lnTo>
                <a:lnTo>
                  <a:pt x="74776" y="5314"/>
                </a:lnTo>
                <a:lnTo>
                  <a:pt x="78988" y="6949"/>
                </a:lnTo>
                <a:lnTo>
                  <a:pt x="125807" y="21323"/>
                </a:lnTo>
                <a:lnTo>
                  <a:pt x="173118" y="33209"/>
                </a:lnTo>
                <a:lnTo>
                  <a:pt x="220851" y="42982"/>
                </a:lnTo>
                <a:lnTo>
                  <a:pt x="268934" y="51018"/>
                </a:lnTo>
                <a:lnTo>
                  <a:pt x="317299" y="57690"/>
                </a:lnTo>
                <a:lnTo>
                  <a:pt x="365874" y="63374"/>
                </a:lnTo>
                <a:lnTo>
                  <a:pt x="417918" y="68614"/>
                </a:lnTo>
                <a:lnTo>
                  <a:pt x="470044" y="72794"/>
                </a:lnTo>
                <a:lnTo>
                  <a:pt x="522228" y="75959"/>
                </a:lnTo>
                <a:lnTo>
                  <a:pt x="574450" y="78152"/>
                </a:lnTo>
                <a:lnTo>
                  <a:pt x="626686" y="79414"/>
                </a:lnTo>
                <a:lnTo>
                  <a:pt x="678915" y="79790"/>
                </a:lnTo>
                <a:lnTo>
                  <a:pt x="731114" y="79321"/>
                </a:lnTo>
                <a:lnTo>
                  <a:pt x="783895" y="78164"/>
                </a:lnTo>
                <a:lnTo>
                  <a:pt x="836623" y="76239"/>
                </a:lnTo>
                <a:lnTo>
                  <a:pt x="889278" y="73415"/>
                </a:lnTo>
                <a:lnTo>
                  <a:pt x="941840" y="69562"/>
                </a:lnTo>
                <a:lnTo>
                  <a:pt x="994288" y="64547"/>
                </a:lnTo>
                <a:lnTo>
                  <a:pt x="1046600" y="58241"/>
                </a:lnTo>
                <a:lnTo>
                  <a:pt x="1098756" y="50511"/>
                </a:lnTo>
                <a:lnTo>
                  <a:pt x="1150735" y="41226"/>
                </a:lnTo>
                <a:lnTo>
                  <a:pt x="1202516" y="30255"/>
                </a:lnTo>
                <a:lnTo>
                  <a:pt x="1250488" y="16967"/>
                </a:lnTo>
                <a:lnTo>
                  <a:pt x="1274257" y="9556"/>
                </a:lnTo>
                <a:lnTo>
                  <a:pt x="1298145" y="2452"/>
                </a:lnTo>
                <a:lnTo>
                  <a:pt x="1304465" y="817"/>
                </a:lnTo>
                <a:lnTo>
                  <a:pt x="1312469" y="0"/>
                </a:lnTo>
                <a:lnTo>
                  <a:pt x="1317945" y="2861"/>
                </a:lnTo>
                <a:lnTo>
                  <a:pt x="1331946" y="9659"/>
                </a:lnTo>
                <a:lnTo>
                  <a:pt x="1372289" y="33118"/>
                </a:lnTo>
                <a:lnTo>
                  <a:pt x="1392352" y="64141"/>
                </a:lnTo>
                <a:lnTo>
                  <a:pt x="1387277" y="80209"/>
                </a:lnTo>
                <a:lnTo>
                  <a:pt x="1345604" y="113616"/>
                </a:lnTo>
                <a:lnTo>
                  <a:pt x="1287337" y="137944"/>
                </a:lnTo>
                <a:lnTo>
                  <a:pt x="1208640" y="159716"/>
                </a:lnTo>
                <a:lnTo>
                  <a:pt x="1160056" y="170039"/>
                </a:lnTo>
                <a:lnTo>
                  <a:pt x="1111148" y="178518"/>
                </a:lnTo>
                <a:lnTo>
                  <a:pt x="1061957" y="185505"/>
                </a:lnTo>
                <a:lnTo>
                  <a:pt x="1012524" y="191353"/>
                </a:lnTo>
                <a:lnTo>
                  <a:pt x="960261" y="196078"/>
                </a:lnTo>
                <a:lnTo>
                  <a:pt x="908127" y="199986"/>
                </a:lnTo>
                <a:lnTo>
                  <a:pt x="856390" y="203007"/>
                </a:lnTo>
                <a:lnTo>
                  <a:pt x="805321" y="205074"/>
                </a:lnTo>
                <a:lnTo>
                  <a:pt x="755188" y="206119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24747" y="4835213"/>
            <a:ext cx="695960" cy="283210"/>
          </a:xfrm>
          <a:custGeom>
            <a:avLst/>
            <a:gdLst/>
            <a:ahLst/>
            <a:cxnLst/>
            <a:rect l="l" t="t" r="r" b="b"/>
            <a:pathLst>
              <a:path w="695960" h="283210">
                <a:moveTo>
                  <a:pt x="342382" y="283077"/>
                </a:moveTo>
                <a:lnTo>
                  <a:pt x="295416" y="282123"/>
                </a:lnTo>
                <a:lnTo>
                  <a:pt x="247452" y="280302"/>
                </a:lnTo>
                <a:lnTo>
                  <a:pt x="199649" y="277361"/>
                </a:lnTo>
                <a:lnTo>
                  <a:pt x="152069" y="272674"/>
                </a:lnTo>
                <a:lnTo>
                  <a:pt x="104772" y="265612"/>
                </a:lnTo>
                <a:lnTo>
                  <a:pt x="57819" y="255546"/>
                </a:lnTo>
                <a:lnTo>
                  <a:pt x="10637" y="237965"/>
                </a:lnTo>
                <a:lnTo>
                  <a:pt x="526" y="227335"/>
                </a:lnTo>
                <a:lnTo>
                  <a:pt x="526" y="222019"/>
                </a:lnTo>
                <a:lnTo>
                  <a:pt x="105" y="167441"/>
                </a:lnTo>
                <a:lnTo>
                  <a:pt x="0" y="112900"/>
                </a:lnTo>
                <a:lnTo>
                  <a:pt x="105" y="4088"/>
                </a:lnTo>
                <a:lnTo>
                  <a:pt x="526" y="2453"/>
                </a:lnTo>
                <a:lnTo>
                  <a:pt x="1369" y="1635"/>
                </a:lnTo>
                <a:lnTo>
                  <a:pt x="1790" y="0"/>
                </a:lnTo>
                <a:lnTo>
                  <a:pt x="44700" y="16048"/>
                </a:lnTo>
                <a:lnTo>
                  <a:pt x="88519" y="26883"/>
                </a:lnTo>
                <a:lnTo>
                  <a:pt x="132891" y="33579"/>
                </a:lnTo>
                <a:lnTo>
                  <a:pt x="177461" y="37207"/>
                </a:lnTo>
                <a:lnTo>
                  <a:pt x="230840" y="39762"/>
                </a:lnTo>
                <a:lnTo>
                  <a:pt x="284301" y="41551"/>
                </a:lnTo>
                <a:lnTo>
                  <a:pt x="337823" y="42595"/>
                </a:lnTo>
                <a:lnTo>
                  <a:pt x="391385" y="42912"/>
                </a:lnTo>
                <a:lnTo>
                  <a:pt x="444967" y="42522"/>
                </a:lnTo>
                <a:lnTo>
                  <a:pt x="495493" y="40574"/>
                </a:lnTo>
                <a:lnTo>
                  <a:pt x="545861" y="35827"/>
                </a:lnTo>
                <a:lnTo>
                  <a:pt x="595914" y="28091"/>
                </a:lnTo>
                <a:lnTo>
                  <a:pt x="645493" y="17173"/>
                </a:lnTo>
                <a:lnTo>
                  <a:pt x="681866" y="5558"/>
                </a:lnTo>
                <a:lnTo>
                  <a:pt x="694360" y="1226"/>
                </a:lnTo>
                <a:lnTo>
                  <a:pt x="694782" y="4497"/>
                </a:lnTo>
                <a:lnTo>
                  <a:pt x="695203" y="8585"/>
                </a:lnTo>
                <a:lnTo>
                  <a:pt x="695203" y="12675"/>
                </a:lnTo>
                <a:lnTo>
                  <a:pt x="695097" y="115098"/>
                </a:lnTo>
                <a:lnTo>
                  <a:pt x="695203" y="166310"/>
                </a:lnTo>
                <a:lnTo>
                  <a:pt x="695624" y="217521"/>
                </a:lnTo>
                <a:lnTo>
                  <a:pt x="653766" y="248487"/>
                </a:lnTo>
                <a:lnTo>
                  <a:pt x="602069" y="262223"/>
                </a:lnTo>
                <a:lnTo>
                  <a:pt x="529544" y="273946"/>
                </a:lnTo>
                <a:lnTo>
                  <a:pt x="482929" y="278580"/>
                </a:lnTo>
                <a:lnTo>
                  <a:pt x="436174" y="281510"/>
                </a:lnTo>
                <a:lnTo>
                  <a:pt x="389313" y="282941"/>
                </a:lnTo>
                <a:lnTo>
                  <a:pt x="342382" y="283077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24427" y="5159463"/>
            <a:ext cx="697230" cy="594360"/>
          </a:xfrm>
          <a:custGeom>
            <a:avLst/>
            <a:gdLst/>
            <a:ahLst/>
            <a:cxnLst/>
            <a:rect l="l" t="t" r="r" b="b"/>
            <a:pathLst>
              <a:path w="697229" h="594360">
                <a:moveTo>
                  <a:pt x="695934" y="527037"/>
                </a:moveTo>
                <a:lnTo>
                  <a:pt x="695515" y="481888"/>
                </a:lnTo>
                <a:lnTo>
                  <a:pt x="695413" y="436676"/>
                </a:lnTo>
                <a:lnTo>
                  <a:pt x="695515" y="346316"/>
                </a:lnTo>
                <a:lnTo>
                  <a:pt x="695515" y="311962"/>
                </a:lnTo>
                <a:lnTo>
                  <a:pt x="684669" y="315760"/>
                </a:lnTo>
                <a:lnTo>
                  <a:pt x="674192" y="319582"/>
                </a:lnTo>
                <a:lnTo>
                  <a:pt x="663943" y="323176"/>
                </a:lnTo>
                <a:lnTo>
                  <a:pt x="608838" y="337146"/>
                </a:lnTo>
                <a:lnTo>
                  <a:pt x="563460" y="345008"/>
                </a:lnTo>
                <a:lnTo>
                  <a:pt x="517779" y="350304"/>
                </a:lnTo>
                <a:lnTo>
                  <a:pt x="471893" y="353453"/>
                </a:lnTo>
                <a:lnTo>
                  <a:pt x="425907" y="354901"/>
                </a:lnTo>
                <a:lnTo>
                  <a:pt x="377786" y="355244"/>
                </a:lnTo>
                <a:lnTo>
                  <a:pt x="329552" y="354850"/>
                </a:lnTo>
                <a:lnTo>
                  <a:pt x="281279" y="353745"/>
                </a:lnTo>
                <a:lnTo>
                  <a:pt x="233045" y="351980"/>
                </a:lnTo>
                <a:lnTo>
                  <a:pt x="184937" y="349580"/>
                </a:lnTo>
                <a:lnTo>
                  <a:pt x="138455" y="345935"/>
                </a:lnTo>
                <a:lnTo>
                  <a:pt x="92100" y="339102"/>
                </a:lnTo>
                <a:lnTo>
                  <a:pt x="46139" y="327901"/>
                </a:lnTo>
                <a:lnTo>
                  <a:pt x="838" y="311150"/>
                </a:lnTo>
                <a:lnTo>
                  <a:pt x="889" y="366001"/>
                </a:lnTo>
                <a:lnTo>
                  <a:pt x="889" y="420319"/>
                </a:lnTo>
                <a:lnTo>
                  <a:pt x="660" y="474332"/>
                </a:lnTo>
                <a:lnTo>
                  <a:pt x="0" y="528256"/>
                </a:lnTo>
                <a:lnTo>
                  <a:pt x="723" y="537159"/>
                </a:lnTo>
                <a:lnTo>
                  <a:pt x="34378" y="558876"/>
                </a:lnTo>
                <a:lnTo>
                  <a:pt x="88468" y="573646"/>
                </a:lnTo>
                <a:lnTo>
                  <a:pt x="136944" y="581456"/>
                </a:lnTo>
                <a:lnTo>
                  <a:pt x="185508" y="587349"/>
                </a:lnTo>
                <a:lnTo>
                  <a:pt x="234175" y="591375"/>
                </a:lnTo>
                <a:lnTo>
                  <a:pt x="282930" y="593610"/>
                </a:lnTo>
                <a:lnTo>
                  <a:pt x="331812" y="594080"/>
                </a:lnTo>
                <a:lnTo>
                  <a:pt x="380822" y="592861"/>
                </a:lnTo>
                <a:lnTo>
                  <a:pt x="428523" y="590588"/>
                </a:lnTo>
                <a:lnTo>
                  <a:pt x="476135" y="587806"/>
                </a:lnTo>
                <a:lnTo>
                  <a:pt x="523595" y="584187"/>
                </a:lnTo>
                <a:lnTo>
                  <a:pt x="570826" y="579374"/>
                </a:lnTo>
                <a:lnTo>
                  <a:pt x="624636" y="568693"/>
                </a:lnTo>
                <a:lnTo>
                  <a:pt x="677824" y="554024"/>
                </a:lnTo>
                <a:lnTo>
                  <a:pt x="695121" y="536943"/>
                </a:lnTo>
                <a:lnTo>
                  <a:pt x="695934" y="527037"/>
                </a:lnTo>
                <a:close/>
              </a:path>
              <a:path w="697229" h="594360">
                <a:moveTo>
                  <a:pt x="696785" y="215468"/>
                </a:moveTo>
                <a:lnTo>
                  <a:pt x="696353" y="165798"/>
                </a:lnTo>
                <a:lnTo>
                  <a:pt x="696252" y="116116"/>
                </a:lnTo>
                <a:lnTo>
                  <a:pt x="696353" y="16764"/>
                </a:lnTo>
                <a:lnTo>
                  <a:pt x="696353" y="11442"/>
                </a:lnTo>
                <a:lnTo>
                  <a:pt x="695934" y="6540"/>
                </a:lnTo>
                <a:lnTo>
                  <a:pt x="695515" y="0"/>
                </a:lnTo>
                <a:lnTo>
                  <a:pt x="661733" y="12992"/>
                </a:lnTo>
                <a:lnTo>
                  <a:pt x="592734" y="28575"/>
                </a:lnTo>
                <a:lnTo>
                  <a:pt x="508177" y="39027"/>
                </a:lnTo>
                <a:lnTo>
                  <a:pt x="458508" y="42849"/>
                </a:lnTo>
                <a:lnTo>
                  <a:pt x="408774" y="45059"/>
                </a:lnTo>
                <a:lnTo>
                  <a:pt x="359003" y="45745"/>
                </a:lnTo>
                <a:lnTo>
                  <a:pt x="309206" y="44970"/>
                </a:lnTo>
                <a:lnTo>
                  <a:pt x="257225" y="43294"/>
                </a:lnTo>
                <a:lnTo>
                  <a:pt x="205384" y="40513"/>
                </a:lnTo>
                <a:lnTo>
                  <a:pt x="153758" y="35775"/>
                </a:lnTo>
                <a:lnTo>
                  <a:pt x="102412" y="28155"/>
                </a:lnTo>
                <a:lnTo>
                  <a:pt x="51409" y="16802"/>
                </a:lnTo>
                <a:lnTo>
                  <a:pt x="838" y="812"/>
                </a:lnTo>
                <a:lnTo>
                  <a:pt x="889" y="54876"/>
                </a:lnTo>
                <a:lnTo>
                  <a:pt x="939" y="108597"/>
                </a:lnTo>
                <a:lnTo>
                  <a:pt x="838" y="162090"/>
                </a:lnTo>
                <a:lnTo>
                  <a:pt x="419" y="215468"/>
                </a:lnTo>
                <a:lnTo>
                  <a:pt x="1473" y="225323"/>
                </a:lnTo>
                <a:lnTo>
                  <a:pt x="4787" y="232956"/>
                </a:lnTo>
                <a:lnTo>
                  <a:pt x="10553" y="238582"/>
                </a:lnTo>
                <a:lnTo>
                  <a:pt x="18961" y="242455"/>
                </a:lnTo>
                <a:lnTo>
                  <a:pt x="34048" y="247218"/>
                </a:lnTo>
                <a:lnTo>
                  <a:pt x="49072" y="252018"/>
                </a:lnTo>
                <a:lnTo>
                  <a:pt x="129006" y="268820"/>
                </a:lnTo>
                <a:lnTo>
                  <a:pt x="179006" y="275272"/>
                </a:lnTo>
                <a:lnTo>
                  <a:pt x="229171" y="279565"/>
                </a:lnTo>
                <a:lnTo>
                  <a:pt x="279476" y="281876"/>
                </a:lnTo>
                <a:lnTo>
                  <a:pt x="329895" y="282397"/>
                </a:lnTo>
                <a:lnTo>
                  <a:pt x="380403" y="281305"/>
                </a:lnTo>
                <a:lnTo>
                  <a:pt x="427164" y="279488"/>
                </a:lnTo>
                <a:lnTo>
                  <a:pt x="473875" y="276961"/>
                </a:lnTo>
                <a:lnTo>
                  <a:pt x="520509" y="273418"/>
                </a:lnTo>
                <a:lnTo>
                  <a:pt x="567029" y="268630"/>
                </a:lnTo>
                <a:lnTo>
                  <a:pt x="623163" y="257378"/>
                </a:lnTo>
                <a:lnTo>
                  <a:pt x="650913" y="249885"/>
                </a:lnTo>
                <a:lnTo>
                  <a:pt x="678662" y="242455"/>
                </a:lnTo>
                <a:lnTo>
                  <a:pt x="687184" y="238874"/>
                </a:lnTo>
                <a:lnTo>
                  <a:pt x="692772" y="233108"/>
                </a:lnTo>
                <a:lnTo>
                  <a:pt x="695845" y="225259"/>
                </a:lnTo>
                <a:lnTo>
                  <a:pt x="696785" y="215468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24851" y="4752450"/>
            <a:ext cx="695960" cy="109855"/>
          </a:xfrm>
          <a:custGeom>
            <a:avLst/>
            <a:gdLst/>
            <a:ahLst/>
            <a:cxnLst/>
            <a:rect l="l" t="t" r="r" b="b"/>
            <a:pathLst>
              <a:path w="695960" h="109854">
                <a:moveTo>
                  <a:pt x="358589" y="109660"/>
                </a:moveTo>
                <a:lnTo>
                  <a:pt x="307302" y="109483"/>
                </a:lnTo>
                <a:lnTo>
                  <a:pt x="256055" y="107756"/>
                </a:lnTo>
                <a:lnTo>
                  <a:pt x="204869" y="104243"/>
                </a:lnTo>
                <a:lnTo>
                  <a:pt x="153763" y="98709"/>
                </a:lnTo>
                <a:lnTo>
                  <a:pt x="93416" y="88231"/>
                </a:lnTo>
                <a:lnTo>
                  <a:pt x="33702" y="74994"/>
                </a:lnTo>
                <a:lnTo>
                  <a:pt x="8405" y="63552"/>
                </a:lnTo>
                <a:lnTo>
                  <a:pt x="0" y="59048"/>
                </a:lnTo>
                <a:lnTo>
                  <a:pt x="0" y="52096"/>
                </a:lnTo>
                <a:lnTo>
                  <a:pt x="7141" y="47835"/>
                </a:lnTo>
                <a:lnTo>
                  <a:pt x="14165" y="43459"/>
                </a:lnTo>
                <a:lnTo>
                  <a:pt x="61512" y="29538"/>
                </a:lnTo>
                <a:lnTo>
                  <a:pt x="127401" y="15751"/>
                </a:lnTo>
                <a:lnTo>
                  <a:pt x="212455" y="4631"/>
                </a:lnTo>
                <a:lnTo>
                  <a:pt x="264609" y="1305"/>
                </a:lnTo>
                <a:lnTo>
                  <a:pt x="316863" y="0"/>
                </a:lnTo>
                <a:lnTo>
                  <a:pt x="369118" y="304"/>
                </a:lnTo>
                <a:lnTo>
                  <a:pt x="421271" y="1806"/>
                </a:lnTo>
                <a:lnTo>
                  <a:pt x="467553" y="3921"/>
                </a:lnTo>
                <a:lnTo>
                  <a:pt x="513796" y="7254"/>
                </a:lnTo>
                <a:lnTo>
                  <a:pt x="559856" y="12432"/>
                </a:lnTo>
                <a:lnTo>
                  <a:pt x="605592" y="20083"/>
                </a:lnTo>
                <a:lnTo>
                  <a:pt x="650864" y="30835"/>
                </a:lnTo>
                <a:lnTo>
                  <a:pt x="686672" y="44737"/>
                </a:lnTo>
                <a:lnTo>
                  <a:pt x="690884" y="50870"/>
                </a:lnTo>
                <a:lnTo>
                  <a:pt x="695939" y="55368"/>
                </a:lnTo>
                <a:lnTo>
                  <a:pt x="691306" y="59456"/>
                </a:lnTo>
                <a:lnTo>
                  <a:pt x="687093" y="65590"/>
                </a:lnTo>
                <a:lnTo>
                  <a:pt x="681616" y="67634"/>
                </a:lnTo>
                <a:lnTo>
                  <a:pt x="634816" y="82986"/>
                </a:lnTo>
                <a:lnTo>
                  <a:pt x="567123" y="96102"/>
                </a:lnTo>
                <a:lnTo>
                  <a:pt x="515004" y="102287"/>
                </a:lnTo>
                <a:lnTo>
                  <a:pt x="462569" y="106171"/>
                </a:lnTo>
                <a:lnTo>
                  <a:pt x="409897" y="108521"/>
                </a:lnTo>
                <a:lnTo>
                  <a:pt x="358589" y="109660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24431" y="5108924"/>
            <a:ext cx="701040" cy="77470"/>
          </a:xfrm>
          <a:custGeom>
            <a:avLst/>
            <a:gdLst/>
            <a:ahLst/>
            <a:cxnLst/>
            <a:rect l="l" t="t" r="r" b="b"/>
            <a:pathLst>
              <a:path w="701039" h="77470">
                <a:moveTo>
                  <a:pt x="343125" y="77067"/>
                </a:moveTo>
                <a:lnTo>
                  <a:pt x="289413" y="76697"/>
                </a:lnTo>
                <a:lnTo>
                  <a:pt x="240647" y="75287"/>
                </a:lnTo>
                <a:lnTo>
                  <a:pt x="191981" y="72189"/>
                </a:lnTo>
                <a:lnTo>
                  <a:pt x="143518" y="66893"/>
                </a:lnTo>
                <a:lnTo>
                  <a:pt x="95359" y="58889"/>
                </a:lnTo>
                <a:lnTo>
                  <a:pt x="47603" y="47665"/>
                </a:lnTo>
                <a:lnTo>
                  <a:pt x="10340" y="32543"/>
                </a:lnTo>
                <a:lnTo>
                  <a:pt x="0" y="21906"/>
                </a:lnTo>
                <a:lnTo>
                  <a:pt x="13856" y="12151"/>
                </a:lnTo>
                <a:lnTo>
                  <a:pt x="28067" y="4274"/>
                </a:lnTo>
                <a:lnTo>
                  <a:pt x="43305" y="0"/>
                </a:lnTo>
                <a:lnTo>
                  <a:pt x="60241" y="1053"/>
                </a:lnTo>
                <a:lnTo>
                  <a:pt x="115059" y="11448"/>
                </a:lnTo>
                <a:lnTo>
                  <a:pt x="170193" y="18584"/>
                </a:lnTo>
                <a:lnTo>
                  <a:pt x="225643" y="23191"/>
                </a:lnTo>
                <a:lnTo>
                  <a:pt x="281409" y="25995"/>
                </a:lnTo>
                <a:lnTo>
                  <a:pt x="331496" y="27307"/>
                </a:lnTo>
                <a:lnTo>
                  <a:pt x="381624" y="27264"/>
                </a:lnTo>
                <a:lnTo>
                  <a:pt x="431732" y="25789"/>
                </a:lnTo>
                <a:lnTo>
                  <a:pt x="481759" y="22802"/>
                </a:lnTo>
                <a:lnTo>
                  <a:pt x="531644" y="18226"/>
                </a:lnTo>
                <a:lnTo>
                  <a:pt x="584724" y="10713"/>
                </a:lnTo>
                <a:lnTo>
                  <a:pt x="637804" y="1053"/>
                </a:lnTo>
                <a:lnTo>
                  <a:pt x="653358" y="446"/>
                </a:lnTo>
                <a:lnTo>
                  <a:pt x="667451" y="3864"/>
                </a:lnTo>
                <a:lnTo>
                  <a:pt x="680517" y="9966"/>
                </a:lnTo>
                <a:lnTo>
                  <a:pt x="692990" y="17409"/>
                </a:lnTo>
                <a:lnTo>
                  <a:pt x="700573" y="22315"/>
                </a:lnTo>
                <a:lnTo>
                  <a:pt x="696782" y="28448"/>
                </a:lnTo>
                <a:lnTo>
                  <a:pt x="690464" y="31311"/>
                </a:lnTo>
                <a:lnTo>
                  <a:pt x="681222" y="36045"/>
                </a:lnTo>
                <a:lnTo>
                  <a:pt x="615576" y="54240"/>
                </a:lnTo>
                <a:lnTo>
                  <a:pt x="541471" y="66979"/>
                </a:lnTo>
                <a:lnTo>
                  <a:pt x="450549" y="74281"/>
                </a:lnTo>
                <a:lnTo>
                  <a:pt x="396837" y="76287"/>
                </a:lnTo>
                <a:lnTo>
                  <a:pt x="343125" y="77067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26590" y="5427220"/>
            <a:ext cx="693420" cy="69215"/>
          </a:xfrm>
          <a:custGeom>
            <a:avLst/>
            <a:gdLst/>
            <a:ahLst/>
            <a:cxnLst/>
            <a:rect l="l" t="t" r="r" b="b"/>
            <a:pathLst>
              <a:path w="693420" h="69214">
                <a:moveTo>
                  <a:pt x="299931" y="68726"/>
                </a:moveTo>
                <a:lnTo>
                  <a:pt x="252881" y="68115"/>
                </a:lnTo>
                <a:lnTo>
                  <a:pt x="205948" y="65822"/>
                </a:lnTo>
                <a:lnTo>
                  <a:pt x="159156" y="61587"/>
                </a:lnTo>
                <a:lnTo>
                  <a:pt x="112528" y="55149"/>
                </a:lnTo>
                <a:lnTo>
                  <a:pt x="66087" y="46247"/>
                </a:lnTo>
                <a:lnTo>
                  <a:pt x="22781" y="31815"/>
                </a:lnTo>
                <a:lnTo>
                  <a:pt x="0" y="17217"/>
                </a:lnTo>
                <a:lnTo>
                  <a:pt x="1981" y="12464"/>
                </a:lnTo>
                <a:lnTo>
                  <a:pt x="7951" y="7404"/>
                </a:lnTo>
                <a:lnTo>
                  <a:pt x="15191" y="3404"/>
                </a:lnTo>
                <a:lnTo>
                  <a:pt x="22590" y="862"/>
                </a:lnTo>
                <a:lnTo>
                  <a:pt x="30462" y="159"/>
                </a:lnTo>
                <a:lnTo>
                  <a:pt x="39125" y="1680"/>
                </a:lnTo>
                <a:lnTo>
                  <a:pt x="84609" y="12860"/>
                </a:lnTo>
                <a:lnTo>
                  <a:pt x="130646" y="20590"/>
                </a:lnTo>
                <a:lnTo>
                  <a:pt x="177157" y="25714"/>
                </a:lnTo>
                <a:lnTo>
                  <a:pt x="224063" y="29074"/>
                </a:lnTo>
                <a:lnTo>
                  <a:pt x="272989" y="31429"/>
                </a:lnTo>
                <a:lnTo>
                  <a:pt x="321908" y="32789"/>
                </a:lnTo>
                <a:lnTo>
                  <a:pt x="370812" y="33012"/>
                </a:lnTo>
                <a:lnTo>
                  <a:pt x="419695" y="31954"/>
                </a:lnTo>
                <a:lnTo>
                  <a:pt x="468547" y="29474"/>
                </a:lnTo>
                <a:lnTo>
                  <a:pt x="517363" y="25426"/>
                </a:lnTo>
                <a:lnTo>
                  <a:pt x="566134" y="19670"/>
                </a:lnTo>
                <a:lnTo>
                  <a:pt x="612843" y="11492"/>
                </a:lnTo>
                <a:lnTo>
                  <a:pt x="659236" y="862"/>
                </a:lnTo>
                <a:lnTo>
                  <a:pt x="669280" y="0"/>
                </a:lnTo>
                <a:lnTo>
                  <a:pt x="677666" y="2242"/>
                </a:lnTo>
                <a:lnTo>
                  <a:pt x="684946" y="6554"/>
                </a:lnTo>
                <a:lnTo>
                  <a:pt x="691673" y="11901"/>
                </a:lnTo>
                <a:lnTo>
                  <a:pt x="693359" y="13128"/>
                </a:lnTo>
                <a:lnTo>
                  <a:pt x="690831" y="22941"/>
                </a:lnTo>
                <a:lnTo>
                  <a:pt x="687882" y="24168"/>
                </a:lnTo>
                <a:lnTo>
                  <a:pt x="678699" y="28729"/>
                </a:lnTo>
                <a:lnTo>
                  <a:pt x="602528" y="51518"/>
                </a:lnTo>
                <a:lnTo>
                  <a:pt x="554497" y="59280"/>
                </a:lnTo>
                <a:lnTo>
                  <a:pt x="506070" y="64206"/>
                </a:lnTo>
                <a:lnTo>
                  <a:pt x="457447" y="67100"/>
                </a:lnTo>
                <a:lnTo>
                  <a:pt x="402418" y="68275"/>
                </a:lnTo>
                <a:lnTo>
                  <a:pt x="374805" y="68078"/>
                </a:lnTo>
                <a:lnTo>
                  <a:pt x="347074" y="67918"/>
                </a:lnTo>
                <a:lnTo>
                  <a:pt x="299931" y="68726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84271" y="4835622"/>
            <a:ext cx="695960" cy="281940"/>
          </a:xfrm>
          <a:custGeom>
            <a:avLst/>
            <a:gdLst/>
            <a:ahLst/>
            <a:cxnLst/>
            <a:rect l="l" t="t" r="r" b="b"/>
            <a:pathLst>
              <a:path w="695959" h="281939">
                <a:moveTo>
                  <a:pt x="348853" y="281942"/>
                </a:moveTo>
                <a:lnTo>
                  <a:pt x="296996" y="280898"/>
                </a:lnTo>
                <a:lnTo>
                  <a:pt x="246966" y="278900"/>
                </a:lnTo>
                <a:lnTo>
                  <a:pt x="197036" y="275802"/>
                </a:lnTo>
                <a:lnTo>
                  <a:pt x="147309" y="270801"/>
                </a:lnTo>
                <a:lnTo>
                  <a:pt x="97886" y="263091"/>
                </a:lnTo>
                <a:lnTo>
                  <a:pt x="48866" y="251869"/>
                </a:lnTo>
                <a:lnTo>
                  <a:pt x="6265" y="234082"/>
                </a:lnTo>
                <a:lnTo>
                  <a:pt x="0" y="190537"/>
                </a:lnTo>
                <a:lnTo>
                  <a:pt x="0" y="0"/>
                </a:lnTo>
                <a:lnTo>
                  <a:pt x="48145" y="15847"/>
                </a:lnTo>
                <a:lnTo>
                  <a:pt x="96876" y="27152"/>
                </a:lnTo>
                <a:lnTo>
                  <a:pt x="146075" y="34754"/>
                </a:lnTo>
                <a:lnTo>
                  <a:pt x="195625" y="39494"/>
                </a:lnTo>
                <a:lnTo>
                  <a:pt x="245409" y="42213"/>
                </a:lnTo>
                <a:lnTo>
                  <a:pt x="295310" y="43750"/>
                </a:lnTo>
                <a:lnTo>
                  <a:pt x="345101" y="44617"/>
                </a:lnTo>
                <a:lnTo>
                  <a:pt x="394872" y="44502"/>
                </a:lnTo>
                <a:lnTo>
                  <a:pt x="444602" y="43013"/>
                </a:lnTo>
                <a:lnTo>
                  <a:pt x="494272" y="39759"/>
                </a:lnTo>
                <a:lnTo>
                  <a:pt x="543860" y="34345"/>
                </a:lnTo>
                <a:lnTo>
                  <a:pt x="582565" y="28979"/>
                </a:lnTo>
                <a:lnTo>
                  <a:pt x="620953" y="22079"/>
                </a:lnTo>
                <a:lnTo>
                  <a:pt x="657920" y="12419"/>
                </a:lnTo>
                <a:lnTo>
                  <a:pt x="676522" y="6841"/>
                </a:lnTo>
                <a:lnTo>
                  <a:pt x="695518" y="1226"/>
                </a:lnTo>
                <a:lnTo>
                  <a:pt x="695518" y="13901"/>
                </a:lnTo>
                <a:lnTo>
                  <a:pt x="695413" y="113259"/>
                </a:lnTo>
                <a:lnTo>
                  <a:pt x="695519" y="162937"/>
                </a:lnTo>
                <a:lnTo>
                  <a:pt x="695939" y="212616"/>
                </a:lnTo>
                <a:lnTo>
                  <a:pt x="645591" y="249951"/>
                </a:lnTo>
                <a:lnTo>
                  <a:pt x="586021" y="263853"/>
                </a:lnTo>
                <a:lnTo>
                  <a:pt x="504423" y="275259"/>
                </a:lnTo>
                <a:lnTo>
                  <a:pt x="452627" y="279338"/>
                </a:lnTo>
                <a:lnTo>
                  <a:pt x="400750" y="281494"/>
                </a:lnTo>
                <a:lnTo>
                  <a:pt x="348853" y="281942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83843" y="5161089"/>
            <a:ext cx="697230" cy="593725"/>
          </a:xfrm>
          <a:custGeom>
            <a:avLst/>
            <a:gdLst/>
            <a:ahLst/>
            <a:cxnLst/>
            <a:rect l="l" t="t" r="r" b="b"/>
            <a:pathLst>
              <a:path w="697229" h="593725">
                <a:moveTo>
                  <a:pt x="696836" y="422478"/>
                </a:moveTo>
                <a:lnTo>
                  <a:pt x="696823" y="366560"/>
                </a:lnTo>
                <a:lnTo>
                  <a:pt x="696785" y="310337"/>
                </a:lnTo>
                <a:lnTo>
                  <a:pt x="688784" y="313397"/>
                </a:lnTo>
                <a:lnTo>
                  <a:pt x="681088" y="316369"/>
                </a:lnTo>
                <a:lnTo>
                  <a:pt x="673557" y="319201"/>
                </a:lnTo>
                <a:lnTo>
                  <a:pt x="619493" y="334098"/>
                </a:lnTo>
                <a:lnTo>
                  <a:pt x="572439" y="342912"/>
                </a:lnTo>
                <a:lnTo>
                  <a:pt x="524992" y="348754"/>
                </a:lnTo>
                <a:lnTo>
                  <a:pt x="477227" y="352171"/>
                </a:lnTo>
                <a:lnTo>
                  <a:pt x="429272" y="353682"/>
                </a:lnTo>
                <a:lnTo>
                  <a:pt x="380199" y="354025"/>
                </a:lnTo>
                <a:lnTo>
                  <a:pt x="331050" y="353606"/>
                </a:lnTo>
                <a:lnTo>
                  <a:pt x="281889" y="352450"/>
                </a:lnTo>
                <a:lnTo>
                  <a:pt x="232752" y="350558"/>
                </a:lnTo>
                <a:lnTo>
                  <a:pt x="183680" y="347954"/>
                </a:lnTo>
                <a:lnTo>
                  <a:pt x="137337" y="344081"/>
                </a:lnTo>
                <a:lnTo>
                  <a:pt x="91313" y="337172"/>
                </a:lnTo>
                <a:lnTo>
                  <a:pt x="45758" y="326047"/>
                </a:lnTo>
                <a:lnTo>
                  <a:pt x="838" y="309524"/>
                </a:lnTo>
                <a:lnTo>
                  <a:pt x="787" y="365912"/>
                </a:lnTo>
                <a:lnTo>
                  <a:pt x="736" y="421754"/>
                </a:lnTo>
                <a:lnTo>
                  <a:pt x="838" y="477304"/>
                </a:lnTo>
                <a:lnTo>
                  <a:pt x="1270" y="532765"/>
                </a:lnTo>
                <a:lnTo>
                  <a:pt x="44132" y="561340"/>
                </a:lnTo>
                <a:lnTo>
                  <a:pt x="126720" y="578929"/>
                </a:lnTo>
                <a:lnTo>
                  <a:pt x="179539" y="585838"/>
                </a:lnTo>
                <a:lnTo>
                  <a:pt x="232537" y="590423"/>
                </a:lnTo>
                <a:lnTo>
                  <a:pt x="285686" y="592823"/>
                </a:lnTo>
                <a:lnTo>
                  <a:pt x="338924" y="593191"/>
                </a:lnTo>
                <a:lnTo>
                  <a:pt x="392201" y="591642"/>
                </a:lnTo>
                <a:lnTo>
                  <a:pt x="442048" y="588975"/>
                </a:lnTo>
                <a:lnTo>
                  <a:pt x="491782" y="585304"/>
                </a:lnTo>
                <a:lnTo>
                  <a:pt x="541439" y="580720"/>
                </a:lnTo>
                <a:lnTo>
                  <a:pt x="591045" y="575297"/>
                </a:lnTo>
                <a:lnTo>
                  <a:pt x="636231" y="565734"/>
                </a:lnTo>
                <a:lnTo>
                  <a:pt x="680770" y="551573"/>
                </a:lnTo>
                <a:lnTo>
                  <a:pt x="687514" y="549529"/>
                </a:lnTo>
                <a:lnTo>
                  <a:pt x="695947" y="540131"/>
                </a:lnTo>
                <a:lnTo>
                  <a:pt x="695947" y="533996"/>
                </a:lnTo>
                <a:lnTo>
                  <a:pt x="696607" y="478231"/>
                </a:lnTo>
                <a:lnTo>
                  <a:pt x="696836" y="422478"/>
                </a:lnTo>
                <a:close/>
              </a:path>
              <a:path w="697229" h="593725">
                <a:moveTo>
                  <a:pt x="696836" y="111010"/>
                </a:moveTo>
                <a:lnTo>
                  <a:pt x="696823" y="56299"/>
                </a:lnTo>
                <a:lnTo>
                  <a:pt x="696785" y="2044"/>
                </a:lnTo>
                <a:lnTo>
                  <a:pt x="671525" y="8343"/>
                </a:lnTo>
                <a:lnTo>
                  <a:pt x="646709" y="14719"/>
                </a:lnTo>
                <a:lnTo>
                  <a:pt x="621957" y="20789"/>
                </a:lnTo>
                <a:lnTo>
                  <a:pt x="551091" y="33375"/>
                </a:lnTo>
                <a:lnTo>
                  <a:pt x="505066" y="38506"/>
                </a:lnTo>
                <a:lnTo>
                  <a:pt x="458876" y="41833"/>
                </a:lnTo>
                <a:lnTo>
                  <a:pt x="412534" y="43624"/>
                </a:lnTo>
                <a:lnTo>
                  <a:pt x="366090" y="44157"/>
                </a:lnTo>
                <a:lnTo>
                  <a:pt x="313194" y="43802"/>
                </a:lnTo>
                <a:lnTo>
                  <a:pt x="260400" y="42595"/>
                </a:lnTo>
                <a:lnTo>
                  <a:pt x="207746" y="39865"/>
                </a:lnTo>
                <a:lnTo>
                  <a:pt x="155346" y="34937"/>
                </a:lnTo>
                <a:lnTo>
                  <a:pt x="103276" y="27101"/>
                </a:lnTo>
                <a:lnTo>
                  <a:pt x="51600" y="15684"/>
                </a:lnTo>
                <a:lnTo>
                  <a:pt x="419" y="0"/>
                </a:lnTo>
                <a:lnTo>
                  <a:pt x="533" y="107340"/>
                </a:lnTo>
                <a:lnTo>
                  <a:pt x="419" y="160997"/>
                </a:lnTo>
                <a:lnTo>
                  <a:pt x="0" y="214668"/>
                </a:lnTo>
                <a:lnTo>
                  <a:pt x="1041" y="224104"/>
                </a:lnTo>
                <a:lnTo>
                  <a:pt x="36029" y="246735"/>
                </a:lnTo>
                <a:lnTo>
                  <a:pt x="72847" y="257619"/>
                </a:lnTo>
                <a:lnTo>
                  <a:pt x="141160" y="269494"/>
                </a:lnTo>
                <a:lnTo>
                  <a:pt x="190995" y="275361"/>
                </a:lnTo>
                <a:lnTo>
                  <a:pt x="240919" y="279323"/>
                </a:lnTo>
                <a:lnTo>
                  <a:pt x="290944" y="281406"/>
                </a:lnTo>
                <a:lnTo>
                  <a:pt x="341083" y="281647"/>
                </a:lnTo>
                <a:lnTo>
                  <a:pt x="391363" y="280085"/>
                </a:lnTo>
                <a:lnTo>
                  <a:pt x="440575" y="277304"/>
                </a:lnTo>
                <a:lnTo>
                  <a:pt x="489623" y="273799"/>
                </a:lnTo>
                <a:lnTo>
                  <a:pt x="538518" y="269443"/>
                </a:lnTo>
                <a:lnTo>
                  <a:pt x="587248" y="264134"/>
                </a:lnTo>
                <a:lnTo>
                  <a:pt x="634123" y="254228"/>
                </a:lnTo>
                <a:lnTo>
                  <a:pt x="680351" y="240017"/>
                </a:lnTo>
                <a:lnTo>
                  <a:pt x="695934" y="227749"/>
                </a:lnTo>
                <a:lnTo>
                  <a:pt x="695934" y="221208"/>
                </a:lnTo>
                <a:lnTo>
                  <a:pt x="696607" y="166039"/>
                </a:lnTo>
                <a:lnTo>
                  <a:pt x="696836" y="111010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83007" y="4753271"/>
            <a:ext cx="699135" cy="109220"/>
          </a:xfrm>
          <a:custGeom>
            <a:avLst/>
            <a:gdLst/>
            <a:ahLst/>
            <a:cxnLst/>
            <a:rect l="l" t="t" r="r" b="b"/>
            <a:pathLst>
              <a:path w="699134" h="109220">
                <a:moveTo>
                  <a:pt x="368987" y="109190"/>
                </a:moveTo>
                <a:lnTo>
                  <a:pt x="329433" y="108927"/>
                </a:lnTo>
                <a:lnTo>
                  <a:pt x="282863" y="108000"/>
                </a:lnTo>
                <a:lnTo>
                  <a:pt x="236317" y="106141"/>
                </a:lnTo>
                <a:lnTo>
                  <a:pt x="189887" y="102896"/>
                </a:lnTo>
                <a:lnTo>
                  <a:pt x="143668" y="97812"/>
                </a:lnTo>
                <a:lnTo>
                  <a:pt x="97754" y="90434"/>
                </a:lnTo>
                <a:lnTo>
                  <a:pt x="52237" y="80306"/>
                </a:lnTo>
                <a:lnTo>
                  <a:pt x="8517" y="61102"/>
                </a:lnTo>
                <a:lnTo>
                  <a:pt x="0" y="51275"/>
                </a:lnTo>
                <a:lnTo>
                  <a:pt x="9037" y="46350"/>
                </a:lnTo>
                <a:lnTo>
                  <a:pt x="17957" y="41310"/>
                </a:lnTo>
                <a:lnTo>
                  <a:pt x="67587" y="27114"/>
                </a:lnTo>
                <a:lnTo>
                  <a:pt x="130778" y="14669"/>
                </a:lnTo>
                <a:lnTo>
                  <a:pt x="213715" y="4572"/>
                </a:lnTo>
                <a:lnTo>
                  <a:pt x="264902" y="1363"/>
                </a:lnTo>
                <a:lnTo>
                  <a:pt x="316148" y="0"/>
                </a:lnTo>
                <a:lnTo>
                  <a:pt x="367435" y="127"/>
                </a:lnTo>
                <a:lnTo>
                  <a:pt x="418743" y="1393"/>
                </a:lnTo>
                <a:lnTo>
                  <a:pt x="474641" y="3930"/>
                </a:lnTo>
                <a:lnTo>
                  <a:pt x="530380" y="8498"/>
                </a:lnTo>
                <a:lnTo>
                  <a:pt x="585804" y="16056"/>
                </a:lnTo>
                <a:lnTo>
                  <a:pt x="640753" y="27562"/>
                </a:lnTo>
                <a:lnTo>
                  <a:pt x="678247" y="40236"/>
                </a:lnTo>
                <a:lnTo>
                  <a:pt x="685407" y="43098"/>
                </a:lnTo>
                <a:lnTo>
                  <a:pt x="691307" y="48414"/>
                </a:lnTo>
                <a:lnTo>
                  <a:pt x="698047" y="52911"/>
                </a:lnTo>
                <a:lnTo>
                  <a:pt x="698468" y="54547"/>
                </a:lnTo>
                <a:lnTo>
                  <a:pt x="698888" y="56591"/>
                </a:lnTo>
                <a:lnTo>
                  <a:pt x="698888" y="58227"/>
                </a:lnTo>
                <a:lnTo>
                  <a:pt x="688199" y="63523"/>
                </a:lnTo>
                <a:lnTo>
                  <a:pt x="677509" y="69011"/>
                </a:lnTo>
                <a:lnTo>
                  <a:pt x="613713" y="84695"/>
                </a:lnTo>
                <a:lnTo>
                  <a:pt x="571770" y="92010"/>
                </a:lnTo>
                <a:lnTo>
                  <a:pt x="529669" y="98482"/>
                </a:lnTo>
                <a:lnTo>
                  <a:pt x="487411" y="103612"/>
                </a:lnTo>
                <a:lnTo>
                  <a:pt x="448094" y="106800"/>
                </a:lnTo>
                <a:lnTo>
                  <a:pt x="408581" y="108570"/>
                </a:lnTo>
                <a:lnTo>
                  <a:pt x="368987" y="109190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84271" y="5109836"/>
            <a:ext cx="696595" cy="74930"/>
          </a:xfrm>
          <a:custGeom>
            <a:avLst/>
            <a:gdLst/>
            <a:ahLst/>
            <a:cxnLst/>
            <a:rect l="l" t="t" r="r" b="b"/>
            <a:pathLst>
              <a:path w="696595" h="74929">
                <a:moveTo>
                  <a:pt x="389761" y="74871"/>
                </a:moveTo>
                <a:lnTo>
                  <a:pt x="339713" y="74714"/>
                </a:lnTo>
                <a:lnTo>
                  <a:pt x="289666" y="73909"/>
                </a:lnTo>
                <a:lnTo>
                  <a:pt x="239619" y="72280"/>
                </a:lnTo>
                <a:lnTo>
                  <a:pt x="189571" y="69651"/>
                </a:lnTo>
                <a:lnTo>
                  <a:pt x="150854" y="65555"/>
                </a:lnTo>
                <a:lnTo>
                  <a:pt x="112373" y="58968"/>
                </a:lnTo>
                <a:lnTo>
                  <a:pt x="74051" y="51078"/>
                </a:lnTo>
                <a:lnTo>
                  <a:pt x="35807" y="43073"/>
                </a:lnTo>
                <a:lnTo>
                  <a:pt x="8793" y="30826"/>
                </a:lnTo>
                <a:lnTo>
                  <a:pt x="0" y="25900"/>
                </a:lnTo>
                <a:lnTo>
                  <a:pt x="420" y="23856"/>
                </a:lnTo>
                <a:lnTo>
                  <a:pt x="842" y="21811"/>
                </a:lnTo>
                <a:lnTo>
                  <a:pt x="1263" y="19766"/>
                </a:lnTo>
                <a:lnTo>
                  <a:pt x="15468" y="10675"/>
                </a:lnTo>
                <a:lnTo>
                  <a:pt x="30225" y="3769"/>
                </a:lnTo>
                <a:lnTo>
                  <a:pt x="46405" y="159"/>
                </a:lnTo>
                <a:lnTo>
                  <a:pt x="64874" y="958"/>
                </a:lnTo>
                <a:lnTo>
                  <a:pt x="110379" y="7915"/>
                </a:lnTo>
                <a:lnTo>
                  <a:pt x="155922" y="14298"/>
                </a:lnTo>
                <a:lnTo>
                  <a:pt x="201545" y="19530"/>
                </a:lnTo>
                <a:lnTo>
                  <a:pt x="247286" y="23038"/>
                </a:lnTo>
                <a:lnTo>
                  <a:pt x="301057" y="25044"/>
                </a:lnTo>
                <a:lnTo>
                  <a:pt x="354868" y="25593"/>
                </a:lnTo>
                <a:lnTo>
                  <a:pt x="408600" y="24763"/>
                </a:lnTo>
                <a:lnTo>
                  <a:pt x="462134" y="22629"/>
                </a:lnTo>
                <a:lnTo>
                  <a:pt x="505656" y="19007"/>
                </a:lnTo>
                <a:lnTo>
                  <a:pt x="549021" y="13582"/>
                </a:lnTo>
                <a:lnTo>
                  <a:pt x="592228" y="7162"/>
                </a:lnTo>
                <a:lnTo>
                  <a:pt x="635277" y="549"/>
                </a:lnTo>
                <a:lnTo>
                  <a:pt x="651331" y="0"/>
                </a:lnTo>
                <a:lnTo>
                  <a:pt x="665766" y="3206"/>
                </a:lnTo>
                <a:lnTo>
                  <a:pt x="679174" y="9174"/>
                </a:lnTo>
                <a:lnTo>
                  <a:pt x="692148" y="16904"/>
                </a:lnTo>
                <a:lnTo>
                  <a:pt x="696183" y="21217"/>
                </a:lnTo>
                <a:lnTo>
                  <a:pt x="695992" y="25338"/>
                </a:lnTo>
                <a:lnTo>
                  <a:pt x="652760" y="46401"/>
                </a:lnTo>
                <a:lnTo>
                  <a:pt x="590754" y="60872"/>
                </a:lnTo>
                <a:lnTo>
                  <a:pt x="540702" y="68424"/>
                </a:lnTo>
                <a:lnTo>
                  <a:pt x="490334" y="72908"/>
                </a:lnTo>
                <a:lnTo>
                  <a:pt x="439807" y="74557"/>
                </a:lnTo>
                <a:lnTo>
                  <a:pt x="389761" y="74871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83850" y="5425221"/>
            <a:ext cx="697230" cy="73660"/>
          </a:xfrm>
          <a:custGeom>
            <a:avLst/>
            <a:gdLst/>
            <a:ahLst/>
            <a:cxnLst/>
            <a:rect l="l" t="t" r="r" b="b"/>
            <a:pathLst>
              <a:path w="697229" h="73660">
                <a:moveTo>
                  <a:pt x="354164" y="73293"/>
                </a:moveTo>
                <a:lnTo>
                  <a:pt x="307283" y="72724"/>
                </a:lnTo>
                <a:lnTo>
                  <a:pt x="260344" y="71143"/>
                </a:lnTo>
                <a:lnTo>
                  <a:pt x="203526" y="68057"/>
                </a:lnTo>
                <a:lnTo>
                  <a:pt x="147023" y="62710"/>
                </a:lnTo>
                <a:lnTo>
                  <a:pt x="91152" y="53606"/>
                </a:lnTo>
                <a:lnTo>
                  <a:pt x="36228" y="39250"/>
                </a:lnTo>
                <a:lnTo>
                  <a:pt x="9274" y="26429"/>
                </a:lnTo>
                <a:lnTo>
                  <a:pt x="0" y="21669"/>
                </a:lnTo>
                <a:lnTo>
                  <a:pt x="9946" y="10470"/>
                </a:lnTo>
                <a:lnTo>
                  <a:pt x="19536" y="4139"/>
                </a:lnTo>
                <a:lnTo>
                  <a:pt x="29680" y="2178"/>
                </a:lnTo>
                <a:lnTo>
                  <a:pt x="41284" y="4088"/>
                </a:lnTo>
                <a:lnTo>
                  <a:pt x="88026" y="15096"/>
                </a:lnTo>
                <a:lnTo>
                  <a:pt x="135281" y="22845"/>
                </a:lnTo>
                <a:lnTo>
                  <a:pt x="182930" y="28065"/>
                </a:lnTo>
                <a:lnTo>
                  <a:pt x="230856" y="31483"/>
                </a:lnTo>
                <a:lnTo>
                  <a:pt x="284145" y="33976"/>
                </a:lnTo>
                <a:lnTo>
                  <a:pt x="337422" y="35208"/>
                </a:lnTo>
                <a:lnTo>
                  <a:pt x="390676" y="35009"/>
                </a:lnTo>
                <a:lnTo>
                  <a:pt x="443895" y="33209"/>
                </a:lnTo>
                <a:lnTo>
                  <a:pt x="497067" y="29637"/>
                </a:lnTo>
                <a:lnTo>
                  <a:pt x="550180" y="24123"/>
                </a:lnTo>
                <a:lnTo>
                  <a:pt x="604629" y="14821"/>
                </a:lnTo>
                <a:lnTo>
                  <a:pt x="631577" y="9173"/>
                </a:lnTo>
                <a:lnTo>
                  <a:pt x="658447" y="3679"/>
                </a:lnTo>
                <a:lnTo>
                  <a:pt x="663924" y="2861"/>
                </a:lnTo>
                <a:lnTo>
                  <a:pt x="670663" y="0"/>
                </a:lnTo>
                <a:lnTo>
                  <a:pt x="674456" y="2043"/>
                </a:lnTo>
                <a:lnTo>
                  <a:pt x="680498" y="5519"/>
                </a:lnTo>
                <a:lnTo>
                  <a:pt x="686146" y="9607"/>
                </a:lnTo>
                <a:lnTo>
                  <a:pt x="691636" y="14003"/>
                </a:lnTo>
                <a:lnTo>
                  <a:pt x="697204" y="18399"/>
                </a:lnTo>
                <a:lnTo>
                  <a:pt x="690884" y="23713"/>
                </a:lnTo>
                <a:lnTo>
                  <a:pt x="684987" y="30256"/>
                </a:lnTo>
                <a:lnTo>
                  <a:pt x="677404" y="33527"/>
                </a:lnTo>
                <a:lnTo>
                  <a:pt x="610474" y="53153"/>
                </a:lnTo>
                <a:lnTo>
                  <a:pt x="541333" y="62966"/>
                </a:lnTo>
                <a:lnTo>
                  <a:pt x="494570" y="67689"/>
                </a:lnTo>
                <a:lnTo>
                  <a:pt x="447795" y="70901"/>
                </a:lnTo>
                <a:lnTo>
                  <a:pt x="400997" y="72728"/>
                </a:lnTo>
                <a:lnTo>
                  <a:pt x="354164" y="73293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17968" y="3387267"/>
            <a:ext cx="614680" cy="742950"/>
          </a:xfrm>
          <a:custGeom>
            <a:avLst/>
            <a:gdLst/>
            <a:ahLst/>
            <a:cxnLst/>
            <a:rect l="l" t="t" r="r" b="b"/>
            <a:pathLst>
              <a:path w="614679" h="742950">
                <a:moveTo>
                  <a:pt x="612952" y="518172"/>
                </a:moveTo>
                <a:lnTo>
                  <a:pt x="612533" y="516128"/>
                </a:lnTo>
                <a:lnTo>
                  <a:pt x="612533" y="514489"/>
                </a:lnTo>
                <a:lnTo>
                  <a:pt x="612101" y="512445"/>
                </a:lnTo>
                <a:lnTo>
                  <a:pt x="600354" y="506044"/>
                </a:lnTo>
                <a:lnTo>
                  <a:pt x="588200" y="501408"/>
                </a:lnTo>
                <a:lnTo>
                  <a:pt x="575259" y="499224"/>
                </a:lnTo>
                <a:lnTo>
                  <a:pt x="561136" y="500176"/>
                </a:lnTo>
                <a:lnTo>
                  <a:pt x="541159" y="503859"/>
                </a:lnTo>
                <a:lnTo>
                  <a:pt x="521055" y="507276"/>
                </a:lnTo>
                <a:lnTo>
                  <a:pt x="480669" y="511632"/>
                </a:lnTo>
                <a:lnTo>
                  <a:pt x="434365" y="513715"/>
                </a:lnTo>
                <a:lnTo>
                  <a:pt x="388010" y="515785"/>
                </a:lnTo>
                <a:lnTo>
                  <a:pt x="341630" y="517423"/>
                </a:lnTo>
                <a:lnTo>
                  <a:pt x="295275" y="518223"/>
                </a:lnTo>
                <a:lnTo>
                  <a:pt x="248970" y="517766"/>
                </a:lnTo>
                <a:lnTo>
                  <a:pt x="198805" y="515175"/>
                </a:lnTo>
                <a:lnTo>
                  <a:pt x="148755" y="510552"/>
                </a:lnTo>
                <a:lnTo>
                  <a:pt x="98793" y="504939"/>
                </a:lnTo>
                <a:lnTo>
                  <a:pt x="48869" y="499364"/>
                </a:lnTo>
                <a:lnTo>
                  <a:pt x="35750" y="499440"/>
                </a:lnTo>
                <a:lnTo>
                  <a:pt x="23850" y="502119"/>
                </a:lnTo>
                <a:lnTo>
                  <a:pt x="12674" y="506488"/>
                </a:lnTo>
                <a:lnTo>
                  <a:pt x="1689" y="511632"/>
                </a:lnTo>
                <a:lnTo>
                  <a:pt x="1689" y="514489"/>
                </a:lnTo>
                <a:lnTo>
                  <a:pt x="838" y="516128"/>
                </a:lnTo>
                <a:lnTo>
                  <a:pt x="7975" y="519112"/>
                </a:lnTo>
                <a:lnTo>
                  <a:pt x="14960" y="522211"/>
                </a:lnTo>
                <a:lnTo>
                  <a:pt x="21932" y="524916"/>
                </a:lnTo>
                <a:lnTo>
                  <a:pt x="81305" y="537032"/>
                </a:lnTo>
                <a:lnTo>
                  <a:pt x="133540" y="543928"/>
                </a:lnTo>
                <a:lnTo>
                  <a:pt x="179844" y="546455"/>
                </a:lnTo>
                <a:lnTo>
                  <a:pt x="226199" y="548525"/>
                </a:lnTo>
                <a:lnTo>
                  <a:pt x="272580" y="549986"/>
                </a:lnTo>
                <a:lnTo>
                  <a:pt x="318947" y="550697"/>
                </a:lnTo>
                <a:lnTo>
                  <a:pt x="365239" y="550468"/>
                </a:lnTo>
                <a:lnTo>
                  <a:pt x="410743" y="548500"/>
                </a:lnTo>
                <a:lnTo>
                  <a:pt x="456234" y="544842"/>
                </a:lnTo>
                <a:lnTo>
                  <a:pt x="501738" y="540118"/>
                </a:lnTo>
                <a:lnTo>
                  <a:pt x="547230" y="534936"/>
                </a:lnTo>
                <a:lnTo>
                  <a:pt x="596582" y="522859"/>
                </a:lnTo>
                <a:lnTo>
                  <a:pt x="612952" y="518172"/>
                </a:lnTo>
                <a:close/>
              </a:path>
              <a:path w="614679" h="742950">
                <a:moveTo>
                  <a:pt x="613791" y="689076"/>
                </a:moveTo>
                <a:lnTo>
                  <a:pt x="613194" y="654735"/>
                </a:lnTo>
                <a:lnTo>
                  <a:pt x="613105" y="620382"/>
                </a:lnTo>
                <a:lnTo>
                  <a:pt x="613257" y="586041"/>
                </a:lnTo>
                <a:lnTo>
                  <a:pt x="613371" y="551700"/>
                </a:lnTo>
                <a:lnTo>
                  <a:pt x="613371" y="546785"/>
                </a:lnTo>
                <a:lnTo>
                  <a:pt x="612952" y="542290"/>
                </a:lnTo>
                <a:lnTo>
                  <a:pt x="612952" y="541070"/>
                </a:lnTo>
                <a:lnTo>
                  <a:pt x="561797" y="550164"/>
                </a:lnTo>
                <a:lnTo>
                  <a:pt x="510705" y="557618"/>
                </a:lnTo>
                <a:lnTo>
                  <a:pt x="459663" y="563422"/>
                </a:lnTo>
                <a:lnTo>
                  <a:pt x="408647" y="567588"/>
                </a:lnTo>
                <a:lnTo>
                  <a:pt x="357657" y="570077"/>
                </a:lnTo>
                <a:lnTo>
                  <a:pt x="306679" y="570915"/>
                </a:lnTo>
                <a:lnTo>
                  <a:pt x="255714" y="570077"/>
                </a:lnTo>
                <a:lnTo>
                  <a:pt x="204724" y="567563"/>
                </a:lnTo>
                <a:lnTo>
                  <a:pt x="153708" y="563372"/>
                </a:lnTo>
                <a:lnTo>
                  <a:pt x="102666" y="557491"/>
                </a:lnTo>
                <a:lnTo>
                  <a:pt x="51574" y="549922"/>
                </a:lnTo>
                <a:lnTo>
                  <a:pt x="419" y="540651"/>
                </a:lnTo>
                <a:lnTo>
                  <a:pt x="419" y="547204"/>
                </a:lnTo>
                <a:lnTo>
                  <a:pt x="0" y="552107"/>
                </a:lnTo>
                <a:lnTo>
                  <a:pt x="0" y="682129"/>
                </a:lnTo>
                <a:lnTo>
                  <a:pt x="25273" y="716064"/>
                </a:lnTo>
                <a:lnTo>
                  <a:pt x="30327" y="717296"/>
                </a:lnTo>
                <a:lnTo>
                  <a:pt x="32854" y="718108"/>
                </a:lnTo>
                <a:lnTo>
                  <a:pt x="81800" y="728472"/>
                </a:lnTo>
                <a:lnTo>
                  <a:pt x="131229" y="735076"/>
                </a:lnTo>
                <a:lnTo>
                  <a:pt x="180962" y="738924"/>
                </a:lnTo>
                <a:lnTo>
                  <a:pt x="230860" y="741006"/>
                </a:lnTo>
                <a:lnTo>
                  <a:pt x="284429" y="742276"/>
                </a:lnTo>
                <a:lnTo>
                  <a:pt x="337972" y="742403"/>
                </a:lnTo>
                <a:lnTo>
                  <a:pt x="391426" y="741032"/>
                </a:lnTo>
                <a:lnTo>
                  <a:pt x="444766" y="737831"/>
                </a:lnTo>
                <a:lnTo>
                  <a:pt x="497941" y="732421"/>
                </a:lnTo>
                <a:lnTo>
                  <a:pt x="546963" y="723938"/>
                </a:lnTo>
                <a:lnTo>
                  <a:pt x="571334" y="718731"/>
                </a:lnTo>
                <a:lnTo>
                  <a:pt x="595680" y="713613"/>
                </a:lnTo>
                <a:lnTo>
                  <a:pt x="603897" y="710590"/>
                </a:lnTo>
                <a:lnTo>
                  <a:pt x="609625" y="705637"/>
                </a:lnTo>
                <a:lnTo>
                  <a:pt x="612914" y="698550"/>
                </a:lnTo>
                <a:lnTo>
                  <a:pt x="613791" y="689076"/>
                </a:lnTo>
                <a:close/>
              </a:path>
              <a:path w="614679" h="742950">
                <a:moveTo>
                  <a:pt x="613791" y="38963"/>
                </a:moveTo>
                <a:lnTo>
                  <a:pt x="613371" y="36918"/>
                </a:lnTo>
                <a:lnTo>
                  <a:pt x="612521" y="34874"/>
                </a:lnTo>
                <a:lnTo>
                  <a:pt x="606628" y="32423"/>
                </a:lnTo>
                <a:lnTo>
                  <a:pt x="601154" y="28740"/>
                </a:lnTo>
                <a:lnTo>
                  <a:pt x="594829" y="27520"/>
                </a:lnTo>
                <a:lnTo>
                  <a:pt x="559435" y="20955"/>
                </a:lnTo>
                <a:lnTo>
                  <a:pt x="524002" y="14274"/>
                </a:lnTo>
                <a:lnTo>
                  <a:pt x="452869" y="5029"/>
                </a:lnTo>
                <a:lnTo>
                  <a:pt x="406819" y="2489"/>
                </a:lnTo>
                <a:lnTo>
                  <a:pt x="360705" y="787"/>
                </a:lnTo>
                <a:lnTo>
                  <a:pt x="314579" y="0"/>
                </a:lnTo>
                <a:lnTo>
                  <a:pt x="268478" y="165"/>
                </a:lnTo>
                <a:lnTo>
                  <a:pt x="222427" y="1346"/>
                </a:lnTo>
                <a:lnTo>
                  <a:pt x="175983" y="4495"/>
                </a:lnTo>
                <a:lnTo>
                  <a:pt x="129540" y="9626"/>
                </a:lnTo>
                <a:lnTo>
                  <a:pt x="83096" y="15836"/>
                </a:lnTo>
                <a:lnTo>
                  <a:pt x="36652" y="22199"/>
                </a:lnTo>
                <a:lnTo>
                  <a:pt x="9512" y="31000"/>
                </a:lnTo>
                <a:lnTo>
                  <a:pt x="419" y="34467"/>
                </a:lnTo>
                <a:lnTo>
                  <a:pt x="419" y="36106"/>
                </a:lnTo>
                <a:lnTo>
                  <a:pt x="838" y="38150"/>
                </a:lnTo>
                <a:lnTo>
                  <a:pt x="838" y="39789"/>
                </a:lnTo>
                <a:lnTo>
                  <a:pt x="11595" y="43561"/>
                </a:lnTo>
                <a:lnTo>
                  <a:pt x="22377" y="47599"/>
                </a:lnTo>
                <a:lnTo>
                  <a:pt x="33248" y="51117"/>
                </a:lnTo>
                <a:lnTo>
                  <a:pt x="91554" y="59283"/>
                </a:lnTo>
                <a:lnTo>
                  <a:pt x="138811" y="65138"/>
                </a:lnTo>
                <a:lnTo>
                  <a:pt x="186055" y="70065"/>
                </a:lnTo>
                <a:lnTo>
                  <a:pt x="233387" y="73317"/>
                </a:lnTo>
                <a:lnTo>
                  <a:pt x="284746" y="75095"/>
                </a:lnTo>
                <a:lnTo>
                  <a:pt x="336016" y="75438"/>
                </a:lnTo>
                <a:lnTo>
                  <a:pt x="387197" y="74180"/>
                </a:lnTo>
                <a:lnTo>
                  <a:pt x="438277" y="71196"/>
                </a:lnTo>
                <a:lnTo>
                  <a:pt x="489242" y="66319"/>
                </a:lnTo>
                <a:lnTo>
                  <a:pt x="540067" y="59410"/>
                </a:lnTo>
                <a:lnTo>
                  <a:pt x="595464" y="46304"/>
                </a:lnTo>
                <a:lnTo>
                  <a:pt x="613791" y="41414"/>
                </a:lnTo>
                <a:lnTo>
                  <a:pt x="613791" y="38963"/>
                </a:lnTo>
                <a:close/>
              </a:path>
              <a:path w="614679" h="742950">
                <a:moveTo>
                  <a:pt x="614210" y="211099"/>
                </a:moveTo>
                <a:lnTo>
                  <a:pt x="613613" y="177431"/>
                </a:lnTo>
                <a:lnTo>
                  <a:pt x="613524" y="143840"/>
                </a:lnTo>
                <a:lnTo>
                  <a:pt x="613676" y="110248"/>
                </a:lnTo>
                <a:lnTo>
                  <a:pt x="613791" y="76581"/>
                </a:lnTo>
                <a:lnTo>
                  <a:pt x="613791" y="63906"/>
                </a:lnTo>
                <a:lnTo>
                  <a:pt x="562533" y="73190"/>
                </a:lnTo>
                <a:lnTo>
                  <a:pt x="511340" y="80797"/>
                </a:lnTo>
                <a:lnTo>
                  <a:pt x="460197" y="86728"/>
                </a:lnTo>
                <a:lnTo>
                  <a:pt x="409079" y="90982"/>
                </a:lnTo>
                <a:lnTo>
                  <a:pt x="358000" y="93548"/>
                </a:lnTo>
                <a:lnTo>
                  <a:pt x="306946" y="94424"/>
                </a:lnTo>
                <a:lnTo>
                  <a:pt x="255892" y="93599"/>
                </a:lnTo>
                <a:lnTo>
                  <a:pt x="204851" y="91071"/>
                </a:lnTo>
                <a:lnTo>
                  <a:pt x="153784" y="86842"/>
                </a:lnTo>
                <a:lnTo>
                  <a:pt x="102692" y="80911"/>
                </a:lnTo>
                <a:lnTo>
                  <a:pt x="51574" y="73266"/>
                </a:lnTo>
                <a:lnTo>
                  <a:pt x="419" y="63906"/>
                </a:lnTo>
                <a:lnTo>
                  <a:pt x="419" y="70446"/>
                </a:lnTo>
                <a:lnTo>
                  <a:pt x="838" y="75349"/>
                </a:lnTo>
                <a:lnTo>
                  <a:pt x="838" y="196380"/>
                </a:lnTo>
                <a:lnTo>
                  <a:pt x="1435" y="217805"/>
                </a:lnTo>
                <a:lnTo>
                  <a:pt x="38760" y="242176"/>
                </a:lnTo>
                <a:lnTo>
                  <a:pt x="88277" y="252056"/>
                </a:lnTo>
                <a:lnTo>
                  <a:pt x="138188" y="258597"/>
                </a:lnTo>
                <a:lnTo>
                  <a:pt x="188353" y="262496"/>
                </a:lnTo>
                <a:lnTo>
                  <a:pt x="238658" y="264426"/>
                </a:lnTo>
                <a:lnTo>
                  <a:pt x="288988" y="265074"/>
                </a:lnTo>
                <a:lnTo>
                  <a:pt x="339229" y="264591"/>
                </a:lnTo>
                <a:lnTo>
                  <a:pt x="389458" y="262724"/>
                </a:lnTo>
                <a:lnTo>
                  <a:pt x="439699" y="259791"/>
                </a:lnTo>
                <a:lnTo>
                  <a:pt x="489940" y="256082"/>
                </a:lnTo>
                <a:lnTo>
                  <a:pt x="542759" y="247802"/>
                </a:lnTo>
                <a:lnTo>
                  <a:pt x="569023" y="242049"/>
                </a:lnTo>
                <a:lnTo>
                  <a:pt x="595249" y="236448"/>
                </a:lnTo>
                <a:lnTo>
                  <a:pt x="603961" y="233413"/>
                </a:lnTo>
                <a:lnTo>
                  <a:pt x="609942" y="228384"/>
                </a:lnTo>
                <a:lnTo>
                  <a:pt x="613321" y="221043"/>
                </a:lnTo>
                <a:lnTo>
                  <a:pt x="614210" y="211099"/>
                </a:lnTo>
                <a:close/>
              </a:path>
              <a:path w="614679" h="742950">
                <a:moveTo>
                  <a:pt x="614629" y="449478"/>
                </a:moveTo>
                <a:lnTo>
                  <a:pt x="614210" y="414451"/>
                </a:lnTo>
                <a:lnTo>
                  <a:pt x="614108" y="379349"/>
                </a:lnTo>
                <a:lnTo>
                  <a:pt x="614210" y="309232"/>
                </a:lnTo>
                <a:lnTo>
                  <a:pt x="614210" y="304736"/>
                </a:lnTo>
                <a:lnTo>
                  <a:pt x="613371" y="300647"/>
                </a:lnTo>
                <a:lnTo>
                  <a:pt x="613371" y="299834"/>
                </a:lnTo>
                <a:lnTo>
                  <a:pt x="562216" y="308927"/>
                </a:lnTo>
                <a:lnTo>
                  <a:pt x="511098" y="316407"/>
                </a:lnTo>
                <a:lnTo>
                  <a:pt x="460019" y="322249"/>
                </a:lnTo>
                <a:lnTo>
                  <a:pt x="408978" y="326440"/>
                </a:lnTo>
                <a:lnTo>
                  <a:pt x="357949" y="328968"/>
                </a:lnTo>
                <a:lnTo>
                  <a:pt x="306946" y="329831"/>
                </a:lnTo>
                <a:lnTo>
                  <a:pt x="255955" y="329018"/>
                </a:lnTo>
                <a:lnTo>
                  <a:pt x="204952" y="326517"/>
                </a:lnTo>
                <a:lnTo>
                  <a:pt x="153949" y="322313"/>
                </a:lnTo>
                <a:lnTo>
                  <a:pt x="102946" y="316395"/>
                </a:lnTo>
                <a:lnTo>
                  <a:pt x="51904" y="308775"/>
                </a:lnTo>
                <a:lnTo>
                  <a:pt x="838" y="299415"/>
                </a:lnTo>
                <a:lnTo>
                  <a:pt x="850" y="333019"/>
                </a:lnTo>
                <a:lnTo>
                  <a:pt x="1016" y="402221"/>
                </a:lnTo>
                <a:lnTo>
                  <a:pt x="1739" y="455079"/>
                </a:lnTo>
                <a:lnTo>
                  <a:pt x="34544" y="476872"/>
                </a:lnTo>
                <a:lnTo>
                  <a:pt x="37071" y="477685"/>
                </a:lnTo>
                <a:lnTo>
                  <a:pt x="39598" y="478104"/>
                </a:lnTo>
                <a:lnTo>
                  <a:pt x="87604" y="487616"/>
                </a:lnTo>
                <a:lnTo>
                  <a:pt x="135991" y="494017"/>
                </a:lnTo>
                <a:lnTo>
                  <a:pt x="184645" y="497916"/>
                </a:lnTo>
                <a:lnTo>
                  <a:pt x="233438" y="499897"/>
                </a:lnTo>
                <a:lnTo>
                  <a:pt x="282257" y="500583"/>
                </a:lnTo>
                <a:lnTo>
                  <a:pt x="333184" y="499999"/>
                </a:lnTo>
                <a:lnTo>
                  <a:pt x="384200" y="498284"/>
                </a:lnTo>
                <a:lnTo>
                  <a:pt x="435216" y="495579"/>
                </a:lnTo>
                <a:lnTo>
                  <a:pt x="486143" y="491998"/>
                </a:lnTo>
                <a:lnTo>
                  <a:pt x="542759" y="483412"/>
                </a:lnTo>
                <a:lnTo>
                  <a:pt x="599046" y="471144"/>
                </a:lnTo>
                <a:lnTo>
                  <a:pt x="613803" y="457695"/>
                </a:lnTo>
                <a:lnTo>
                  <a:pt x="614629" y="449478"/>
                </a:lnTo>
                <a:close/>
              </a:path>
              <a:path w="614679" h="742950">
                <a:moveTo>
                  <a:pt x="614629" y="272846"/>
                </a:moveTo>
                <a:lnTo>
                  <a:pt x="614210" y="270395"/>
                </a:lnTo>
                <a:lnTo>
                  <a:pt x="614210" y="267525"/>
                </a:lnTo>
                <a:lnTo>
                  <a:pt x="604989" y="265531"/>
                </a:lnTo>
                <a:lnTo>
                  <a:pt x="595680" y="263232"/>
                </a:lnTo>
                <a:lnTo>
                  <a:pt x="586371" y="261543"/>
                </a:lnTo>
                <a:lnTo>
                  <a:pt x="577138" y="261391"/>
                </a:lnTo>
                <a:lnTo>
                  <a:pt x="539216" y="266103"/>
                </a:lnTo>
                <a:lnTo>
                  <a:pt x="501256" y="271462"/>
                </a:lnTo>
                <a:lnTo>
                  <a:pt x="463219" y="276288"/>
                </a:lnTo>
                <a:lnTo>
                  <a:pt x="425056" y="279387"/>
                </a:lnTo>
                <a:lnTo>
                  <a:pt x="373418" y="281355"/>
                </a:lnTo>
                <a:lnTo>
                  <a:pt x="321589" y="282295"/>
                </a:lnTo>
                <a:lnTo>
                  <a:pt x="269671" y="282092"/>
                </a:lnTo>
                <a:lnTo>
                  <a:pt x="217792" y="280606"/>
                </a:lnTo>
                <a:lnTo>
                  <a:pt x="174205" y="277672"/>
                </a:lnTo>
                <a:lnTo>
                  <a:pt x="130644" y="272999"/>
                </a:lnTo>
                <a:lnTo>
                  <a:pt x="87172" y="267335"/>
                </a:lnTo>
                <a:lnTo>
                  <a:pt x="43815" y="261391"/>
                </a:lnTo>
                <a:lnTo>
                  <a:pt x="31991" y="260997"/>
                </a:lnTo>
                <a:lnTo>
                  <a:pt x="21323" y="262826"/>
                </a:lnTo>
                <a:lnTo>
                  <a:pt x="11049" y="266801"/>
                </a:lnTo>
                <a:lnTo>
                  <a:pt x="419" y="272846"/>
                </a:lnTo>
                <a:lnTo>
                  <a:pt x="8839" y="276936"/>
                </a:lnTo>
                <a:lnTo>
                  <a:pt x="15582" y="281432"/>
                </a:lnTo>
                <a:lnTo>
                  <a:pt x="22745" y="282651"/>
                </a:lnTo>
                <a:lnTo>
                  <a:pt x="48107" y="287718"/>
                </a:lnTo>
                <a:lnTo>
                  <a:pt x="73609" y="292773"/>
                </a:lnTo>
                <a:lnTo>
                  <a:pt x="125120" y="301053"/>
                </a:lnTo>
                <a:lnTo>
                  <a:pt x="176936" y="306057"/>
                </a:lnTo>
                <a:lnTo>
                  <a:pt x="228777" y="309295"/>
                </a:lnTo>
                <a:lnTo>
                  <a:pt x="280657" y="310769"/>
                </a:lnTo>
                <a:lnTo>
                  <a:pt x="332600" y="310476"/>
                </a:lnTo>
                <a:lnTo>
                  <a:pt x="384619" y="308419"/>
                </a:lnTo>
                <a:lnTo>
                  <a:pt x="427520" y="305460"/>
                </a:lnTo>
                <a:lnTo>
                  <a:pt x="470293" y="301612"/>
                </a:lnTo>
                <a:lnTo>
                  <a:pt x="512991" y="297091"/>
                </a:lnTo>
                <a:lnTo>
                  <a:pt x="555650" y="292061"/>
                </a:lnTo>
                <a:lnTo>
                  <a:pt x="599909" y="280327"/>
                </a:lnTo>
                <a:lnTo>
                  <a:pt x="614629" y="275704"/>
                </a:lnTo>
                <a:lnTo>
                  <a:pt x="614629" y="272846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20058" y="3384663"/>
            <a:ext cx="617855" cy="744855"/>
          </a:xfrm>
          <a:custGeom>
            <a:avLst/>
            <a:gdLst/>
            <a:ahLst/>
            <a:cxnLst/>
            <a:rect l="l" t="t" r="r" b="b"/>
            <a:pathLst>
              <a:path w="617854" h="744854">
                <a:moveTo>
                  <a:pt x="615581" y="621106"/>
                </a:moveTo>
                <a:lnTo>
                  <a:pt x="615530" y="581774"/>
                </a:lnTo>
                <a:lnTo>
                  <a:pt x="615467" y="543255"/>
                </a:lnTo>
                <a:lnTo>
                  <a:pt x="564311" y="552437"/>
                </a:lnTo>
                <a:lnTo>
                  <a:pt x="513194" y="559955"/>
                </a:lnTo>
                <a:lnTo>
                  <a:pt x="462114" y="565797"/>
                </a:lnTo>
                <a:lnTo>
                  <a:pt x="411060" y="569976"/>
                </a:lnTo>
                <a:lnTo>
                  <a:pt x="360019" y="572477"/>
                </a:lnTo>
                <a:lnTo>
                  <a:pt x="309003" y="573316"/>
                </a:lnTo>
                <a:lnTo>
                  <a:pt x="257975" y="572477"/>
                </a:lnTo>
                <a:lnTo>
                  <a:pt x="206933" y="569976"/>
                </a:lnTo>
                <a:lnTo>
                  <a:pt x="155879" y="565797"/>
                </a:lnTo>
                <a:lnTo>
                  <a:pt x="104800" y="559955"/>
                </a:lnTo>
                <a:lnTo>
                  <a:pt x="53682" y="552437"/>
                </a:lnTo>
                <a:lnTo>
                  <a:pt x="2527" y="543255"/>
                </a:lnTo>
                <a:lnTo>
                  <a:pt x="2514" y="576262"/>
                </a:lnTo>
                <a:lnTo>
                  <a:pt x="2463" y="610057"/>
                </a:lnTo>
                <a:lnTo>
                  <a:pt x="2349" y="644398"/>
                </a:lnTo>
                <a:lnTo>
                  <a:pt x="2095" y="679005"/>
                </a:lnTo>
                <a:lnTo>
                  <a:pt x="2603" y="697649"/>
                </a:lnTo>
                <a:lnTo>
                  <a:pt x="34112" y="719899"/>
                </a:lnTo>
                <a:lnTo>
                  <a:pt x="83070" y="730262"/>
                </a:lnTo>
                <a:lnTo>
                  <a:pt x="132486" y="736866"/>
                </a:lnTo>
                <a:lnTo>
                  <a:pt x="182219" y="740714"/>
                </a:lnTo>
                <a:lnTo>
                  <a:pt x="232117" y="742797"/>
                </a:lnTo>
                <a:lnTo>
                  <a:pt x="285699" y="744093"/>
                </a:lnTo>
                <a:lnTo>
                  <a:pt x="339229" y="744308"/>
                </a:lnTo>
                <a:lnTo>
                  <a:pt x="392696" y="743000"/>
                </a:lnTo>
                <a:lnTo>
                  <a:pt x="446024" y="739775"/>
                </a:lnTo>
                <a:lnTo>
                  <a:pt x="499198" y="734199"/>
                </a:lnTo>
                <a:lnTo>
                  <a:pt x="550329" y="725208"/>
                </a:lnTo>
                <a:lnTo>
                  <a:pt x="601154" y="713765"/>
                </a:lnTo>
                <a:lnTo>
                  <a:pt x="606628" y="712533"/>
                </a:lnTo>
                <a:lnTo>
                  <a:pt x="615048" y="705586"/>
                </a:lnTo>
                <a:lnTo>
                  <a:pt x="615048" y="701090"/>
                </a:lnTo>
                <a:lnTo>
                  <a:pt x="615467" y="660958"/>
                </a:lnTo>
                <a:lnTo>
                  <a:pt x="615581" y="621106"/>
                </a:lnTo>
                <a:close/>
              </a:path>
              <a:path w="617854" h="744854">
                <a:moveTo>
                  <a:pt x="615899" y="449630"/>
                </a:moveTo>
                <a:lnTo>
                  <a:pt x="615111" y="429628"/>
                </a:lnTo>
                <a:lnTo>
                  <a:pt x="615048" y="409511"/>
                </a:lnTo>
                <a:lnTo>
                  <a:pt x="615302" y="389318"/>
                </a:lnTo>
                <a:lnTo>
                  <a:pt x="615467" y="369074"/>
                </a:lnTo>
                <a:lnTo>
                  <a:pt x="615467" y="302018"/>
                </a:lnTo>
                <a:lnTo>
                  <a:pt x="564222" y="311391"/>
                </a:lnTo>
                <a:lnTo>
                  <a:pt x="513054" y="319036"/>
                </a:lnTo>
                <a:lnTo>
                  <a:pt x="461937" y="324967"/>
                </a:lnTo>
                <a:lnTo>
                  <a:pt x="410857" y="329196"/>
                </a:lnTo>
                <a:lnTo>
                  <a:pt x="359816" y="331711"/>
                </a:lnTo>
                <a:lnTo>
                  <a:pt x="308787" y="332536"/>
                </a:lnTo>
                <a:lnTo>
                  <a:pt x="257759" y="331660"/>
                </a:lnTo>
                <a:lnTo>
                  <a:pt x="206717" y="329095"/>
                </a:lnTo>
                <a:lnTo>
                  <a:pt x="155638" y="324853"/>
                </a:lnTo>
                <a:lnTo>
                  <a:pt x="104521" y="318922"/>
                </a:lnTo>
                <a:lnTo>
                  <a:pt x="53352" y="311302"/>
                </a:lnTo>
                <a:lnTo>
                  <a:pt x="2095" y="302018"/>
                </a:lnTo>
                <a:lnTo>
                  <a:pt x="2095" y="433273"/>
                </a:lnTo>
                <a:lnTo>
                  <a:pt x="18630" y="475246"/>
                </a:lnTo>
                <a:lnTo>
                  <a:pt x="89281" y="490435"/>
                </a:lnTo>
                <a:lnTo>
                  <a:pt x="137668" y="496709"/>
                </a:lnTo>
                <a:lnTo>
                  <a:pt x="186321" y="500545"/>
                </a:lnTo>
                <a:lnTo>
                  <a:pt x="235115" y="502500"/>
                </a:lnTo>
                <a:lnTo>
                  <a:pt x="283933" y="503186"/>
                </a:lnTo>
                <a:lnTo>
                  <a:pt x="334556" y="502831"/>
                </a:lnTo>
                <a:lnTo>
                  <a:pt x="385241" y="501243"/>
                </a:lnTo>
                <a:lnTo>
                  <a:pt x="435940" y="498589"/>
                </a:lnTo>
                <a:lnTo>
                  <a:pt x="486562" y="495020"/>
                </a:lnTo>
                <a:lnTo>
                  <a:pt x="541693" y="486676"/>
                </a:lnTo>
                <a:lnTo>
                  <a:pt x="569087" y="480809"/>
                </a:lnTo>
                <a:lnTo>
                  <a:pt x="596519" y="474980"/>
                </a:lnTo>
                <a:lnTo>
                  <a:pt x="605523" y="471932"/>
                </a:lnTo>
                <a:lnTo>
                  <a:pt x="611733" y="466902"/>
                </a:lnTo>
                <a:lnTo>
                  <a:pt x="615175" y="459574"/>
                </a:lnTo>
                <a:lnTo>
                  <a:pt x="615899" y="449630"/>
                </a:lnTo>
                <a:close/>
              </a:path>
              <a:path w="617854" h="744854">
                <a:moveTo>
                  <a:pt x="615950" y="144145"/>
                </a:moveTo>
                <a:lnTo>
                  <a:pt x="615937" y="104965"/>
                </a:lnTo>
                <a:lnTo>
                  <a:pt x="615899" y="66509"/>
                </a:lnTo>
                <a:lnTo>
                  <a:pt x="564832" y="75869"/>
                </a:lnTo>
                <a:lnTo>
                  <a:pt x="513791" y="83489"/>
                </a:lnTo>
                <a:lnTo>
                  <a:pt x="462762" y="89395"/>
                </a:lnTo>
                <a:lnTo>
                  <a:pt x="411746" y="93599"/>
                </a:lnTo>
                <a:lnTo>
                  <a:pt x="360718" y="96100"/>
                </a:lnTo>
                <a:lnTo>
                  <a:pt x="309676" y="96926"/>
                </a:lnTo>
                <a:lnTo>
                  <a:pt x="258610" y="96062"/>
                </a:lnTo>
                <a:lnTo>
                  <a:pt x="207505" y="93522"/>
                </a:lnTo>
                <a:lnTo>
                  <a:pt x="156362" y="89331"/>
                </a:lnTo>
                <a:lnTo>
                  <a:pt x="105156" y="83502"/>
                </a:lnTo>
                <a:lnTo>
                  <a:pt x="53873" y="76022"/>
                </a:lnTo>
                <a:lnTo>
                  <a:pt x="2527" y="66916"/>
                </a:lnTo>
                <a:lnTo>
                  <a:pt x="2527" y="200621"/>
                </a:lnTo>
                <a:lnTo>
                  <a:pt x="3086" y="221322"/>
                </a:lnTo>
                <a:lnTo>
                  <a:pt x="6997" y="232867"/>
                </a:lnTo>
                <a:lnTo>
                  <a:pt x="17627" y="239433"/>
                </a:lnTo>
                <a:lnTo>
                  <a:pt x="38328" y="245186"/>
                </a:lnTo>
                <a:lnTo>
                  <a:pt x="39166" y="245592"/>
                </a:lnTo>
                <a:lnTo>
                  <a:pt x="40017" y="245592"/>
                </a:lnTo>
                <a:lnTo>
                  <a:pt x="89535" y="255358"/>
                </a:lnTo>
                <a:lnTo>
                  <a:pt x="139446" y="261962"/>
                </a:lnTo>
                <a:lnTo>
                  <a:pt x="189611" y="265976"/>
                </a:lnTo>
                <a:lnTo>
                  <a:pt x="239915" y="267957"/>
                </a:lnTo>
                <a:lnTo>
                  <a:pt x="290245" y="268490"/>
                </a:lnTo>
                <a:lnTo>
                  <a:pt x="346557" y="267271"/>
                </a:lnTo>
                <a:lnTo>
                  <a:pt x="402945" y="264566"/>
                </a:lnTo>
                <a:lnTo>
                  <a:pt x="459320" y="260845"/>
                </a:lnTo>
                <a:lnTo>
                  <a:pt x="515632" y="256641"/>
                </a:lnTo>
                <a:lnTo>
                  <a:pt x="558342" y="249275"/>
                </a:lnTo>
                <a:lnTo>
                  <a:pt x="600722" y="238239"/>
                </a:lnTo>
                <a:lnTo>
                  <a:pt x="615048" y="228841"/>
                </a:lnTo>
                <a:lnTo>
                  <a:pt x="615048" y="223926"/>
                </a:lnTo>
                <a:lnTo>
                  <a:pt x="615721" y="183870"/>
                </a:lnTo>
                <a:lnTo>
                  <a:pt x="615950" y="144145"/>
                </a:lnTo>
                <a:close/>
              </a:path>
              <a:path w="617854" h="744854">
                <a:moveTo>
                  <a:pt x="616737" y="517499"/>
                </a:moveTo>
                <a:lnTo>
                  <a:pt x="578624" y="501002"/>
                </a:lnTo>
                <a:lnTo>
                  <a:pt x="564502" y="502373"/>
                </a:lnTo>
                <a:lnTo>
                  <a:pt x="556221" y="504075"/>
                </a:lnTo>
                <a:lnTo>
                  <a:pt x="547852" y="505536"/>
                </a:lnTo>
                <a:lnTo>
                  <a:pt x="481672" y="513969"/>
                </a:lnTo>
                <a:lnTo>
                  <a:pt x="432104" y="518007"/>
                </a:lnTo>
                <a:lnTo>
                  <a:pt x="382498" y="520407"/>
                </a:lnTo>
                <a:lnTo>
                  <a:pt x="332841" y="521385"/>
                </a:lnTo>
                <a:lnTo>
                  <a:pt x="283083" y="521182"/>
                </a:lnTo>
                <a:lnTo>
                  <a:pt x="236080" y="520039"/>
                </a:lnTo>
                <a:lnTo>
                  <a:pt x="189141" y="517867"/>
                </a:lnTo>
                <a:lnTo>
                  <a:pt x="142316" y="514286"/>
                </a:lnTo>
                <a:lnTo>
                  <a:pt x="95681" y="508977"/>
                </a:lnTo>
                <a:lnTo>
                  <a:pt x="49288" y="501561"/>
                </a:lnTo>
                <a:lnTo>
                  <a:pt x="36855" y="501332"/>
                </a:lnTo>
                <a:lnTo>
                  <a:pt x="25057" y="504367"/>
                </a:lnTo>
                <a:lnTo>
                  <a:pt x="13271" y="509778"/>
                </a:lnTo>
                <a:lnTo>
                  <a:pt x="838" y="516686"/>
                </a:lnTo>
                <a:lnTo>
                  <a:pt x="9918" y="520382"/>
                </a:lnTo>
                <a:lnTo>
                  <a:pt x="17894" y="523836"/>
                </a:lnTo>
                <a:lnTo>
                  <a:pt x="58724" y="533692"/>
                </a:lnTo>
                <a:lnTo>
                  <a:pt x="111633" y="543090"/>
                </a:lnTo>
                <a:lnTo>
                  <a:pt x="184175" y="548322"/>
                </a:lnTo>
                <a:lnTo>
                  <a:pt x="230174" y="550545"/>
                </a:lnTo>
                <a:lnTo>
                  <a:pt x="276174" y="552132"/>
                </a:lnTo>
                <a:lnTo>
                  <a:pt x="322186" y="552792"/>
                </a:lnTo>
                <a:lnTo>
                  <a:pt x="368185" y="552259"/>
                </a:lnTo>
                <a:lnTo>
                  <a:pt x="417461" y="549795"/>
                </a:lnTo>
                <a:lnTo>
                  <a:pt x="466712" y="545401"/>
                </a:lnTo>
                <a:lnTo>
                  <a:pt x="515874" y="539953"/>
                </a:lnTo>
                <a:lnTo>
                  <a:pt x="564921" y="534263"/>
                </a:lnTo>
                <a:lnTo>
                  <a:pt x="603846" y="523455"/>
                </a:lnTo>
                <a:lnTo>
                  <a:pt x="616737" y="519137"/>
                </a:lnTo>
                <a:lnTo>
                  <a:pt x="616737" y="517499"/>
                </a:lnTo>
                <a:close/>
              </a:path>
              <a:path w="617854" h="744854">
                <a:moveTo>
                  <a:pt x="616737" y="41567"/>
                </a:moveTo>
                <a:lnTo>
                  <a:pt x="616318" y="39522"/>
                </a:lnTo>
                <a:lnTo>
                  <a:pt x="616318" y="35026"/>
                </a:lnTo>
                <a:lnTo>
                  <a:pt x="604608" y="31242"/>
                </a:lnTo>
                <a:lnTo>
                  <a:pt x="518464" y="15189"/>
                </a:lnTo>
                <a:lnTo>
                  <a:pt x="468185" y="9474"/>
                </a:lnTo>
                <a:lnTo>
                  <a:pt x="417817" y="4686"/>
                </a:lnTo>
                <a:lnTo>
                  <a:pt x="367347" y="1498"/>
                </a:lnTo>
                <a:lnTo>
                  <a:pt x="320344" y="88"/>
                </a:lnTo>
                <a:lnTo>
                  <a:pt x="273304" y="0"/>
                </a:lnTo>
                <a:lnTo>
                  <a:pt x="226275" y="1346"/>
                </a:lnTo>
                <a:lnTo>
                  <a:pt x="179273" y="4229"/>
                </a:lnTo>
                <a:lnTo>
                  <a:pt x="132334" y="8737"/>
                </a:lnTo>
                <a:lnTo>
                  <a:pt x="85509" y="14998"/>
                </a:lnTo>
                <a:lnTo>
                  <a:pt x="43802" y="22910"/>
                </a:lnTo>
                <a:lnTo>
                  <a:pt x="838" y="40347"/>
                </a:lnTo>
                <a:lnTo>
                  <a:pt x="11417" y="44221"/>
                </a:lnTo>
                <a:lnTo>
                  <a:pt x="20688" y="47701"/>
                </a:lnTo>
                <a:lnTo>
                  <a:pt x="88607" y="63144"/>
                </a:lnTo>
                <a:lnTo>
                  <a:pt x="140703" y="69735"/>
                </a:lnTo>
                <a:lnTo>
                  <a:pt x="193103" y="73482"/>
                </a:lnTo>
                <a:lnTo>
                  <a:pt x="245592" y="75501"/>
                </a:lnTo>
                <a:lnTo>
                  <a:pt x="285153" y="76403"/>
                </a:lnTo>
                <a:lnTo>
                  <a:pt x="324789" y="76530"/>
                </a:lnTo>
                <a:lnTo>
                  <a:pt x="364439" y="75742"/>
                </a:lnTo>
                <a:lnTo>
                  <a:pt x="403999" y="73875"/>
                </a:lnTo>
                <a:lnTo>
                  <a:pt x="446011" y="70485"/>
                </a:lnTo>
                <a:lnTo>
                  <a:pt x="487984" y="66052"/>
                </a:lnTo>
                <a:lnTo>
                  <a:pt x="529882" y="60934"/>
                </a:lnTo>
                <a:lnTo>
                  <a:pt x="571665" y="55473"/>
                </a:lnTo>
                <a:lnTo>
                  <a:pt x="605663" y="45529"/>
                </a:lnTo>
                <a:lnTo>
                  <a:pt x="616737" y="41567"/>
                </a:lnTo>
                <a:close/>
              </a:path>
              <a:path w="617854" h="744854">
                <a:moveTo>
                  <a:pt x="617575" y="275856"/>
                </a:moveTo>
                <a:lnTo>
                  <a:pt x="605536" y="269011"/>
                </a:lnTo>
                <a:lnTo>
                  <a:pt x="594194" y="264922"/>
                </a:lnTo>
                <a:lnTo>
                  <a:pt x="582866" y="263436"/>
                </a:lnTo>
                <a:lnTo>
                  <a:pt x="570814" y="264414"/>
                </a:lnTo>
                <a:lnTo>
                  <a:pt x="539394" y="269544"/>
                </a:lnTo>
                <a:lnTo>
                  <a:pt x="507784" y="274218"/>
                </a:lnTo>
                <a:lnTo>
                  <a:pt x="444436" y="280352"/>
                </a:lnTo>
                <a:lnTo>
                  <a:pt x="390347" y="282524"/>
                </a:lnTo>
                <a:lnTo>
                  <a:pt x="336169" y="283933"/>
                </a:lnTo>
                <a:lnTo>
                  <a:pt x="281990" y="284264"/>
                </a:lnTo>
                <a:lnTo>
                  <a:pt x="227901" y="283210"/>
                </a:lnTo>
                <a:lnTo>
                  <a:pt x="182968" y="280631"/>
                </a:lnTo>
                <a:lnTo>
                  <a:pt x="137960" y="276313"/>
                </a:lnTo>
                <a:lnTo>
                  <a:pt x="92951" y="270852"/>
                </a:lnTo>
                <a:lnTo>
                  <a:pt x="48018" y="264820"/>
                </a:lnTo>
                <a:lnTo>
                  <a:pt x="35661" y="264071"/>
                </a:lnTo>
                <a:lnTo>
                  <a:pt x="24003" y="265277"/>
                </a:lnTo>
                <a:lnTo>
                  <a:pt x="12357" y="269011"/>
                </a:lnTo>
                <a:lnTo>
                  <a:pt x="0" y="275856"/>
                </a:lnTo>
                <a:lnTo>
                  <a:pt x="8280" y="279311"/>
                </a:lnTo>
                <a:lnTo>
                  <a:pt x="15684" y="282600"/>
                </a:lnTo>
                <a:lnTo>
                  <a:pt x="22631" y="285280"/>
                </a:lnTo>
                <a:lnTo>
                  <a:pt x="29489" y="286893"/>
                </a:lnTo>
                <a:lnTo>
                  <a:pt x="61963" y="292785"/>
                </a:lnTo>
                <a:lnTo>
                  <a:pt x="94411" y="298704"/>
                </a:lnTo>
                <a:lnTo>
                  <a:pt x="159651" y="306527"/>
                </a:lnTo>
                <a:lnTo>
                  <a:pt x="209029" y="308508"/>
                </a:lnTo>
                <a:lnTo>
                  <a:pt x="258533" y="309943"/>
                </a:lnTo>
                <a:lnTo>
                  <a:pt x="308063" y="310667"/>
                </a:lnTo>
                <a:lnTo>
                  <a:pt x="357568" y="310540"/>
                </a:lnTo>
                <a:lnTo>
                  <a:pt x="406946" y="309384"/>
                </a:lnTo>
                <a:lnTo>
                  <a:pt x="450469" y="306425"/>
                </a:lnTo>
                <a:lnTo>
                  <a:pt x="493877" y="301307"/>
                </a:lnTo>
                <a:lnTo>
                  <a:pt x="537210" y="295122"/>
                </a:lnTo>
                <a:lnTo>
                  <a:pt x="580504" y="288937"/>
                </a:lnTo>
                <a:lnTo>
                  <a:pt x="607402" y="279908"/>
                </a:lnTo>
                <a:lnTo>
                  <a:pt x="617575" y="275856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787902" y="1915225"/>
            <a:ext cx="566420" cy="566420"/>
          </a:xfrm>
          <a:custGeom>
            <a:avLst/>
            <a:gdLst/>
            <a:ahLst/>
            <a:cxnLst/>
            <a:rect l="l" t="t" r="r" b="b"/>
            <a:pathLst>
              <a:path w="566420" h="566419">
                <a:moveTo>
                  <a:pt x="283096" y="566191"/>
                </a:moveTo>
                <a:lnTo>
                  <a:pt x="237176" y="562486"/>
                </a:lnTo>
                <a:lnTo>
                  <a:pt x="193615" y="551759"/>
                </a:lnTo>
                <a:lnTo>
                  <a:pt x="152997" y="534593"/>
                </a:lnTo>
                <a:lnTo>
                  <a:pt x="115903" y="511570"/>
                </a:lnTo>
                <a:lnTo>
                  <a:pt x="82916" y="483275"/>
                </a:lnTo>
                <a:lnTo>
                  <a:pt x="54621" y="450288"/>
                </a:lnTo>
                <a:lnTo>
                  <a:pt x="31598" y="413194"/>
                </a:lnTo>
                <a:lnTo>
                  <a:pt x="14432" y="372576"/>
                </a:lnTo>
                <a:lnTo>
                  <a:pt x="3705" y="329015"/>
                </a:lnTo>
                <a:lnTo>
                  <a:pt x="0" y="283095"/>
                </a:lnTo>
                <a:lnTo>
                  <a:pt x="3705" y="237176"/>
                </a:lnTo>
                <a:lnTo>
                  <a:pt x="14432" y="193615"/>
                </a:lnTo>
                <a:lnTo>
                  <a:pt x="31598" y="152997"/>
                </a:lnTo>
                <a:lnTo>
                  <a:pt x="54621" y="115903"/>
                </a:lnTo>
                <a:lnTo>
                  <a:pt x="82916" y="82916"/>
                </a:lnTo>
                <a:lnTo>
                  <a:pt x="115903" y="54621"/>
                </a:lnTo>
                <a:lnTo>
                  <a:pt x="152997" y="31598"/>
                </a:lnTo>
                <a:lnTo>
                  <a:pt x="193615" y="14432"/>
                </a:lnTo>
                <a:lnTo>
                  <a:pt x="237176" y="3705"/>
                </a:lnTo>
                <a:lnTo>
                  <a:pt x="283096" y="0"/>
                </a:lnTo>
                <a:lnTo>
                  <a:pt x="338583" y="5489"/>
                </a:lnTo>
                <a:lnTo>
                  <a:pt x="391432" y="21549"/>
                </a:lnTo>
                <a:lnTo>
                  <a:pt x="440157" y="47563"/>
                </a:lnTo>
                <a:lnTo>
                  <a:pt x="483274" y="82916"/>
                </a:lnTo>
                <a:lnTo>
                  <a:pt x="518628" y="126034"/>
                </a:lnTo>
                <a:lnTo>
                  <a:pt x="544642" y="174759"/>
                </a:lnTo>
                <a:lnTo>
                  <a:pt x="560702" y="227608"/>
                </a:lnTo>
                <a:lnTo>
                  <a:pt x="566191" y="283095"/>
                </a:lnTo>
                <a:lnTo>
                  <a:pt x="562486" y="329015"/>
                </a:lnTo>
                <a:lnTo>
                  <a:pt x="551759" y="372576"/>
                </a:lnTo>
                <a:lnTo>
                  <a:pt x="534593" y="413194"/>
                </a:lnTo>
                <a:lnTo>
                  <a:pt x="511570" y="450288"/>
                </a:lnTo>
                <a:lnTo>
                  <a:pt x="483275" y="483275"/>
                </a:lnTo>
                <a:lnTo>
                  <a:pt x="450288" y="511570"/>
                </a:lnTo>
                <a:lnTo>
                  <a:pt x="413194" y="534593"/>
                </a:lnTo>
                <a:lnTo>
                  <a:pt x="372576" y="551759"/>
                </a:lnTo>
                <a:lnTo>
                  <a:pt x="329015" y="562486"/>
                </a:lnTo>
                <a:lnTo>
                  <a:pt x="283096" y="566191"/>
                </a:lnTo>
                <a:close/>
              </a:path>
            </a:pathLst>
          </a:custGeom>
          <a:solidFill>
            <a:srgbClr val="127A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995083" y="2460962"/>
            <a:ext cx="3025140" cy="5880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725170">
              <a:lnSpc>
                <a:spcPct val="100000"/>
              </a:lnSpc>
              <a:spcBef>
                <a:spcPts val="635"/>
              </a:spcBef>
            </a:pPr>
            <a:r>
              <a:rPr sz="1400" b="1" spc="-10" dirty="0">
                <a:latin typeface="Arial"/>
                <a:cs typeface="Arial"/>
              </a:rPr>
              <a:t>Nominal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74955" algn="l"/>
                <a:tab pos="1156970" algn="l"/>
                <a:tab pos="2106295" algn="l"/>
              </a:tabLst>
            </a:pP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represent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qualitative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information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39982" y="5034788"/>
            <a:ext cx="3696970" cy="13512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427355" algn="ctr">
              <a:lnSpc>
                <a:spcPct val="100000"/>
              </a:lnSpc>
              <a:spcBef>
                <a:spcPts val="280"/>
              </a:spcBef>
            </a:pPr>
            <a:r>
              <a:rPr sz="1400" b="1" spc="-10" dirty="0">
                <a:latin typeface="Arial"/>
                <a:cs typeface="Arial"/>
              </a:rPr>
              <a:t>Ordinal</a:t>
            </a:r>
            <a:endParaRPr sz="1400">
              <a:latin typeface="Arial"/>
              <a:cs typeface="Arial"/>
            </a:endParaRPr>
          </a:p>
          <a:p>
            <a:pPr marL="38100" marR="30480" algn="just">
              <a:lnSpc>
                <a:spcPct val="100000"/>
              </a:lnSpc>
              <a:spcBef>
                <a:spcPts val="18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 represent 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qualitati</a:t>
            </a:r>
            <a:r>
              <a:rPr sz="1800" spc="-52" baseline="16203" dirty="0">
                <a:latin typeface="Arial"/>
                <a:cs typeface="Arial"/>
              </a:rPr>
              <a:t>.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ve</a:t>
            </a:r>
            <a:r>
              <a:rPr sz="14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information with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order.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indicate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measurement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classification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are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different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ranked.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Lets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say</a:t>
            </a:r>
            <a:r>
              <a:rPr sz="140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Economic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status: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high/medium/low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ordered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as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low,medium,high.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787902" y="4430032"/>
            <a:ext cx="566420" cy="566420"/>
            <a:chOff x="9787902" y="4430032"/>
            <a:chExt cx="566420" cy="566420"/>
          </a:xfrm>
        </p:grpSpPr>
        <p:sp>
          <p:nvSpPr>
            <p:cNvPr id="30" name="object 30"/>
            <p:cNvSpPr/>
            <p:nvPr/>
          </p:nvSpPr>
          <p:spPr>
            <a:xfrm>
              <a:off x="9787902" y="4430032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20" h="566420">
                  <a:moveTo>
                    <a:pt x="283096" y="566192"/>
                  </a:moveTo>
                  <a:lnTo>
                    <a:pt x="237176" y="562486"/>
                  </a:lnTo>
                  <a:lnTo>
                    <a:pt x="193615" y="551759"/>
                  </a:lnTo>
                  <a:lnTo>
                    <a:pt x="152997" y="534593"/>
                  </a:lnTo>
                  <a:lnTo>
                    <a:pt x="115903" y="511571"/>
                  </a:lnTo>
                  <a:lnTo>
                    <a:pt x="82916" y="483275"/>
                  </a:lnTo>
                  <a:lnTo>
                    <a:pt x="54621" y="450289"/>
                  </a:lnTo>
                  <a:lnTo>
                    <a:pt x="31598" y="413195"/>
                  </a:lnTo>
                  <a:lnTo>
                    <a:pt x="14432" y="372576"/>
                  </a:lnTo>
                  <a:lnTo>
                    <a:pt x="3705" y="329015"/>
                  </a:lnTo>
                  <a:lnTo>
                    <a:pt x="0" y="283096"/>
                  </a:lnTo>
                  <a:lnTo>
                    <a:pt x="3705" y="237176"/>
                  </a:lnTo>
                  <a:lnTo>
                    <a:pt x="14432" y="193615"/>
                  </a:lnTo>
                  <a:lnTo>
                    <a:pt x="31598" y="152997"/>
                  </a:lnTo>
                  <a:lnTo>
                    <a:pt x="54621" y="115903"/>
                  </a:lnTo>
                  <a:lnTo>
                    <a:pt x="82917" y="82916"/>
                  </a:lnTo>
                  <a:lnTo>
                    <a:pt x="115903" y="54621"/>
                  </a:lnTo>
                  <a:lnTo>
                    <a:pt x="152997" y="31598"/>
                  </a:lnTo>
                  <a:lnTo>
                    <a:pt x="193615" y="14432"/>
                  </a:lnTo>
                  <a:lnTo>
                    <a:pt x="237176" y="3705"/>
                  </a:lnTo>
                  <a:lnTo>
                    <a:pt x="283096" y="0"/>
                  </a:lnTo>
                  <a:lnTo>
                    <a:pt x="338583" y="5489"/>
                  </a:lnTo>
                  <a:lnTo>
                    <a:pt x="391432" y="21549"/>
                  </a:lnTo>
                  <a:lnTo>
                    <a:pt x="440157" y="47563"/>
                  </a:lnTo>
                  <a:lnTo>
                    <a:pt x="483274" y="82916"/>
                  </a:lnTo>
                  <a:lnTo>
                    <a:pt x="518628" y="126034"/>
                  </a:lnTo>
                  <a:lnTo>
                    <a:pt x="544642" y="174759"/>
                  </a:lnTo>
                  <a:lnTo>
                    <a:pt x="560702" y="227609"/>
                  </a:lnTo>
                  <a:lnTo>
                    <a:pt x="566191" y="283096"/>
                  </a:lnTo>
                  <a:lnTo>
                    <a:pt x="562486" y="329015"/>
                  </a:lnTo>
                  <a:lnTo>
                    <a:pt x="551759" y="372576"/>
                  </a:lnTo>
                  <a:lnTo>
                    <a:pt x="534593" y="413195"/>
                  </a:lnTo>
                  <a:lnTo>
                    <a:pt x="511570" y="450289"/>
                  </a:lnTo>
                  <a:lnTo>
                    <a:pt x="483275" y="483275"/>
                  </a:lnTo>
                  <a:lnTo>
                    <a:pt x="450288" y="511571"/>
                  </a:lnTo>
                  <a:lnTo>
                    <a:pt x="413194" y="534593"/>
                  </a:lnTo>
                  <a:lnTo>
                    <a:pt x="372576" y="551759"/>
                  </a:lnTo>
                  <a:lnTo>
                    <a:pt x="329015" y="562486"/>
                  </a:lnTo>
                  <a:lnTo>
                    <a:pt x="283096" y="566192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9285" y="4540725"/>
              <a:ext cx="394550" cy="37282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128912" y="2755132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884509" y="1924118"/>
            <a:ext cx="566420" cy="566420"/>
          </a:xfrm>
          <a:custGeom>
            <a:avLst/>
            <a:gdLst/>
            <a:ahLst/>
            <a:cxnLst/>
            <a:rect l="l" t="t" r="r" b="b"/>
            <a:pathLst>
              <a:path w="566419" h="566419">
                <a:moveTo>
                  <a:pt x="283095" y="566191"/>
                </a:moveTo>
                <a:lnTo>
                  <a:pt x="237176" y="562486"/>
                </a:lnTo>
                <a:lnTo>
                  <a:pt x="193615" y="551759"/>
                </a:lnTo>
                <a:lnTo>
                  <a:pt x="152997" y="534593"/>
                </a:lnTo>
                <a:lnTo>
                  <a:pt x="115903" y="511570"/>
                </a:lnTo>
                <a:lnTo>
                  <a:pt x="82916" y="483275"/>
                </a:lnTo>
                <a:lnTo>
                  <a:pt x="54621" y="450288"/>
                </a:lnTo>
                <a:lnTo>
                  <a:pt x="31598" y="413194"/>
                </a:lnTo>
                <a:lnTo>
                  <a:pt x="14432" y="372576"/>
                </a:lnTo>
                <a:lnTo>
                  <a:pt x="3705" y="329015"/>
                </a:lnTo>
                <a:lnTo>
                  <a:pt x="0" y="283095"/>
                </a:lnTo>
                <a:lnTo>
                  <a:pt x="3705" y="237176"/>
                </a:lnTo>
                <a:lnTo>
                  <a:pt x="14432" y="193615"/>
                </a:lnTo>
                <a:lnTo>
                  <a:pt x="31598" y="152997"/>
                </a:lnTo>
                <a:lnTo>
                  <a:pt x="54621" y="115903"/>
                </a:lnTo>
                <a:lnTo>
                  <a:pt x="82916" y="82916"/>
                </a:lnTo>
                <a:lnTo>
                  <a:pt x="115903" y="54621"/>
                </a:lnTo>
                <a:lnTo>
                  <a:pt x="152997" y="31598"/>
                </a:lnTo>
                <a:lnTo>
                  <a:pt x="193615" y="14432"/>
                </a:lnTo>
                <a:lnTo>
                  <a:pt x="237176" y="3705"/>
                </a:lnTo>
                <a:lnTo>
                  <a:pt x="283095" y="0"/>
                </a:lnTo>
                <a:lnTo>
                  <a:pt x="338583" y="5489"/>
                </a:lnTo>
                <a:lnTo>
                  <a:pt x="391432" y="21549"/>
                </a:lnTo>
                <a:lnTo>
                  <a:pt x="440157" y="47563"/>
                </a:lnTo>
                <a:lnTo>
                  <a:pt x="483275" y="82916"/>
                </a:lnTo>
                <a:lnTo>
                  <a:pt x="518628" y="126034"/>
                </a:lnTo>
                <a:lnTo>
                  <a:pt x="544642" y="174759"/>
                </a:lnTo>
                <a:lnTo>
                  <a:pt x="560702" y="227608"/>
                </a:lnTo>
                <a:lnTo>
                  <a:pt x="566191" y="283095"/>
                </a:lnTo>
                <a:lnTo>
                  <a:pt x="562486" y="329015"/>
                </a:lnTo>
                <a:lnTo>
                  <a:pt x="551759" y="372576"/>
                </a:lnTo>
                <a:lnTo>
                  <a:pt x="534593" y="413194"/>
                </a:lnTo>
                <a:lnTo>
                  <a:pt x="511570" y="450288"/>
                </a:lnTo>
                <a:lnTo>
                  <a:pt x="483275" y="483275"/>
                </a:lnTo>
                <a:lnTo>
                  <a:pt x="450288" y="511570"/>
                </a:lnTo>
                <a:lnTo>
                  <a:pt x="413194" y="534593"/>
                </a:lnTo>
                <a:lnTo>
                  <a:pt x="372576" y="551759"/>
                </a:lnTo>
                <a:lnTo>
                  <a:pt x="329015" y="562486"/>
                </a:lnTo>
                <a:lnTo>
                  <a:pt x="283095" y="566191"/>
                </a:lnTo>
                <a:close/>
              </a:path>
            </a:pathLst>
          </a:custGeom>
          <a:solidFill>
            <a:srgbClr val="F9B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29973" y="2452367"/>
            <a:ext cx="2784475" cy="6229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90805" algn="ctr">
              <a:lnSpc>
                <a:spcPct val="100000"/>
              </a:lnSpc>
              <a:spcBef>
                <a:spcPts val="770"/>
              </a:spcBef>
            </a:pPr>
            <a:r>
              <a:rPr sz="1400" b="1" spc="-10" dirty="0">
                <a:latin typeface="Arial"/>
                <a:cs typeface="Arial"/>
              </a:rPr>
              <a:t>Discrete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has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discrete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spc="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that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means</a:t>
            </a:r>
            <a:r>
              <a:rPr sz="1400" spc="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318" y="5052573"/>
            <a:ext cx="2883535" cy="69342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041400">
              <a:lnSpc>
                <a:spcPct val="100000"/>
              </a:lnSpc>
              <a:spcBef>
                <a:spcPts val="209"/>
              </a:spcBef>
            </a:pPr>
            <a:r>
              <a:rPr sz="1400" b="1" spc="-10" dirty="0">
                <a:latin typeface="Arial"/>
                <a:cs typeface="Arial"/>
              </a:rPr>
              <a:t>Continuous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number</a:t>
            </a:r>
            <a:r>
              <a:rPr sz="14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within</a:t>
            </a:r>
            <a:r>
              <a:rPr sz="14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r>
              <a:rPr sz="14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spc="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is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usually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measured,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such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height.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84509" y="4452930"/>
            <a:ext cx="566420" cy="566420"/>
            <a:chOff x="1884509" y="4452930"/>
            <a:chExt cx="566420" cy="566420"/>
          </a:xfrm>
        </p:grpSpPr>
        <p:sp>
          <p:nvSpPr>
            <p:cNvPr id="37" name="object 37"/>
            <p:cNvSpPr/>
            <p:nvPr/>
          </p:nvSpPr>
          <p:spPr>
            <a:xfrm>
              <a:off x="1884509" y="4452930"/>
              <a:ext cx="566420" cy="566420"/>
            </a:xfrm>
            <a:custGeom>
              <a:avLst/>
              <a:gdLst/>
              <a:ahLst/>
              <a:cxnLst/>
              <a:rect l="l" t="t" r="r" b="b"/>
              <a:pathLst>
                <a:path w="566419" h="566420">
                  <a:moveTo>
                    <a:pt x="283095" y="566192"/>
                  </a:moveTo>
                  <a:lnTo>
                    <a:pt x="237176" y="562486"/>
                  </a:lnTo>
                  <a:lnTo>
                    <a:pt x="193615" y="551759"/>
                  </a:lnTo>
                  <a:lnTo>
                    <a:pt x="152997" y="534593"/>
                  </a:lnTo>
                  <a:lnTo>
                    <a:pt x="115903" y="511571"/>
                  </a:lnTo>
                  <a:lnTo>
                    <a:pt x="82916" y="483275"/>
                  </a:lnTo>
                  <a:lnTo>
                    <a:pt x="54621" y="450289"/>
                  </a:lnTo>
                  <a:lnTo>
                    <a:pt x="31598" y="413195"/>
                  </a:lnTo>
                  <a:lnTo>
                    <a:pt x="14432" y="372576"/>
                  </a:lnTo>
                  <a:lnTo>
                    <a:pt x="3705" y="329015"/>
                  </a:lnTo>
                  <a:lnTo>
                    <a:pt x="0" y="283096"/>
                  </a:lnTo>
                  <a:lnTo>
                    <a:pt x="3705" y="237176"/>
                  </a:lnTo>
                  <a:lnTo>
                    <a:pt x="14432" y="193615"/>
                  </a:lnTo>
                  <a:lnTo>
                    <a:pt x="31598" y="152997"/>
                  </a:lnTo>
                  <a:lnTo>
                    <a:pt x="54621" y="115903"/>
                  </a:lnTo>
                  <a:lnTo>
                    <a:pt x="82916" y="82916"/>
                  </a:lnTo>
                  <a:lnTo>
                    <a:pt x="115903" y="54621"/>
                  </a:lnTo>
                  <a:lnTo>
                    <a:pt x="152997" y="31598"/>
                  </a:lnTo>
                  <a:lnTo>
                    <a:pt x="193615" y="14432"/>
                  </a:lnTo>
                  <a:lnTo>
                    <a:pt x="237176" y="3705"/>
                  </a:lnTo>
                  <a:lnTo>
                    <a:pt x="283095" y="0"/>
                  </a:lnTo>
                  <a:lnTo>
                    <a:pt x="338583" y="5489"/>
                  </a:lnTo>
                  <a:lnTo>
                    <a:pt x="391432" y="21549"/>
                  </a:lnTo>
                  <a:lnTo>
                    <a:pt x="440157" y="47563"/>
                  </a:lnTo>
                  <a:lnTo>
                    <a:pt x="483275" y="82916"/>
                  </a:lnTo>
                  <a:lnTo>
                    <a:pt x="518628" y="126034"/>
                  </a:lnTo>
                  <a:lnTo>
                    <a:pt x="544642" y="174760"/>
                  </a:lnTo>
                  <a:lnTo>
                    <a:pt x="560702" y="227609"/>
                  </a:lnTo>
                  <a:lnTo>
                    <a:pt x="566191" y="283096"/>
                  </a:lnTo>
                  <a:lnTo>
                    <a:pt x="562486" y="329015"/>
                  </a:lnTo>
                  <a:lnTo>
                    <a:pt x="551759" y="372576"/>
                  </a:lnTo>
                  <a:lnTo>
                    <a:pt x="534593" y="413195"/>
                  </a:lnTo>
                  <a:lnTo>
                    <a:pt x="511570" y="450289"/>
                  </a:lnTo>
                  <a:lnTo>
                    <a:pt x="483275" y="483275"/>
                  </a:lnTo>
                  <a:lnTo>
                    <a:pt x="450288" y="511571"/>
                  </a:lnTo>
                  <a:lnTo>
                    <a:pt x="413194" y="534593"/>
                  </a:lnTo>
                  <a:lnTo>
                    <a:pt x="372576" y="551759"/>
                  </a:lnTo>
                  <a:lnTo>
                    <a:pt x="329015" y="562486"/>
                  </a:lnTo>
                  <a:lnTo>
                    <a:pt x="283095" y="566192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10255" y="4569476"/>
              <a:ext cx="329565" cy="320040"/>
            </a:xfrm>
            <a:custGeom>
              <a:avLst/>
              <a:gdLst/>
              <a:ahLst/>
              <a:cxnLst/>
              <a:rect l="l" t="t" r="r" b="b"/>
              <a:pathLst>
                <a:path w="329564" h="320039">
                  <a:moveTo>
                    <a:pt x="205706" y="11336"/>
                  </a:moveTo>
                  <a:lnTo>
                    <a:pt x="175223" y="11336"/>
                  </a:lnTo>
                  <a:lnTo>
                    <a:pt x="178402" y="10159"/>
                  </a:lnTo>
                  <a:lnTo>
                    <a:pt x="185449" y="10159"/>
                  </a:lnTo>
                  <a:lnTo>
                    <a:pt x="190950" y="0"/>
                  </a:lnTo>
                  <a:lnTo>
                    <a:pt x="205755" y="3809"/>
                  </a:lnTo>
                  <a:lnTo>
                    <a:pt x="205706" y="11336"/>
                  </a:lnTo>
                  <a:close/>
                </a:path>
                <a:path w="329564" h="320039">
                  <a:moveTo>
                    <a:pt x="214923" y="22859"/>
                  </a:moveTo>
                  <a:lnTo>
                    <a:pt x="157280" y="22859"/>
                  </a:lnTo>
                  <a:lnTo>
                    <a:pt x="153283" y="10159"/>
                  </a:lnTo>
                  <a:lnTo>
                    <a:pt x="166168" y="1269"/>
                  </a:lnTo>
                  <a:lnTo>
                    <a:pt x="175223" y="11336"/>
                  </a:lnTo>
                  <a:lnTo>
                    <a:pt x="205706" y="11336"/>
                  </a:lnTo>
                  <a:lnTo>
                    <a:pt x="205680" y="15239"/>
                  </a:lnTo>
                  <a:lnTo>
                    <a:pt x="209043" y="17779"/>
                  </a:lnTo>
                  <a:lnTo>
                    <a:pt x="212176" y="20319"/>
                  </a:lnTo>
                  <a:lnTo>
                    <a:pt x="214923" y="22859"/>
                  </a:lnTo>
                  <a:close/>
                </a:path>
                <a:path w="329564" h="320039">
                  <a:moveTo>
                    <a:pt x="149336" y="86359"/>
                  </a:moveTo>
                  <a:lnTo>
                    <a:pt x="141108" y="72389"/>
                  </a:lnTo>
                  <a:lnTo>
                    <a:pt x="148852" y="63499"/>
                  </a:lnTo>
                  <a:lnTo>
                    <a:pt x="147893" y="60959"/>
                  </a:lnTo>
                  <a:lnTo>
                    <a:pt x="147323" y="57149"/>
                  </a:lnTo>
                  <a:lnTo>
                    <a:pt x="147108" y="54609"/>
                  </a:lnTo>
                  <a:lnTo>
                    <a:pt x="135969" y="48259"/>
                  </a:lnTo>
                  <a:lnTo>
                    <a:pt x="138739" y="33019"/>
                  </a:lnTo>
                  <a:lnTo>
                    <a:pt x="151293" y="31749"/>
                  </a:lnTo>
                  <a:lnTo>
                    <a:pt x="152849" y="29209"/>
                  </a:lnTo>
                  <a:lnTo>
                    <a:pt x="155003" y="25399"/>
                  </a:lnTo>
                  <a:lnTo>
                    <a:pt x="157617" y="22859"/>
                  </a:lnTo>
                  <a:lnTo>
                    <a:pt x="214923" y="22859"/>
                  </a:lnTo>
                  <a:lnTo>
                    <a:pt x="225731" y="19049"/>
                  </a:lnTo>
                  <a:lnTo>
                    <a:pt x="233273" y="33019"/>
                  </a:lnTo>
                  <a:lnTo>
                    <a:pt x="180404" y="33019"/>
                  </a:lnTo>
                  <a:lnTo>
                    <a:pt x="177203" y="35559"/>
                  </a:lnTo>
                  <a:lnTo>
                    <a:pt x="171964" y="40639"/>
                  </a:lnTo>
                  <a:lnTo>
                    <a:pt x="169167" y="48259"/>
                  </a:lnTo>
                  <a:lnTo>
                    <a:pt x="169062" y="52069"/>
                  </a:lnTo>
                  <a:lnTo>
                    <a:pt x="168992" y="54609"/>
                  </a:lnTo>
                  <a:lnTo>
                    <a:pt x="171618" y="62229"/>
                  </a:lnTo>
                  <a:lnTo>
                    <a:pt x="176674" y="68579"/>
                  </a:lnTo>
                  <a:lnTo>
                    <a:pt x="183122" y="71119"/>
                  </a:lnTo>
                  <a:lnTo>
                    <a:pt x="190148" y="72389"/>
                  </a:lnTo>
                  <a:lnTo>
                    <a:pt x="223106" y="72389"/>
                  </a:lnTo>
                  <a:lnTo>
                    <a:pt x="221520" y="76199"/>
                  </a:lnTo>
                  <a:lnTo>
                    <a:pt x="219342" y="80009"/>
                  </a:lnTo>
                  <a:lnTo>
                    <a:pt x="216678" y="82549"/>
                  </a:lnTo>
                  <a:lnTo>
                    <a:pt x="160001" y="82549"/>
                  </a:lnTo>
                  <a:lnTo>
                    <a:pt x="149336" y="86359"/>
                  </a:lnTo>
                  <a:close/>
                </a:path>
                <a:path w="329564" h="320039">
                  <a:moveTo>
                    <a:pt x="222924" y="73659"/>
                  </a:moveTo>
                  <a:lnTo>
                    <a:pt x="223106" y="72389"/>
                  </a:lnTo>
                  <a:lnTo>
                    <a:pt x="190148" y="72389"/>
                  </a:lnTo>
                  <a:lnTo>
                    <a:pt x="196939" y="69849"/>
                  </a:lnTo>
                  <a:lnTo>
                    <a:pt x="202178" y="64769"/>
                  </a:lnTo>
                  <a:lnTo>
                    <a:pt x="204976" y="57149"/>
                  </a:lnTo>
                  <a:lnTo>
                    <a:pt x="205034" y="54609"/>
                  </a:lnTo>
                  <a:lnTo>
                    <a:pt x="205151" y="49529"/>
                  </a:lnTo>
                  <a:lnTo>
                    <a:pt x="202524" y="43179"/>
                  </a:lnTo>
                  <a:lnTo>
                    <a:pt x="199118" y="36829"/>
                  </a:lnTo>
                  <a:lnTo>
                    <a:pt x="193412" y="33019"/>
                  </a:lnTo>
                  <a:lnTo>
                    <a:pt x="233273" y="33019"/>
                  </a:lnTo>
                  <a:lnTo>
                    <a:pt x="233959" y="34289"/>
                  </a:lnTo>
                  <a:lnTo>
                    <a:pt x="225649" y="43179"/>
                  </a:lnTo>
                  <a:lnTo>
                    <a:pt x="226502" y="45719"/>
                  </a:lnTo>
                  <a:lnTo>
                    <a:pt x="226952" y="49529"/>
                  </a:lnTo>
                  <a:lnTo>
                    <a:pt x="227070" y="52069"/>
                  </a:lnTo>
                  <a:lnTo>
                    <a:pt x="237399" y="57149"/>
                  </a:lnTo>
                  <a:lnTo>
                    <a:pt x="235419" y="72389"/>
                  </a:lnTo>
                  <a:lnTo>
                    <a:pt x="222924" y="73659"/>
                  </a:lnTo>
                  <a:close/>
                </a:path>
                <a:path w="329564" h="320039">
                  <a:moveTo>
                    <a:pt x="225112" y="109219"/>
                  </a:moveTo>
                  <a:lnTo>
                    <a:pt x="215176" y="109219"/>
                  </a:lnTo>
                  <a:lnTo>
                    <a:pt x="218703" y="105409"/>
                  </a:lnTo>
                  <a:lnTo>
                    <a:pt x="222917" y="101599"/>
                  </a:lnTo>
                  <a:lnTo>
                    <a:pt x="227630" y="99059"/>
                  </a:lnTo>
                  <a:lnTo>
                    <a:pt x="227081" y="99059"/>
                  </a:lnTo>
                  <a:lnTo>
                    <a:pt x="227038" y="97789"/>
                  </a:lnTo>
                  <a:lnTo>
                    <a:pt x="226950" y="95249"/>
                  </a:lnTo>
                  <a:lnTo>
                    <a:pt x="226863" y="92709"/>
                  </a:lnTo>
                  <a:lnTo>
                    <a:pt x="226776" y="90169"/>
                  </a:lnTo>
                  <a:lnTo>
                    <a:pt x="226688" y="87629"/>
                  </a:lnTo>
                  <a:lnTo>
                    <a:pt x="226601" y="85089"/>
                  </a:lnTo>
                  <a:lnTo>
                    <a:pt x="226514" y="82549"/>
                  </a:lnTo>
                  <a:lnTo>
                    <a:pt x="226426" y="80009"/>
                  </a:lnTo>
                  <a:lnTo>
                    <a:pt x="247414" y="73659"/>
                  </a:lnTo>
                  <a:lnTo>
                    <a:pt x="256446" y="91439"/>
                  </a:lnTo>
                  <a:lnTo>
                    <a:pt x="261056" y="91439"/>
                  </a:lnTo>
                  <a:lnTo>
                    <a:pt x="266140" y="92709"/>
                  </a:lnTo>
                  <a:lnTo>
                    <a:pt x="270986" y="93979"/>
                  </a:lnTo>
                  <a:lnTo>
                    <a:pt x="301378" y="93979"/>
                  </a:lnTo>
                  <a:lnTo>
                    <a:pt x="300352" y="97789"/>
                  </a:lnTo>
                  <a:lnTo>
                    <a:pt x="249739" y="97789"/>
                  </a:lnTo>
                  <a:lnTo>
                    <a:pt x="242987" y="100329"/>
                  </a:lnTo>
                  <a:lnTo>
                    <a:pt x="225112" y="109219"/>
                  </a:lnTo>
                  <a:close/>
                </a:path>
                <a:path w="329564" h="320039">
                  <a:moveTo>
                    <a:pt x="301378" y="93979"/>
                  </a:moveTo>
                  <a:lnTo>
                    <a:pt x="270986" y="93979"/>
                  </a:lnTo>
                  <a:lnTo>
                    <a:pt x="282627" y="81279"/>
                  </a:lnTo>
                  <a:lnTo>
                    <a:pt x="301378" y="93979"/>
                  </a:lnTo>
                  <a:close/>
                </a:path>
                <a:path w="329564" h="320039">
                  <a:moveTo>
                    <a:pt x="182347" y="106679"/>
                  </a:moveTo>
                  <a:lnTo>
                    <a:pt x="167761" y="101599"/>
                  </a:lnTo>
                  <a:lnTo>
                    <a:pt x="167832" y="100329"/>
                  </a:lnTo>
                  <a:lnTo>
                    <a:pt x="167903" y="99059"/>
                  </a:lnTo>
                  <a:lnTo>
                    <a:pt x="167974" y="97789"/>
                  </a:lnTo>
                  <a:lnTo>
                    <a:pt x="168045" y="96519"/>
                  </a:lnTo>
                  <a:lnTo>
                    <a:pt x="168116" y="95249"/>
                  </a:lnTo>
                  <a:lnTo>
                    <a:pt x="168186" y="93979"/>
                  </a:lnTo>
                  <a:lnTo>
                    <a:pt x="168257" y="92709"/>
                  </a:lnTo>
                  <a:lnTo>
                    <a:pt x="168328" y="91439"/>
                  </a:lnTo>
                  <a:lnTo>
                    <a:pt x="168399" y="90169"/>
                  </a:lnTo>
                  <a:lnTo>
                    <a:pt x="165386" y="87629"/>
                  </a:lnTo>
                  <a:lnTo>
                    <a:pt x="162559" y="85089"/>
                  </a:lnTo>
                  <a:lnTo>
                    <a:pt x="160001" y="82549"/>
                  </a:lnTo>
                  <a:lnTo>
                    <a:pt x="216678" y="82549"/>
                  </a:lnTo>
                  <a:lnTo>
                    <a:pt x="220447" y="93979"/>
                  </a:lnTo>
                  <a:lnTo>
                    <a:pt x="198944" y="93979"/>
                  </a:lnTo>
                  <a:lnTo>
                    <a:pt x="195516" y="95249"/>
                  </a:lnTo>
                  <a:lnTo>
                    <a:pt x="188914" y="95249"/>
                  </a:lnTo>
                  <a:lnTo>
                    <a:pt x="182347" y="106679"/>
                  </a:lnTo>
                  <a:close/>
                </a:path>
                <a:path w="329564" h="320039">
                  <a:moveTo>
                    <a:pt x="207561" y="102869"/>
                  </a:moveTo>
                  <a:lnTo>
                    <a:pt x="198944" y="93979"/>
                  </a:lnTo>
                  <a:lnTo>
                    <a:pt x="220447" y="93979"/>
                  </a:lnTo>
                  <a:lnTo>
                    <a:pt x="207561" y="102869"/>
                  </a:lnTo>
                  <a:close/>
                </a:path>
                <a:path w="329564" h="320039">
                  <a:moveTo>
                    <a:pt x="123724" y="123189"/>
                  </a:moveTo>
                  <a:lnTo>
                    <a:pt x="79425" y="123189"/>
                  </a:lnTo>
                  <a:lnTo>
                    <a:pt x="85247" y="96519"/>
                  </a:lnTo>
                  <a:lnTo>
                    <a:pt x="116910" y="96519"/>
                  </a:lnTo>
                  <a:lnTo>
                    <a:pt x="123724" y="123189"/>
                  </a:lnTo>
                  <a:close/>
                </a:path>
                <a:path w="329564" h="320039">
                  <a:moveTo>
                    <a:pt x="286823" y="205739"/>
                  </a:moveTo>
                  <a:lnTo>
                    <a:pt x="251094" y="205739"/>
                  </a:lnTo>
                  <a:lnTo>
                    <a:pt x="271184" y="204469"/>
                  </a:lnTo>
                  <a:lnTo>
                    <a:pt x="289059" y="195579"/>
                  </a:lnTo>
                  <a:lnTo>
                    <a:pt x="301539" y="180339"/>
                  </a:lnTo>
                  <a:lnTo>
                    <a:pt x="307509" y="161289"/>
                  </a:lnTo>
                  <a:lnTo>
                    <a:pt x="306535" y="148589"/>
                  </a:lnTo>
                  <a:lnTo>
                    <a:pt x="306438" y="147319"/>
                  </a:lnTo>
                  <a:lnTo>
                    <a:pt x="306340" y="146049"/>
                  </a:lnTo>
                  <a:lnTo>
                    <a:pt x="306243" y="144779"/>
                  </a:lnTo>
                  <a:lnTo>
                    <a:pt x="306146" y="143509"/>
                  </a:lnTo>
                  <a:lnTo>
                    <a:pt x="306048" y="142239"/>
                  </a:lnTo>
                  <a:lnTo>
                    <a:pt x="285749" y="109219"/>
                  </a:lnTo>
                  <a:lnTo>
                    <a:pt x="253102" y="97789"/>
                  </a:lnTo>
                  <a:lnTo>
                    <a:pt x="300352" y="97789"/>
                  </a:lnTo>
                  <a:lnTo>
                    <a:pt x="296932" y="110489"/>
                  </a:lnTo>
                  <a:lnTo>
                    <a:pt x="300846" y="114299"/>
                  </a:lnTo>
                  <a:lnTo>
                    <a:pt x="304240" y="119379"/>
                  </a:lnTo>
                  <a:lnTo>
                    <a:pt x="306897" y="124459"/>
                  </a:lnTo>
                  <a:lnTo>
                    <a:pt x="323174" y="124459"/>
                  </a:lnTo>
                  <a:lnTo>
                    <a:pt x="329242" y="147319"/>
                  </a:lnTo>
                  <a:lnTo>
                    <a:pt x="314299" y="156209"/>
                  </a:lnTo>
                  <a:lnTo>
                    <a:pt x="314316" y="160019"/>
                  </a:lnTo>
                  <a:lnTo>
                    <a:pt x="313751" y="165099"/>
                  </a:lnTo>
                  <a:lnTo>
                    <a:pt x="312732" y="168909"/>
                  </a:lnTo>
                  <a:lnTo>
                    <a:pt x="325246" y="180339"/>
                  </a:lnTo>
                  <a:lnTo>
                    <a:pt x="319167" y="194309"/>
                  </a:lnTo>
                  <a:lnTo>
                    <a:pt x="299508" y="194309"/>
                  </a:lnTo>
                  <a:lnTo>
                    <a:pt x="295927" y="199389"/>
                  </a:lnTo>
                  <a:lnTo>
                    <a:pt x="291638" y="203199"/>
                  </a:lnTo>
                  <a:lnTo>
                    <a:pt x="286823" y="205739"/>
                  </a:lnTo>
                  <a:close/>
                </a:path>
                <a:path w="329564" h="320039">
                  <a:moveTo>
                    <a:pt x="230091" y="223519"/>
                  </a:moveTo>
                  <a:lnTo>
                    <a:pt x="211952" y="209549"/>
                  </a:lnTo>
                  <a:lnTo>
                    <a:pt x="217167" y="194309"/>
                  </a:lnTo>
                  <a:lnTo>
                    <a:pt x="213663" y="190499"/>
                  </a:lnTo>
                  <a:lnTo>
                    <a:pt x="210578" y="186689"/>
                  </a:lnTo>
                  <a:lnTo>
                    <a:pt x="208017" y="181609"/>
                  </a:lnTo>
                  <a:lnTo>
                    <a:pt x="191954" y="181609"/>
                  </a:lnTo>
                  <a:lnTo>
                    <a:pt x="185886" y="158749"/>
                  </a:lnTo>
                  <a:lnTo>
                    <a:pt x="199813" y="151129"/>
                  </a:lnTo>
                  <a:lnTo>
                    <a:pt x="199690" y="146049"/>
                  </a:lnTo>
                  <a:lnTo>
                    <a:pt x="200131" y="142239"/>
                  </a:lnTo>
                  <a:lnTo>
                    <a:pt x="201060" y="137159"/>
                  </a:lnTo>
                  <a:lnTo>
                    <a:pt x="187842" y="124459"/>
                  </a:lnTo>
                  <a:lnTo>
                    <a:pt x="197719" y="104139"/>
                  </a:lnTo>
                  <a:lnTo>
                    <a:pt x="215176" y="109219"/>
                  </a:lnTo>
                  <a:lnTo>
                    <a:pt x="225112" y="109219"/>
                  </a:lnTo>
                  <a:lnTo>
                    <a:pt x="212632" y="124459"/>
                  </a:lnTo>
                  <a:lnTo>
                    <a:pt x="206663" y="143509"/>
                  </a:lnTo>
                  <a:lnTo>
                    <a:pt x="208221" y="163829"/>
                  </a:lnTo>
                  <a:lnTo>
                    <a:pt x="208318" y="165099"/>
                  </a:lnTo>
                  <a:lnTo>
                    <a:pt x="217638" y="185419"/>
                  </a:lnTo>
                  <a:lnTo>
                    <a:pt x="232571" y="199389"/>
                  </a:lnTo>
                  <a:lnTo>
                    <a:pt x="251094" y="205739"/>
                  </a:lnTo>
                  <a:lnTo>
                    <a:pt x="286823" y="205739"/>
                  </a:lnTo>
                  <a:lnTo>
                    <a:pt x="286912" y="208279"/>
                  </a:lnTo>
                  <a:lnTo>
                    <a:pt x="287000" y="210819"/>
                  </a:lnTo>
                  <a:lnTo>
                    <a:pt x="243431" y="210819"/>
                  </a:lnTo>
                  <a:lnTo>
                    <a:pt x="230091" y="223519"/>
                  </a:lnTo>
                  <a:close/>
                </a:path>
                <a:path w="329564" h="320039">
                  <a:moveTo>
                    <a:pt x="251867" y="199389"/>
                  </a:moveTo>
                  <a:lnTo>
                    <a:pt x="214610" y="163829"/>
                  </a:lnTo>
                  <a:lnTo>
                    <a:pt x="213361" y="147319"/>
                  </a:lnTo>
                  <a:lnTo>
                    <a:pt x="213265" y="146049"/>
                  </a:lnTo>
                  <a:lnTo>
                    <a:pt x="244806" y="106679"/>
                  </a:lnTo>
                  <a:lnTo>
                    <a:pt x="247738" y="105409"/>
                  </a:lnTo>
                  <a:lnTo>
                    <a:pt x="253616" y="105409"/>
                  </a:lnTo>
                  <a:lnTo>
                    <a:pt x="268609" y="106679"/>
                  </a:lnTo>
                  <a:lnTo>
                    <a:pt x="282051" y="114299"/>
                  </a:lnTo>
                  <a:lnTo>
                    <a:pt x="291571" y="124459"/>
                  </a:lnTo>
                  <a:lnTo>
                    <a:pt x="251547" y="124459"/>
                  </a:lnTo>
                  <a:lnTo>
                    <a:pt x="249809" y="125729"/>
                  </a:lnTo>
                  <a:lnTo>
                    <a:pt x="240583" y="129539"/>
                  </a:lnTo>
                  <a:lnTo>
                    <a:pt x="234142" y="138429"/>
                  </a:lnTo>
                  <a:lnTo>
                    <a:pt x="231061" y="148589"/>
                  </a:lnTo>
                  <a:lnTo>
                    <a:pt x="231915" y="158749"/>
                  </a:lnTo>
                  <a:lnTo>
                    <a:pt x="236726" y="168909"/>
                  </a:lnTo>
                  <a:lnTo>
                    <a:pt x="244433" y="176529"/>
                  </a:lnTo>
                  <a:lnTo>
                    <a:pt x="253993" y="180339"/>
                  </a:lnTo>
                  <a:lnTo>
                    <a:pt x="292839" y="180339"/>
                  </a:lnTo>
                  <a:lnTo>
                    <a:pt x="284934" y="190499"/>
                  </a:lnTo>
                  <a:lnTo>
                    <a:pt x="269365" y="198119"/>
                  </a:lnTo>
                  <a:lnTo>
                    <a:pt x="251867" y="199389"/>
                  </a:lnTo>
                  <a:close/>
                </a:path>
                <a:path w="329564" h="320039">
                  <a:moveTo>
                    <a:pt x="39970" y="295909"/>
                  </a:moveTo>
                  <a:lnTo>
                    <a:pt x="19142" y="270509"/>
                  </a:lnTo>
                  <a:lnTo>
                    <a:pt x="31866" y="251459"/>
                  </a:lnTo>
                  <a:lnTo>
                    <a:pt x="28212" y="245109"/>
                  </a:lnTo>
                  <a:lnTo>
                    <a:pt x="25326" y="237489"/>
                  </a:lnTo>
                  <a:lnTo>
                    <a:pt x="23331" y="229869"/>
                  </a:lnTo>
                  <a:lnTo>
                    <a:pt x="621" y="223519"/>
                  </a:lnTo>
                  <a:lnTo>
                    <a:pt x="437" y="213359"/>
                  </a:lnTo>
                  <a:lnTo>
                    <a:pt x="322" y="207009"/>
                  </a:lnTo>
                  <a:lnTo>
                    <a:pt x="207" y="200659"/>
                  </a:lnTo>
                  <a:lnTo>
                    <a:pt x="115" y="195579"/>
                  </a:lnTo>
                  <a:lnTo>
                    <a:pt x="0" y="189229"/>
                  </a:lnTo>
                  <a:lnTo>
                    <a:pt x="22534" y="184149"/>
                  </a:lnTo>
                  <a:lnTo>
                    <a:pt x="24024" y="177799"/>
                  </a:lnTo>
                  <a:lnTo>
                    <a:pt x="26283" y="171449"/>
                  </a:lnTo>
                  <a:lnTo>
                    <a:pt x="29172" y="165099"/>
                  </a:lnTo>
                  <a:lnTo>
                    <a:pt x="14963" y="142239"/>
                  </a:lnTo>
                  <a:lnTo>
                    <a:pt x="36102" y="118109"/>
                  </a:lnTo>
                  <a:lnTo>
                    <a:pt x="57049" y="130809"/>
                  </a:lnTo>
                  <a:lnTo>
                    <a:pt x="61141" y="130809"/>
                  </a:lnTo>
                  <a:lnTo>
                    <a:pt x="58995" y="132079"/>
                  </a:lnTo>
                  <a:lnTo>
                    <a:pt x="94569" y="132079"/>
                  </a:lnTo>
                  <a:lnTo>
                    <a:pt x="73176" y="135889"/>
                  </a:lnTo>
                  <a:lnTo>
                    <a:pt x="50101" y="152399"/>
                  </a:lnTo>
                  <a:lnTo>
                    <a:pt x="34793" y="176529"/>
                  </a:lnTo>
                  <a:lnTo>
                    <a:pt x="29574" y="207009"/>
                  </a:lnTo>
                  <a:lnTo>
                    <a:pt x="35917" y="237489"/>
                  </a:lnTo>
                  <a:lnTo>
                    <a:pt x="52143" y="262889"/>
                  </a:lnTo>
                  <a:lnTo>
                    <a:pt x="75838" y="280669"/>
                  </a:lnTo>
                  <a:lnTo>
                    <a:pt x="93089" y="284479"/>
                  </a:lnTo>
                  <a:lnTo>
                    <a:pt x="62551" y="284479"/>
                  </a:lnTo>
                  <a:lnTo>
                    <a:pt x="62827" y="284648"/>
                  </a:lnTo>
                  <a:lnTo>
                    <a:pt x="39970" y="295909"/>
                  </a:lnTo>
                  <a:close/>
                </a:path>
                <a:path w="329564" h="320039">
                  <a:moveTo>
                    <a:pt x="174482" y="133349"/>
                  </a:moveTo>
                  <a:lnTo>
                    <a:pt x="143358" y="133349"/>
                  </a:lnTo>
                  <a:lnTo>
                    <a:pt x="164038" y="121919"/>
                  </a:lnTo>
                  <a:lnTo>
                    <a:pt x="174482" y="133349"/>
                  </a:lnTo>
                  <a:close/>
                </a:path>
                <a:path w="329564" h="320039">
                  <a:moveTo>
                    <a:pt x="144931" y="287019"/>
                  </a:moveTo>
                  <a:lnTo>
                    <a:pt x="104589" y="287019"/>
                  </a:lnTo>
                  <a:lnTo>
                    <a:pt x="133112" y="281939"/>
                  </a:lnTo>
                  <a:lnTo>
                    <a:pt x="156188" y="265429"/>
                  </a:lnTo>
                  <a:lnTo>
                    <a:pt x="171495" y="241299"/>
                  </a:lnTo>
                  <a:lnTo>
                    <a:pt x="176715" y="210819"/>
                  </a:lnTo>
                  <a:lnTo>
                    <a:pt x="170371" y="179069"/>
                  </a:lnTo>
                  <a:lnTo>
                    <a:pt x="154145" y="153669"/>
                  </a:lnTo>
                  <a:lnTo>
                    <a:pt x="130450" y="137159"/>
                  </a:lnTo>
                  <a:lnTo>
                    <a:pt x="101700" y="130809"/>
                  </a:lnTo>
                  <a:lnTo>
                    <a:pt x="61141" y="130809"/>
                  </a:lnTo>
                  <a:lnTo>
                    <a:pt x="65433" y="128269"/>
                  </a:lnTo>
                  <a:lnTo>
                    <a:pt x="72613" y="124459"/>
                  </a:lnTo>
                  <a:lnTo>
                    <a:pt x="80253" y="123189"/>
                  </a:lnTo>
                  <a:lnTo>
                    <a:pt x="122896" y="123189"/>
                  </a:lnTo>
                  <a:lnTo>
                    <a:pt x="130178" y="125729"/>
                  </a:lnTo>
                  <a:lnTo>
                    <a:pt x="137089" y="129539"/>
                  </a:lnTo>
                  <a:lnTo>
                    <a:pt x="143358" y="133349"/>
                  </a:lnTo>
                  <a:lnTo>
                    <a:pt x="174482" y="133349"/>
                  </a:lnTo>
                  <a:lnTo>
                    <a:pt x="186086" y="146049"/>
                  </a:lnTo>
                  <a:lnTo>
                    <a:pt x="174348" y="166369"/>
                  </a:lnTo>
                  <a:lnTo>
                    <a:pt x="178434" y="173989"/>
                  </a:lnTo>
                  <a:lnTo>
                    <a:pt x="181566" y="181609"/>
                  </a:lnTo>
                  <a:lnTo>
                    <a:pt x="183460" y="190499"/>
                  </a:lnTo>
                  <a:lnTo>
                    <a:pt x="206473" y="196849"/>
                  </a:lnTo>
                  <a:lnTo>
                    <a:pt x="206975" y="223519"/>
                  </a:lnTo>
                  <a:lnTo>
                    <a:pt x="207095" y="229869"/>
                  </a:lnTo>
                  <a:lnTo>
                    <a:pt x="182915" y="236219"/>
                  </a:lnTo>
                  <a:lnTo>
                    <a:pt x="181342" y="242569"/>
                  </a:lnTo>
                  <a:lnTo>
                    <a:pt x="178981" y="248919"/>
                  </a:lnTo>
                  <a:lnTo>
                    <a:pt x="176034" y="253999"/>
                  </a:lnTo>
                  <a:lnTo>
                    <a:pt x="189900" y="274319"/>
                  </a:lnTo>
                  <a:lnTo>
                    <a:pt x="181949" y="284479"/>
                  </a:lnTo>
                  <a:lnTo>
                    <a:pt x="148212" y="284479"/>
                  </a:lnTo>
                  <a:lnTo>
                    <a:pt x="148091" y="284648"/>
                  </a:lnTo>
                  <a:lnTo>
                    <a:pt x="144931" y="287019"/>
                  </a:lnTo>
                  <a:close/>
                </a:path>
                <a:path w="329564" h="320039">
                  <a:moveTo>
                    <a:pt x="292839" y="180339"/>
                  </a:moveTo>
                  <a:lnTo>
                    <a:pt x="253993" y="180339"/>
                  </a:lnTo>
                  <a:lnTo>
                    <a:pt x="264362" y="179069"/>
                  </a:lnTo>
                  <a:lnTo>
                    <a:pt x="273588" y="175259"/>
                  </a:lnTo>
                  <a:lnTo>
                    <a:pt x="280029" y="166369"/>
                  </a:lnTo>
                  <a:lnTo>
                    <a:pt x="283111" y="156209"/>
                  </a:lnTo>
                  <a:lnTo>
                    <a:pt x="282470" y="148589"/>
                  </a:lnTo>
                  <a:lnTo>
                    <a:pt x="255029" y="124459"/>
                  </a:lnTo>
                  <a:lnTo>
                    <a:pt x="291571" y="124459"/>
                  </a:lnTo>
                  <a:lnTo>
                    <a:pt x="292761" y="125729"/>
                  </a:lnTo>
                  <a:lnTo>
                    <a:pt x="299561" y="140969"/>
                  </a:lnTo>
                  <a:lnTo>
                    <a:pt x="300907" y="158749"/>
                  </a:lnTo>
                  <a:lnTo>
                    <a:pt x="301003" y="160019"/>
                  </a:lnTo>
                  <a:lnTo>
                    <a:pt x="295803" y="176529"/>
                  </a:lnTo>
                  <a:lnTo>
                    <a:pt x="292839" y="180339"/>
                  </a:lnTo>
                  <a:close/>
                </a:path>
                <a:path w="329564" h="320039">
                  <a:moveTo>
                    <a:pt x="94569" y="132079"/>
                  </a:moveTo>
                  <a:lnTo>
                    <a:pt x="59143" y="132079"/>
                  </a:lnTo>
                  <a:lnTo>
                    <a:pt x="57049" y="130809"/>
                  </a:lnTo>
                  <a:lnTo>
                    <a:pt x="101700" y="130809"/>
                  </a:lnTo>
                  <a:lnTo>
                    <a:pt x="94569" y="132079"/>
                  </a:lnTo>
                  <a:close/>
                </a:path>
                <a:path w="329564" h="320039">
                  <a:moveTo>
                    <a:pt x="104402" y="276859"/>
                  </a:moveTo>
                  <a:lnTo>
                    <a:pt x="79361" y="271779"/>
                  </a:lnTo>
                  <a:lnTo>
                    <a:pt x="58724" y="256539"/>
                  </a:lnTo>
                  <a:lnTo>
                    <a:pt x="44592" y="233679"/>
                  </a:lnTo>
                  <a:lnTo>
                    <a:pt x="39067" y="207009"/>
                  </a:lnTo>
                  <a:lnTo>
                    <a:pt x="43613" y="181609"/>
                  </a:lnTo>
                  <a:lnTo>
                    <a:pt x="56945" y="160019"/>
                  </a:lnTo>
                  <a:lnTo>
                    <a:pt x="77043" y="144779"/>
                  </a:lnTo>
                  <a:lnTo>
                    <a:pt x="101886" y="140969"/>
                  </a:lnTo>
                  <a:lnTo>
                    <a:pt x="126927" y="146049"/>
                  </a:lnTo>
                  <a:lnTo>
                    <a:pt x="147564" y="161289"/>
                  </a:lnTo>
                  <a:lnTo>
                    <a:pt x="151721" y="167639"/>
                  </a:lnTo>
                  <a:lnTo>
                    <a:pt x="102399" y="167639"/>
                  </a:lnTo>
                  <a:lnTo>
                    <a:pt x="87677" y="171449"/>
                  </a:lnTo>
                  <a:lnTo>
                    <a:pt x="75767" y="179069"/>
                  </a:lnTo>
                  <a:lnTo>
                    <a:pt x="67866" y="191769"/>
                  </a:lnTo>
                  <a:lnTo>
                    <a:pt x="65172" y="208279"/>
                  </a:lnTo>
                  <a:lnTo>
                    <a:pt x="68446" y="223519"/>
                  </a:lnTo>
                  <a:lnTo>
                    <a:pt x="76821" y="237489"/>
                  </a:lnTo>
                  <a:lnTo>
                    <a:pt x="89051" y="246379"/>
                  </a:lnTo>
                  <a:lnTo>
                    <a:pt x="103890" y="248919"/>
                  </a:lnTo>
                  <a:lnTo>
                    <a:pt x="154833" y="248919"/>
                  </a:lnTo>
                  <a:lnTo>
                    <a:pt x="149343" y="257809"/>
                  </a:lnTo>
                  <a:lnTo>
                    <a:pt x="129245" y="271779"/>
                  </a:lnTo>
                  <a:lnTo>
                    <a:pt x="104402" y="276859"/>
                  </a:lnTo>
                  <a:close/>
                </a:path>
                <a:path w="329564" h="320039">
                  <a:moveTo>
                    <a:pt x="154833" y="248919"/>
                  </a:moveTo>
                  <a:lnTo>
                    <a:pt x="103890" y="248919"/>
                  </a:lnTo>
                  <a:lnTo>
                    <a:pt x="118612" y="246379"/>
                  </a:lnTo>
                  <a:lnTo>
                    <a:pt x="130522" y="237489"/>
                  </a:lnTo>
                  <a:lnTo>
                    <a:pt x="138422" y="224789"/>
                  </a:lnTo>
                  <a:lnTo>
                    <a:pt x="141116" y="209549"/>
                  </a:lnTo>
                  <a:lnTo>
                    <a:pt x="137842" y="194309"/>
                  </a:lnTo>
                  <a:lnTo>
                    <a:pt x="129467" y="180339"/>
                  </a:lnTo>
                  <a:lnTo>
                    <a:pt x="117238" y="171449"/>
                  </a:lnTo>
                  <a:lnTo>
                    <a:pt x="102399" y="167639"/>
                  </a:lnTo>
                  <a:lnTo>
                    <a:pt x="151721" y="167639"/>
                  </a:lnTo>
                  <a:lnTo>
                    <a:pt x="161697" y="182879"/>
                  </a:lnTo>
                  <a:lnTo>
                    <a:pt x="167222" y="209549"/>
                  </a:lnTo>
                  <a:lnTo>
                    <a:pt x="162676" y="236219"/>
                  </a:lnTo>
                  <a:lnTo>
                    <a:pt x="154833" y="248919"/>
                  </a:lnTo>
                  <a:close/>
                </a:path>
                <a:path w="329564" h="320039">
                  <a:moveTo>
                    <a:pt x="316403" y="200659"/>
                  </a:moveTo>
                  <a:lnTo>
                    <a:pt x="298692" y="196849"/>
                  </a:lnTo>
                  <a:lnTo>
                    <a:pt x="299508" y="194309"/>
                  </a:lnTo>
                  <a:lnTo>
                    <a:pt x="319167" y="194309"/>
                  </a:lnTo>
                  <a:lnTo>
                    <a:pt x="316403" y="200659"/>
                  </a:lnTo>
                  <a:close/>
                </a:path>
                <a:path w="329564" h="320039">
                  <a:moveTo>
                    <a:pt x="266453" y="229869"/>
                  </a:moveTo>
                  <a:lnTo>
                    <a:pt x="257936" y="213359"/>
                  </a:lnTo>
                  <a:lnTo>
                    <a:pt x="252791" y="213359"/>
                  </a:lnTo>
                  <a:lnTo>
                    <a:pt x="247722" y="212089"/>
                  </a:lnTo>
                  <a:lnTo>
                    <a:pt x="242894" y="210819"/>
                  </a:lnTo>
                  <a:lnTo>
                    <a:pt x="287000" y="210819"/>
                  </a:lnTo>
                  <a:lnTo>
                    <a:pt x="287441" y="223519"/>
                  </a:lnTo>
                  <a:lnTo>
                    <a:pt x="266453" y="229869"/>
                  </a:lnTo>
                  <a:close/>
                </a:path>
                <a:path w="329564" h="320039">
                  <a:moveTo>
                    <a:pt x="121010" y="320039"/>
                  </a:moveTo>
                  <a:lnTo>
                    <a:pt x="89348" y="318769"/>
                  </a:lnTo>
                  <a:lnTo>
                    <a:pt x="82922" y="293369"/>
                  </a:lnTo>
                  <a:lnTo>
                    <a:pt x="75669" y="290829"/>
                  </a:lnTo>
                  <a:lnTo>
                    <a:pt x="68790" y="288289"/>
                  </a:lnTo>
                  <a:lnTo>
                    <a:pt x="62827" y="284648"/>
                  </a:lnTo>
                  <a:lnTo>
                    <a:pt x="63168" y="284479"/>
                  </a:lnTo>
                  <a:lnTo>
                    <a:pt x="93089" y="284479"/>
                  </a:lnTo>
                  <a:lnTo>
                    <a:pt x="104589" y="287019"/>
                  </a:lnTo>
                  <a:lnTo>
                    <a:pt x="144931" y="287019"/>
                  </a:lnTo>
                  <a:lnTo>
                    <a:pt x="141650" y="289559"/>
                  </a:lnTo>
                  <a:lnTo>
                    <a:pt x="134319" y="292099"/>
                  </a:lnTo>
                  <a:lnTo>
                    <a:pt x="126500" y="294639"/>
                  </a:lnTo>
                  <a:lnTo>
                    <a:pt x="121010" y="320039"/>
                  </a:lnTo>
                  <a:close/>
                </a:path>
                <a:path w="329564" h="320039">
                  <a:moveTo>
                    <a:pt x="170024" y="299719"/>
                  </a:moveTo>
                  <a:lnTo>
                    <a:pt x="146377" y="287019"/>
                  </a:lnTo>
                  <a:lnTo>
                    <a:pt x="147995" y="284648"/>
                  </a:lnTo>
                  <a:lnTo>
                    <a:pt x="148212" y="284479"/>
                  </a:lnTo>
                  <a:lnTo>
                    <a:pt x="181949" y="284479"/>
                  </a:lnTo>
                  <a:lnTo>
                    <a:pt x="170024" y="2997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995083" y="3023325"/>
            <a:ext cx="30048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4860" algn="l"/>
                <a:tab pos="1402715" algn="l"/>
                <a:tab pos="1993900" algn="l"/>
                <a:tab pos="2904490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without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order.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represent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995083" y="3236685"/>
            <a:ext cx="2981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discrete units.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Like</a:t>
            </a:r>
            <a:r>
              <a:rPr sz="1400" b="1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Gender: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Male/Female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,Eye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colour.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9973" y="3049704"/>
            <a:ext cx="2787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160" algn="r">
              <a:lnSpc>
                <a:spcPct val="100000"/>
              </a:lnSpc>
              <a:spcBef>
                <a:spcPts val="100"/>
              </a:spcBef>
              <a:tabLst>
                <a:tab pos="472440" algn="l"/>
                <a:tab pos="949325" algn="l"/>
                <a:tab pos="1711960" algn="l"/>
                <a:tab pos="2266315" algn="l"/>
                <a:tab pos="2668905" algn="l"/>
              </a:tabLst>
            </a:pP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take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only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counted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not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endParaRPr sz="1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</a:pP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9973" y="3263065"/>
            <a:ext cx="24523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95020" algn="l"/>
                <a:tab pos="1500505" algn="l"/>
                <a:tab pos="2009139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decimal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values.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Like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count student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class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99567" y="2015382"/>
            <a:ext cx="392610" cy="392610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010986" y="2068085"/>
            <a:ext cx="304165" cy="250190"/>
          </a:xfrm>
          <a:custGeom>
            <a:avLst/>
            <a:gdLst/>
            <a:ahLst/>
            <a:cxnLst/>
            <a:rect l="l" t="t" r="r" b="b"/>
            <a:pathLst>
              <a:path w="304164" h="250189">
                <a:moveTo>
                  <a:pt x="303591" y="249945"/>
                </a:moveTo>
                <a:lnTo>
                  <a:pt x="0" y="249945"/>
                </a:lnTo>
                <a:lnTo>
                  <a:pt x="0" y="0"/>
                </a:lnTo>
                <a:lnTo>
                  <a:pt x="16866" y="0"/>
                </a:lnTo>
                <a:lnTo>
                  <a:pt x="16866" y="236059"/>
                </a:lnTo>
                <a:lnTo>
                  <a:pt x="303591" y="236059"/>
                </a:lnTo>
                <a:lnTo>
                  <a:pt x="303591" y="249945"/>
                </a:lnTo>
                <a:close/>
              </a:path>
              <a:path w="304164" h="250189">
                <a:moveTo>
                  <a:pt x="50744" y="136582"/>
                </a:moveTo>
                <a:lnTo>
                  <a:pt x="36737" y="116609"/>
                </a:lnTo>
                <a:lnTo>
                  <a:pt x="224566" y="27328"/>
                </a:lnTo>
                <a:lnTo>
                  <a:pt x="217563" y="17342"/>
                </a:lnTo>
                <a:lnTo>
                  <a:pt x="269918" y="19086"/>
                </a:lnTo>
                <a:lnTo>
                  <a:pt x="251939" y="47301"/>
                </a:lnTo>
                <a:lnTo>
                  <a:pt x="238573" y="47301"/>
                </a:lnTo>
                <a:lnTo>
                  <a:pt x="50744" y="136582"/>
                </a:lnTo>
                <a:close/>
              </a:path>
              <a:path w="304164" h="250189">
                <a:moveTo>
                  <a:pt x="245576" y="57287"/>
                </a:moveTo>
                <a:lnTo>
                  <a:pt x="238573" y="47301"/>
                </a:lnTo>
                <a:lnTo>
                  <a:pt x="251939" y="47301"/>
                </a:lnTo>
                <a:lnTo>
                  <a:pt x="245576" y="57287"/>
                </a:lnTo>
                <a:close/>
              </a:path>
              <a:path w="304164" h="250189">
                <a:moveTo>
                  <a:pt x="283924" y="225219"/>
                </a:moveTo>
                <a:lnTo>
                  <a:pt x="240072" y="225219"/>
                </a:lnTo>
                <a:lnTo>
                  <a:pt x="240072" y="75252"/>
                </a:lnTo>
                <a:lnTo>
                  <a:pt x="283924" y="75252"/>
                </a:lnTo>
                <a:lnTo>
                  <a:pt x="283924" y="225219"/>
                </a:lnTo>
                <a:close/>
              </a:path>
              <a:path w="304164" h="250189">
                <a:moveTo>
                  <a:pt x="216452" y="225219"/>
                </a:moveTo>
                <a:lnTo>
                  <a:pt x="172600" y="225219"/>
                </a:lnTo>
                <a:lnTo>
                  <a:pt x="172600" y="103024"/>
                </a:lnTo>
                <a:lnTo>
                  <a:pt x="216452" y="103024"/>
                </a:lnTo>
                <a:lnTo>
                  <a:pt x="216452" y="225219"/>
                </a:lnTo>
                <a:close/>
              </a:path>
              <a:path w="304164" h="250189">
                <a:moveTo>
                  <a:pt x="148980" y="225219"/>
                </a:moveTo>
                <a:lnTo>
                  <a:pt x="105127" y="225219"/>
                </a:lnTo>
                <a:lnTo>
                  <a:pt x="105127" y="130795"/>
                </a:lnTo>
                <a:lnTo>
                  <a:pt x="148980" y="130795"/>
                </a:lnTo>
                <a:lnTo>
                  <a:pt x="148980" y="225219"/>
                </a:lnTo>
                <a:close/>
              </a:path>
              <a:path w="304164" h="250189">
                <a:moveTo>
                  <a:pt x="81507" y="225219"/>
                </a:moveTo>
                <a:lnTo>
                  <a:pt x="37655" y="225219"/>
                </a:lnTo>
                <a:lnTo>
                  <a:pt x="37655" y="158567"/>
                </a:lnTo>
                <a:lnTo>
                  <a:pt x="81507" y="158567"/>
                </a:lnTo>
                <a:lnTo>
                  <a:pt x="81507" y="2252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4449715" y="1321337"/>
            <a:ext cx="2988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C0781B"/>
                </a:solidFill>
              </a:rPr>
              <a:t>Types</a:t>
            </a:r>
            <a:r>
              <a:rPr sz="3600" spc="-130" dirty="0">
                <a:solidFill>
                  <a:srgbClr val="C0781B"/>
                </a:solidFill>
              </a:rPr>
              <a:t> </a:t>
            </a:r>
            <a:r>
              <a:rPr sz="3600" dirty="0">
                <a:solidFill>
                  <a:srgbClr val="C0781B"/>
                </a:solidFill>
              </a:rPr>
              <a:t>of</a:t>
            </a:r>
            <a:r>
              <a:rPr sz="3600" spc="-125" dirty="0">
                <a:solidFill>
                  <a:srgbClr val="C0781B"/>
                </a:solidFill>
              </a:rPr>
              <a:t> </a:t>
            </a:r>
            <a:r>
              <a:rPr sz="3600" spc="-20" dirty="0">
                <a:solidFill>
                  <a:srgbClr val="C0781B"/>
                </a:solidFill>
              </a:rPr>
              <a:t>Data</a:t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824" y="1341637"/>
            <a:ext cx="4088129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075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Segmented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Univariate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allow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you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compare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subset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help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understand</a:t>
            </a:r>
            <a:r>
              <a:rPr sz="1400" spc="4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how</a:t>
            </a:r>
            <a:r>
              <a:rPr sz="1400" spc="4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relevant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metric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varies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across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different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segment.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3963" y="0"/>
            <a:ext cx="7408036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9453" y="215256"/>
            <a:ext cx="375920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124B6C"/>
                </a:solidFill>
              </a:rPr>
              <a:t>Segmented </a:t>
            </a:r>
            <a:r>
              <a:rPr sz="3200" dirty="0">
                <a:solidFill>
                  <a:srgbClr val="124B6C"/>
                </a:solidFill>
              </a:rPr>
              <a:t>Univariate</a:t>
            </a:r>
            <a:r>
              <a:rPr sz="3200" spc="-170" dirty="0">
                <a:solidFill>
                  <a:srgbClr val="124B6C"/>
                </a:solidFill>
              </a:rPr>
              <a:t> </a:t>
            </a:r>
            <a:r>
              <a:rPr sz="3200" spc="-10" dirty="0">
                <a:solidFill>
                  <a:srgbClr val="124B6C"/>
                </a:solidFill>
              </a:rPr>
              <a:t>Analysis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315824" y="3017697"/>
            <a:ext cx="408051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b="1" spc="3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Standard</a:t>
            </a:r>
            <a:r>
              <a:rPr sz="1400" b="1" spc="3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process</a:t>
            </a:r>
            <a:r>
              <a:rPr sz="1400" b="1" spc="3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b="1" spc="3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segmented</a:t>
            </a:r>
            <a:r>
              <a:rPr sz="1400" b="1" spc="3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univariate analysis</a:t>
            </a:r>
            <a:r>
              <a:rPr sz="1400" b="1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follow:</a:t>
            </a:r>
            <a:endParaRPr sz="1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Cambria"/>
              <a:cs typeface="Cambria"/>
            </a:endParaRPr>
          </a:p>
          <a:p>
            <a:pPr marL="297815" indent="-25844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Take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raw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endParaRPr sz="1400">
              <a:latin typeface="Cambria"/>
              <a:cs typeface="Cambria"/>
            </a:endParaRPr>
          </a:p>
          <a:p>
            <a:pPr marL="297815" indent="-25844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Group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by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dimensions</a:t>
            </a:r>
            <a:endParaRPr sz="1400">
              <a:latin typeface="Cambria"/>
              <a:cs typeface="Cambria"/>
            </a:endParaRPr>
          </a:p>
          <a:p>
            <a:pPr marL="297815" indent="-25844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Summarise</a:t>
            </a:r>
            <a:r>
              <a:rPr sz="1400" spc="4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using</a:t>
            </a:r>
            <a:r>
              <a:rPr sz="1400" spc="4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4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relevant</a:t>
            </a:r>
            <a:r>
              <a:rPr sz="1400" spc="4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metric</a:t>
            </a:r>
            <a:r>
              <a:rPr sz="1400" spc="4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like</a:t>
            </a:r>
            <a:r>
              <a:rPr sz="1400" spc="4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mean</a:t>
            </a:r>
            <a:endParaRPr sz="1400">
              <a:latin typeface="Cambria"/>
              <a:cs typeface="Cambria"/>
            </a:endParaRPr>
          </a:p>
          <a:p>
            <a:pPr marL="298450">
              <a:lnSpc>
                <a:spcPct val="100000"/>
              </a:lnSpc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,median.</a:t>
            </a:r>
            <a:endParaRPr sz="1400">
              <a:latin typeface="Cambria"/>
              <a:cs typeface="Cambria"/>
            </a:endParaRPr>
          </a:p>
          <a:p>
            <a:pPr marL="298450" marR="5080" indent="-259079">
              <a:lnSpc>
                <a:spcPct val="100000"/>
              </a:lnSpc>
              <a:buFont typeface="Arial"/>
              <a:buChar char="•"/>
              <a:tabLst>
                <a:tab pos="298450" algn="l"/>
                <a:tab pos="1158875" algn="l"/>
                <a:tab pos="1579245" algn="l"/>
                <a:tab pos="2493010" algn="l"/>
                <a:tab pos="3163570" algn="l"/>
                <a:tab pos="3822065" algn="l"/>
              </a:tabLst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Compare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aggregate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metric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across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categories.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46" y="1255671"/>
            <a:ext cx="5447665" cy="4722495"/>
            <a:chOff x="97646" y="1255671"/>
            <a:chExt cx="5447665" cy="4722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46" y="1255671"/>
              <a:ext cx="5441094" cy="47219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81771" y="1263372"/>
              <a:ext cx="3263900" cy="2813685"/>
            </a:xfrm>
            <a:custGeom>
              <a:avLst/>
              <a:gdLst/>
              <a:ahLst/>
              <a:cxnLst/>
              <a:rect l="l" t="t" r="r" b="b"/>
              <a:pathLst>
                <a:path w="3263900" h="2813685">
                  <a:moveTo>
                    <a:pt x="3263498" y="2813360"/>
                  </a:moveTo>
                  <a:lnTo>
                    <a:pt x="0" y="2813360"/>
                  </a:lnTo>
                  <a:lnTo>
                    <a:pt x="1631749" y="0"/>
                  </a:lnTo>
                  <a:lnTo>
                    <a:pt x="3263498" y="2813360"/>
                  </a:lnTo>
                  <a:close/>
                </a:path>
              </a:pathLst>
            </a:custGeom>
            <a:solidFill>
              <a:srgbClr val="FF9900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5623" rIns="0" bIns="0" rtlCol="0">
            <a:spAutoFit/>
          </a:bodyPr>
          <a:lstStyle/>
          <a:p>
            <a:pPr marL="2319655">
              <a:lnSpc>
                <a:spcPct val="100000"/>
              </a:lnSpc>
              <a:spcBef>
                <a:spcPts val="100"/>
              </a:spcBef>
            </a:pPr>
            <a:r>
              <a:rPr b="0" spc="-45" dirty="0">
                <a:solidFill>
                  <a:srgbClr val="17365D"/>
                </a:solidFill>
                <a:latin typeface="Arial Black"/>
                <a:cs typeface="Arial Black"/>
              </a:rPr>
              <a:t>Bivari</a:t>
            </a:r>
            <a:r>
              <a:rPr b="0" spc="-135" dirty="0">
                <a:solidFill>
                  <a:srgbClr val="17365D"/>
                </a:solidFill>
                <a:latin typeface="Arial Black"/>
                <a:cs typeface="Arial Black"/>
              </a:rPr>
              <a:t>a</a:t>
            </a:r>
            <a:r>
              <a:rPr b="0" spc="-45" dirty="0">
                <a:solidFill>
                  <a:srgbClr val="17365D"/>
                </a:solidFill>
                <a:latin typeface="Arial Black"/>
                <a:cs typeface="Arial Black"/>
              </a:rPr>
              <a:t>t</a:t>
            </a:r>
            <a:r>
              <a:rPr b="0" spc="400" dirty="0">
                <a:solidFill>
                  <a:srgbClr val="17365D"/>
                </a:solidFill>
                <a:latin typeface="Arial Black"/>
                <a:cs typeface="Arial Black"/>
              </a:rPr>
              <a:t>e</a:t>
            </a:r>
            <a:r>
              <a:rPr b="0" spc="-30" dirty="0">
                <a:solidFill>
                  <a:srgbClr val="17365D"/>
                </a:solidFill>
                <a:latin typeface="Arial Black"/>
                <a:cs typeface="Arial Black"/>
              </a:rPr>
              <a:t>Ana</a:t>
            </a:r>
            <a:r>
              <a:rPr b="0" spc="60" dirty="0">
                <a:solidFill>
                  <a:srgbClr val="17365D"/>
                </a:solidFill>
                <a:latin typeface="Arial Black"/>
                <a:cs typeface="Arial Black"/>
              </a:rPr>
              <a:t>l</a:t>
            </a:r>
            <a:r>
              <a:rPr b="0" spc="-40" dirty="0">
                <a:solidFill>
                  <a:srgbClr val="17365D"/>
                </a:solidFill>
                <a:latin typeface="Arial Black"/>
                <a:cs typeface="Arial Black"/>
              </a:rPr>
              <a:t>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10719" y="3890032"/>
            <a:ext cx="11074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0F243E"/>
                </a:solidFill>
                <a:latin typeface="Arial"/>
                <a:cs typeface="Arial"/>
              </a:rPr>
              <a:t>Correlation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5162" y="3941543"/>
            <a:ext cx="194565" cy="20098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31559" y="4519628"/>
            <a:ext cx="4585335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one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increases</a:t>
            </a:r>
            <a:r>
              <a:rPr sz="1200" spc="-1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200" spc="-1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other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increases,</a:t>
            </a:r>
            <a:r>
              <a:rPr sz="1200" spc="-1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correlation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1200" spc="-1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positive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33"/>
              </a:buClr>
              <a:buFont typeface="Arial"/>
              <a:buChar char="●"/>
            </a:pPr>
            <a:endParaRPr sz="1200">
              <a:latin typeface="Cambria"/>
              <a:cs typeface="Cambria"/>
            </a:endParaRPr>
          </a:p>
          <a:p>
            <a:pPr marL="332740" indent="-320040">
              <a:lnSpc>
                <a:spcPct val="100000"/>
              </a:lnSpc>
              <a:buFont typeface="Arial"/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one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decreases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other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increases,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correlation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negative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33333"/>
              </a:buClr>
              <a:buFont typeface="Arial"/>
              <a:buChar char="●"/>
            </a:pPr>
            <a:endParaRPr sz="1200">
              <a:latin typeface="Cambria"/>
              <a:cs typeface="Cambria"/>
            </a:endParaRPr>
          </a:p>
          <a:p>
            <a:pPr marL="332740" indent="-320040">
              <a:lnSpc>
                <a:spcPct val="100000"/>
              </a:lnSpc>
              <a:buFont typeface="Arial"/>
              <a:buChar char="●"/>
              <a:tabLst>
                <a:tab pos="332740" algn="l"/>
              </a:tabLst>
            </a:pP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12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one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stays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45" dirty="0">
                <a:solidFill>
                  <a:srgbClr val="333333"/>
                </a:solidFill>
                <a:latin typeface="Cambria"/>
                <a:cs typeface="Cambria"/>
              </a:rPr>
              <a:t>c</a:t>
            </a:r>
            <a:r>
              <a:rPr sz="1200" spc="-45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1200" spc="-45" dirty="0">
                <a:solidFill>
                  <a:srgbClr val="333333"/>
                </a:solidFill>
                <a:latin typeface="Cambria"/>
                <a:cs typeface="Cambria"/>
              </a:rPr>
              <a:t>onstant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other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varies,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Cambria"/>
                <a:cs typeface="Cambria"/>
              </a:rPr>
              <a:t>correlation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1200" spc="-20" dirty="0">
                <a:solidFill>
                  <a:srgbClr val="333333"/>
                </a:solidFill>
                <a:latin typeface="Cambria"/>
                <a:cs typeface="Cambria"/>
              </a:rPr>
              <a:t> zero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5162" y="6154320"/>
            <a:ext cx="194564" cy="20098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57381" y="5905437"/>
            <a:ext cx="3749675" cy="54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4995">
              <a:lnSpc>
                <a:spcPts val="1095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35"/>
              </a:lnSpc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Covariance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measure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how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much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two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random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vary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together.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Its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25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-</a:t>
            </a:r>
            <a:r>
              <a:rPr sz="1400" dirty="0">
                <a:solidFill>
                  <a:srgbClr val="0C0C0C"/>
                </a:solidFill>
                <a:latin typeface="Times New Roman"/>
                <a:cs typeface="Times New Roman"/>
              </a:rPr>
              <a:t>∞</a:t>
            </a:r>
            <a:r>
              <a:rPr sz="14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+</a:t>
            </a:r>
            <a:r>
              <a:rPr sz="1400" spc="-25" dirty="0">
                <a:solidFill>
                  <a:srgbClr val="0C0C0C"/>
                </a:solidFill>
                <a:latin typeface="Times New Roman"/>
                <a:cs typeface="Times New Roman"/>
              </a:rPr>
              <a:t>∞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8293" y="1686732"/>
            <a:ext cx="36518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which</a:t>
            </a:r>
            <a:r>
              <a:rPr sz="16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has</a:t>
            </a:r>
            <a:r>
              <a:rPr sz="16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two</a:t>
            </a:r>
            <a:r>
              <a:rPr sz="16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variables</a:t>
            </a:r>
            <a:r>
              <a:rPr sz="1600" spc="1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,you</a:t>
            </a:r>
            <a:r>
              <a:rPr sz="1600" spc="1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often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want</a:t>
            </a:r>
            <a:r>
              <a:rPr sz="1600" spc="7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8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measure</a:t>
            </a:r>
            <a:r>
              <a:rPr sz="1600" spc="7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75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relationship</a:t>
            </a:r>
            <a:r>
              <a:rPr sz="1600" spc="8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that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exists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between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these</a:t>
            </a:r>
            <a:r>
              <a:rPr sz="16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two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variables.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7381" y="3169117"/>
            <a:ext cx="40855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C0C0C"/>
                </a:solidFill>
                <a:latin typeface="Cambria"/>
                <a:cs typeface="Cambria"/>
              </a:rPr>
              <a:t>Bi-</a:t>
            </a:r>
            <a:r>
              <a:rPr sz="1800" b="1" dirty="0">
                <a:solidFill>
                  <a:srgbClr val="0C0C0C"/>
                </a:solidFill>
                <a:latin typeface="Cambria"/>
                <a:cs typeface="Cambria"/>
              </a:rPr>
              <a:t>variate</a:t>
            </a:r>
            <a:r>
              <a:rPr sz="1800" b="1" spc="-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0C0C0C"/>
                </a:solidFill>
                <a:latin typeface="Cambria"/>
                <a:cs typeface="Cambria"/>
              </a:rPr>
              <a:t>Types: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800">
              <a:latin typeface="Cambria"/>
              <a:cs typeface="Cambria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Correlation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measure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strength</a:t>
            </a:r>
            <a:r>
              <a:rPr sz="1400" spc="40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400" spc="4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well</a:t>
            </a:r>
            <a:r>
              <a:rPr sz="1400" spc="40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1400" spc="3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the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direction</a:t>
            </a:r>
            <a:r>
              <a:rPr sz="1400" spc="1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linear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relationship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between</a:t>
            </a:r>
            <a:r>
              <a:rPr sz="1400" spc="1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1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two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variables.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Its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-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1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+1.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9415" y="6092293"/>
            <a:ext cx="11207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17365D"/>
                </a:solidFill>
                <a:latin typeface="Arial"/>
                <a:cs typeface="Arial"/>
              </a:rPr>
              <a:t>Covariance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0388" y="1344526"/>
            <a:ext cx="922782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400" spc="-5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see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distribution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two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categorical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variables.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For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example,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you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want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compare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number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boys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and</a:t>
            </a:r>
            <a:r>
              <a:rPr sz="1400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girls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who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play</a:t>
            </a:r>
            <a:r>
              <a:rPr sz="1400" spc="-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games,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you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can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make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‘cross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table’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given</a:t>
            </a:r>
            <a:r>
              <a:rPr sz="1400" spc="-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below: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0388" y="4888740"/>
            <a:ext cx="925195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1400" spc="-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see</a:t>
            </a:r>
            <a:r>
              <a:rPr sz="1400" spc="-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mbria"/>
                <a:cs typeface="Cambria"/>
              </a:rPr>
              <a:t>distribution</a:t>
            </a:r>
            <a:r>
              <a:rPr sz="1400" b="1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1400" b="1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mbria"/>
                <a:cs typeface="Cambria"/>
              </a:rPr>
              <a:t>two</a:t>
            </a:r>
            <a:r>
              <a:rPr sz="1400" b="1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Cambria"/>
                <a:cs typeface="Cambria"/>
              </a:rPr>
              <a:t>categorical</a:t>
            </a:r>
            <a:r>
              <a:rPr sz="1400" b="1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Cambria"/>
                <a:cs typeface="Cambria"/>
              </a:rPr>
              <a:t>variables</a:t>
            </a:r>
            <a:r>
              <a:rPr sz="1400" b="1" spc="-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with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one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continuous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variable.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For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example,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you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saw</a:t>
            </a:r>
            <a:r>
              <a:rPr sz="1400" spc="-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how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1400" spc="-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student’s</a:t>
            </a:r>
            <a:endParaRPr sz="1400">
              <a:latin typeface="Cambria"/>
              <a:cs typeface="Cambria"/>
            </a:endParaRPr>
          </a:p>
          <a:p>
            <a:pPr marL="12700" marR="650875">
              <a:lnSpc>
                <a:spcPct val="200000"/>
              </a:lnSpc>
            </a:pP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percentage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in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science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distributed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based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on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father’s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occupation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(categorical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variable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1)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and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poverty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333333"/>
                </a:solidFill>
                <a:latin typeface="Cambria"/>
                <a:cs typeface="Cambria"/>
              </a:rPr>
              <a:t>level (categorical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33333"/>
                </a:solidFill>
                <a:latin typeface="Cambria"/>
                <a:cs typeface="Cambria"/>
              </a:rPr>
              <a:t>variable</a:t>
            </a:r>
            <a:r>
              <a:rPr sz="14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mbria"/>
                <a:cs typeface="Cambria"/>
              </a:rPr>
              <a:t>2).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1748" y="2536322"/>
            <a:ext cx="9033510" cy="1841500"/>
            <a:chOff x="1301748" y="2536322"/>
            <a:chExt cx="9033510" cy="1841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748" y="2536322"/>
              <a:ext cx="9033280" cy="18412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6198" y="2552832"/>
              <a:ext cx="8944379" cy="175233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0794" y="306852"/>
            <a:ext cx="2440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2F5496"/>
                </a:solidFill>
                <a:latin typeface="Calibri"/>
                <a:cs typeface="Calibri"/>
              </a:rPr>
              <a:t>Example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6882" y="341603"/>
            <a:ext cx="6075045" cy="837565"/>
          </a:xfrm>
          <a:prstGeom prst="rect">
            <a:avLst/>
          </a:prstGeom>
          <a:solidFill>
            <a:srgbClr val="DDD9C3"/>
          </a:solidFill>
        </p:spPr>
        <p:txBody>
          <a:bodyPr vert="horz" wrap="square" lIns="0" tIns="0" rIns="0" bIns="0" rtlCol="0">
            <a:spAutoFit/>
          </a:bodyPr>
          <a:lstStyle/>
          <a:p>
            <a:pPr marL="483234">
              <a:lnSpc>
                <a:spcPts val="6125"/>
              </a:lnSpc>
            </a:pPr>
            <a:r>
              <a:rPr dirty="0">
                <a:solidFill>
                  <a:srgbClr val="0C3148"/>
                </a:solidFill>
              </a:rPr>
              <a:t>Derived</a:t>
            </a:r>
            <a:r>
              <a:rPr spc="-40" dirty="0">
                <a:solidFill>
                  <a:srgbClr val="0C3148"/>
                </a:solidFill>
              </a:rPr>
              <a:t> </a:t>
            </a:r>
            <a:r>
              <a:rPr spc="-10" dirty="0">
                <a:solidFill>
                  <a:srgbClr val="0C3148"/>
                </a:solidFill>
              </a:rPr>
              <a:t>Metrics</a:t>
            </a:r>
          </a:p>
        </p:txBody>
      </p:sp>
      <p:sp>
        <p:nvSpPr>
          <p:cNvPr id="3" name="object 3"/>
          <p:cNvSpPr/>
          <p:nvPr/>
        </p:nvSpPr>
        <p:spPr>
          <a:xfrm>
            <a:off x="6164786" y="2232802"/>
            <a:ext cx="5220335" cy="684530"/>
          </a:xfrm>
          <a:custGeom>
            <a:avLst/>
            <a:gdLst/>
            <a:ahLst/>
            <a:cxnLst/>
            <a:rect l="l" t="t" r="r" b="b"/>
            <a:pathLst>
              <a:path w="5220334" h="684530">
                <a:moveTo>
                  <a:pt x="5219999" y="683999"/>
                </a:moveTo>
                <a:lnTo>
                  <a:pt x="0" y="683999"/>
                </a:lnTo>
                <a:lnTo>
                  <a:pt x="0" y="0"/>
                </a:lnTo>
                <a:lnTo>
                  <a:pt x="5219999" y="0"/>
                </a:lnTo>
                <a:lnTo>
                  <a:pt x="5219999" y="683999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92111" y="2415797"/>
            <a:ext cx="1764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Feature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Binning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6511" y="2146371"/>
            <a:ext cx="10417810" cy="4711700"/>
            <a:chOff x="876511" y="2146371"/>
            <a:chExt cx="10417810" cy="4711700"/>
          </a:xfrm>
        </p:grpSpPr>
        <p:sp>
          <p:nvSpPr>
            <p:cNvPr id="6" name="object 6"/>
            <p:cNvSpPr/>
            <p:nvPr/>
          </p:nvSpPr>
          <p:spPr>
            <a:xfrm>
              <a:off x="876511" y="2986354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5" h="684529">
                  <a:moveTo>
                    <a:pt x="5219999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19999" y="0"/>
                  </a:lnTo>
                  <a:lnTo>
                    <a:pt x="5219999" y="683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74325" y="3697548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4" h="684529">
                  <a:moveTo>
                    <a:pt x="5219999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19999" y="0"/>
                  </a:lnTo>
                  <a:lnTo>
                    <a:pt x="5219999" y="683999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7675" y="4346132"/>
              <a:ext cx="5220335" cy="684530"/>
            </a:xfrm>
            <a:custGeom>
              <a:avLst/>
              <a:gdLst/>
              <a:ahLst/>
              <a:cxnLst/>
              <a:rect l="l" t="t" r="r" b="b"/>
              <a:pathLst>
                <a:path w="5220335" h="684529">
                  <a:moveTo>
                    <a:pt x="5219999" y="683999"/>
                  </a:moveTo>
                  <a:lnTo>
                    <a:pt x="0" y="683999"/>
                  </a:lnTo>
                  <a:lnTo>
                    <a:pt x="0" y="0"/>
                  </a:lnTo>
                  <a:lnTo>
                    <a:pt x="5219999" y="0"/>
                  </a:lnTo>
                  <a:lnTo>
                    <a:pt x="5219999" y="6839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7061" y="2146371"/>
              <a:ext cx="4824535" cy="471162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381" y="2307369"/>
              <a:ext cx="2699999" cy="27758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36941" y="1385151"/>
            <a:ext cx="4450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Derived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metrics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create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new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600" spc="3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the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existing</a:t>
            </a:r>
            <a:r>
              <a:rPr sz="16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6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get</a:t>
            </a:r>
            <a:r>
              <a:rPr sz="16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insightful</a:t>
            </a:r>
            <a:r>
              <a:rPr sz="16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information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by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analysing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b="1" spc="-20" dirty="0">
                <a:solidFill>
                  <a:srgbClr val="0C0C0C"/>
                </a:solidFill>
                <a:latin typeface="Cambria"/>
                <a:cs typeface="Cambria"/>
              </a:rPr>
              <a:t>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093" y="3018607"/>
            <a:ext cx="5231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C0C0C"/>
                </a:solidFill>
                <a:latin typeface="Arial"/>
                <a:cs typeface="Arial"/>
              </a:rPr>
              <a:t>Feature</a:t>
            </a:r>
            <a:r>
              <a:rPr sz="2000" b="1" spc="-114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C0C0C"/>
                </a:solidFill>
                <a:latin typeface="Arial"/>
                <a:cs typeface="Arial"/>
              </a:rPr>
              <a:t>Encoding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7093" y="3787102"/>
            <a:ext cx="104076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7190" algn="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Domain</a:t>
            </a:r>
            <a:r>
              <a:rPr sz="20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7093" y="4518705"/>
            <a:ext cx="5231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C0C0C"/>
                </a:solidFill>
                <a:latin typeface="Arial"/>
                <a:cs typeface="Arial"/>
              </a:rPr>
              <a:t>Calculated</a:t>
            </a:r>
            <a:r>
              <a:rPr sz="2000" b="1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C0C0C"/>
                </a:solidFill>
                <a:latin typeface="Arial"/>
                <a:cs typeface="Arial"/>
              </a:rPr>
              <a:t>from</a:t>
            </a:r>
            <a:r>
              <a:rPr sz="2000" b="1" spc="-35" dirty="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4303" y="2447612"/>
            <a:ext cx="335308" cy="3292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248" y="1341637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6139" y="0"/>
            <a:ext cx="7155861" cy="679803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3357" y="276916"/>
            <a:ext cx="46609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124B6C"/>
                </a:solidFill>
              </a:rPr>
              <a:t>Feature</a:t>
            </a:r>
            <a:r>
              <a:rPr sz="4800" spc="-210" dirty="0">
                <a:solidFill>
                  <a:srgbClr val="124B6C"/>
                </a:solidFill>
              </a:rPr>
              <a:t> </a:t>
            </a:r>
            <a:r>
              <a:rPr sz="4800" spc="-10" dirty="0">
                <a:solidFill>
                  <a:srgbClr val="124B6C"/>
                </a:solidFill>
              </a:rPr>
              <a:t>Binning</a:t>
            </a:r>
            <a:endParaRPr sz="4800"/>
          </a:p>
        </p:txBody>
      </p:sp>
      <p:sp>
        <p:nvSpPr>
          <p:cNvPr id="5" name="object 5"/>
          <p:cNvSpPr txBox="1"/>
          <p:nvPr/>
        </p:nvSpPr>
        <p:spPr>
          <a:xfrm>
            <a:off x="335598" y="1721944"/>
            <a:ext cx="18148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continuous/numeric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598" y="1478104"/>
            <a:ext cx="27755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230" algn="r">
              <a:lnSpc>
                <a:spcPct val="100000"/>
              </a:lnSpc>
              <a:spcBef>
                <a:spcPts val="100"/>
              </a:spcBef>
              <a:tabLst>
                <a:tab pos="971550" algn="l"/>
                <a:tab pos="1948180" algn="l"/>
              </a:tabLst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Feature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converts</a:t>
            </a:r>
            <a:endParaRPr sz="16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0327" y="1478104"/>
            <a:ext cx="14116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0"/>
              </a:spcBef>
              <a:tabLst>
                <a:tab pos="451484" algn="l"/>
                <a:tab pos="516255" algn="l"/>
              </a:tabLst>
            </a:pP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		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transform 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773" y="1965783"/>
            <a:ext cx="448627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1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variable.</a:t>
            </a:r>
            <a:r>
              <a:rPr sz="16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also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be</a:t>
            </a:r>
            <a:r>
              <a:rPr sz="1600" spc="3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used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identify</a:t>
            </a:r>
            <a:r>
              <a:rPr sz="1600" spc="3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missing values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outliers.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600">
              <a:latin typeface="Cambria"/>
              <a:cs typeface="Cambria"/>
            </a:endParaRPr>
          </a:p>
          <a:p>
            <a:pPr marL="80010">
              <a:lnSpc>
                <a:spcPct val="100000"/>
              </a:lnSpc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Type</a:t>
            </a:r>
            <a:r>
              <a:rPr sz="16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Binning:-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mbria"/>
              <a:cs typeface="Cambria"/>
            </a:endParaRPr>
          </a:p>
          <a:p>
            <a:pPr marL="422909" indent="-410209">
              <a:lnSpc>
                <a:spcPct val="100000"/>
              </a:lnSpc>
              <a:buFont typeface="Arial"/>
              <a:buAutoNum type="arabicPeriod"/>
              <a:tabLst>
                <a:tab pos="422909" algn="l"/>
              </a:tabLst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Unsupervised</a:t>
            </a:r>
            <a:r>
              <a:rPr sz="1600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endParaRPr sz="1600">
              <a:latin typeface="Cambria"/>
              <a:cs typeface="Cambria"/>
            </a:endParaRPr>
          </a:p>
          <a:p>
            <a:pPr marL="791845" lvl="1" indent="-179705">
              <a:lnSpc>
                <a:spcPct val="100000"/>
              </a:lnSpc>
              <a:buSzPct val="93750"/>
              <a:buAutoNum type="alphaLcParenR"/>
              <a:tabLst>
                <a:tab pos="791845" algn="l"/>
              </a:tabLst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Equal</a:t>
            </a:r>
            <a:r>
              <a:rPr sz="1600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width</a:t>
            </a:r>
            <a:r>
              <a:rPr sz="1600" spc="-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endParaRPr sz="1600">
              <a:latin typeface="Cambria"/>
              <a:cs typeface="Cambria"/>
            </a:endParaRPr>
          </a:p>
          <a:p>
            <a:pPr marL="848994" lvl="1" indent="-190500">
              <a:lnSpc>
                <a:spcPct val="100000"/>
              </a:lnSpc>
              <a:buSzPct val="93750"/>
              <a:buAutoNum type="alphaLcParenR"/>
              <a:tabLst>
                <a:tab pos="848994" algn="l"/>
              </a:tabLst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Equal</a:t>
            </a:r>
            <a:r>
              <a:rPr sz="1600" spc="-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frequency</a:t>
            </a:r>
            <a:r>
              <a:rPr sz="1600" spc="-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endParaRPr sz="16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C0C0C"/>
              </a:buClr>
              <a:buFont typeface="Cambria"/>
              <a:buAutoNum type="alphaLcParenR"/>
            </a:pPr>
            <a:endParaRPr sz="1600">
              <a:latin typeface="Cambria"/>
              <a:cs typeface="Cambria"/>
            </a:endParaRPr>
          </a:p>
          <a:p>
            <a:pPr marL="422909" indent="-394970">
              <a:lnSpc>
                <a:spcPct val="100000"/>
              </a:lnSpc>
              <a:buAutoNum type="arabicPeriod"/>
              <a:tabLst>
                <a:tab pos="422909" algn="l"/>
              </a:tabLst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Supervised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endParaRPr sz="1600">
              <a:latin typeface="Cambria"/>
              <a:cs typeface="Cambria"/>
            </a:endParaRPr>
          </a:p>
          <a:p>
            <a:pPr marL="746760" lvl="1" indent="-219710">
              <a:lnSpc>
                <a:spcPct val="100000"/>
              </a:lnSpc>
              <a:buSzPct val="93750"/>
              <a:buAutoNum type="alphaLcParenR"/>
              <a:tabLst>
                <a:tab pos="746760" algn="l"/>
              </a:tabLst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Entropy</a:t>
            </a:r>
            <a:r>
              <a:rPr sz="16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based</a:t>
            </a:r>
            <a:r>
              <a:rPr sz="16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26308" y="1782285"/>
            <a:ext cx="1387475" cy="1468755"/>
          </a:xfrm>
          <a:custGeom>
            <a:avLst/>
            <a:gdLst/>
            <a:ahLst/>
            <a:cxnLst/>
            <a:rect l="l" t="t" r="r" b="b"/>
            <a:pathLst>
              <a:path w="1387475" h="1468755">
                <a:moveTo>
                  <a:pt x="1040275" y="1468575"/>
                </a:moveTo>
                <a:lnTo>
                  <a:pt x="346758" y="1468575"/>
                </a:lnTo>
                <a:lnTo>
                  <a:pt x="346758" y="693516"/>
                </a:lnTo>
                <a:lnTo>
                  <a:pt x="0" y="693516"/>
                </a:lnTo>
                <a:lnTo>
                  <a:pt x="693517" y="0"/>
                </a:lnTo>
                <a:lnTo>
                  <a:pt x="1387033" y="693516"/>
                </a:lnTo>
                <a:lnTo>
                  <a:pt x="1040275" y="693516"/>
                </a:lnTo>
                <a:lnTo>
                  <a:pt x="1040275" y="1468575"/>
                </a:lnTo>
                <a:close/>
              </a:path>
            </a:pathLst>
          </a:custGeom>
          <a:solidFill>
            <a:srgbClr val="F9B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83069" y="4541546"/>
            <a:ext cx="1387475" cy="1468755"/>
          </a:xfrm>
          <a:custGeom>
            <a:avLst/>
            <a:gdLst/>
            <a:ahLst/>
            <a:cxnLst/>
            <a:rect l="l" t="t" r="r" b="b"/>
            <a:pathLst>
              <a:path w="1387475" h="1468754">
                <a:moveTo>
                  <a:pt x="693517" y="1468575"/>
                </a:moveTo>
                <a:lnTo>
                  <a:pt x="0" y="775058"/>
                </a:lnTo>
                <a:lnTo>
                  <a:pt x="346758" y="775058"/>
                </a:lnTo>
                <a:lnTo>
                  <a:pt x="346758" y="0"/>
                </a:lnTo>
                <a:lnTo>
                  <a:pt x="1040275" y="0"/>
                </a:lnTo>
                <a:lnTo>
                  <a:pt x="1040275" y="775058"/>
                </a:lnTo>
                <a:lnTo>
                  <a:pt x="1387034" y="775058"/>
                </a:lnTo>
                <a:lnTo>
                  <a:pt x="693517" y="1468575"/>
                </a:lnTo>
                <a:close/>
              </a:path>
            </a:pathLst>
          </a:custGeom>
          <a:solidFill>
            <a:srgbClr val="124B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89091" y="5009074"/>
            <a:ext cx="6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76287" y="2033811"/>
            <a:ext cx="2583815" cy="3915410"/>
            <a:chOff x="4776287" y="2033811"/>
            <a:chExt cx="2583815" cy="3915410"/>
          </a:xfrm>
        </p:grpSpPr>
        <p:sp>
          <p:nvSpPr>
            <p:cNvPr id="6" name="object 6"/>
            <p:cNvSpPr/>
            <p:nvPr/>
          </p:nvSpPr>
          <p:spPr>
            <a:xfrm>
              <a:off x="5826468" y="2033811"/>
              <a:ext cx="1008380" cy="1169670"/>
            </a:xfrm>
            <a:custGeom>
              <a:avLst/>
              <a:gdLst/>
              <a:ahLst/>
              <a:cxnLst/>
              <a:rect l="l" t="t" r="r" b="b"/>
              <a:pathLst>
                <a:path w="1008379" h="1169670">
                  <a:moveTo>
                    <a:pt x="504142" y="1169610"/>
                  </a:moveTo>
                  <a:lnTo>
                    <a:pt x="0" y="876501"/>
                  </a:lnTo>
                  <a:lnTo>
                    <a:pt x="0" y="293108"/>
                  </a:lnTo>
                  <a:lnTo>
                    <a:pt x="504142" y="0"/>
                  </a:lnTo>
                  <a:lnTo>
                    <a:pt x="1008284" y="293108"/>
                  </a:lnTo>
                  <a:lnTo>
                    <a:pt x="1008284" y="876501"/>
                  </a:lnTo>
                  <a:lnTo>
                    <a:pt x="504142" y="1169610"/>
                  </a:lnTo>
                  <a:close/>
                </a:path>
              </a:pathLst>
            </a:custGeom>
            <a:solidFill>
              <a:srgbClr val="0C3148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51558" y="2942990"/>
              <a:ext cx="1008380" cy="1169670"/>
            </a:xfrm>
            <a:custGeom>
              <a:avLst/>
              <a:gdLst/>
              <a:ahLst/>
              <a:cxnLst/>
              <a:rect l="l" t="t" r="r" b="b"/>
              <a:pathLst>
                <a:path w="1008379" h="1169670">
                  <a:moveTo>
                    <a:pt x="504141" y="1169610"/>
                  </a:moveTo>
                  <a:lnTo>
                    <a:pt x="0" y="876502"/>
                  </a:lnTo>
                  <a:lnTo>
                    <a:pt x="0" y="293108"/>
                  </a:lnTo>
                  <a:lnTo>
                    <a:pt x="504141" y="0"/>
                  </a:lnTo>
                  <a:lnTo>
                    <a:pt x="1008284" y="293108"/>
                  </a:lnTo>
                  <a:lnTo>
                    <a:pt x="1008284" y="876502"/>
                  </a:lnTo>
                  <a:lnTo>
                    <a:pt x="504141" y="1169610"/>
                  </a:lnTo>
                  <a:close/>
                </a:path>
              </a:pathLst>
            </a:custGeom>
            <a:solidFill>
              <a:srgbClr val="FF99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01376" y="2942990"/>
              <a:ext cx="1008380" cy="1169670"/>
            </a:xfrm>
            <a:custGeom>
              <a:avLst/>
              <a:gdLst/>
              <a:ahLst/>
              <a:cxnLst/>
              <a:rect l="l" t="t" r="r" b="b"/>
              <a:pathLst>
                <a:path w="1008379" h="1169670">
                  <a:moveTo>
                    <a:pt x="504141" y="1169610"/>
                  </a:moveTo>
                  <a:lnTo>
                    <a:pt x="0" y="876502"/>
                  </a:lnTo>
                  <a:lnTo>
                    <a:pt x="0" y="293108"/>
                  </a:lnTo>
                  <a:lnTo>
                    <a:pt x="504141" y="0"/>
                  </a:lnTo>
                  <a:lnTo>
                    <a:pt x="1008283" y="293108"/>
                  </a:lnTo>
                  <a:lnTo>
                    <a:pt x="1008283" y="876502"/>
                  </a:lnTo>
                  <a:lnTo>
                    <a:pt x="504141" y="1169610"/>
                  </a:lnTo>
                  <a:close/>
                </a:path>
              </a:pathLst>
            </a:custGeom>
            <a:solidFill>
              <a:srgbClr val="0B6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5213" y="4779181"/>
              <a:ext cx="1008380" cy="1169670"/>
            </a:xfrm>
            <a:custGeom>
              <a:avLst/>
              <a:gdLst/>
              <a:ahLst/>
              <a:cxnLst/>
              <a:rect l="l" t="t" r="r" b="b"/>
              <a:pathLst>
                <a:path w="1008379" h="1169670">
                  <a:moveTo>
                    <a:pt x="504141" y="1169610"/>
                  </a:moveTo>
                  <a:lnTo>
                    <a:pt x="0" y="876501"/>
                  </a:lnTo>
                  <a:lnTo>
                    <a:pt x="0" y="293108"/>
                  </a:lnTo>
                  <a:lnTo>
                    <a:pt x="504141" y="0"/>
                  </a:lnTo>
                  <a:lnTo>
                    <a:pt x="1008283" y="293108"/>
                  </a:lnTo>
                  <a:lnTo>
                    <a:pt x="1008283" y="876501"/>
                  </a:lnTo>
                  <a:lnTo>
                    <a:pt x="504141" y="1169610"/>
                  </a:lnTo>
                  <a:close/>
                </a:path>
              </a:pathLst>
            </a:custGeom>
            <a:solidFill>
              <a:srgbClr val="FF99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76287" y="3855194"/>
              <a:ext cx="1008380" cy="1169670"/>
            </a:xfrm>
            <a:custGeom>
              <a:avLst/>
              <a:gdLst/>
              <a:ahLst/>
              <a:cxnLst/>
              <a:rect l="l" t="t" r="r" b="b"/>
              <a:pathLst>
                <a:path w="1008379" h="1169670">
                  <a:moveTo>
                    <a:pt x="504141" y="1169609"/>
                  </a:moveTo>
                  <a:lnTo>
                    <a:pt x="0" y="876501"/>
                  </a:lnTo>
                  <a:lnTo>
                    <a:pt x="0" y="293108"/>
                  </a:lnTo>
                  <a:lnTo>
                    <a:pt x="504141" y="0"/>
                  </a:lnTo>
                  <a:lnTo>
                    <a:pt x="1008283" y="293108"/>
                  </a:lnTo>
                  <a:lnTo>
                    <a:pt x="1008283" y="876501"/>
                  </a:lnTo>
                  <a:lnTo>
                    <a:pt x="504141" y="1169609"/>
                  </a:lnTo>
                  <a:close/>
                </a:path>
              </a:pathLst>
            </a:custGeom>
            <a:solidFill>
              <a:srgbClr val="127A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26469" y="3855194"/>
              <a:ext cx="1008380" cy="1169670"/>
            </a:xfrm>
            <a:custGeom>
              <a:avLst/>
              <a:gdLst/>
              <a:ahLst/>
              <a:cxnLst/>
              <a:rect l="l" t="t" r="r" b="b"/>
              <a:pathLst>
                <a:path w="1008379" h="1169670">
                  <a:moveTo>
                    <a:pt x="504141" y="1169609"/>
                  </a:moveTo>
                  <a:lnTo>
                    <a:pt x="0" y="876501"/>
                  </a:lnTo>
                  <a:lnTo>
                    <a:pt x="0" y="293108"/>
                  </a:lnTo>
                  <a:lnTo>
                    <a:pt x="504141" y="0"/>
                  </a:lnTo>
                  <a:lnTo>
                    <a:pt x="1008283" y="293108"/>
                  </a:lnTo>
                  <a:lnTo>
                    <a:pt x="1008283" y="876501"/>
                  </a:lnTo>
                  <a:lnTo>
                    <a:pt x="504141" y="1169609"/>
                  </a:lnTo>
                  <a:close/>
                </a:path>
              </a:pathLst>
            </a:custGeom>
            <a:solidFill>
              <a:srgbClr val="0F243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3323" y="2421844"/>
              <a:ext cx="335308" cy="35339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131016" y="3183826"/>
              <a:ext cx="1882775" cy="2385695"/>
            </a:xfrm>
            <a:custGeom>
              <a:avLst/>
              <a:gdLst/>
              <a:ahLst/>
              <a:cxnLst/>
              <a:rect l="l" t="t" r="r" b="b"/>
              <a:pathLst>
                <a:path w="1882775" h="2385695">
                  <a:moveTo>
                    <a:pt x="284340" y="1156144"/>
                  </a:moveTo>
                  <a:lnTo>
                    <a:pt x="270725" y="1116571"/>
                  </a:lnTo>
                  <a:lnTo>
                    <a:pt x="262445" y="1107071"/>
                  </a:lnTo>
                  <a:lnTo>
                    <a:pt x="243255" y="1084999"/>
                  </a:lnTo>
                  <a:lnTo>
                    <a:pt x="240271" y="1083525"/>
                  </a:lnTo>
                  <a:lnTo>
                    <a:pt x="240271" y="1162253"/>
                  </a:lnTo>
                  <a:lnTo>
                    <a:pt x="238671" y="1187894"/>
                  </a:lnTo>
                  <a:lnTo>
                    <a:pt x="227241" y="1210894"/>
                  </a:lnTo>
                  <a:lnTo>
                    <a:pt x="208534" y="1227175"/>
                  </a:lnTo>
                  <a:lnTo>
                    <a:pt x="185089" y="1235240"/>
                  </a:lnTo>
                  <a:lnTo>
                    <a:pt x="159448" y="1233627"/>
                  </a:lnTo>
                  <a:lnTo>
                    <a:pt x="136448" y="1222209"/>
                  </a:lnTo>
                  <a:lnTo>
                    <a:pt x="120167" y="1203490"/>
                  </a:lnTo>
                  <a:lnTo>
                    <a:pt x="112102" y="1180045"/>
                  </a:lnTo>
                  <a:lnTo>
                    <a:pt x="113715" y="1154417"/>
                  </a:lnTo>
                  <a:lnTo>
                    <a:pt x="125133" y="1131404"/>
                  </a:lnTo>
                  <a:lnTo>
                    <a:pt x="143852" y="1115136"/>
                  </a:lnTo>
                  <a:lnTo>
                    <a:pt x="167297" y="1107071"/>
                  </a:lnTo>
                  <a:lnTo>
                    <a:pt x="192925" y="1108671"/>
                  </a:lnTo>
                  <a:lnTo>
                    <a:pt x="215938" y="1120101"/>
                  </a:lnTo>
                  <a:lnTo>
                    <a:pt x="232130" y="1138720"/>
                  </a:lnTo>
                  <a:lnTo>
                    <a:pt x="233616" y="1142898"/>
                  </a:lnTo>
                  <a:lnTo>
                    <a:pt x="240271" y="1162253"/>
                  </a:lnTo>
                  <a:lnTo>
                    <a:pt x="240271" y="1083525"/>
                  </a:lnTo>
                  <a:lnTo>
                    <a:pt x="204444" y="1065720"/>
                  </a:lnTo>
                  <a:lnTo>
                    <a:pt x="161175" y="1063002"/>
                  </a:lnTo>
                  <a:lnTo>
                    <a:pt x="121615" y="1076617"/>
                  </a:lnTo>
                  <a:lnTo>
                    <a:pt x="90043" y="1104087"/>
                  </a:lnTo>
                  <a:lnTo>
                    <a:pt x="70751" y="1142898"/>
                  </a:lnTo>
                  <a:lnTo>
                    <a:pt x="70624" y="1144917"/>
                  </a:lnTo>
                  <a:lnTo>
                    <a:pt x="68046" y="1186167"/>
                  </a:lnTo>
                  <a:lnTo>
                    <a:pt x="81661" y="1225727"/>
                  </a:lnTo>
                  <a:lnTo>
                    <a:pt x="109118" y="1257300"/>
                  </a:lnTo>
                  <a:lnTo>
                    <a:pt x="147942" y="1276591"/>
                  </a:lnTo>
                  <a:lnTo>
                    <a:pt x="191198" y="1279296"/>
                  </a:lnTo>
                  <a:lnTo>
                    <a:pt x="230771" y="1265682"/>
                  </a:lnTo>
                  <a:lnTo>
                    <a:pt x="262343" y="1238224"/>
                  </a:lnTo>
                  <a:lnTo>
                    <a:pt x="263829" y="1235240"/>
                  </a:lnTo>
                  <a:lnTo>
                    <a:pt x="281622" y="1199400"/>
                  </a:lnTo>
                  <a:lnTo>
                    <a:pt x="281698" y="1198156"/>
                  </a:lnTo>
                  <a:lnTo>
                    <a:pt x="284340" y="1156144"/>
                  </a:lnTo>
                  <a:close/>
                </a:path>
                <a:path w="1882775" h="2385695">
                  <a:moveTo>
                    <a:pt x="352577" y="1194676"/>
                  </a:moveTo>
                  <a:lnTo>
                    <a:pt x="317423" y="1175156"/>
                  </a:lnTo>
                  <a:lnTo>
                    <a:pt x="317449" y="1164945"/>
                  </a:lnTo>
                  <a:lnTo>
                    <a:pt x="316674" y="1154849"/>
                  </a:lnTo>
                  <a:lnTo>
                    <a:pt x="316611" y="1154417"/>
                  </a:lnTo>
                  <a:lnTo>
                    <a:pt x="316522" y="1153922"/>
                  </a:lnTo>
                  <a:lnTo>
                    <a:pt x="315125" y="1144917"/>
                  </a:lnTo>
                  <a:lnTo>
                    <a:pt x="312826" y="1135164"/>
                  </a:lnTo>
                  <a:lnTo>
                    <a:pt x="340982" y="1109789"/>
                  </a:lnTo>
                  <a:lnTo>
                    <a:pt x="320878" y="1071994"/>
                  </a:lnTo>
                  <a:lnTo>
                    <a:pt x="315658" y="1062177"/>
                  </a:lnTo>
                  <a:lnTo>
                    <a:pt x="300355" y="1065987"/>
                  </a:lnTo>
                  <a:lnTo>
                    <a:pt x="300355" y="1153922"/>
                  </a:lnTo>
                  <a:lnTo>
                    <a:pt x="300304" y="1154849"/>
                  </a:lnTo>
                  <a:lnTo>
                    <a:pt x="300215" y="1156144"/>
                  </a:lnTo>
                  <a:lnTo>
                    <a:pt x="297256" y="1203490"/>
                  </a:lnTo>
                  <a:lnTo>
                    <a:pt x="295605" y="1206893"/>
                  </a:lnTo>
                  <a:lnTo>
                    <a:pt x="275107" y="1248156"/>
                  </a:lnTo>
                  <a:lnTo>
                    <a:pt x="238887" y="1279664"/>
                  </a:lnTo>
                  <a:lnTo>
                    <a:pt x="193421" y="1295323"/>
                  </a:lnTo>
                  <a:lnTo>
                    <a:pt x="143751" y="1292212"/>
                  </a:lnTo>
                  <a:lnTo>
                    <a:pt x="99187" y="1270063"/>
                  </a:lnTo>
                  <a:lnTo>
                    <a:pt x="98933" y="1269771"/>
                  </a:lnTo>
                  <a:lnTo>
                    <a:pt x="67652" y="1233817"/>
                  </a:lnTo>
                  <a:lnTo>
                    <a:pt x="67589" y="1233627"/>
                  </a:lnTo>
                  <a:lnTo>
                    <a:pt x="52019" y="1188389"/>
                  </a:lnTo>
                  <a:lnTo>
                    <a:pt x="52057" y="1187894"/>
                  </a:lnTo>
                  <a:lnTo>
                    <a:pt x="55130" y="1138720"/>
                  </a:lnTo>
                  <a:lnTo>
                    <a:pt x="74155" y="1100429"/>
                  </a:lnTo>
                  <a:lnTo>
                    <a:pt x="113525" y="1062621"/>
                  </a:lnTo>
                  <a:lnTo>
                    <a:pt x="158953" y="1046988"/>
                  </a:lnTo>
                  <a:lnTo>
                    <a:pt x="208622" y="1050099"/>
                  </a:lnTo>
                  <a:lnTo>
                    <a:pt x="253199" y="1072235"/>
                  </a:lnTo>
                  <a:lnTo>
                    <a:pt x="284721" y="1108494"/>
                  </a:lnTo>
                  <a:lnTo>
                    <a:pt x="284784" y="1108671"/>
                  </a:lnTo>
                  <a:lnTo>
                    <a:pt x="300355" y="1153922"/>
                  </a:lnTo>
                  <a:lnTo>
                    <a:pt x="300355" y="1065987"/>
                  </a:lnTo>
                  <a:lnTo>
                    <a:pt x="276148" y="1071994"/>
                  </a:lnTo>
                  <a:lnTo>
                    <a:pt x="269506" y="1065441"/>
                  </a:lnTo>
                  <a:lnTo>
                    <a:pt x="262318" y="1059434"/>
                  </a:lnTo>
                  <a:lnTo>
                    <a:pt x="254647" y="1053947"/>
                  </a:lnTo>
                  <a:lnTo>
                    <a:pt x="246519" y="1048994"/>
                  </a:lnTo>
                  <a:lnTo>
                    <a:pt x="247891" y="1049362"/>
                  </a:lnTo>
                  <a:lnTo>
                    <a:pt x="247891" y="1048994"/>
                  </a:lnTo>
                  <a:lnTo>
                    <a:pt x="247929" y="1046988"/>
                  </a:lnTo>
                  <a:lnTo>
                    <a:pt x="248119" y="1035685"/>
                  </a:lnTo>
                  <a:lnTo>
                    <a:pt x="248221" y="1029830"/>
                  </a:lnTo>
                  <a:lnTo>
                    <a:pt x="248627" y="1004989"/>
                  </a:lnTo>
                  <a:lnTo>
                    <a:pt x="196532" y="991031"/>
                  </a:lnTo>
                  <a:lnTo>
                    <a:pt x="174993" y="1029830"/>
                  </a:lnTo>
                  <a:lnTo>
                    <a:pt x="176364" y="1030198"/>
                  </a:lnTo>
                  <a:lnTo>
                    <a:pt x="166281" y="1030452"/>
                  </a:lnTo>
                  <a:lnTo>
                    <a:pt x="156349" y="1031468"/>
                  </a:lnTo>
                  <a:lnTo>
                    <a:pt x="146583" y="1033259"/>
                  </a:lnTo>
                  <a:lnTo>
                    <a:pt x="137541" y="1035685"/>
                  </a:lnTo>
                  <a:lnTo>
                    <a:pt x="105422" y="1004811"/>
                  </a:lnTo>
                  <a:lnTo>
                    <a:pt x="59677" y="1033399"/>
                  </a:lnTo>
                  <a:lnTo>
                    <a:pt x="72999" y="1074470"/>
                  </a:lnTo>
                  <a:lnTo>
                    <a:pt x="67640" y="1080465"/>
                  </a:lnTo>
                  <a:lnTo>
                    <a:pt x="62623" y="1086789"/>
                  </a:lnTo>
                  <a:lnTo>
                    <a:pt x="57975" y="1093457"/>
                  </a:lnTo>
                  <a:lnTo>
                    <a:pt x="53721" y="1100429"/>
                  </a:lnTo>
                  <a:lnTo>
                    <a:pt x="13970" y="1099769"/>
                  </a:lnTo>
                  <a:lnTo>
                    <a:pt x="0" y="1151864"/>
                  </a:lnTo>
                  <a:lnTo>
                    <a:pt x="34696" y="1171117"/>
                  </a:lnTo>
                  <a:lnTo>
                    <a:pt x="35001" y="1180249"/>
                  </a:lnTo>
                  <a:lnTo>
                    <a:pt x="35915" y="1189266"/>
                  </a:lnTo>
                  <a:lnTo>
                    <a:pt x="37414" y="1198156"/>
                  </a:lnTo>
                  <a:lnTo>
                    <a:pt x="39484" y="1206893"/>
                  </a:lnTo>
                  <a:lnTo>
                    <a:pt x="10020" y="1230782"/>
                  </a:lnTo>
                  <a:lnTo>
                    <a:pt x="32816" y="1279664"/>
                  </a:lnTo>
                  <a:lnTo>
                    <a:pt x="76390" y="1271219"/>
                  </a:lnTo>
                  <a:lnTo>
                    <a:pt x="75717" y="1269771"/>
                  </a:lnTo>
                  <a:lnTo>
                    <a:pt x="82321" y="1276337"/>
                  </a:lnTo>
                  <a:lnTo>
                    <a:pt x="89446" y="1282369"/>
                  </a:lnTo>
                  <a:lnTo>
                    <a:pt x="97078" y="1287881"/>
                  </a:lnTo>
                  <a:lnTo>
                    <a:pt x="105156" y="1292860"/>
                  </a:lnTo>
                  <a:lnTo>
                    <a:pt x="105105" y="1295323"/>
                  </a:lnTo>
                  <a:lnTo>
                    <a:pt x="104444" y="1334706"/>
                  </a:lnTo>
                  <a:lnTo>
                    <a:pt x="156540" y="1348663"/>
                  </a:lnTo>
                  <a:lnTo>
                    <a:pt x="176860" y="1312075"/>
                  </a:lnTo>
                  <a:lnTo>
                    <a:pt x="187172" y="1311744"/>
                  </a:lnTo>
                  <a:lnTo>
                    <a:pt x="197358" y="1310627"/>
                  </a:lnTo>
                  <a:lnTo>
                    <a:pt x="207352" y="1308722"/>
                  </a:lnTo>
                  <a:lnTo>
                    <a:pt x="217106" y="1306004"/>
                  </a:lnTo>
                  <a:lnTo>
                    <a:pt x="213029" y="1308862"/>
                  </a:lnTo>
                  <a:lnTo>
                    <a:pt x="246532" y="1337957"/>
                  </a:lnTo>
                  <a:lnTo>
                    <a:pt x="290715" y="1307020"/>
                  </a:lnTo>
                  <a:lnTo>
                    <a:pt x="290334" y="1306004"/>
                  </a:lnTo>
                  <a:lnTo>
                    <a:pt x="286232" y="1295323"/>
                  </a:lnTo>
                  <a:lnTo>
                    <a:pt x="276707" y="1270457"/>
                  </a:lnTo>
                  <a:lnTo>
                    <a:pt x="282054" y="1264843"/>
                  </a:lnTo>
                  <a:lnTo>
                    <a:pt x="287058" y="1258912"/>
                  </a:lnTo>
                  <a:lnTo>
                    <a:pt x="291706" y="1252651"/>
                  </a:lnTo>
                  <a:lnTo>
                    <a:pt x="295960" y="1246060"/>
                  </a:lnTo>
                  <a:lnTo>
                    <a:pt x="338620" y="1246771"/>
                  </a:lnTo>
                  <a:lnTo>
                    <a:pt x="338810" y="1246060"/>
                  </a:lnTo>
                  <a:lnTo>
                    <a:pt x="352577" y="1194676"/>
                  </a:lnTo>
                  <a:close/>
                </a:path>
                <a:path w="1882775" h="2385695">
                  <a:moveTo>
                    <a:pt x="587082" y="2055215"/>
                  </a:moveTo>
                  <a:lnTo>
                    <a:pt x="518972" y="2055215"/>
                  </a:lnTo>
                  <a:lnTo>
                    <a:pt x="518972" y="2338159"/>
                  </a:lnTo>
                  <a:lnTo>
                    <a:pt x="587082" y="2338159"/>
                  </a:lnTo>
                  <a:lnTo>
                    <a:pt x="587082" y="2055215"/>
                  </a:lnTo>
                  <a:close/>
                </a:path>
                <a:path w="1882775" h="2385695">
                  <a:moveTo>
                    <a:pt x="587082" y="299161"/>
                  </a:moveTo>
                  <a:lnTo>
                    <a:pt x="518972" y="299161"/>
                  </a:lnTo>
                  <a:lnTo>
                    <a:pt x="518972" y="424916"/>
                  </a:lnTo>
                  <a:lnTo>
                    <a:pt x="587082" y="424916"/>
                  </a:lnTo>
                  <a:lnTo>
                    <a:pt x="587082" y="299161"/>
                  </a:lnTo>
                  <a:close/>
                </a:path>
                <a:path w="1882775" h="2385695">
                  <a:moveTo>
                    <a:pt x="691896" y="2107615"/>
                  </a:moveTo>
                  <a:lnTo>
                    <a:pt x="623773" y="2107615"/>
                  </a:lnTo>
                  <a:lnTo>
                    <a:pt x="623773" y="2338159"/>
                  </a:lnTo>
                  <a:lnTo>
                    <a:pt x="691896" y="2338159"/>
                  </a:lnTo>
                  <a:lnTo>
                    <a:pt x="691896" y="2107615"/>
                  </a:lnTo>
                  <a:close/>
                </a:path>
                <a:path w="1882775" h="2385695">
                  <a:moveTo>
                    <a:pt x="691896" y="246773"/>
                  </a:moveTo>
                  <a:lnTo>
                    <a:pt x="623773" y="246773"/>
                  </a:lnTo>
                  <a:lnTo>
                    <a:pt x="623773" y="424916"/>
                  </a:lnTo>
                  <a:lnTo>
                    <a:pt x="691896" y="424916"/>
                  </a:lnTo>
                  <a:lnTo>
                    <a:pt x="691896" y="246773"/>
                  </a:lnTo>
                  <a:close/>
                </a:path>
                <a:path w="1882775" h="2385695">
                  <a:moveTo>
                    <a:pt x="796696" y="2160016"/>
                  </a:moveTo>
                  <a:lnTo>
                    <a:pt x="728586" y="2160016"/>
                  </a:lnTo>
                  <a:lnTo>
                    <a:pt x="728586" y="2338159"/>
                  </a:lnTo>
                  <a:lnTo>
                    <a:pt x="796696" y="2338159"/>
                  </a:lnTo>
                  <a:lnTo>
                    <a:pt x="796696" y="2160016"/>
                  </a:lnTo>
                  <a:close/>
                </a:path>
                <a:path w="1882775" h="2385695">
                  <a:moveTo>
                    <a:pt x="796696" y="194373"/>
                  </a:moveTo>
                  <a:lnTo>
                    <a:pt x="728586" y="194373"/>
                  </a:lnTo>
                  <a:lnTo>
                    <a:pt x="728586" y="424916"/>
                  </a:lnTo>
                  <a:lnTo>
                    <a:pt x="796696" y="424916"/>
                  </a:lnTo>
                  <a:lnTo>
                    <a:pt x="796696" y="194373"/>
                  </a:lnTo>
                  <a:close/>
                </a:path>
                <a:path w="1882775" h="2385695">
                  <a:moveTo>
                    <a:pt x="879741" y="36004"/>
                  </a:moveTo>
                  <a:lnTo>
                    <a:pt x="798423" y="32715"/>
                  </a:lnTo>
                  <a:lnTo>
                    <a:pt x="809307" y="51562"/>
                  </a:lnTo>
                  <a:lnTo>
                    <a:pt x="517550" y="220002"/>
                  </a:lnTo>
                  <a:lnTo>
                    <a:pt x="539305" y="257683"/>
                  </a:lnTo>
                  <a:lnTo>
                    <a:pt x="831062" y="89242"/>
                  </a:lnTo>
                  <a:lnTo>
                    <a:pt x="841933" y="108077"/>
                  </a:lnTo>
                  <a:lnTo>
                    <a:pt x="851814" y="89242"/>
                  </a:lnTo>
                  <a:lnTo>
                    <a:pt x="879741" y="36004"/>
                  </a:lnTo>
                  <a:close/>
                </a:path>
                <a:path w="1882775" h="2385695">
                  <a:moveTo>
                    <a:pt x="886650" y="2136483"/>
                  </a:moveTo>
                  <a:lnTo>
                    <a:pt x="858723" y="2083257"/>
                  </a:lnTo>
                  <a:lnTo>
                    <a:pt x="848842" y="2064410"/>
                  </a:lnTo>
                  <a:lnTo>
                    <a:pt x="837958" y="2083257"/>
                  </a:lnTo>
                  <a:lnTo>
                    <a:pt x="546201" y="1914817"/>
                  </a:lnTo>
                  <a:lnTo>
                    <a:pt x="524446" y="1952498"/>
                  </a:lnTo>
                  <a:lnTo>
                    <a:pt x="816203" y="2120938"/>
                  </a:lnTo>
                  <a:lnTo>
                    <a:pt x="805319" y="2139772"/>
                  </a:lnTo>
                  <a:lnTo>
                    <a:pt x="886650" y="2136483"/>
                  </a:lnTo>
                  <a:close/>
                </a:path>
                <a:path w="1882775" h="2385695">
                  <a:moveTo>
                    <a:pt x="901496" y="2212403"/>
                  </a:moveTo>
                  <a:lnTo>
                    <a:pt x="833386" y="2212403"/>
                  </a:lnTo>
                  <a:lnTo>
                    <a:pt x="833386" y="2338159"/>
                  </a:lnTo>
                  <a:lnTo>
                    <a:pt x="901496" y="2338159"/>
                  </a:lnTo>
                  <a:lnTo>
                    <a:pt x="901496" y="2212403"/>
                  </a:lnTo>
                  <a:close/>
                </a:path>
                <a:path w="1882775" h="2385695">
                  <a:moveTo>
                    <a:pt x="901496" y="141973"/>
                  </a:moveTo>
                  <a:lnTo>
                    <a:pt x="833386" y="141973"/>
                  </a:lnTo>
                  <a:lnTo>
                    <a:pt x="833386" y="424916"/>
                  </a:lnTo>
                  <a:lnTo>
                    <a:pt x="901496" y="424916"/>
                  </a:lnTo>
                  <a:lnTo>
                    <a:pt x="901496" y="141973"/>
                  </a:lnTo>
                  <a:close/>
                </a:path>
                <a:path w="1882775" h="2385695">
                  <a:moveTo>
                    <a:pt x="932053" y="2359241"/>
                  </a:moveTo>
                  <a:lnTo>
                    <a:pt x="486676" y="2359241"/>
                  </a:lnTo>
                  <a:lnTo>
                    <a:pt x="486676" y="1913242"/>
                  </a:lnTo>
                  <a:lnTo>
                    <a:pt x="460489" y="1913242"/>
                  </a:lnTo>
                  <a:lnTo>
                    <a:pt x="460489" y="2385441"/>
                  </a:lnTo>
                  <a:lnTo>
                    <a:pt x="932053" y="2385441"/>
                  </a:lnTo>
                  <a:lnTo>
                    <a:pt x="932053" y="2359241"/>
                  </a:lnTo>
                  <a:close/>
                </a:path>
                <a:path w="1882775" h="2385695">
                  <a:moveTo>
                    <a:pt x="932053" y="445363"/>
                  </a:moveTo>
                  <a:lnTo>
                    <a:pt x="486676" y="445363"/>
                  </a:lnTo>
                  <a:lnTo>
                    <a:pt x="486676" y="0"/>
                  </a:lnTo>
                  <a:lnTo>
                    <a:pt x="460489" y="0"/>
                  </a:lnTo>
                  <a:lnTo>
                    <a:pt x="460489" y="471563"/>
                  </a:lnTo>
                  <a:lnTo>
                    <a:pt x="932053" y="471563"/>
                  </a:lnTo>
                  <a:lnTo>
                    <a:pt x="932053" y="445363"/>
                  </a:lnTo>
                  <a:close/>
                </a:path>
                <a:path w="1882775" h="2385695">
                  <a:moveTo>
                    <a:pt x="1205509" y="1063625"/>
                  </a:moveTo>
                  <a:lnTo>
                    <a:pt x="1200632" y="1061085"/>
                  </a:lnTo>
                  <a:lnTo>
                    <a:pt x="1195476" y="1061085"/>
                  </a:lnTo>
                  <a:lnTo>
                    <a:pt x="1167396" y="1089025"/>
                  </a:lnTo>
                  <a:lnTo>
                    <a:pt x="1170076" y="1096645"/>
                  </a:lnTo>
                  <a:lnTo>
                    <a:pt x="1173111" y="1095375"/>
                  </a:lnTo>
                  <a:lnTo>
                    <a:pt x="1171765" y="1089025"/>
                  </a:lnTo>
                  <a:lnTo>
                    <a:pt x="1172451" y="1082675"/>
                  </a:lnTo>
                  <a:lnTo>
                    <a:pt x="1175080" y="1076325"/>
                  </a:lnTo>
                  <a:lnTo>
                    <a:pt x="1179525" y="1071245"/>
                  </a:lnTo>
                  <a:lnTo>
                    <a:pt x="1185011" y="1067435"/>
                  </a:lnTo>
                  <a:lnTo>
                    <a:pt x="1191234" y="1064895"/>
                  </a:lnTo>
                  <a:lnTo>
                    <a:pt x="1197825" y="1064895"/>
                  </a:lnTo>
                  <a:lnTo>
                    <a:pt x="1204417" y="1066165"/>
                  </a:lnTo>
                  <a:lnTo>
                    <a:pt x="1204963" y="1064895"/>
                  </a:lnTo>
                  <a:lnTo>
                    <a:pt x="1205509" y="1063625"/>
                  </a:lnTo>
                  <a:close/>
                </a:path>
                <a:path w="1882775" h="2385695">
                  <a:moveTo>
                    <a:pt x="1213015" y="1099185"/>
                  </a:moveTo>
                  <a:lnTo>
                    <a:pt x="1207058" y="1094105"/>
                  </a:lnTo>
                  <a:lnTo>
                    <a:pt x="1203629" y="1092835"/>
                  </a:lnTo>
                  <a:lnTo>
                    <a:pt x="1200213" y="1091565"/>
                  </a:lnTo>
                  <a:lnTo>
                    <a:pt x="1192885" y="1090295"/>
                  </a:lnTo>
                  <a:lnTo>
                    <a:pt x="1185481" y="1090295"/>
                  </a:lnTo>
                  <a:lnTo>
                    <a:pt x="1166444" y="1113155"/>
                  </a:lnTo>
                  <a:lnTo>
                    <a:pt x="1169593" y="1113155"/>
                  </a:lnTo>
                  <a:lnTo>
                    <a:pt x="1171397" y="1106805"/>
                  </a:lnTo>
                  <a:lnTo>
                    <a:pt x="1174991" y="1100455"/>
                  </a:lnTo>
                  <a:lnTo>
                    <a:pt x="1180084" y="1096645"/>
                  </a:lnTo>
                  <a:lnTo>
                    <a:pt x="1186421" y="1094105"/>
                  </a:lnTo>
                  <a:lnTo>
                    <a:pt x="1192936" y="1092835"/>
                  </a:lnTo>
                  <a:lnTo>
                    <a:pt x="1199400" y="1094105"/>
                  </a:lnTo>
                  <a:lnTo>
                    <a:pt x="1205433" y="1096645"/>
                  </a:lnTo>
                  <a:lnTo>
                    <a:pt x="1210703" y="1100455"/>
                  </a:lnTo>
                  <a:lnTo>
                    <a:pt x="1213015" y="1099185"/>
                  </a:lnTo>
                  <a:close/>
                </a:path>
                <a:path w="1882775" h="2385695">
                  <a:moveTo>
                    <a:pt x="1344599" y="1132205"/>
                  </a:moveTo>
                  <a:lnTo>
                    <a:pt x="1341488" y="1104265"/>
                  </a:lnTo>
                  <a:lnTo>
                    <a:pt x="1340497" y="1095375"/>
                  </a:lnTo>
                  <a:lnTo>
                    <a:pt x="1332318" y="1076325"/>
                  </a:lnTo>
                  <a:lnTo>
                    <a:pt x="1325778" y="1061085"/>
                  </a:lnTo>
                  <a:lnTo>
                    <a:pt x="1313484" y="1045845"/>
                  </a:lnTo>
                  <a:lnTo>
                    <a:pt x="1313484" y="1123315"/>
                  </a:lnTo>
                  <a:lnTo>
                    <a:pt x="1312278" y="1129665"/>
                  </a:lnTo>
                  <a:lnTo>
                    <a:pt x="1307846" y="1137285"/>
                  </a:lnTo>
                  <a:lnTo>
                    <a:pt x="1302029" y="1143635"/>
                  </a:lnTo>
                  <a:lnTo>
                    <a:pt x="1295273" y="1147445"/>
                  </a:lnTo>
                  <a:lnTo>
                    <a:pt x="1288046" y="1148715"/>
                  </a:lnTo>
                  <a:lnTo>
                    <a:pt x="1288097" y="1149985"/>
                  </a:lnTo>
                  <a:lnTo>
                    <a:pt x="1288199" y="1152525"/>
                  </a:lnTo>
                  <a:lnTo>
                    <a:pt x="1295438" y="1152525"/>
                  </a:lnTo>
                  <a:lnTo>
                    <a:pt x="1302613" y="1148715"/>
                  </a:lnTo>
                  <a:lnTo>
                    <a:pt x="1308023" y="1142365"/>
                  </a:lnTo>
                  <a:lnTo>
                    <a:pt x="1310944" y="1147445"/>
                  </a:lnTo>
                  <a:lnTo>
                    <a:pt x="1312037" y="1153795"/>
                  </a:lnTo>
                  <a:lnTo>
                    <a:pt x="1311236" y="1161415"/>
                  </a:lnTo>
                  <a:lnTo>
                    <a:pt x="1308481" y="1167765"/>
                  </a:lnTo>
                  <a:lnTo>
                    <a:pt x="1303489" y="1172845"/>
                  </a:lnTo>
                  <a:lnTo>
                    <a:pt x="1297266" y="1175385"/>
                  </a:lnTo>
                  <a:lnTo>
                    <a:pt x="1289875" y="1176655"/>
                  </a:lnTo>
                  <a:lnTo>
                    <a:pt x="1281379" y="1177925"/>
                  </a:lnTo>
                  <a:lnTo>
                    <a:pt x="1277594" y="1176655"/>
                  </a:lnTo>
                  <a:lnTo>
                    <a:pt x="1271498" y="1179195"/>
                  </a:lnTo>
                  <a:lnTo>
                    <a:pt x="1264818" y="1180465"/>
                  </a:lnTo>
                  <a:lnTo>
                    <a:pt x="1257896" y="1180465"/>
                  </a:lnTo>
                  <a:lnTo>
                    <a:pt x="1251089" y="1179195"/>
                  </a:lnTo>
                  <a:lnTo>
                    <a:pt x="1248765" y="1185545"/>
                  </a:lnTo>
                  <a:lnTo>
                    <a:pt x="1244460" y="1190625"/>
                  </a:lnTo>
                  <a:lnTo>
                    <a:pt x="1236814" y="1191895"/>
                  </a:lnTo>
                  <a:lnTo>
                    <a:pt x="1228280" y="1193165"/>
                  </a:lnTo>
                  <a:lnTo>
                    <a:pt x="1220317" y="1190625"/>
                  </a:lnTo>
                  <a:lnTo>
                    <a:pt x="1213637" y="1186815"/>
                  </a:lnTo>
                  <a:lnTo>
                    <a:pt x="1210538" y="1181735"/>
                  </a:lnTo>
                  <a:lnTo>
                    <a:pt x="1208989" y="1179195"/>
                  </a:lnTo>
                  <a:lnTo>
                    <a:pt x="1215923" y="1171575"/>
                  </a:lnTo>
                  <a:lnTo>
                    <a:pt x="1220127" y="1163955"/>
                  </a:lnTo>
                  <a:lnTo>
                    <a:pt x="1221308" y="1155065"/>
                  </a:lnTo>
                  <a:lnTo>
                    <a:pt x="1219822" y="1148715"/>
                  </a:lnTo>
                  <a:lnTo>
                    <a:pt x="1219238" y="1146175"/>
                  </a:lnTo>
                  <a:lnTo>
                    <a:pt x="1220698" y="1144905"/>
                  </a:lnTo>
                  <a:lnTo>
                    <a:pt x="1224407" y="1137285"/>
                  </a:lnTo>
                  <a:lnTo>
                    <a:pt x="1225905" y="1130935"/>
                  </a:lnTo>
                  <a:lnTo>
                    <a:pt x="1225778" y="1129665"/>
                  </a:lnTo>
                  <a:lnTo>
                    <a:pt x="1225169" y="1123315"/>
                  </a:lnTo>
                  <a:lnTo>
                    <a:pt x="1222171" y="1115695"/>
                  </a:lnTo>
                  <a:lnTo>
                    <a:pt x="1219390" y="1116965"/>
                  </a:lnTo>
                  <a:lnTo>
                    <a:pt x="1222057" y="1123315"/>
                  </a:lnTo>
                  <a:lnTo>
                    <a:pt x="1222717" y="1129665"/>
                  </a:lnTo>
                  <a:lnTo>
                    <a:pt x="1201331" y="1152525"/>
                  </a:lnTo>
                  <a:lnTo>
                    <a:pt x="1194587" y="1152525"/>
                  </a:lnTo>
                  <a:lnTo>
                    <a:pt x="1194117" y="1155065"/>
                  </a:lnTo>
                  <a:lnTo>
                    <a:pt x="1202397" y="1156335"/>
                  </a:lnTo>
                  <a:lnTo>
                    <a:pt x="1210665" y="1153795"/>
                  </a:lnTo>
                  <a:lnTo>
                    <a:pt x="1216621" y="1148715"/>
                  </a:lnTo>
                  <a:lnTo>
                    <a:pt x="1218018" y="1156335"/>
                  </a:lnTo>
                  <a:lnTo>
                    <a:pt x="1216139" y="1165225"/>
                  </a:lnTo>
                  <a:lnTo>
                    <a:pt x="1211300" y="1172845"/>
                  </a:lnTo>
                  <a:lnTo>
                    <a:pt x="1203833" y="1179195"/>
                  </a:lnTo>
                  <a:lnTo>
                    <a:pt x="1203223" y="1180465"/>
                  </a:lnTo>
                  <a:lnTo>
                    <a:pt x="1201661" y="1180465"/>
                  </a:lnTo>
                  <a:lnTo>
                    <a:pt x="1192098" y="1181735"/>
                  </a:lnTo>
                  <a:lnTo>
                    <a:pt x="1183284" y="1179195"/>
                  </a:lnTo>
                  <a:lnTo>
                    <a:pt x="1176185" y="1172845"/>
                  </a:lnTo>
                  <a:lnTo>
                    <a:pt x="1171740" y="1163955"/>
                  </a:lnTo>
                  <a:lnTo>
                    <a:pt x="1171168" y="1157605"/>
                  </a:lnTo>
                  <a:lnTo>
                    <a:pt x="1161681" y="1157605"/>
                  </a:lnTo>
                  <a:lnTo>
                    <a:pt x="1154480" y="1153795"/>
                  </a:lnTo>
                  <a:lnTo>
                    <a:pt x="1148702" y="1148715"/>
                  </a:lnTo>
                  <a:lnTo>
                    <a:pt x="1145057" y="1141095"/>
                  </a:lnTo>
                  <a:lnTo>
                    <a:pt x="1144498" y="1134745"/>
                  </a:lnTo>
                  <a:lnTo>
                    <a:pt x="1137005" y="1133475"/>
                  </a:lnTo>
                  <a:lnTo>
                    <a:pt x="1130363" y="1129665"/>
                  </a:lnTo>
                  <a:lnTo>
                    <a:pt x="1125004" y="1123315"/>
                  </a:lnTo>
                  <a:lnTo>
                    <a:pt x="1121359" y="1116965"/>
                  </a:lnTo>
                  <a:lnTo>
                    <a:pt x="1121486" y="1115695"/>
                  </a:lnTo>
                  <a:lnTo>
                    <a:pt x="1121994" y="1110615"/>
                  </a:lnTo>
                  <a:lnTo>
                    <a:pt x="1123467" y="1104265"/>
                  </a:lnTo>
                  <a:lnTo>
                    <a:pt x="1125728" y="1097915"/>
                  </a:lnTo>
                  <a:lnTo>
                    <a:pt x="1128712" y="1091565"/>
                  </a:lnTo>
                  <a:lnTo>
                    <a:pt x="1125486" y="1090295"/>
                  </a:lnTo>
                  <a:lnTo>
                    <a:pt x="1122451" y="1095375"/>
                  </a:lnTo>
                  <a:lnTo>
                    <a:pt x="1120063" y="1101725"/>
                  </a:lnTo>
                  <a:lnTo>
                    <a:pt x="1118336" y="1108075"/>
                  </a:lnTo>
                  <a:lnTo>
                    <a:pt x="1117257" y="1114425"/>
                  </a:lnTo>
                  <a:lnTo>
                    <a:pt x="1111948" y="1115695"/>
                  </a:lnTo>
                  <a:lnTo>
                    <a:pt x="1087704" y="1090295"/>
                  </a:lnTo>
                  <a:lnTo>
                    <a:pt x="1087602" y="1087755"/>
                  </a:lnTo>
                  <a:lnTo>
                    <a:pt x="1087488" y="1085215"/>
                  </a:lnTo>
                  <a:lnTo>
                    <a:pt x="1087386" y="1082675"/>
                  </a:lnTo>
                  <a:lnTo>
                    <a:pt x="1087285" y="1080135"/>
                  </a:lnTo>
                  <a:lnTo>
                    <a:pt x="1091552" y="1068705"/>
                  </a:lnTo>
                  <a:lnTo>
                    <a:pt x="1093330" y="1064895"/>
                  </a:lnTo>
                  <a:lnTo>
                    <a:pt x="1095514" y="1062355"/>
                  </a:lnTo>
                  <a:lnTo>
                    <a:pt x="1098067" y="1061085"/>
                  </a:lnTo>
                  <a:lnTo>
                    <a:pt x="1094282" y="1053465"/>
                  </a:lnTo>
                  <a:lnTo>
                    <a:pt x="1119390" y="1026795"/>
                  </a:lnTo>
                  <a:lnTo>
                    <a:pt x="1127467" y="1029335"/>
                  </a:lnTo>
                  <a:lnTo>
                    <a:pt x="1127480" y="1039495"/>
                  </a:lnTo>
                  <a:lnTo>
                    <a:pt x="1130249" y="1048385"/>
                  </a:lnTo>
                  <a:lnTo>
                    <a:pt x="1135468" y="1056005"/>
                  </a:lnTo>
                  <a:lnTo>
                    <a:pt x="1142873" y="1061085"/>
                  </a:lnTo>
                  <a:lnTo>
                    <a:pt x="1143965" y="1057275"/>
                  </a:lnTo>
                  <a:lnTo>
                    <a:pt x="1136967" y="1053465"/>
                  </a:lnTo>
                  <a:lnTo>
                    <a:pt x="1132306" y="1045845"/>
                  </a:lnTo>
                  <a:lnTo>
                    <a:pt x="1130287" y="1035685"/>
                  </a:lnTo>
                  <a:lnTo>
                    <a:pt x="1131112" y="1026795"/>
                  </a:lnTo>
                  <a:lnTo>
                    <a:pt x="1131227" y="1025525"/>
                  </a:lnTo>
                  <a:lnTo>
                    <a:pt x="1131252" y="1024255"/>
                  </a:lnTo>
                  <a:lnTo>
                    <a:pt x="1131646" y="1024255"/>
                  </a:lnTo>
                  <a:lnTo>
                    <a:pt x="1132078" y="1022985"/>
                  </a:lnTo>
                  <a:lnTo>
                    <a:pt x="1138631" y="1016635"/>
                  </a:lnTo>
                  <a:lnTo>
                    <a:pt x="1147064" y="1012825"/>
                  </a:lnTo>
                  <a:lnTo>
                    <a:pt x="1156322" y="1011555"/>
                  </a:lnTo>
                  <a:lnTo>
                    <a:pt x="1165313" y="1015365"/>
                  </a:lnTo>
                  <a:lnTo>
                    <a:pt x="1170432" y="1020445"/>
                  </a:lnTo>
                  <a:lnTo>
                    <a:pt x="1171155" y="1019175"/>
                  </a:lnTo>
                  <a:lnTo>
                    <a:pt x="1171765" y="1019175"/>
                  </a:lnTo>
                  <a:lnTo>
                    <a:pt x="1175092" y="1015365"/>
                  </a:lnTo>
                  <a:lnTo>
                    <a:pt x="1179842" y="1011555"/>
                  </a:lnTo>
                  <a:lnTo>
                    <a:pt x="1184973" y="1011555"/>
                  </a:lnTo>
                  <a:lnTo>
                    <a:pt x="1190091" y="1010285"/>
                  </a:lnTo>
                  <a:lnTo>
                    <a:pt x="1195590" y="1011555"/>
                  </a:lnTo>
                  <a:lnTo>
                    <a:pt x="1200404" y="1014095"/>
                  </a:lnTo>
                  <a:lnTo>
                    <a:pt x="1205382" y="1019175"/>
                  </a:lnTo>
                  <a:lnTo>
                    <a:pt x="1212659" y="1015365"/>
                  </a:lnTo>
                  <a:lnTo>
                    <a:pt x="1220673" y="1014095"/>
                  </a:lnTo>
                  <a:lnTo>
                    <a:pt x="1228877" y="1014095"/>
                  </a:lnTo>
                  <a:lnTo>
                    <a:pt x="1249692" y="1039495"/>
                  </a:lnTo>
                  <a:lnTo>
                    <a:pt x="1249273" y="1045845"/>
                  </a:lnTo>
                  <a:lnTo>
                    <a:pt x="1246949" y="1052195"/>
                  </a:lnTo>
                  <a:lnTo>
                    <a:pt x="1242758" y="1057275"/>
                  </a:lnTo>
                  <a:lnTo>
                    <a:pt x="1244815" y="1059815"/>
                  </a:lnTo>
                  <a:lnTo>
                    <a:pt x="1250962" y="1054735"/>
                  </a:lnTo>
                  <a:lnTo>
                    <a:pt x="1253667" y="1047115"/>
                  </a:lnTo>
                  <a:lnTo>
                    <a:pt x="1252664" y="1038225"/>
                  </a:lnTo>
                  <a:lnTo>
                    <a:pt x="1257579" y="1036955"/>
                  </a:lnTo>
                  <a:lnTo>
                    <a:pt x="1280502" y="1066165"/>
                  </a:lnTo>
                  <a:lnTo>
                    <a:pt x="1278851" y="1075055"/>
                  </a:lnTo>
                  <a:lnTo>
                    <a:pt x="1274051" y="1082675"/>
                  </a:lnTo>
                  <a:lnTo>
                    <a:pt x="1267777" y="1089025"/>
                  </a:lnTo>
                  <a:lnTo>
                    <a:pt x="1260576" y="1092835"/>
                  </a:lnTo>
                  <a:lnTo>
                    <a:pt x="1253007" y="1092835"/>
                  </a:lnTo>
                  <a:lnTo>
                    <a:pt x="1252893" y="1090295"/>
                  </a:lnTo>
                  <a:lnTo>
                    <a:pt x="1252118" y="1087755"/>
                  </a:lnTo>
                  <a:lnTo>
                    <a:pt x="1247546" y="1080135"/>
                  </a:lnTo>
                  <a:lnTo>
                    <a:pt x="1241399" y="1077595"/>
                  </a:lnTo>
                  <a:lnTo>
                    <a:pt x="1234655" y="1076325"/>
                  </a:lnTo>
                  <a:lnTo>
                    <a:pt x="1234567" y="1080135"/>
                  </a:lnTo>
                  <a:lnTo>
                    <a:pt x="1240193" y="1080135"/>
                  </a:lnTo>
                  <a:lnTo>
                    <a:pt x="1245336" y="1082675"/>
                  </a:lnTo>
                  <a:lnTo>
                    <a:pt x="1249159" y="1089025"/>
                  </a:lnTo>
                  <a:lnTo>
                    <a:pt x="1249807" y="1091565"/>
                  </a:lnTo>
                  <a:lnTo>
                    <a:pt x="1249553" y="1092835"/>
                  </a:lnTo>
                  <a:lnTo>
                    <a:pt x="1248740" y="1095375"/>
                  </a:lnTo>
                  <a:lnTo>
                    <a:pt x="1250124" y="1095375"/>
                  </a:lnTo>
                  <a:lnTo>
                    <a:pt x="1250035" y="1097915"/>
                  </a:lnTo>
                  <a:lnTo>
                    <a:pt x="1249997" y="1099185"/>
                  </a:lnTo>
                  <a:lnTo>
                    <a:pt x="1249095" y="1101725"/>
                  </a:lnTo>
                  <a:lnTo>
                    <a:pt x="1244346" y="1108075"/>
                  </a:lnTo>
                  <a:lnTo>
                    <a:pt x="1239012" y="1110615"/>
                  </a:lnTo>
                  <a:lnTo>
                    <a:pt x="1233398" y="1109345"/>
                  </a:lnTo>
                  <a:lnTo>
                    <a:pt x="1233297" y="1111885"/>
                  </a:lnTo>
                  <a:lnTo>
                    <a:pt x="1233246" y="1113155"/>
                  </a:lnTo>
                  <a:lnTo>
                    <a:pt x="1239977" y="1113155"/>
                  </a:lnTo>
                  <a:lnTo>
                    <a:pt x="1246365" y="1110615"/>
                  </a:lnTo>
                  <a:lnTo>
                    <a:pt x="1251927" y="1102995"/>
                  </a:lnTo>
                  <a:lnTo>
                    <a:pt x="1252969" y="1099185"/>
                  </a:lnTo>
                  <a:lnTo>
                    <a:pt x="1253058" y="1097915"/>
                  </a:lnTo>
                  <a:lnTo>
                    <a:pt x="1253147" y="1096645"/>
                  </a:lnTo>
                  <a:lnTo>
                    <a:pt x="1261770" y="1095375"/>
                  </a:lnTo>
                  <a:lnTo>
                    <a:pt x="1267206" y="1092835"/>
                  </a:lnTo>
                  <a:lnTo>
                    <a:pt x="1269923" y="1091565"/>
                  </a:lnTo>
                  <a:lnTo>
                    <a:pt x="1276997" y="1085215"/>
                  </a:lnTo>
                  <a:lnTo>
                    <a:pt x="1282433" y="1076325"/>
                  </a:lnTo>
                  <a:lnTo>
                    <a:pt x="1285659" y="1076325"/>
                  </a:lnTo>
                  <a:lnTo>
                    <a:pt x="1288783" y="1077595"/>
                  </a:lnTo>
                  <a:lnTo>
                    <a:pt x="1299679" y="1083945"/>
                  </a:lnTo>
                  <a:lnTo>
                    <a:pt x="1304353" y="1091565"/>
                  </a:lnTo>
                  <a:lnTo>
                    <a:pt x="1304480" y="1100455"/>
                  </a:lnTo>
                  <a:lnTo>
                    <a:pt x="1304010" y="1101725"/>
                  </a:lnTo>
                  <a:lnTo>
                    <a:pt x="1299476" y="1106805"/>
                  </a:lnTo>
                  <a:lnTo>
                    <a:pt x="1293863" y="1109345"/>
                  </a:lnTo>
                  <a:lnTo>
                    <a:pt x="1287513" y="1111885"/>
                  </a:lnTo>
                  <a:lnTo>
                    <a:pt x="1280782" y="1111885"/>
                  </a:lnTo>
                  <a:lnTo>
                    <a:pt x="1280375" y="1114425"/>
                  </a:lnTo>
                  <a:lnTo>
                    <a:pt x="1287919" y="1114425"/>
                  </a:lnTo>
                  <a:lnTo>
                    <a:pt x="1295031" y="1113155"/>
                  </a:lnTo>
                  <a:lnTo>
                    <a:pt x="1301318" y="1109345"/>
                  </a:lnTo>
                  <a:lnTo>
                    <a:pt x="1306410" y="1104265"/>
                  </a:lnTo>
                  <a:lnTo>
                    <a:pt x="1310474" y="1109345"/>
                  </a:lnTo>
                  <a:lnTo>
                    <a:pt x="1312862" y="1115695"/>
                  </a:lnTo>
                  <a:lnTo>
                    <a:pt x="1312964" y="1116965"/>
                  </a:lnTo>
                  <a:lnTo>
                    <a:pt x="1313484" y="1123315"/>
                  </a:lnTo>
                  <a:lnTo>
                    <a:pt x="1313484" y="1045845"/>
                  </a:lnTo>
                  <a:lnTo>
                    <a:pt x="1306322" y="1036955"/>
                  </a:lnTo>
                  <a:lnTo>
                    <a:pt x="1302219" y="1031875"/>
                  </a:lnTo>
                  <a:lnTo>
                    <a:pt x="1278420" y="1014095"/>
                  </a:lnTo>
                  <a:lnTo>
                    <a:pt x="1273314" y="1010285"/>
                  </a:lnTo>
                  <a:lnTo>
                    <a:pt x="1271612" y="1009015"/>
                  </a:lnTo>
                  <a:lnTo>
                    <a:pt x="1235735" y="992505"/>
                  </a:lnTo>
                  <a:lnTo>
                    <a:pt x="1196365" y="987425"/>
                  </a:lnTo>
                  <a:lnTo>
                    <a:pt x="1145082" y="991235"/>
                  </a:lnTo>
                  <a:lnTo>
                    <a:pt x="1104379" y="1003935"/>
                  </a:lnTo>
                  <a:lnTo>
                    <a:pt x="1074102" y="1028065"/>
                  </a:lnTo>
                  <a:lnTo>
                    <a:pt x="1054138" y="1061085"/>
                  </a:lnTo>
                  <a:lnTo>
                    <a:pt x="1048689" y="1090295"/>
                  </a:lnTo>
                  <a:lnTo>
                    <a:pt x="1048575" y="1092835"/>
                  </a:lnTo>
                  <a:lnTo>
                    <a:pt x="1048461" y="1095375"/>
                  </a:lnTo>
                  <a:lnTo>
                    <a:pt x="1048359" y="1097915"/>
                  </a:lnTo>
                  <a:lnTo>
                    <a:pt x="1048245" y="1100455"/>
                  </a:lnTo>
                  <a:lnTo>
                    <a:pt x="1048143" y="1102995"/>
                  </a:lnTo>
                  <a:lnTo>
                    <a:pt x="1048092" y="1104265"/>
                  </a:lnTo>
                  <a:lnTo>
                    <a:pt x="1047978" y="1106805"/>
                  </a:lnTo>
                  <a:lnTo>
                    <a:pt x="1046454" y="1122045"/>
                  </a:lnTo>
                  <a:lnTo>
                    <a:pt x="1038961" y="1136015"/>
                  </a:lnTo>
                  <a:lnTo>
                    <a:pt x="1027264" y="1149985"/>
                  </a:lnTo>
                  <a:lnTo>
                    <a:pt x="1016889" y="1161415"/>
                  </a:lnTo>
                  <a:lnTo>
                    <a:pt x="1009954" y="1171575"/>
                  </a:lnTo>
                  <a:lnTo>
                    <a:pt x="1037348" y="1195705"/>
                  </a:lnTo>
                  <a:lnTo>
                    <a:pt x="1033335" y="1203325"/>
                  </a:lnTo>
                  <a:lnTo>
                    <a:pt x="1028446" y="1209675"/>
                  </a:lnTo>
                  <a:lnTo>
                    <a:pt x="1025309" y="1216025"/>
                  </a:lnTo>
                  <a:lnTo>
                    <a:pt x="1026553" y="1221105"/>
                  </a:lnTo>
                  <a:lnTo>
                    <a:pt x="1038631" y="1229995"/>
                  </a:lnTo>
                  <a:lnTo>
                    <a:pt x="1035304" y="1233805"/>
                  </a:lnTo>
                  <a:lnTo>
                    <a:pt x="1027468" y="1233805"/>
                  </a:lnTo>
                  <a:lnTo>
                    <a:pt x="1028636" y="1242695"/>
                  </a:lnTo>
                  <a:lnTo>
                    <a:pt x="1031163" y="1250315"/>
                  </a:lnTo>
                  <a:lnTo>
                    <a:pt x="1043051" y="1252855"/>
                  </a:lnTo>
                  <a:lnTo>
                    <a:pt x="1040714" y="1257935"/>
                  </a:lnTo>
                  <a:lnTo>
                    <a:pt x="1036167" y="1270635"/>
                  </a:lnTo>
                  <a:lnTo>
                    <a:pt x="1033780" y="1282065"/>
                  </a:lnTo>
                  <a:lnTo>
                    <a:pt x="1033843" y="1292225"/>
                  </a:lnTo>
                  <a:lnTo>
                    <a:pt x="1036675" y="1299845"/>
                  </a:lnTo>
                  <a:lnTo>
                    <a:pt x="1049515" y="1306195"/>
                  </a:lnTo>
                  <a:lnTo>
                    <a:pt x="1068679" y="1310005"/>
                  </a:lnTo>
                  <a:lnTo>
                    <a:pt x="1091641" y="1308735"/>
                  </a:lnTo>
                  <a:lnTo>
                    <a:pt x="1115860" y="1303655"/>
                  </a:lnTo>
                  <a:lnTo>
                    <a:pt x="1127937" y="1356995"/>
                  </a:lnTo>
                  <a:lnTo>
                    <a:pt x="1307084" y="1354455"/>
                  </a:lnTo>
                  <a:lnTo>
                    <a:pt x="1295476" y="1303655"/>
                  </a:lnTo>
                  <a:lnTo>
                    <a:pt x="1294599" y="1299845"/>
                  </a:lnTo>
                  <a:lnTo>
                    <a:pt x="1291818" y="1259205"/>
                  </a:lnTo>
                  <a:lnTo>
                    <a:pt x="1298333" y="1229995"/>
                  </a:lnTo>
                  <a:lnTo>
                    <a:pt x="1313789" y="1208405"/>
                  </a:lnTo>
                  <a:lnTo>
                    <a:pt x="1322793" y="1193165"/>
                  </a:lnTo>
                  <a:lnTo>
                    <a:pt x="1330286" y="1180465"/>
                  </a:lnTo>
                  <a:lnTo>
                    <a:pt x="1331785" y="1177925"/>
                  </a:lnTo>
                  <a:lnTo>
                    <a:pt x="1336294" y="1170305"/>
                  </a:lnTo>
                  <a:lnTo>
                    <a:pt x="1342390" y="1142365"/>
                  </a:lnTo>
                  <a:lnTo>
                    <a:pt x="1344599" y="1132205"/>
                  </a:lnTo>
                  <a:close/>
                </a:path>
                <a:path w="1882775" h="2385695">
                  <a:moveTo>
                    <a:pt x="1537639" y="311556"/>
                  </a:moveTo>
                  <a:lnTo>
                    <a:pt x="1532991" y="307530"/>
                  </a:lnTo>
                  <a:lnTo>
                    <a:pt x="1490484" y="307530"/>
                  </a:lnTo>
                  <a:lnTo>
                    <a:pt x="1485836" y="311556"/>
                  </a:lnTo>
                  <a:lnTo>
                    <a:pt x="1485836" y="321462"/>
                  </a:lnTo>
                  <a:lnTo>
                    <a:pt x="1490484" y="325488"/>
                  </a:lnTo>
                  <a:lnTo>
                    <a:pt x="1532991" y="325488"/>
                  </a:lnTo>
                  <a:lnTo>
                    <a:pt x="1537639" y="321462"/>
                  </a:lnTo>
                  <a:lnTo>
                    <a:pt x="1537639" y="311556"/>
                  </a:lnTo>
                  <a:close/>
                </a:path>
                <a:path w="1882775" h="2385695">
                  <a:moveTo>
                    <a:pt x="1571802" y="235077"/>
                  </a:moveTo>
                  <a:lnTo>
                    <a:pt x="1543761" y="210769"/>
                  </a:lnTo>
                  <a:lnTo>
                    <a:pt x="1541106" y="209892"/>
                  </a:lnTo>
                  <a:lnTo>
                    <a:pt x="1535798" y="209892"/>
                  </a:lnTo>
                  <a:lnTo>
                    <a:pt x="1533156" y="210769"/>
                  </a:lnTo>
                  <a:lnTo>
                    <a:pt x="1527086" y="216027"/>
                  </a:lnTo>
                  <a:lnTo>
                    <a:pt x="1527086" y="221716"/>
                  </a:lnTo>
                  <a:lnTo>
                    <a:pt x="1557147" y="247764"/>
                  </a:lnTo>
                  <a:lnTo>
                    <a:pt x="1563712" y="247764"/>
                  </a:lnTo>
                  <a:lnTo>
                    <a:pt x="1571802" y="240753"/>
                  </a:lnTo>
                  <a:lnTo>
                    <a:pt x="1571802" y="235077"/>
                  </a:lnTo>
                  <a:close/>
                </a:path>
                <a:path w="1882775" h="2385695">
                  <a:moveTo>
                    <a:pt x="1694599" y="165455"/>
                  </a:moveTo>
                  <a:lnTo>
                    <a:pt x="1689963" y="161429"/>
                  </a:lnTo>
                  <a:lnTo>
                    <a:pt x="1678520" y="161429"/>
                  </a:lnTo>
                  <a:lnTo>
                    <a:pt x="1673885" y="165455"/>
                  </a:lnTo>
                  <a:lnTo>
                    <a:pt x="1673885" y="202298"/>
                  </a:lnTo>
                  <a:lnTo>
                    <a:pt x="1678520" y="206311"/>
                  </a:lnTo>
                  <a:lnTo>
                    <a:pt x="1689963" y="206311"/>
                  </a:lnTo>
                  <a:lnTo>
                    <a:pt x="1694599" y="202298"/>
                  </a:lnTo>
                  <a:lnTo>
                    <a:pt x="1694599" y="165455"/>
                  </a:lnTo>
                  <a:close/>
                </a:path>
                <a:path w="1882775" h="2385695">
                  <a:moveTo>
                    <a:pt x="1717154" y="513791"/>
                  </a:moveTo>
                  <a:lnTo>
                    <a:pt x="1712912" y="510120"/>
                  </a:lnTo>
                  <a:lnTo>
                    <a:pt x="1653247" y="510120"/>
                  </a:lnTo>
                  <a:lnTo>
                    <a:pt x="1649018" y="513791"/>
                  </a:lnTo>
                  <a:lnTo>
                    <a:pt x="1649018" y="522846"/>
                  </a:lnTo>
                  <a:lnTo>
                    <a:pt x="1653247" y="526516"/>
                  </a:lnTo>
                  <a:lnTo>
                    <a:pt x="1712912" y="526516"/>
                  </a:lnTo>
                  <a:lnTo>
                    <a:pt x="1717154" y="522846"/>
                  </a:lnTo>
                  <a:lnTo>
                    <a:pt x="1717154" y="513791"/>
                  </a:lnTo>
                  <a:close/>
                </a:path>
                <a:path w="1882775" h="2385695">
                  <a:moveTo>
                    <a:pt x="1724723" y="488378"/>
                  </a:moveTo>
                  <a:lnTo>
                    <a:pt x="1720494" y="484708"/>
                  </a:lnTo>
                  <a:lnTo>
                    <a:pt x="1645678" y="484708"/>
                  </a:lnTo>
                  <a:lnTo>
                    <a:pt x="1641449" y="488378"/>
                  </a:lnTo>
                  <a:lnTo>
                    <a:pt x="1641449" y="497433"/>
                  </a:lnTo>
                  <a:lnTo>
                    <a:pt x="1645678" y="501103"/>
                  </a:lnTo>
                  <a:lnTo>
                    <a:pt x="1720481" y="501103"/>
                  </a:lnTo>
                  <a:lnTo>
                    <a:pt x="1724723" y="497433"/>
                  </a:lnTo>
                  <a:lnTo>
                    <a:pt x="1724723" y="488378"/>
                  </a:lnTo>
                  <a:close/>
                </a:path>
                <a:path w="1882775" h="2385695">
                  <a:moveTo>
                    <a:pt x="1728508" y="462965"/>
                  </a:moveTo>
                  <a:lnTo>
                    <a:pt x="1724279" y="459295"/>
                  </a:lnTo>
                  <a:lnTo>
                    <a:pt x="1641894" y="459295"/>
                  </a:lnTo>
                  <a:lnTo>
                    <a:pt x="1637665" y="462965"/>
                  </a:lnTo>
                  <a:lnTo>
                    <a:pt x="1637665" y="472020"/>
                  </a:lnTo>
                  <a:lnTo>
                    <a:pt x="1641894" y="475691"/>
                  </a:lnTo>
                  <a:lnTo>
                    <a:pt x="1724279" y="475691"/>
                  </a:lnTo>
                  <a:lnTo>
                    <a:pt x="1728508" y="472020"/>
                  </a:lnTo>
                  <a:lnTo>
                    <a:pt x="1728508" y="462965"/>
                  </a:lnTo>
                  <a:close/>
                </a:path>
                <a:path w="1882775" h="2385695">
                  <a:moveTo>
                    <a:pt x="1788401" y="316928"/>
                  </a:moveTo>
                  <a:lnTo>
                    <a:pt x="1780692" y="282587"/>
                  </a:lnTo>
                  <a:lnTo>
                    <a:pt x="1757553" y="252399"/>
                  </a:lnTo>
                  <a:lnTo>
                    <a:pt x="1741030" y="240715"/>
                  </a:lnTo>
                  <a:lnTo>
                    <a:pt x="1724063" y="232981"/>
                  </a:lnTo>
                  <a:lnTo>
                    <a:pt x="1724063" y="339445"/>
                  </a:lnTo>
                  <a:lnTo>
                    <a:pt x="1711553" y="442607"/>
                  </a:lnTo>
                  <a:lnTo>
                    <a:pt x="1708848" y="444512"/>
                  </a:lnTo>
                  <a:lnTo>
                    <a:pt x="1702803" y="443953"/>
                  </a:lnTo>
                  <a:lnTo>
                    <a:pt x="1700606" y="441617"/>
                  </a:lnTo>
                  <a:lnTo>
                    <a:pt x="1711045" y="355561"/>
                  </a:lnTo>
                  <a:lnTo>
                    <a:pt x="1712506" y="343598"/>
                  </a:lnTo>
                  <a:lnTo>
                    <a:pt x="1707819" y="343598"/>
                  </a:lnTo>
                  <a:lnTo>
                    <a:pt x="1707819" y="353428"/>
                  </a:lnTo>
                  <a:lnTo>
                    <a:pt x="1705356" y="355561"/>
                  </a:lnTo>
                  <a:lnTo>
                    <a:pt x="1699272" y="355561"/>
                  </a:lnTo>
                  <a:lnTo>
                    <a:pt x="1696821" y="353428"/>
                  </a:lnTo>
                  <a:lnTo>
                    <a:pt x="1696821" y="343598"/>
                  </a:lnTo>
                  <a:lnTo>
                    <a:pt x="1689277" y="343598"/>
                  </a:lnTo>
                  <a:lnTo>
                    <a:pt x="1689277" y="353428"/>
                  </a:lnTo>
                  <a:lnTo>
                    <a:pt x="1686826" y="355561"/>
                  </a:lnTo>
                  <a:lnTo>
                    <a:pt x="1680743" y="355561"/>
                  </a:lnTo>
                  <a:lnTo>
                    <a:pt x="1678292" y="353428"/>
                  </a:lnTo>
                  <a:lnTo>
                    <a:pt x="1678292" y="343598"/>
                  </a:lnTo>
                  <a:lnTo>
                    <a:pt x="1670748" y="343598"/>
                  </a:lnTo>
                  <a:lnTo>
                    <a:pt x="1670748" y="353428"/>
                  </a:lnTo>
                  <a:lnTo>
                    <a:pt x="1668297" y="355561"/>
                  </a:lnTo>
                  <a:lnTo>
                    <a:pt x="1662214" y="355561"/>
                  </a:lnTo>
                  <a:lnTo>
                    <a:pt x="1659750" y="353428"/>
                  </a:lnTo>
                  <a:lnTo>
                    <a:pt x="1659750" y="343598"/>
                  </a:lnTo>
                  <a:lnTo>
                    <a:pt x="1655102" y="343598"/>
                  </a:lnTo>
                  <a:lnTo>
                    <a:pt x="1665046" y="442074"/>
                  </a:lnTo>
                  <a:lnTo>
                    <a:pt x="1662798" y="444385"/>
                  </a:lnTo>
                  <a:lnTo>
                    <a:pt x="1656753" y="444842"/>
                  </a:lnTo>
                  <a:lnTo>
                    <a:pt x="1654086" y="442899"/>
                  </a:lnTo>
                  <a:lnTo>
                    <a:pt x="1654060" y="442607"/>
                  </a:lnTo>
                  <a:lnTo>
                    <a:pt x="1653959" y="441617"/>
                  </a:lnTo>
                  <a:lnTo>
                    <a:pt x="1644053" y="343598"/>
                  </a:lnTo>
                  <a:lnTo>
                    <a:pt x="1643761" y="339445"/>
                  </a:lnTo>
                  <a:lnTo>
                    <a:pt x="1645983" y="337248"/>
                  </a:lnTo>
                  <a:lnTo>
                    <a:pt x="1648917" y="337019"/>
                  </a:lnTo>
                  <a:lnTo>
                    <a:pt x="1649730" y="337248"/>
                  </a:lnTo>
                  <a:lnTo>
                    <a:pt x="1659750" y="337248"/>
                  </a:lnTo>
                  <a:lnTo>
                    <a:pt x="1659750" y="337019"/>
                  </a:lnTo>
                  <a:lnTo>
                    <a:pt x="1659750" y="327418"/>
                  </a:lnTo>
                  <a:lnTo>
                    <a:pt x="1662214" y="325285"/>
                  </a:lnTo>
                  <a:lnTo>
                    <a:pt x="1668297" y="325285"/>
                  </a:lnTo>
                  <a:lnTo>
                    <a:pt x="1670748" y="327418"/>
                  </a:lnTo>
                  <a:lnTo>
                    <a:pt x="1670748" y="337248"/>
                  </a:lnTo>
                  <a:lnTo>
                    <a:pt x="1678292" y="337248"/>
                  </a:lnTo>
                  <a:lnTo>
                    <a:pt x="1678292" y="327418"/>
                  </a:lnTo>
                  <a:lnTo>
                    <a:pt x="1680743" y="325285"/>
                  </a:lnTo>
                  <a:lnTo>
                    <a:pt x="1686826" y="325285"/>
                  </a:lnTo>
                  <a:lnTo>
                    <a:pt x="1689277" y="327418"/>
                  </a:lnTo>
                  <a:lnTo>
                    <a:pt x="1689277" y="337248"/>
                  </a:lnTo>
                  <a:lnTo>
                    <a:pt x="1696821" y="337248"/>
                  </a:lnTo>
                  <a:lnTo>
                    <a:pt x="1696821" y="327418"/>
                  </a:lnTo>
                  <a:lnTo>
                    <a:pt x="1699272" y="325285"/>
                  </a:lnTo>
                  <a:lnTo>
                    <a:pt x="1705356" y="325285"/>
                  </a:lnTo>
                  <a:lnTo>
                    <a:pt x="1707819" y="327418"/>
                  </a:lnTo>
                  <a:lnTo>
                    <a:pt x="1707819" y="337248"/>
                  </a:lnTo>
                  <a:lnTo>
                    <a:pt x="1717052" y="337248"/>
                  </a:lnTo>
                  <a:lnTo>
                    <a:pt x="1717509" y="336816"/>
                  </a:lnTo>
                  <a:lnTo>
                    <a:pt x="1718703" y="336816"/>
                  </a:lnTo>
                  <a:lnTo>
                    <a:pt x="1720989" y="337019"/>
                  </a:lnTo>
                  <a:lnTo>
                    <a:pt x="1721802" y="337019"/>
                  </a:lnTo>
                  <a:lnTo>
                    <a:pt x="1724063" y="339445"/>
                  </a:lnTo>
                  <a:lnTo>
                    <a:pt x="1724063" y="232981"/>
                  </a:lnTo>
                  <a:lnTo>
                    <a:pt x="1722716" y="232359"/>
                  </a:lnTo>
                  <a:lnTo>
                    <a:pt x="1703197" y="227342"/>
                  </a:lnTo>
                  <a:lnTo>
                    <a:pt x="1683080" y="225679"/>
                  </a:lnTo>
                  <a:lnTo>
                    <a:pt x="1662976" y="227342"/>
                  </a:lnTo>
                  <a:lnTo>
                    <a:pt x="1625130" y="240715"/>
                  </a:lnTo>
                  <a:lnTo>
                    <a:pt x="1585480" y="282587"/>
                  </a:lnTo>
                  <a:lnTo>
                    <a:pt x="1577771" y="316928"/>
                  </a:lnTo>
                  <a:lnTo>
                    <a:pt x="1585480" y="351269"/>
                  </a:lnTo>
                  <a:lnTo>
                    <a:pt x="1608620" y="381457"/>
                  </a:lnTo>
                  <a:lnTo>
                    <a:pt x="1633880" y="403352"/>
                  </a:lnTo>
                  <a:lnTo>
                    <a:pt x="1633880" y="427761"/>
                  </a:lnTo>
                  <a:lnTo>
                    <a:pt x="1635480" y="434670"/>
                  </a:lnTo>
                  <a:lnTo>
                    <a:pt x="1639874" y="440321"/>
                  </a:lnTo>
                  <a:lnTo>
                    <a:pt x="1646402" y="444131"/>
                  </a:lnTo>
                  <a:lnTo>
                    <a:pt x="1654378" y="445528"/>
                  </a:lnTo>
                  <a:lnTo>
                    <a:pt x="1682559" y="445528"/>
                  </a:lnTo>
                  <a:lnTo>
                    <a:pt x="1683080" y="445985"/>
                  </a:lnTo>
                  <a:lnTo>
                    <a:pt x="1683613" y="445528"/>
                  </a:lnTo>
                  <a:lnTo>
                    <a:pt x="1711794" y="445528"/>
                  </a:lnTo>
                  <a:lnTo>
                    <a:pt x="1715731" y="444842"/>
                  </a:lnTo>
                  <a:lnTo>
                    <a:pt x="1732292" y="427761"/>
                  </a:lnTo>
                  <a:lnTo>
                    <a:pt x="1732292" y="403352"/>
                  </a:lnTo>
                  <a:lnTo>
                    <a:pt x="1757553" y="381457"/>
                  </a:lnTo>
                  <a:lnTo>
                    <a:pt x="1780692" y="351269"/>
                  </a:lnTo>
                  <a:lnTo>
                    <a:pt x="1783943" y="336816"/>
                  </a:lnTo>
                  <a:lnTo>
                    <a:pt x="1786534" y="325285"/>
                  </a:lnTo>
                  <a:lnTo>
                    <a:pt x="1788401" y="316928"/>
                  </a:lnTo>
                  <a:close/>
                </a:path>
                <a:path w="1882775" h="2385695">
                  <a:moveTo>
                    <a:pt x="1840598" y="216027"/>
                  </a:moveTo>
                  <a:lnTo>
                    <a:pt x="1834540" y="210769"/>
                  </a:lnTo>
                  <a:lnTo>
                    <a:pt x="1831886" y="209892"/>
                  </a:lnTo>
                  <a:lnTo>
                    <a:pt x="1826577" y="209892"/>
                  </a:lnTo>
                  <a:lnTo>
                    <a:pt x="1823935" y="210769"/>
                  </a:lnTo>
                  <a:lnTo>
                    <a:pt x="1795894" y="235077"/>
                  </a:lnTo>
                  <a:lnTo>
                    <a:pt x="1795894" y="240753"/>
                  </a:lnTo>
                  <a:lnTo>
                    <a:pt x="1803984" y="247764"/>
                  </a:lnTo>
                  <a:lnTo>
                    <a:pt x="1810537" y="247764"/>
                  </a:lnTo>
                  <a:lnTo>
                    <a:pt x="1840598" y="221716"/>
                  </a:lnTo>
                  <a:lnTo>
                    <a:pt x="1840598" y="216027"/>
                  </a:lnTo>
                  <a:close/>
                </a:path>
                <a:path w="1882775" h="2385695">
                  <a:moveTo>
                    <a:pt x="1882648" y="311556"/>
                  </a:moveTo>
                  <a:lnTo>
                    <a:pt x="1878012" y="307530"/>
                  </a:lnTo>
                  <a:lnTo>
                    <a:pt x="1835492" y="307530"/>
                  </a:lnTo>
                  <a:lnTo>
                    <a:pt x="1830857" y="311556"/>
                  </a:lnTo>
                  <a:lnTo>
                    <a:pt x="1830857" y="321462"/>
                  </a:lnTo>
                  <a:lnTo>
                    <a:pt x="1835492" y="325488"/>
                  </a:lnTo>
                  <a:lnTo>
                    <a:pt x="1878012" y="325488"/>
                  </a:lnTo>
                  <a:lnTo>
                    <a:pt x="1882648" y="321462"/>
                  </a:lnTo>
                  <a:lnTo>
                    <a:pt x="1882648" y="31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4771" y="2051082"/>
            <a:ext cx="3099435" cy="111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>
              <a:lnSpc>
                <a:spcPts val="1900"/>
              </a:lnSpc>
              <a:spcBef>
                <a:spcPts val="100"/>
              </a:spcBef>
            </a:pPr>
            <a:r>
              <a:rPr sz="1600" b="1" dirty="0">
                <a:solidFill>
                  <a:srgbClr val="3E3E3E"/>
                </a:solidFill>
                <a:latin typeface="Arial"/>
                <a:cs typeface="Arial"/>
              </a:rPr>
              <a:t>Un</a:t>
            </a:r>
            <a:r>
              <a:rPr sz="1600" b="1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E3E3E"/>
                </a:solidFill>
                <a:latin typeface="Arial"/>
                <a:cs typeface="Arial"/>
              </a:rPr>
              <a:t>Supervised</a:t>
            </a:r>
            <a:r>
              <a:rPr sz="1600" b="1" spc="-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3E3E3E"/>
                </a:solidFill>
                <a:latin typeface="Arial"/>
                <a:cs typeface="Arial"/>
              </a:rPr>
              <a:t>Binning</a:t>
            </a:r>
            <a:endParaRPr sz="1600">
              <a:latin typeface="Arial"/>
              <a:cs typeface="Arial"/>
            </a:endParaRPr>
          </a:p>
          <a:p>
            <a:pPr marL="63500" marR="55244" algn="just">
              <a:lnSpc>
                <a:spcPts val="1680"/>
              </a:lnSpc>
              <a:spcBef>
                <a:spcPts val="35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2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transform</a:t>
            </a:r>
            <a:r>
              <a:rPr sz="1400" spc="16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continuous</a:t>
            </a:r>
            <a:r>
              <a:rPr sz="1400" spc="16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400" spc="160" dirty="0">
                <a:solidFill>
                  <a:srgbClr val="0C0C0C"/>
                </a:solidFill>
                <a:latin typeface="Cambria"/>
                <a:cs typeface="Cambria"/>
              </a:rPr>
              <a:t>  </a:t>
            </a:r>
            <a:r>
              <a:rPr sz="1400" spc="-210" dirty="0">
                <a:solidFill>
                  <a:srgbClr val="0C0C0C"/>
                </a:solidFill>
                <a:latin typeface="Cambria"/>
                <a:cs typeface="Cambria"/>
              </a:rPr>
              <a:t>num</a:t>
            </a:r>
            <a:r>
              <a:rPr sz="1800" spc="-315" baseline="9259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r>
              <a:rPr sz="1800" spc="202" baseline="925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eric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into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spc="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without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taking</a:t>
            </a:r>
            <a:r>
              <a:rPr sz="1400" spc="340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dependent</a:t>
            </a:r>
            <a:r>
              <a:rPr sz="1400" spc="34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340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into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consideration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81285" y="4693115"/>
            <a:ext cx="2973705" cy="1052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700"/>
              </a:spcBef>
            </a:pPr>
            <a:r>
              <a:rPr sz="1600" b="1" dirty="0">
                <a:solidFill>
                  <a:srgbClr val="3E3E3E"/>
                </a:solidFill>
                <a:latin typeface="Arial"/>
                <a:cs typeface="Arial"/>
              </a:rPr>
              <a:t>Supervised</a:t>
            </a:r>
            <a:r>
              <a:rPr sz="1600" b="1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3E3E3E"/>
                </a:solidFill>
                <a:latin typeface="Arial"/>
                <a:cs typeface="Arial"/>
              </a:rPr>
              <a:t>Binning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25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4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transform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continuous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400" spc="4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numeric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into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r>
              <a:rPr sz="1400" spc="2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taking dependent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into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consideration.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9146" y="1909231"/>
            <a:ext cx="44215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Equal</a:t>
            </a:r>
            <a:r>
              <a:rPr sz="14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Width</a:t>
            </a:r>
            <a:endParaRPr sz="140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Equal</a:t>
            </a:r>
            <a:r>
              <a:rPr sz="1400" spc="1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width</a:t>
            </a:r>
            <a:r>
              <a:rPr sz="1400" spc="1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separate</a:t>
            </a:r>
            <a:r>
              <a:rPr sz="1400" spc="1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1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continuous</a:t>
            </a:r>
            <a:r>
              <a:rPr sz="1400" spc="1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1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17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several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categories</a:t>
            </a:r>
            <a:r>
              <a:rPr sz="1400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having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same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range</a:t>
            </a:r>
            <a:r>
              <a:rPr sz="1400" spc="-6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width.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39146" y="2976031"/>
            <a:ext cx="44272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Equal</a:t>
            </a:r>
            <a:r>
              <a:rPr sz="1400" b="1" spc="-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Frequency</a:t>
            </a:r>
            <a:endParaRPr sz="1400">
              <a:latin typeface="Cambria"/>
              <a:cs typeface="Cambria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Equal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frequency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separate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continuous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3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into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several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categories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having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approximately</a:t>
            </a:r>
            <a:r>
              <a:rPr sz="1400" spc="28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same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number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of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values.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5521" y="4665112"/>
            <a:ext cx="364045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Entropy</a:t>
            </a:r>
            <a:r>
              <a:rPr sz="1400" b="1" spc="-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Based</a:t>
            </a:r>
            <a:endParaRPr sz="1400">
              <a:latin typeface="Cambria"/>
              <a:cs typeface="Cambria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Entropy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based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binning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separate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continuous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or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numeric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majority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values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43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50" dirty="0">
                <a:solidFill>
                  <a:srgbClr val="0C0C0C"/>
                </a:solidFill>
                <a:latin typeface="Cambria"/>
                <a:cs typeface="Cambria"/>
              </a:rPr>
              <a:t>a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category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belong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same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label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class.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46206" y="909637"/>
            <a:ext cx="5051425" cy="873125"/>
            <a:chOff x="2746206" y="909637"/>
            <a:chExt cx="5051425" cy="873125"/>
          </a:xfrm>
        </p:grpSpPr>
        <p:sp>
          <p:nvSpPr>
            <p:cNvPr id="20" name="object 20"/>
            <p:cNvSpPr/>
            <p:nvPr/>
          </p:nvSpPr>
          <p:spPr>
            <a:xfrm>
              <a:off x="2750968" y="914400"/>
              <a:ext cx="5026025" cy="868044"/>
            </a:xfrm>
            <a:custGeom>
              <a:avLst/>
              <a:gdLst/>
              <a:ahLst/>
              <a:cxnLst/>
              <a:rect l="l" t="t" r="r" b="b"/>
              <a:pathLst>
                <a:path w="5026025" h="868044">
                  <a:moveTo>
                    <a:pt x="0" y="867883"/>
                  </a:moveTo>
                  <a:lnTo>
                    <a:pt x="0" y="8877"/>
                  </a:lnTo>
                </a:path>
                <a:path w="5026025" h="868044">
                  <a:moveTo>
                    <a:pt x="0" y="0"/>
                  </a:moveTo>
                  <a:lnTo>
                    <a:pt x="5025869" y="0"/>
                  </a:lnTo>
                </a:path>
                <a:path w="5026025" h="868044">
                  <a:moveTo>
                    <a:pt x="5025869" y="8877"/>
                  </a:moveTo>
                  <a:lnTo>
                    <a:pt x="5025869" y="810733"/>
                  </a:lnTo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1106" y="172513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61106" y="172513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202098" y="5717504"/>
            <a:ext cx="5511800" cy="795655"/>
            <a:chOff x="3202098" y="5717504"/>
            <a:chExt cx="5511800" cy="795655"/>
          </a:xfrm>
        </p:grpSpPr>
        <p:sp>
          <p:nvSpPr>
            <p:cNvPr id="24" name="object 24"/>
            <p:cNvSpPr/>
            <p:nvPr/>
          </p:nvSpPr>
          <p:spPr>
            <a:xfrm>
              <a:off x="3222593" y="5765492"/>
              <a:ext cx="5486400" cy="742950"/>
            </a:xfrm>
            <a:custGeom>
              <a:avLst/>
              <a:gdLst/>
              <a:ahLst/>
              <a:cxnLst/>
              <a:rect l="l" t="t" r="r" b="b"/>
              <a:pathLst>
                <a:path w="5486400" h="742950">
                  <a:moveTo>
                    <a:pt x="5486399" y="6499"/>
                  </a:moveTo>
                  <a:lnTo>
                    <a:pt x="5486399" y="742592"/>
                  </a:lnTo>
                </a:path>
                <a:path w="5486400" h="742950">
                  <a:moveTo>
                    <a:pt x="5486399" y="742592"/>
                  </a:moveTo>
                  <a:lnTo>
                    <a:pt x="0" y="742592"/>
                  </a:lnTo>
                </a:path>
                <a:path w="5486400" h="742950">
                  <a:moveTo>
                    <a:pt x="0" y="74259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6861" y="572226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6861" y="572226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0C0C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529" y="175953"/>
            <a:ext cx="58115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C3148"/>
                </a:solidFill>
              </a:rPr>
              <a:t>Feature</a:t>
            </a:r>
            <a:r>
              <a:rPr spc="-40" dirty="0">
                <a:solidFill>
                  <a:srgbClr val="0C3148"/>
                </a:solidFill>
              </a:rPr>
              <a:t> </a:t>
            </a:r>
            <a:r>
              <a:rPr spc="-10" dirty="0">
                <a:solidFill>
                  <a:srgbClr val="0C3148"/>
                </a:solidFill>
              </a:rPr>
              <a:t>Encoding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03434" y="2367065"/>
            <a:ext cx="4004310" cy="432434"/>
            <a:chOff x="1203434" y="2367065"/>
            <a:chExt cx="4004310" cy="432434"/>
          </a:xfrm>
        </p:grpSpPr>
        <p:sp>
          <p:nvSpPr>
            <p:cNvPr id="4" name="object 4"/>
            <p:cNvSpPr/>
            <p:nvPr/>
          </p:nvSpPr>
          <p:spPr>
            <a:xfrm>
              <a:off x="4775171" y="236706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3" y="432047"/>
                  </a:moveTo>
                  <a:lnTo>
                    <a:pt x="166491" y="426342"/>
                  </a:lnTo>
                  <a:lnTo>
                    <a:pt x="121021" y="410091"/>
                  </a:lnTo>
                  <a:lnTo>
                    <a:pt x="80911" y="384589"/>
                  </a:lnTo>
                  <a:lnTo>
                    <a:pt x="47457" y="351135"/>
                  </a:lnTo>
                  <a:lnTo>
                    <a:pt x="21956" y="311025"/>
                  </a:lnTo>
                  <a:lnTo>
                    <a:pt x="5705" y="265556"/>
                  </a:lnTo>
                  <a:lnTo>
                    <a:pt x="0" y="216023"/>
                  </a:lnTo>
                  <a:lnTo>
                    <a:pt x="5705" y="166491"/>
                  </a:lnTo>
                  <a:lnTo>
                    <a:pt x="21956" y="121022"/>
                  </a:lnTo>
                  <a:lnTo>
                    <a:pt x="47457" y="80912"/>
                  </a:lnTo>
                  <a:lnTo>
                    <a:pt x="80911" y="47458"/>
                  </a:lnTo>
                  <a:lnTo>
                    <a:pt x="121021" y="21956"/>
                  </a:lnTo>
                  <a:lnTo>
                    <a:pt x="166491" y="5705"/>
                  </a:lnTo>
                  <a:lnTo>
                    <a:pt x="216023" y="0"/>
                  </a:lnTo>
                  <a:lnTo>
                    <a:pt x="258364" y="4189"/>
                  </a:lnTo>
                  <a:lnTo>
                    <a:pt x="298692" y="16443"/>
                  </a:lnTo>
                  <a:lnTo>
                    <a:pt x="335874" y="36294"/>
                  </a:lnTo>
                  <a:lnTo>
                    <a:pt x="368775" y="63271"/>
                  </a:lnTo>
                  <a:lnTo>
                    <a:pt x="395753" y="96173"/>
                  </a:lnTo>
                  <a:lnTo>
                    <a:pt x="415603" y="133355"/>
                  </a:lnTo>
                  <a:lnTo>
                    <a:pt x="427858" y="173683"/>
                  </a:lnTo>
                  <a:lnTo>
                    <a:pt x="432047" y="216023"/>
                  </a:lnTo>
                  <a:lnTo>
                    <a:pt x="426342" y="265556"/>
                  </a:lnTo>
                  <a:lnTo>
                    <a:pt x="410091" y="311025"/>
                  </a:lnTo>
                  <a:lnTo>
                    <a:pt x="384589" y="351135"/>
                  </a:lnTo>
                  <a:lnTo>
                    <a:pt x="351135" y="384589"/>
                  </a:lnTo>
                  <a:lnTo>
                    <a:pt x="311025" y="410091"/>
                  </a:lnTo>
                  <a:lnTo>
                    <a:pt x="265556" y="426342"/>
                  </a:lnTo>
                  <a:lnTo>
                    <a:pt x="216023" y="432047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9533" y="2548735"/>
              <a:ext cx="3564254" cy="0"/>
            </a:xfrm>
            <a:custGeom>
              <a:avLst/>
              <a:gdLst/>
              <a:ahLst/>
              <a:cxnLst/>
              <a:rect l="l" t="t" r="r" b="b"/>
              <a:pathLst>
                <a:path w="3564254">
                  <a:moveTo>
                    <a:pt x="0" y="0"/>
                  </a:moveTo>
                  <a:lnTo>
                    <a:pt x="3563900" y="0"/>
                  </a:lnTo>
                </a:path>
              </a:pathLst>
            </a:custGeom>
            <a:ln w="9524">
              <a:solidFill>
                <a:srgbClr val="124B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08196" y="253306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22" y="31336"/>
                  </a:moveTo>
                  <a:lnTo>
                    <a:pt x="7014" y="31336"/>
                  </a:lnTo>
                  <a:lnTo>
                    <a:pt x="0" y="24321"/>
                  </a:lnTo>
                  <a:lnTo>
                    <a:pt x="0" y="15668"/>
                  </a:lnTo>
                  <a:lnTo>
                    <a:pt x="0" y="7014"/>
                  </a:lnTo>
                  <a:lnTo>
                    <a:pt x="7014" y="0"/>
                  </a:lnTo>
                  <a:lnTo>
                    <a:pt x="24322" y="0"/>
                  </a:lnTo>
                  <a:lnTo>
                    <a:pt x="31337" y="7014"/>
                  </a:lnTo>
                  <a:lnTo>
                    <a:pt x="31337" y="24321"/>
                  </a:lnTo>
                  <a:lnTo>
                    <a:pt x="24322" y="31336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8196" y="253306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668"/>
                  </a:moveTo>
                  <a:lnTo>
                    <a:pt x="0" y="7014"/>
                  </a:lnTo>
                  <a:lnTo>
                    <a:pt x="7014" y="0"/>
                  </a:lnTo>
                  <a:lnTo>
                    <a:pt x="15668" y="0"/>
                  </a:lnTo>
                  <a:lnTo>
                    <a:pt x="24322" y="0"/>
                  </a:lnTo>
                  <a:lnTo>
                    <a:pt x="31337" y="7014"/>
                  </a:lnTo>
                  <a:lnTo>
                    <a:pt x="31337" y="15668"/>
                  </a:lnTo>
                  <a:lnTo>
                    <a:pt x="31337" y="24321"/>
                  </a:lnTo>
                  <a:lnTo>
                    <a:pt x="24322" y="31336"/>
                  </a:lnTo>
                  <a:lnTo>
                    <a:pt x="15668" y="31336"/>
                  </a:lnTo>
                  <a:lnTo>
                    <a:pt x="7014" y="31336"/>
                  </a:lnTo>
                  <a:lnTo>
                    <a:pt x="0" y="24321"/>
                  </a:lnTo>
                  <a:lnTo>
                    <a:pt x="0" y="15668"/>
                  </a:lnTo>
                  <a:close/>
                </a:path>
              </a:pathLst>
            </a:custGeom>
            <a:ln w="9524">
              <a:solidFill>
                <a:srgbClr val="124B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329899" y="2178784"/>
            <a:ext cx="5685790" cy="3780790"/>
            <a:chOff x="5329899" y="2178784"/>
            <a:chExt cx="5685790" cy="3780790"/>
          </a:xfrm>
        </p:grpSpPr>
        <p:sp>
          <p:nvSpPr>
            <p:cNvPr id="9" name="object 9"/>
            <p:cNvSpPr/>
            <p:nvPr/>
          </p:nvSpPr>
          <p:spPr>
            <a:xfrm>
              <a:off x="6983203" y="33821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3" y="432047"/>
                  </a:moveTo>
                  <a:lnTo>
                    <a:pt x="166491" y="426342"/>
                  </a:lnTo>
                  <a:lnTo>
                    <a:pt x="121022" y="410091"/>
                  </a:lnTo>
                  <a:lnTo>
                    <a:pt x="80911" y="384589"/>
                  </a:lnTo>
                  <a:lnTo>
                    <a:pt x="47457" y="351135"/>
                  </a:lnTo>
                  <a:lnTo>
                    <a:pt x="21956" y="311025"/>
                  </a:lnTo>
                  <a:lnTo>
                    <a:pt x="5705" y="265556"/>
                  </a:lnTo>
                  <a:lnTo>
                    <a:pt x="0" y="216023"/>
                  </a:lnTo>
                  <a:lnTo>
                    <a:pt x="5705" y="166491"/>
                  </a:lnTo>
                  <a:lnTo>
                    <a:pt x="21956" y="121021"/>
                  </a:lnTo>
                  <a:lnTo>
                    <a:pt x="47457" y="80911"/>
                  </a:lnTo>
                  <a:lnTo>
                    <a:pt x="80911" y="47457"/>
                  </a:lnTo>
                  <a:lnTo>
                    <a:pt x="121022" y="21956"/>
                  </a:lnTo>
                  <a:lnTo>
                    <a:pt x="166491" y="5705"/>
                  </a:lnTo>
                  <a:lnTo>
                    <a:pt x="216023" y="0"/>
                  </a:lnTo>
                  <a:lnTo>
                    <a:pt x="258364" y="4189"/>
                  </a:lnTo>
                  <a:lnTo>
                    <a:pt x="298692" y="16443"/>
                  </a:lnTo>
                  <a:lnTo>
                    <a:pt x="335874" y="36294"/>
                  </a:lnTo>
                  <a:lnTo>
                    <a:pt x="368775" y="63271"/>
                  </a:lnTo>
                  <a:lnTo>
                    <a:pt x="395753" y="96173"/>
                  </a:lnTo>
                  <a:lnTo>
                    <a:pt x="415603" y="133355"/>
                  </a:lnTo>
                  <a:lnTo>
                    <a:pt x="427858" y="173682"/>
                  </a:lnTo>
                  <a:lnTo>
                    <a:pt x="432047" y="216023"/>
                  </a:lnTo>
                  <a:lnTo>
                    <a:pt x="426342" y="265556"/>
                  </a:lnTo>
                  <a:lnTo>
                    <a:pt x="410090" y="311025"/>
                  </a:lnTo>
                  <a:lnTo>
                    <a:pt x="384589" y="351135"/>
                  </a:lnTo>
                  <a:lnTo>
                    <a:pt x="351135" y="384589"/>
                  </a:lnTo>
                  <a:lnTo>
                    <a:pt x="311025" y="410091"/>
                  </a:lnTo>
                  <a:lnTo>
                    <a:pt x="265556" y="426342"/>
                  </a:lnTo>
                  <a:lnTo>
                    <a:pt x="216023" y="432047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15251" y="3598170"/>
              <a:ext cx="3564254" cy="3175"/>
            </a:xfrm>
            <a:custGeom>
              <a:avLst/>
              <a:gdLst/>
              <a:ahLst/>
              <a:cxnLst/>
              <a:rect l="l" t="t" r="r" b="b"/>
              <a:pathLst>
                <a:path w="3564254" h="3175">
                  <a:moveTo>
                    <a:pt x="0" y="0"/>
                  </a:moveTo>
                  <a:lnTo>
                    <a:pt x="3563899" y="2672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79144" y="358518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17" y="31350"/>
                  </a:moveTo>
                  <a:lnTo>
                    <a:pt x="7010" y="31337"/>
                  </a:lnTo>
                  <a:lnTo>
                    <a:pt x="0" y="24317"/>
                  </a:lnTo>
                  <a:lnTo>
                    <a:pt x="13" y="7010"/>
                  </a:lnTo>
                  <a:lnTo>
                    <a:pt x="7033" y="0"/>
                  </a:lnTo>
                  <a:lnTo>
                    <a:pt x="24340" y="13"/>
                  </a:lnTo>
                  <a:lnTo>
                    <a:pt x="31349" y="7033"/>
                  </a:lnTo>
                  <a:lnTo>
                    <a:pt x="31343" y="15687"/>
                  </a:lnTo>
                  <a:lnTo>
                    <a:pt x="31337" y="24340"/>
                  </a:lnTo>
                  <a:lnTo>
                    <a:pt x="24317" y="3135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79144" y="358518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31343" y="15687"/>
                  </a:moveTo>
                  <a:lnTo>
                    <a:pt x="31337" y="24340"/>
                  </a:lnTo>
                  <a:lnTo>
                    <a:pt x="24317" y="31350"/>
                  </a:lnTo>
                  <a:lnTo>
                    <a:pt x="15663" y="31343"/>
                  </a:lnTo>
                  <a:lnTo>
                    <a:pt x="7010" y="31337"/>
                  </a:lnTo>
                  <a:lnTo>
                    <a:pt x="0" y="24317"/>
                  </a:lnTo>
                  <a:lnTo>
                    <a:pt x="6" y="15663"/>
                  </a:lnTo>
                  <a:lnTo>
                    <a:pt x="13" y="7010"/>
                  </a:lnTo>
                  <a:lnTo>
                    <a:pt x="7033" y="0"/>
                  </a:lnTo>
                  <a:lnTo>
                    <a:pt x="15686" y="6"/>
                  </a:lnTo>
                  <a:lnTo>
                    <a:pt x="24340" y="13"/>
                  </a:lnTo>
                  <a:lnTo>
                    <a:pt x="31349" y="7033"/>
                  </a:lnTo>
                  <a:lnTo>
                    <a:pt x="31343" y="15687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43704" y="2178784"/>
              <a:ext cx="818515" cy="939165"/>
            </a:xfrm>
            <a:custGeom>
              <a:avLst/>
              <a:gdLst/>
              <a:ahLst/>
              <a:cxnLst/>
              <a:rect l="l" t="t" r="r" b="b"/>
              <a:pathLst>
                <a:path w="818515" h="939164">
                  <a:moveTo>
                    <a:pt x="818394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818394" y="0"/>
                  </a:lnTo>
                  <a:lnTo>
                    <a:pt x="818394" y="938965"/>
                  </a:lnTo>
                  <a:close/>
                </a:path>
              </a:pathLst>
            </a:custGeom>
            <a:solidFill>
              <a:srgbClr val="D7E6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29899" y="3123099"/>
              <a:ext cx="818515" cy="939165"/>
            </a:xfrm>
            <a:custGeom>
              <a:avLst/>
              <a:gdLst/>
              <a:ahLst/>
              <a:cxnLst/>
              <a:rect l="l" t="t" r="r" b="b"/>
              <a:pathLst>
                <a:path w="818514" h="939164">
                  <a:moveTo>
                    <a:pt x="818394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818394" y="0"/>
                  </a:lnTo>
                  <a:lnTo>
                    <a:pt x="818394" y="938965"/>
                  </a:lnTo>
                  <a:close/>
                </a:path>
              </a:pathLst>
            </a:custGeom>
            <a:solidFill>
              <a:srgbClr val="59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29899" y="5020139"/>
              <a:ext cx="818515" cy="939165"/>
            </a:xfrm>
            <a:custGeom>
              <a:avLst/>
              <a:gdLst/>
              <a:ahLst/>
              <a:cxnLst/>
              <a:rect l="l" t="t" r="r" b="b"/>
              <a:pathLst>
                <a:path w="818514" h="939164">
                  <a:moveTo>
                    <a:pt x="818394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818394" y="0"/>
                  </a:lnTo>
                  <a:lnTo>
                    <a:pt x="818394" y="938965"/>
                  </a:lnTo>
                  <a:close/>
                </a:path>
              </a:pathLst>
            </a:custGeom>
            <a:solidFill>
              <a:srgbClr val="0B6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43704" y="4081173"/>
              <a:ext cx="926465" cy="939165"/>
            </a:xfrm>
            <a:custGeom>
              <a:avLst/>
              <a:gdLst/>
              <a:ahLst/>
              <a:cxnLst/>
              <a:rect l="l" t="t" r="r" b="b"/>
              <a:pathLst>
                <a:path w="926465" h="939164">
                  <a:moveTo>
                    <a:pt x="925922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925922" y="0"/>
                  </a:lnTo>
                  <a:lnTo>
                    <a:pt x="925922" y="938965"/>
                  </a:lnTo>
                  <a:close/>
                </a:path>
              </a:pathLst>
            </a:custGeom>
            <a:solidFill>
              <a:srgbClr val="FC5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75531" y="528104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4" y="432047"/>
                  </a:moveTo>
                  <a:lnTo>
                    <a:pt x="166491" y="426342"/>
                  </a:lnTo>
                  <a:lnTo>
                    <a:pt x="121022" y="410091"/>
                  </a:lnTo>
                  <a:lnTo>
                    <a:pt x="80912" y="384589"/>
                  </a:lnTo>
                  <a:lnTo>
                    <a:pt x="47458" y="351135"/>
                  </a:lnTo>
                  <a:lnTo>
                    <a:pt x="21956" y="311025"/>
                  </a:lnTo>
                  <a:lnTo>
                    <a:pt x="5705" y="265556"/>
                  </a:lnTo>
                  <a:lnTo>
                    <a:pt x="0" y="216023"/>
                  </a:lnTo>
                  <a:lnTo>
                    <a:pt x="5705" y="166491"/>
                  </a:lnTo>
                  <a:lnTo>
                    <a:pt x="21956" y="121021"/>
                  </a:lnTo>
                  <a:lnTo>
                    <a:pt x="47458" y="80911"/>
                  </a:lnTo>
                  <a:lnTo>
                    <a:pt x="80912" y="47457"/>
                  </a:lnTo>
                  <a:lnTo>
                    <a:pt x="121022" y="21956"/>
                  </a:lnTo>
                  <a:lnTo>
                    <a:pt x="166491" y="5705"/>
                  </a:lnTo>
                  <a:lnTo>
                    <a:pt x="216024" y="0"/>
                  </a:lnTo>
                  <a:lnTo>
                    <a:pt x="258365" y="4189"/>
                  </a:lnTo>
                  <a:lnTo>
                    <a:pt x="298692" y="16443"/>
                  </a:lnTo>
                  <a:lnTo>
                    <a:pt x="335873" y="36294"/>
                  </a:lnTo>
                  <a:lnTo>
                    <a:pt x="368775" y="63271"/>
                  </a:lnTo>
                  <a:lnTo>
                    <a:pt x="395753" y="96173"/>
                  </a:lnTo>
                  <a:lnTo>
                    <a:pt x="415603" y="133355"/>
                  </a:lnTo>
                  <a:lnTo>
                    <a:pt x="427858" y="173682"/>
                  </a:lnTo>
                  <a:lnTo>
                    <a:pt x="432047" y="216023"/>
                  </a:lnTo>
                  <a:lnTo>
                    <a:pt x="426342" y="265556"/>
                  </a:lnTo>
                  <a:lnTo>
                    <a:pt x="410091" y="311025"/>
                  </a:lnTo>
                  <a:lnTo>
                    <a:pt x="384589" y="351135"/>
                  </a:lnTo>
                  <a:lnTo>
                    <a:pt x="351135" y="384589"/>
                  </a:lnTo>
                  <a:lnTo>
                    <a:pt x="311025" y="410091"/>
                  </a:lnTo>
                  <a:lnTo>
                    <a:pt x="265556" y="426342"/>
                  </a:lnTo>
                  <a:lnTo>
                    <a:pt x="216024" y="432047"/>
                  </a:lnTo>
                  <a:close/>
                </a:path>
              </a:pathLst>
            </a:custGeom>
            <a:solidFill>
              <a:srgbClr val="124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07579" y="5497070"/>
              <a:ext cx="3564254" cy="3175"/>
            </a:xfrm>
            <a:custGeom>
              <a:avLst/>
              <a:gdLst/>
              <a:ahLst/>
              <a:cxnLst/>
              <a:rect l="l" t="t" r="r" b="b"/>
              <a:pathLst>
                <a:path w="3564254" h="3175">
                  <a:moveTo>
                    <a:pt x="0" y="0"/>
                  </a:moveTo>
                  <a:lnTo>
                    <a:pt x="3563899" y="2672"/>
                  </a:lnTo>
                </a:path>
              </a:pathLst>
            </a:custGeom>
            <a:ln w="9524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871473" y="548408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16" y="31350"/>
                  </a:moveTo>
                  <a:lnTo>
                    <a:pt x="7009" y="31337"/>
                  </a:lnTo>
                  <a:lnTo>
                    <a:pt x="0" y="24317"/>
                  </a:lnTo>
                  <a:lnTo>
                    <a:pt x="13" y="7010"/>
                  </a:lnTo>
                  <a:lnTo>
                    <a:pt x="7033" y="0"/>
                  </a:lnTo>
                  <a:lnTo>
                    <a:pt x="24340" y="13"/>
                  </a:lnTo>
                  <a:lnTo>
                    <a:pt x="31349" y="7033"/>
                  </a:lnTo>
                  <a:lnTo>
                    <a:pt x="31343" y="15687"/>
                  </a:lnTo>
                  <a:lnTo>
                    <a:pt x="31337" y="24340"/>
                  </a:lnTo>
                  <a:lnTo>
                    <a:pt x="24316" y="31350"/>
                  </a:lnTo>
                  <a:close/>
                </a:path>
              </a:pathLst>
            </a:custGeom>
            <a:solidFill>
              <a:srgbClr val="0B6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71473" y="548408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31343" y="15687"/>
                  </a:moveTo>
                  <a:lnTo>
                    <a:pt x="31337" y="24340"/>
                  </a:lnTo>
                  <a:lnTo>
                    <a:pt x="24316" y="31350"/>
                  </a:lnTo>
                  <a:lnTo>
                    <a:pt x="15663" y="31343"/>
                  </a:lnTo>
                  <a:lnTo>
                    <a:pt x="7009" y="31337"/>
                  </a:lnTo>
                  <a:lnTo>
                    <a:pt x="0" y="24317"/>
                  </a:lnTo>
                  <a:lnTo>
                    <a:pt x="6" y="15663"/>
                  </a:lnTo>
                  <a:lnTo>
                    <a:pt x="13" y="7010"/>
                  </a:lnTo>
                  <a:lnTo>
                    <a:pt x="7033" y="0"/>
                  </a:lnTo>
                  <a:lnTo>
                    <a:pt x="15686" y="6"/>
                  </a:lnTo>
                  <a:lnTo>
                    <a:pt x="24340" y="13"/>
                  </a:lnTo>
                  <a:lnTo>
                    <a:pt x="31349" y="7033"/>
                  </a:lnTo>
                  <a:lnTo>
                    <a:pt x="31343" y="15687"/>
                  </a:lnTo>
                  <a:close/>
                </a:path>
              </a:pathLst>
            </a:custGeom>
            <a:ln w="9524">
              <a:solidFill>
                <a:srgbClr val="0B63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175171" y="4250146"/>
            <a:ext cx="4050029" cy="432434"/>
            <a:chOff x="1175171" y="4250146"/>
            <a:chExt cx="4050029" cy="432434"/>
          </a:xfrm>
        </p:grpSpPr>
        <p:sp>
          <p:nvSpPr>
            <p:cNvPr id="22" name="object 22"/>
            <p:cNvSpPr/>
            <p:nvPr/>
          </p:nvSpPr>
          <p:spPr>
            <a:xfrm>
              <a:off x="4793030" y="425014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3" y="432048"/>
                  </a:moveTo>
                  <a:lnTo>
                    <a:pt x="166491" y="426342"/>
                  </a:lnTo>
                  <a:lnTo>
                    <a:pt x="121022" y="410091"/>
                  </a:lnTo>
                  <a:lnTo>
                    <a:pt x="80912" y="384590"/>
                  </a:lnTo>
                  <a:lnTo>
                    <a:pt x="47458" y="351136"/>
                  </a:lnTo>
                  <a:lnTo>
                    <a:pt x="21956" y="311026"/>
                  </a:lnTo>
                  <a:lnTo>
                    <a:pt x="5705" y="265556"/>
                  </a:lnTo>
                  <a:lnTo>
                    <a:pt x="0" y="216023"/>
                  </a:lnTo>
                  <a:lnTo>
                    <a:pt x="5705" y="166491"/>
                  </a:lnTo>
                  <a:lnTo>
                    <a:pt x="21956" y="121022"/>
                  </a:lnTo>
                  <a:lnTo>
                    <a:pt x="47458" y="80912"/>
                  </a:lnTo>
                  <a:lnTo>
                    <a:pt x="80912" y="47458"/>
                  </a:lnTo>
                  <a:lnTo>
                    <a:pt x="121022" y="21956"/>
                  </a:lnTo>
                  <a:lnTo>
                    <a:pt x="166491" y="5705"/>
                  </a:lnTo>
                  <a:lnTo>
                    <a:pt x="216023" y="0"/>
                  </a:lnTo>
                  <a:lnTo>
                    <a:pt x="258365" y="4189"/>
                  </a:lnTo>
                  <a:lnTo>
                    <a:pt x="298692" y="16443"/>
                  </a:lnTo>
                  <a:lnTo>
                    <a:pt x="335874" y="36294"/>
                  </a:lnTo>
                  <a:lnTo>
                    <a:pt x="368776" y="63271"/>
                  </a:lnTo>
                  <a:lnTo>
                    <a:pt x="395753" y="96173"/>
                  </a:lnTo>
                  <a:lnTo>
                    <a:pt x="415604" y="133355"/>
                  </a:lnTo>
                  <a:lnTo>
                    <a:pt x="427859" y="173683"/>
                  </a:lnTo>
                  <a:lnTo>
                    <a:pt x="432048" y="216023"/>
                  </a:lnTo>
                  <a:lnTo>
                    <a:pt x="426342" y="265556"/>
                  </a:lnTo>
                  <a:lnTo>
                    <a:pt x="410091" y="311026"/>
                  </a:lnTo>
                  <a:lnTo>
                    <a:pt x="384590" y="351136"/>
                  </a:lnTo>
                  <a:lnTo>
                    <a:pt x="351136" y="384590"/>
                  </a:lnTo>
                  <a:lnTo>
                    <a:pt x="311026" y="410091"/>
                  </a:lnTo>
                  <a:lnTo>
                    <a:pt x="265556" y="426342"/>
                  </a:lnTo>
                  <a:lnTo>
                    <a:pt x="216023" y="432048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11271" y="4457080"/>
              <a:ext cx="3564254" cy="0"/>
            </a:xfrm>
            <a:custGeom>
              <a:avLst/>
              <a:gdLst/>
              <a:ahLst/>
              <a:cxnLst/>
              <a:rect l="l" t="t" r="r" b="b"/>
              <a:pathLst>
                <a:path w="3564254">
                  <a:moveTo>
                    <a:pt x="0" y="0"/>
                  </a:moveTo>
                  <a:lnTo>
                    <a:pt x="3563900" y="0"/>
                  </a:lnTo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79934" y="444141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322" y="31337"/>
                  </a:moveTo>
                  <a:lnTo>
                    <a:pt x="7014" y="31337"/>
                  </a:lnTo>
                  <a:lnTo>
                    <a:pt x="0" y="24322"/>
                  </a:lnTo>
                  <a:lnTo>
                    <a:pt x="0" y="15668"/>
                  </a:lnTo>
                  <a:lnTo>
                    <a:pt x="0" y="7015"/>
                  </a:lnTo>
                  <a:lnTo>
                    <a:pt x="7014" y="0"/>
                  </a:lnTo>
                  <a:lnTo>
                    <a:pt x="24322" y="0"/>
                  </a:lnTo>
                  <a:lnTo>
                    <a:pt x="31337" y="7015"/>
                  </a:lnTo>
                  <a:lnTo>
                    <a:pt x="31337" y="24322"/>
                  </a:lnTo>
                  <a:lnTo>
                    <a:pt x="24322" y="31337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79934" y="444141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668"/>
                  </a:moveTo>
                  <a:lnTo>
                    <a:pt x="0" y="7015"/>
                  </a:lnTo>
                  <a:lnTo>
                    <a:pt x="7014" y="0"/>
                  </a:lnTo>
                  <a:lnTo>
                    <a:pt x="15668" y="0"/>
                  </a:lnTo>
                  <a:lnTo>
                    <a:pt x="24322" y="0"/>
                  </a:lnTo>
                  <a:lnTo>
                    <a:pt x="31337" y="7015"/>
                  </a:lnTo>
                  <a:lnTo>
                    <a:pt x="31337" y="15668"/>
                  </a:lnTo>
                  <a:lnTo>
                    <a:pt x="31337" y="24322"/>
                  </a:lnTo>
                  <a:lnTo>
                    <a:pt x="24322" y="31337"/>
                  </a:lnTo>
                  <a:lnTo>
                    <a:pt x="15668" y="31337"/>
                  </a:lnTo>
                  <a:lnTo>
                    <a:pt x="7014" y="31337"/>
                  </a:lnTo>
                  <a:lnTo>
                    <a:pt x="0" y="24322"/>
                  </a:lnTo>
                  <a:lnTo>
                    <a:pt x="0" y="15668"/>
                  </a:lnTo>
                  <a:close/>
                </a:path>
              </a:pathLst>
            </a:custGeom>
            <a:ln w="9524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3546" y="4330523"/>
              <a:ext cx="249533" cy="25311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40185" y="1402188"/>
            <a:ext cx="63620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262626"/>
                </a:solidFill>
                <a:latin typeface="Cambria"/>
                <a:cs typeface="Cambria"/>
              </a:rPr>
              <a:t>Feature</a:t>
            </a:r>
            <a:r>
              <a:rPr sz="1600" spc="-3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encoding</a:t>
            </a:r>
            <a:r>
              <a:rPr sz="1600" spc="-3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help</a:t>
            </a:r>
            <a:r>
              <a:rPr sz="1600" spc="-3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us</a:t>
            </a:r>
            <a:r>
              <a:rPr sz="1600" spc="-3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to</a:t>
            </a:r>
            <a:r>
              <a:rPr sz="1600" spc="-3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62626"/>
                </a:solidFill>
                <a:latin typeface="Cambria"/>
                <a:cs typeface="Cambria"/>
              </a:rPr>
              <a:t>transform</a:t>
            </a:r>
            <a:r>
              <a:rPr sz="1600" spc="-3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62626"/>
                </a:solidFill>
                <a:latin typeface="Cambria"/>
                <a:cs typeface="Cambria"/>
              </a:rPr>
              <a:t>categorical</a:t>
            </a:r>
            <a:r>
              <a:rPr sz="1600" spc="-3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data</a:t>
            </a:r>
            <a:r>
              <a:rPr sz="1600" spc="-3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into</a:t>
            </a:r>
            <a:r>
              <a:rPr sz="1600" spc="-3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62626"/>
                </a:solidFill>
                <a:latin typeface="Cambria"/>
                <a:cs typeface="Cambria"/>
              </a:rPr>
              <a:t>numeric</a:t>
            </a:r>
            <a:r>
              <a:rPr sz="1600" spc="-3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62626"/>
                </a:solidFill>
                <a:latin typeface="Cambria"/>
                <a:cs typeface="Cambria"/>
              </a:rPr>
              <a:t>data.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53172" y="2240839"/>
            <a:ext cx="1258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62626"/>
                </a:solidFill>
                <a:latin typeface="Cambria"/>
                <a:cs typeface="Cambria"/>
              </a:rPr>
              <a:t>Label</a:t>
            </a:r>
            <a:r>
              <a:rPr sz="1400" b="1" spc="-65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262626"/>
                </a:solidFill>
                <a:latin typeface="Cambria"/>
                <a:cs typeface="Cambria"/>
              </a:rPr>
              <a:t>encoding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76459" y="2601377"/>
            <a:ext cx="35242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Label</a:t>
            </a:r>
            <a:r>
              <a:rPr sz="1400" spc="220" dirty="0">
                <a:solidFill>
                  <a:srgbClr val="292929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encoding</a:t>
            </a:r>
            <a:r>
              <a:rPr sz="1400" spc="-1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is</a:t>
            </a:r>
            <a:r>
              <a:rPr sz="1400" spc="220" dirty="0">
                <a:solidFill>
                  <a:srgbClr val="292929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technique</a:t>
            </a:r>
            <a:r>
              <a:rPr sz="1400" spc="225" dirty="0">
                <a:solidFill>
                  <a:srgbClr val="292929"/>
                </a:solidFill>
                <a:latin typeface="Cambria"/>
                <a:cs typeface="Cambria"/>
              </a:rPr>
              <a:t> 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to</a:t>
            </a:r>
            <a:r>
              <a:rPr sz="1400" spc="225" dirty="0">
                <a:solidFill>
                  <a:srgbClr val="292929"/>
                </a:solidFill>
                <a:latin typeface="Cambria"/>
                <a:cs typeface="Cambria"/>
              </a:rPr>
              <a:t>  </a:t>
            </a:r>
            <a:r>
              <a:rPr sz="1400" spc="-10" dirty="0">
                <a:solidFill>
                  <a:srgbClr val="292929"/>
                </a:solidFill>
                <a:latin typeface="Cambria"/>
                <a:cs typeface="Cambria"/>
              </a:rPr>
              <a:t>transform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categorical</a:t>
            </a:r>
            <a:r>
              <a:rPr sz="1400" spc="55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variables</a:t>
            </a:r>
            <a:r>
              <a:rPr sz="1400" spc="6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into</a:t>
            </a:r>
            <a:r>
              <a:rPr sz="1400" spc="55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numerical</a:t>
            </a:r>
            <a:r>
              <a:rPr sz="1400" spc="6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292929"/>
                </a:solidFill>
                <a:latin typeface="Cambria"/>
                <a:cs typeface="Cambria"/>
              </a:rPr>
              <a:t>variables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by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assigning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a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numerical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value</a:t>
            </a:r>
            <a:r>
              <a:rPr sz="1400" spc="95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to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each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92929"/>
                </a:solidFill>
                <a:latin typeface="Cambria"/>
                <a:cs typeface="Cambria"/>
              </a:rPr>
              <a:t>of</a:t>
            </a:r>
            <a:r>
              <a:rPr sz="1400" spc="90" dirty="0">
                <a:solidFill>
                  <a:srgbClr val="292929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292929"/>
                </a:solidFill>
                <a:latin typeface="Cambria"/>
                <a:cs typeface="Cambria"/>
              </a:rPr>
              <a:t>the </a:t>
            </a:r>
            <a:r>
              <a:rPr sz="1400" spc="-10" dirty="0">
                <a:solidFill>
                  <a:srgbClr val="292929"/>
                </a:solidFill>
                <a:latin typeface="Cambria"/>
                <a:cs typeface="Cambria"/>
              </a:rPr>
              <a:t>categories.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90846" y="3337189"/>
            <a:ext cx="14909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262626"/>
                </a:solidFill>
                <a:latin typeface="Cambria"/>
                <a:cs typeface="Cambria"/>
              </a:rPr>
              <a:t>One-</a:t>
            </a:r>
            <a:r>
              <a:rPr sz="1400" b="1" dirty="0">
                <a:solidFill>
                  <a:srgbClr val="262626"/>
                </a:solidFill>
                <a:latin typeface="Cambria"/>
                <a:cs typeface="Cambria"/>
              </a:rPr>
              <a:t>Hot</a:t>
            </a:r>
            <a:r>
              <a:rPr sz="1400" b="1" spc="-10" dirty="0">
                <a:solidFill>
                  <a:srgbClr val="262626"/>
                </a:solidFill>
                <a:latin typeface="Cambria"/>
                <a:cs typeface="Cambria"/>
              </a:rPr>
              <a:t> encoding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98519" y="3669431"/>
            <a:ext cx="34505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This</a:t>
            </a:r>
            <a:r>
              <a:rPr sz="1400" spc="3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technique</a:t>
            </a:r>
            <a:r>
              <a:rPr sz="1400" spc="3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used</a:t>
            </a:r>
            <a:r>
              <a:rPr sz="1400" spc="39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when</a:t>
            </a:r>
            <a:r>
              <a:rPr sz="1400" spc="39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independent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variables</a:t>
            </a:r>
            <a:r>
              <a:rPr sz="1400" spc="1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400" spc="1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nominal.</a:t>
            </a:r>
            <a:r>
              <a:rPr sz="1400" spc="1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It</a:t>
            </a:r>
            <a:r>
              <a:rPr sz="1400" spc="1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creates</a:t>
            </a:r>
            <a:r>
              <a:rPr sz="1400" spc="15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0C0C0C"/>
                </a:solidFill>
                <a:latin typeface="Cambria"/>
                <a:cs typeface="Cambria"/>
              </a:rPr>
              <a:t>k</a:t>
            </a:r>
            <a:r>
              <a:rPr sz="1400" b="1" spc="1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different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columns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each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4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category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4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replaces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one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column</a:t>
            </a:r>
            <a:r>
              <a:rPr sz="1400" spc="4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400" spc="4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1</a:t>
            </a:r>
            <a:r>
              <a:rPr sz="1400" spc="4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rest</a:t>
            </a:r>
            <a:r>
              <a:rPr sz="1400" spc="45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4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4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columns</a:t>
            </a:r>
            <a:r>
              <a:rPr sz="1400" spc="4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400" spc="45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0</a:t>
            </a:r>
            <a:r>
              <a:rPr sz="1400" spc="-25" dirty="0">
                <a:solidFill>
                  <a:srgbClr val="292929"/>
                </a:solidFill>
                <a:latin typeface="Cambria"/>
                <a:cs typeface="Cambria"/>
              </a:rPr>
              <a:t>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47044" y="4181915"/>
            <a:ext cx="13468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0C0C0C"/>
                </a:solidFill>
                <a:latin typeface="Cambria"/>
                <a:cs typeface="Cambria"/>
              </a:rPr>
              <a:t>Target</a:t>
            </a:r>
            <a:r>
              <a:rPr sz="1400" b="1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0C0C0C"/>
                </a:solidFill>
                <a:latin typeface="Cambria"/>
                <a:cs typeface="Cambria"/>
              </a:rPr>
              <a:t>Encoding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39532" y="4540842"/>
            <a:ext cx="35382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target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encoding,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calculate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average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of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6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dependent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for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each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category</a:t>
            </a:r>
            <a:r>
              <a:rPr sz="1400" spc="7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and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replace</a:t>
            </a:r>
            <a:r>
              <a:rPr sz="1400" spc="20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category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204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with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1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mean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value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90846" y="5559265"/>
            <a:ext cx="405384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TheHashencoder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represents</a:t>
            </a:r>
            <a:r>
              <a:rPr sz="1400" spc="-1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categorical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 independent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variable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using</a:t>
            </a:r>
            <a:r>
              <a:rPr sz="1400" spc="2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new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dimensions.</a:t>
            </a:r>
            <a:r>
              <a:rPr sz="1400" spc="2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Here,</a:t>
            </a:r>
            <a:r>
              <a:rPr sz="1400" spc="2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29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20" dirty="0">
                <a:solidFill>
                  <a:srgbClr val="0C0C0C"/>
                </a:solidFill>
                <a:latin typeface="Cambria"/>
                <a:cs typeface="Cambria"/>
              </a:rPr>
              <a:t>user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can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fix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400" spc="270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number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400" spc="270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dimensions</a:t>
            </a:r>
            <a:r>
              <a:rPr sz="1400" spc="265" dirty="0">
                <a:solidFill>
                  <a:srgbClr val="0C0C0C"/>
                </a:solidFill>
                <a:latin typeface="Cambria"/>
                <a:cs typeface="Cambria"/>
              </a:rPr>
              <a:t>  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after transformation</a:t>
            </a:r>
            <a:r>
              <a:rPr sz="14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using</a:t>
            </a:r>
            <a:r>
              <a:rPr sz="14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0C0C0C"/>
                </a:solidFill>
                <a:latin typeface="Cambria"/>
                <a:cs typeface="Cambria"/>
              </a:rPr>
              <a:t>component</a:t>
            </a:r>
            <a:r>
              <a:rPr sz="14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mbria"/>
                <a:cs typeface="Cambria"/>
              </a:rPr>
              <a:t>argument.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88277" y="5235559"/>
            <a:ext cx="11506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781B"/>
                </a:solidFill>
                <a:latin typeface="Cambria"/>
                <a:cs typeface="Cambria"/>
              </a:rPr>
              <a:t>Hash</a:t>
            </a:r>
            <a:r>
              <a:rPr sz="1400" b="1" spc="-20" dirty="0">
                <a:solidFill>
                  <a:srgbClr val="C0781B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C0781B"/>
                </a:solidFill>
                <a:latin typeface="Cambria"/>
                <a:cs typeface="Cambria"/>
              </a:rPr>
              <a:t>Encoder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59301" y="2171904"/>
            <a:ext cx="1962150" cy="3780790"/>
            <a:chOff x="5359301" y="2171904"/>
            <a:chExt cx="1962150" cy="3780790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5939" y="2441232"/>
              <a:ext cx="335308" cy="32921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073106" y="2171904"/>
              <a:ext cx="818515" cy="939165"/>
            </a:xfrm>
            <a:custGeom>
              <a:avLst/>
              <a:gdLst/>
              <a:ahLst/>
              <a:cxnLst/>
              <a:rect l="l" t="t" r="r" b="b"/>
              <a:pathLst>
                <a:path w="818515" h="939164">
                  <a:moveTo>
                    <a:pt x="818394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818394" y="0"/>
                  </a:lnTo>
                  <a:lnTo>
                    <a:pt x="818394" y="938965"/>
                  </a:lnTo>
                  <a:close/>
                </a:path>
              </a:pathLst>
            </a:custGeom>
            <a:solidFill>
              <a:srgbClr val="D7E6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59301" y="3116219"/>
              <a:ext cx="818515" cy="939165"/>
            </a:xfrm>
            <a:custGeom>
              <a:avLst/>
              <a:gdLst/>
              <a:ahLst/>
              <a:cxnLst/>
              <a:rect l="l" t="t" r="r" b="b"/>
              <a:pathLst>
                <a:path w="818514" h="939164">
                  <a:moveTo>
                    <a:pt x="818394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818394" y="0"/>
                  </a:lnTo>
                  <a:lnTo>
                    <a:pt x="818394" y="938965"/>
                  </a:lnTo>
                  <a:close/>
                </a:path>
              </a:pathLst>
            </a:custGeom>
            <a:solidFill>
              <a:srgbClr val="59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59301" y="5013259"/>
              <a:ext cx="818515" cy="939165"/>
            </a:xfrm>
            <a:custGeom>
              <a:avLst/>
              <a:gdLst/>
              <a:ahLst/>
              <a:cxnLst/>
              <a:rect l="l" t="t" r="r" b="b"/>
              <a:pathLst>
                <a:path w="818514" h="939164">
                  <a:moveTo>
                    <a:pt x="818394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818394" y="0"/>
                  </a:lnTo>
                  <a:lnTo>
                    <a:pt x="818394" y="938965"/>
                  </a:lnTo>
                  <a:close/>
                </a:path>
              </a:pathLst>
            </a:custGeom>
            <a:solidFill>
              <a:srgbClr val="0B6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73106" y="4074293"/>
              <a:ext cx="926465" cy="939165"/>
            </a:xfrm>
            <a:custGeom>
              <a:avLst/>
              <a:gdLst/>
              <a:ahLst/>
              <a:cxnLst/>
              <a:rect l="l" t="t" r="r" b="b"/>
              <a:pathLst>
                <a:path w="926465" h="939164">
                  <a:moveTo>
                    <a:pt x="925921" y="938965"/>
                  </a:moveTo>
                  <a:lnTo>
                    <a:pt x="0" y="938965"/>
                  </a:lnTo>
                  <a:lnTo>
                    <a:pt x="0" y="0"/>
                  </a:lnTo>
                  <a:lnTo>
                    <a:pt x="925921" y="0"/>
                  </a:lnTo>
                  <a:lnTo>
                    <a:pt x="925921" y="938965"/>
                  </a:lnTo>
                  <a:close/>
                </a:path>
              </a:pathLst>
            </a:custGeom>
            <a:solidFill>
              <a:srgbClr val="FC5B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40121" y="3454971"/>
              <a:ext cx="1163955" cy="1244600"/>
            </a:xfrm>
            <a:custGeom>
              <a:avLst/>
              <a:gdLst/>
              <a:ahLst/>
              <a:cxnLst/>
              <a:rect l="l" t="t" r="r" b="b"/>
              <a:pathLst>
                <a:path w="1163954" h="1244600">
                  <a:moveTo>
                    <a:pt x="148983" y="206438"/>
                  </a:moveTo>
                  <a:lnTo>
                    <a:pt x="144132" y="191465"/>
                  </a:lnTo>
                  <a:lnTo>
                    <a:pt x="119761" y="116319"/>
                  </a:lnTo>
                  <a:lnTo>
                    <a:pt x="27114" y="136067"/>
                  </a:lnTo>
                  <a:lnTo>
                    <a:pt x="53047" y="151041"/>
                  </a:lnTo>
                  <a:lnTo>
                    <a:pt x="12547" y="223215"/>
                  </a:lnTo>
                  <a:lnTo>
                    <a:pt x="11849" y="241757"/>
                  </a:lnTo>
                  <a:lnTo>
                    <a:pt x="27101" y="252006"/>
                  </a:lnTo>
                  <a:lnTo>
                    <a:pt x="52603" y="257429"/>
                  </a:lnTo>
                  <a:lnTo>
                    <a:pt x="82651" y="261416"/>
                  </a:lnTo>
                  <a:lnTo>
                    <a:pt x="123050" y="191465"/>
                  </a:lnTo>
                  <a:lnTo>
                    <a:pt x="148983" y="206438"/>
                  </a:lnTo>
                  <a:close/>
                </a:path>
                <a:path w="1163954" h="1244600">
                  <a:moveTo>
                    <a:pt x="166484" y="350926"/>
                  </a:moveTo>
                  <a:lnTo>
                    <a:pt x="166357" y="347929"/>
                  </a:lnTo>
                  <a:lnTo>
                    <a:pt x="166293" y="346392"/>
                  </a:lnTo>
                  <a:lnTo>
                    <a:pt x="163080" y="268808"/>
                  </a:lnTo>
                  <a:lnTo>
                    <a:pt x="162991" y="266712"/>
                  </a:lnTo>
                  <a:lnTo>
                    <a:pt x="116624" y="268808"/>
                  </a:lnTo>
                  <a:lnTo>
                    <a:pt x="70370" y="268236"/>
                  </a:lnTo>
                  <a:lnTo>
                    <a:pt x="29654" y="261416"/>
                  </a:lnTo>
                  <a:lnTo>
                    <a:pt x="0" y="244881"/>
                  </a:lnTo>
                  <a:lnTo>
                    <a:pt x="19812" y="283667"/>
                  </a:lnTo>
                  <a:lnTo>
                    <a:pt x="40690" y="315366"/>
                  </a:lnTo>
                  <a:lnTo>
                    <a:pt x="62306" y="337197"/>
                  </a:lnTo>
                  <a:lnTo>
                    <a:pt x="84264" y="346392"/>
                  </a:lnTo>
                  <a:lnTo>
                    <a:pt x="166484" y="350926"/>
                  </a:lnTo>
                  <a:close/>
                </a:path>
                <a:path w="1163954" h="1244600">
                  <a:moveTo>
                    <a:pt x="258572" y="2235"/>
                  </a:moveTo>
                  <a:lnTo>
                    <a:pt x="245872" y="1193"/>
                  </a:lnTo>
                  <a:lnTo>
                    <a:pt x="245440" y="1193"/>
                  </a:lnTo>
                  <a:lnTo>
                    <a:pt x="236283" y="622"/>
                  </a:lnTo>
                  <a:lnTo>
                    <a:pt x="225526" y="177"/>
                  </a:lnTo>
                  <a:lnTo>
                    <a:pt x="215074" y="0"/>
                  </a:lnTo>
                  <a:lnTo>
                    <a:pt x="185991" y="1193"/>
                  </a:lnTo>
                  <a:lnTo>
                    <a:pt x="161137" y="5372"/>
                  </a:lnTo>
                  <a:lnTo>
                    <a:pt x="141617" y="12966"/>
                  </a:lnTo>
                  <a:lnTo>
                    <a:pt x="128524" y="24447"/>
                  </a:lnTo>
                  <a:lnTo>
                    <a:pt x="83489" y="93395"/>
                  </a:lnTo>
                  <a:lnTo>
                    <a:pt x="158165" y="132473"/>
                  </a:lnTo>
                  <a:lnTo>
                    <a:pt x="179539" y="91262"/>
                  </a:lnTo>
                  <a:lnTo>
                    <a:pt x="203161" y="51498"/>
                  </a:lnTo>
                  <a:lnTo>
                    <a:pt x="229387" y="19659"/>
                  </a:lnTo>
                  <a:lnTo>
                    <a:pt x="258572" y="2235"/>
                  </a:lnTo>
                  <a:close/>
                </a:path>
                <a:path w="1163954" h="1244600">
                  <a:moveTo>
                    <a:pt x="331685" y="319913"/>
                  </a:moveTo>
                  <a:lnTo>
                    <a:pt x="323634" y="295122"/>
                  </a:lnTo>
                  <a:lnTo>
                    <a:pt x="312064" y="267093"/>
                  </a:lnTo>
                  <a:lnTo>
                    <a:pt x="231279" y="267093"/>
                  </a:lnTo>
                  <a:lnTo>
                    <a:pt x="231279" y="237147"/>
                  </a:lnTo>
                  <a:lnTo>
                    <a:pt x="167855" y="307517"/>
                  </a:lnTo>
                  <a:lnTo>
                    <a:pt x="231279" y="377875"/>
                  </a:lnTo>
                  <a:lnTo>
                    <a:pt x="231279" y="347929"/>
                  </a:lnTo>
                  <a:lnTo>
                    <a:pt x="314083" y="346913"/>
                  </a:lnTo>
                  <a:lnTo>
                    <a:pt x="330441" y="338264"/>
                  </a:lnTo>
                  <a:lnTo>
                    <a:pt x="330504" y="337197"/>
                  </a:lnTo>
                  <a:lnTo>
                    <a:pt x="331685" y="319913"/>
                  </a:lnTo>
                  <a:close/>
                </a:path>
                <a:path w="1163954" h="1244600">
                  <a:moveTo>
                    <a:pt x="339242" y="80111"/>
                  </a:moveTo>
                  <a:lnTo>
                    <a:pt x="313309" y="95097"/>
                  </a:lnTo>
                  <a:lnTo>
                    <a:pt x="271018" y="23888"/>
                  </a:lnTo>
                  <a:lnTo>
                    <a:pt x="265925" y="16891"/>
                  </a:lnTo>
                  <a:lnTo>
                    <a:pt x="260718" y="13982"/>
                  </a:lnTo>
                  <a:lnTo>
                    <a:pt x="255562" y="13982"/>
                  </a:lnTo>
                  <a:lnTo>
                    <a:pt x="243052" y="18796"/>
                  </a:lnTo>
                  <a:lnTo>
                    <a:pt x="230251" y="30835"/>
                  </a:lnTo>
                  <a:lnTo>
                    <a:pt x="216877" y="47345"/>
                  </a:lnTo>
                  <a:lnTo>
                    <a:pt x="202920" y="65544"/>
                  </a:lnTo>
                  <a:lnTo>
                    <a:pt x="243306" y="135509"/>
                  </a:lnTo>
                  <a:lnTo>
                    <a:pt x="217373" y="150482"/>
                  </a:lnTo>
                  <a:lnTo>
                    <a:pt x="310019" y="170230"/>
                  </a:lnTo>
                  <a:lnTo>
                    <a:pt x="334391" y="95097"/>
                  </a:lnTo>
                  <a:lnTo>
                    <a:pt x="339242" y="80111"/>
                  </a:lnTo>
                  <a:close/>
                </a:path>
                <a:path w="1163954" h="1244600">
                  <a:moveTo>
                    <a:pt x="387870" y="246837"/>
                  </a:moveTo>
                  <a:lnTo>
                    <a:pt x="384848" y="223215"/>
                  </a:lnTo>
                  <a:lnTo>
                    <a:pt x="347662" y="149745"/>
                  </a:lnTo>
                  <a:lnTo>
                    <a:pt x="276479" y="194881"/>
                  </a:lnTo>
                  <a:lnTo>
                    <a:pt x="301485" y="233984"/>
                  </a:lnTo>
                  <a:lnTo>
                    <a:pt x="324104" y="274332"/>
                  </a:lnTo>
                  <a:lnTo>
                    <a:pt x="338569" y="312966"/>
                  </a:lnTo>
                  <a:lnTo>
                    <a:pt x="338670" y="319913"/>
                  </a:lnTo>
                  <a:lnTo>
                    <a:pt x="339051" y="346392"/>
                  </a:lnTo>
                  <a:lnTo>
                    <a:pt x="339090" y="346913"/>
                  </a:lnTo>
                  <a:lnTo>
                    <a:pt x="362750" y="310400"/>
                  </a:lnTo>
                  <a:lnTo>
                    <a:pt x="379755" y="276466"/>
                  </a:lnTo>
                  <a:lnTo>
                    <a:pt x="387870" y="246837"/>
                  </a:lnTo>
                  <a:close/>
                </a:path>
                <a:path w="1163954" h="1244600">
                  <a:moveTo>
                    <a:pt x="1095400" y="1051979"/>
                  </a:moveTo>
                  <a:lnTo>
                    <a:pt x="1081786" y="1012405"/>
                  </a:lnTo>
                  <a:lnTo>
                    <a:pt x="1073518" y="1002893"/>
                  </a:lnTo>
                  <a:lnTo>
                    <a:pt x="1054328" y="980833"/>
                  </a:lnTo>
                  <a:lnTo>
                    <a:pt x="1051344" y="979360"/>
                  </a:lnTo>
                  <a:lnTo>
                    <a:pt x="1051344" y="1058087"/>
                  </a:lnTo>
                  <a:lnTo>
                    <a:pt x="1049731" y="1083729"/>
                  </a:lnTo>
                  <a:lnTo>
                    <a:pt x="1038301" y="1106728"/>
                  </a:lnTo>
                  <a:lnTo>
                    <a:pt x="1019594" y="1122997"/>
                  </a:lnTo>
                  <a:lnTo>
                    <a:pt x="996149" y="1131074"/>
                  </a:lnTo>
                  <a:lnTo>
                    <a:pt x="970508" y="1129461"/>
                  </a:lnTo>
                  <a:lnTo>
                    <a:pt x="947508" y="1118044"/>
                  </a:lnTo>
                  <a:lnTo>
                    <a:pt x="931240" y="1099324"/>
                  </a:lnTo>
                  <a:lnTo>
                    <a:pt x="923163" y="1075880"/>
                  </a:lnTo>
                  <a:lnTo>
                    <a:pt x="924775" y="1050239"/>
                  </a:lnTo>
                  <a:lnTo>
                    <a:pt x="936205" y="1027239"/>
                  </a:lnTo>
                  <a:lnTo>
                    <a:pt x="954913" y="1010970"/>
                  </a:lnTo>
                  <a:lnTo>
                    <a:pt x="978357" y="1002893"/>
                  </a:lnTo>
                  <a:lnTo>
                    <a:pt x="1003998" y="1004506"/>
                  </a:lnTo>
                  <a:lnTo>
                    <a:pt x="1026998" y="1015936"/>
                  </a:lnTo>
                  <a:lnTo>
                    <a:pt x="1043190" y="1034554"/>
                  </a:lnTo>
                  <a:lnTo>
                    <a:pt x="1044676" y="1038733"/>
                  </a:lnTo>
                  <a:lnTo>
                    <a:pt x="1051344" y="1058087"/>
                  </a:lnTo>
                  <a:lnTo>
                    <a:pt x="1051344" y="979360"/>
                  </a:lnTo>
                  <a:lnTo>
                    <a:pt x="1015504" y="961555"/>
                  </a:lnTo>
                  <a:lnTo>
                    <a:pt x="972248" y="958837"/>
                  </a:lnTo>
                  <a:lnTo>
                    <a:pt x="932675" y="972451"/>
                  </a:lnTo>
                  <a:lnTo>
                    <a:pt x="901103" y="999909"/>
                  </a:lnTo>
                  <a:lnTo>
                    <a:pt x="881824" y="1038733"/>
                  </a:lnTo>
                  <a:lnTo>
                    <a:pt x="881697" y="1040752"/>
                  </a:lnTo>
                  <a:lnTo>
                    <a:pt x="879106" y="1081989"/>
                  </a:lnTo>
                  <a:lnTo>
                    <a:pt x="892721" y="1121562"/>
                  </a:lnTo>
                  <a:lnTo>
                    <a:pt x="920178" y="1153134"/>
                  </a:lnTo>
                  <a:lnTo>
                    <a:pt x="959002" y="1172425"/>
                  </a:lnTo>
                  <a:lnTo>
                    <a:pt x="1002258" y="1175131"/>
                  </a:lnTo>
                  <a:lnTo>
                    <a:pt x="1041831" y="1161516"/>
                  </a:lnTo>
                  <a:lnTo>
                    <a:pt x="1073404" y="1134059"/>
                  </a:lnTo>
                  <a:lnTo>
                    <a:pt x="1074889" y="1131074"/>
                  </a:lnTo>
                  <a:lnTo>
                    <a:pt x="1092682" y="1095235"/>
                  </a:lnTo>
                  <a:lnTo>
                    <a:pt x="1092771" y="1093990"/>
                  </a:lnTo>
                  <a:lnTo>
                    <a:pt x="1095400" y="1051979"/>
                  </a:lnTo>
                  <a:close/>
                </a:path>
                <a:path w="1163954" h="1244600">
                  <a:moveTo>
                    <a:pt x="1163637" y="1090510"/>
                  </a:moveTo>
                  <a:lnTo>
                    <a:pt x="1128483" y="1070991"/>
                  </a:lnTo>
                  <a:lnTo>
                    <a:pt x="1128522" y="1060780"/>
                  </a:lnTo>
                  <a:lnTo>
                    <a:pt x="1127734" y="1050683"/>
                  </a:lnTo>
                  <a:lnTo>
                    <a:pt x="1127671" y="1050239"/>
                  </a:lnTo>
                  <a:lnTo>
                    <a:pt x="1127594" y="1049756"/>
                  </a:lnTo>
                  <a:lnTo>
                    <a:pt x="1126185" y="1040752"/>
                  </a:lnTo>
                  <a:lnTo>
                    <a:pt x="1123886" y="1030998"/>
                  </a:lnTo>
                  <a:lnTo>
                    <a:pt x="1152042" y="1005624"/>
                  </a:lnTo>
                  <a:lnTo>
                    <a:pt x="1131938" y="967828"/>
                  </a:lnTo>
                  <a:lnTo>
                    <a:pt x="1126718" y="957999"/>
                  </a:lnTo>
                  <a:lnTo>
                    <a:pt x="1111415" y="961809"/>
                  </a:lnTo>
                  <a:lnTo>
                    <a:pt x="1111415" y="1049756"/>
                  </a:lnTo>
                  <a:lnTo>
                    <a:pt x="1111364" y="1050683"/>
                  </a:lnTo>
                  <a:lnTo>
                    <a:pt x="1108316" y="1099324"/>
                  </a:lnTo>
                  <a:lnTo>
                    <a:pt x="1086167" y="1143990"/>
                  </a:lnTo>
                  <a:lnTo>
                    <a:pt x="1049947" y="1175499"/>
                  </a:lnTo>
                  <a:lnTo>
                    <a:pt x="1004481" y="1191158"/>
                  </a:lnTo>
                  <a:lnTo>
                    <a:pt x="954811" y="1188046"/>
                  </a:lnTo>
                  <a:lnTo>
                    <a:pt x="910247" y="1165898"/>
                  </a:lnTo>
                  <a:lnTo>
                    <a:pt x="909993" y="1165606"/>
                  </a:lnTo>
                  <a:lnTo>
                    <a:pt x="878713" y="1129652"/>
                  </a:lnTo>
                  <a:lnTo>
                    <a:pt x="878649" y="1129461"/>
                  </a:lnTo>
                  <a:lnTo>
                    <a:pt x="863079" y="1084224"/>
                  </a:lnTo>
                  <a:lnTo>
                    <a:pt x="863117" y="1083729"/>
                  </a:lnTo>
                  <a:lnTo>
                    <a:pt x="866203" y="1034554"/>
                  </a:lnTo>
                  <a:lnTo>
                    <a:pt x="885215" y="996264"/>
                  </a:lnTo>
                  <a:lnTo>
                    <a:pt x="924585" y="958456"/>
                  </a:lnTo>
                  <a:lnTo>
                    <a:pt x="970026" y="942822"/>
                  </a:lnTo>
                  <a:lnTo>
                    <a:pt x="1019695" y="945934"/>
                  </a:lnTo>
                  <a:lnTo>
                    <a:pt x="1064260" y="968070"/>
                  </a:lnTo>
                  <a:lnTo>
                    <a:pt x="1095794" y="1004328"/>
                  </a:lnTo>
                  <a:lnTo>
                    <a:pt x="1095857" y="1004506"/>
                  </a:lnTo>
                  <a:lnTo>
                    <a:pt x="1111415" y="1049756"/>
                  </a:lnTo>
                  <a:lnTo>
                    <a:pt x="1111415" y="961809"/>
                  </a:lnTo>
                  <a:lnTo>
                    <a:pt x="1087221" y="967828"/>
                  </a:lnTo>
                  <a:lnTo>
                    <a:pt x="1080566" y="961275"/>
                  </a:lnTo>
                  <a:lnTo>
                    <a:pt x="1073378" y="955268"/>
                  </a:lnTo>
                  <a:lnTo>
                    <a:pt x="1065707" y="949782"/>
                  </a:lnTo>
                  <a:lnTo>
                    <a:pt x="1057592" y="944829"/>
                  </a:lnTo>
                  <a:lnTo>
                    <a:pt x="1058951" y="945197"/>
                  </a:lnTo>
                  <a:lnTo>
                    <a:pt x="1058951" y="944829"/>
                  </a:lnTo>
                  <a:lnTo>
                    <a:pt x="1058989" y="942822"/>
                  </a:lnTo>
                  <a:lnTo>
                    <a:pt x="1059180" y="931519"/>
                  </a:lnTo>
                  <a:lnTo>
                    <a:pt x="1059281" y="925664"/>
                  </a:lnTo>
                  <a:lnTo>
                    <a:pt x="1059700" y="900823"/>
                  </a:lnTo>
                  <a:lnTo>
                    <a:pt x="1007592" y="886866"/>
                  </a:lnTo>
                  <a:lnTo>
                    <a:pt x="986053" y="925664"/>
                  </a:lnTo>
                  <a:lnTo>
                    <a:pt x="987425" y="926020"/>
                  </a:lnTo>
                  <a:lnTo>
                    <a:pt x="977353" y="926287"/>
                  </a:lnTo>
                  <a:lnTo>
                    <a:pt x="967409" y="927303"/>
                  </a:lnTo>
                  <a:lnTo>
                    <a:pt x="957643" y="929093"/>
                  </a:lnTo>
                  <a:lnTo>
                    <a:pt x="948613" y="931519"/>
                  </a:lnTo>
                  <a:lnTo>
                    <a:pt x="916482" y="900645"/>
                  </a:lnTo>
                  <a:lnTo>
                    <a:pt x="870750" y="929233"/>
                  </a:lnTo>
                  <a:lnTo>
                    <a:pt x="884059" y="970305"/>
                  </a:lnTo>
                  <a:lnTo>
                    <a:pt x="878700" y="976299"/>
                  </a:lnTo>
                  <a:lnTo>
                    <a:pt x="873683" y="982624"/>
                  </a:lnTo>
                  <a:lnTo>
                    <a:pt x="869035" y="989291"/>
                  </a:lnTo>
                  <a:lnTo>
                    <a:pt x="864781" y="996264"/>
                  </a:lnTo>
                  <a:lnTo>
                    <a:pt x="825030" y="995603"/>
                  </a:lnTo>
                  <a:lnTo>
                    <a:pt x="811072" y="1047699"/>
                  </a:lnTo>
                  <a:lnTo>
                    <a:pt x="845756" y="1066952"/>
                  </a:lnTo>
                  <a:lnTo>
                    <a:pt x="846074" y="1076083"/>
                  </a:lnTo>
                  <a:lnTo>
                    <a:pt x="846975" y="1085100"/>
                  </a:lnTo>
                  <a:lnTo>
                    <a:pt x="848474" y="1093990"/>
                  </a:lnTo>
                  <a:lnTo>
                    <a:pt x="850557" y="1102728"/>
                  </a:lnTo>
                  <a:lnTo>
                    <a:pt x="821093" y="1126617"/>
                  </a:lnTo>
                  <a:lnTo>
                    <a:pt x="843876" y="1175499"/>
                  </a:lnTo>
                  <a:lnTo>
                    <a:pt x="887450" y="1167053"/>
                  </a:lnTo>
                  <a:lnTo>
                    <a:pt x="886777" y="1165606"/>
                  </a:lnTo>
                  <a:lnTo>
                    <a:pt x="893381" y="1172171"/>
                  </a:lnTo>
                  <a:lnTo>
                    <a:pt x="900518" y="1178204"/>
                  </a:lnTo>
                  <a:lnTo>
                    <a:pt x="908138" y="1183716"/>
                  </a:lnTo>
                  <a:lnTo>
                    <a:pt x="916216" y="1188694"/>
                  </a:lnTo>
                  <a:lnTo>
                    <a:pt x="916178" y="1191158"/>
                  </a:lnTo>
                  <a:lnTo>
                    <a:pt x="915504" y="1230541"/>
                  </a:lnTo>
                  <a:lnTo>
                    <a:pt x="967613" y="1244498"/>
                  </a:lnTo>
                  <a:lnTo>
                    <a:pt x="987920" y="1207909"/>
                  </a:lnTo>
                  <a:lnTo>
                    <a:pt x="998245" y="1207579"/>
                  </a:lnTo>
                  <a:lnTo>
                    <a:pt x="1008418" y="1206461"/>
                  </a:lnTo>
                  <a:lnTo>
                    <a:pt x="1018413" y="1204544"/>
                  </a:lnTo>
                  <a:lnTo>
                    <a:pt x="1028166" y="1201839"/>
                  </a:lnTo>
                  <a:lnTo>
                    <a:pt x="1024089" y="1204696"/>
                  </a:lnTo>
                  <a:lnTo>
                    <a:pt x="1057605" y="1233792"/>
                  </a:lnTo>
                  <a:lnTo>
                    <a:pt x="1101788" y="1202855"/>
                  </a:lnTo>
                  <a:lnTo>
                    <a:pt x="1101394" y="1201839"/>
                  </a:lnTo>
                  <a:lnTo>
                    <a:pt x="1097305" y="1191158"/>
                  </a:lnTo>
                  <a:lnTo>
                    <a:pt x="1087767" y="1166279"/>
                  </a:lnTo>
                  <a:lnTo>
                    <a:pt x="1093114" y="1160678"/>
                  </a:lnTo>
                  <a:lnTo>
                    <a:pt x="1098118" y="1154747"/>
                  </a:lnTo>
                  <a:lnTo>
                    <a:pt x="1102766" y="1148486"/>
                  </a:lnTo>
                  <a:lnTo>
                    <a:pt x="1107020" y="1141882"/>
                  </a:lnTo>
                  <a:lnTo>
                    <a:pt x="1149680" y="1142606"/>
                  </a:lnTo>
                  <a:lnTo>
                    <a:pt x="1149870" y="1141882"/>
                  </a:lnTo>
                  <a:lnTo>
                    <a:pt x="1163637" y="10905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0400" y="3468921"/>
              <a:ext cx="220600" cy="21491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2648" y="2429157"/>
              <a:ext cx="365097" cy="35845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574090" y="5352026"/>
              <a:ext cx="356870" cy="356870"/>
            </a:xfrm>
            <a:custGeom>
              <a:avLst/>
              <a:gdLst/>
              <a:ahLst/>
              <a:cxnLst/>
              <a:rect l="l" t="t" r="r" b="b"/>
              <a:pathLst>
                <a:path w="356870" h="356870">
                  <a:moveTo>
                    <a:pt x="178200" y="356755"/>
                  </a:moveTo>
                  <a:lnTo>
                    <a:pt x="104039" y="282594"/>
                  </a:lnTo>
                  <a:lnTo>
                    <a:pt x="91178" y="297613"/>
                  </a:lnTo>
                  <a:lnTo>
                    <a:pt x="86291" y="309699"/>
                  </a:lnTo>
                  <a:lnTo>
                    <a:pt x="82524" y="321908"/>
                  </a:lnTo>
                  <a:lnTo>
                    <a:pt x="73023" y="337299"/>
                  </a:lnTo>
                  <a:lnTo>
                    <a:pt x="58450" y="346411"/>
                  </a:lnTo>
                  <a:lnTo>
                    <a:pt x="43126" y="348349"/>
                  </a:lnTo>
                  <a:lnTo>
                    <a:pt x="29109" y="344981"/>
                  </a:lnTo>
                  <a:lnTo>
                    <a:pt x="18458" y="338176"/>
                  </a:lnTo>
                  <a:lnTo>
                    <a:pt x="11215" y="327126"/>
                  </a:lnTo>
                  <a:lnTo>
                    <a:pt x="7929" y="313955"/>
                  </a:lnTo>
                  <a:lnTo>
                    <a:pt x="9481" y="300131"/>
                  </a:lnTo>
                  <a:lnTo>
                    <a:pt x="16755" y="287126"/>
                  </a:lnTo>
                  <a:lnTo>
                    <a:pt x="29463" y="275916"/>
                  </a:lnTo>
                  <a:lnTo>
                    <a:pt x="43215" y="270367"/>
                  </a:lnTo>
                  <a:lnTo>
                    <a:pt x="57366" y="263874"/>
                  </a:lnTo>
                  <a:lnTo>
                    <a:pt x="71272" y="249828"/>
                  </a:lnTo>
                  <a:lnTo>
                    <a:pt x="0" y="178554"/>
                  </a:lnTo>
                  <a:lnTo>
                    <a:pt x="73270" y="105284"/>
                  </a:lnTo>
                  <a:lnTo>
                    <a:pt x="87689" y="119288"/>
                  </a:lnTo>
                  <a:lnTo>
                    <a:pt x="94285" y="133556"/>
                  </a:lnTo>
                  <a:lnTo>
                    <a:pt x="99823" y="147420"/>
                  </a:lnTo>
                  <a:lnTo>
                    <a:pt x="111065" y="160213"/>
                  </a:lnTo>
                  <a:lnTo>
                    <a:pt x="124055" y="167460"/>
                  </a:lnTo>
                  <a:lnTo>
                    <a:pt x="137876" y="168985"/>
                  </a:lnTo>
                  <a:lnTo>
                    <a:pt x="151054" y="165673"/>
                  </a:lnTo>
                  <a:lnTo>
                    <a:pt x="162117" y="158408"/>
                  </a:lnTo>
                  <a:lnTo>
                    <a:pt x="168944" y="147743"/>
                  </a:lnTo>
                  <a:lnTo>
                    <a:pt x="172340" y="133720"/>
                  </a:lnTo>
                  <a:lnTo>
                    <a:pt x="170432" y="118400"/>
                  </a:lnTo>
                  <a:lnTo>
                    <a:pt x="161350" y="103845"/>
                  </a:lnTo>
                  <a:lnTo>
                    <a:pt x="145880" y="94334"/>
                  </a:lnTo>
                  <a:lnTo>
                    <a:pt x="133603" y="90586"/>
                  </a:lnTo>
                  <a:lnTo>
                    <a:pt x="121406" y="85600"/>
                  </a:lnTo>
                  <a:lnTo>
                    <a:pt x="106177" y="72377"/>
                  </a:lnTo>
                  <a:lnTo>
                    <a:pt x="178554" y="0"/>
                  </a:lnTo>
                  <a:lnTo>
                    <a:pt x="252704" y="74149"/>
                  </a:lnTo>
                  <a:lnTo>
                    <a:pt x="265852" y="58958"/>
                  </a:lnTo>
                  <a:lnTo>
                    <a:pt x="270828" y="46784"/>
                  </a:lnTo>
                  <a:lnTo>
                    <a:pt x="274599" y="34520"/>
                  </a:lnTo>
                  <a:lnTo>
                    <a:pt x="284130" y="19058"/>
                  </a:lnTo>
                  <a:lnTo>
                    <a:pt x="298703" y="9946"/>
                  </a:lnTo>
                  <a:lnTo>
                    <a:pt x="314027" y="8008"/>
                  </a:lnTo>
                  <a:lnTo>
                    <a:pt x="328044" y="11376"/>
                  </a:lnTo>
                  <a:lnTo>
                    <a:pt x="338695" y="18181"/>
                  </a:lnTo>
                  <a:lnTo>
                    <a:pt x="345938" y="29231"/>
                  </a:lnTo>
                  <a:lnTo>
                    <a:pt x="349224" y="42402"/>
                  </a:lnTo>
                  <a:lnTo>
                    <a:pt x="347672" y="56226"/>
                  </a:lnTo>
                  <a:lnTo>
                    <a:pt x="340398" y="69231"/>
                  </a:lnTo>
                  <a:lnTo>
                    <a:pt x="327612" y="80483"/>
                  </a:lnTo>
                  <a:lnTo>
                    <a:pt x="313770" y="86044"/>
                  </a:lnTo>
                  <a:lnTo>
                    <a:pt x="299524" y="92633"/>
                  </a:lnTo>
                  <a:lnTo>
                    <a:pt x="285526" y="106971"/>
                  </a:lnTo>
                  <a:lnTo>
                    <a:pt x="356755" y="178200"/>
                  </a:lnTo>
                  <a:lnTo>
                    <a:pt x="285495" y="249460"/>
                  </a:lnTo>
                  <a:lnTo>
                    <a:pt x="271771" y="235671"/>
                  </a:lnTo>
                  <a:lnTo>
                    <a:pt x="265401" y="221628"/>
                  </a:lnTo>
                  <a:lnTo>
                    <a:pt x="259892" y="207978"/>
                  </a:lnTo>
                  <a:lnTo>
                    <a:pt x="248749" y="195371"/>
                  </a:lnTo>
                  <a:lnTo>
                    <a:pt x="235758" y="188124"/>
                  </a:lnTo>
                  <a:lnTo>
                    <a:pt x="221938" y="186599"/>
                  </a:lnTo>
                  <a:lnTo>
                    <a:pt x="208760" y="189911"/>
                  </a:lnTo>
                  <a:lnTo>
                    <a:pt x="197696" y="197176"/>
                  </a:lnTo>
                  <a:lnTo>
                    <a:pt x="190869" y="207841"/>
                  </a:lnTo>
                  <a:lnTo>
                    <a:pt x="187474" y="221864"/>
                  </a:lnTo>
                  <a:lnTo>
                    <a:pt x="189381" y="237185"/>
                  </a:lnTo>
                  <a:lnTo>
                    <a:pt x="198464" y="251740"/>
                  </a:lnTo>
                  <a:lnTo>
                    <a:pt x="213763" y="261180"/>
                  </a:lnTo>
                  <a:lnTo>
                    <a:pt x="225909" y="264919"/>
                  </a:lnTo>
                  <a:lnTo>
                    <a:pt x="237897" y="269692"/>
                  </a:lnTo>
                  <a:lnTo>
                    <a:pt x="252720" y="282236"/>
                  </a:lnTo>
                  <a:lnTo>
                    <a:pt x="178200" y="356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2692" y="5355933"/>
              <a:ext cx="234547" cy="234547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2648" y="2463932"/>
            <a:ext cx="223546" cy="21948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75832" y="365358"/>
            <a:ext cx="7934325" cy="724535"/>
          </a:xfrm>
          <a:custGeom>
            <a:avLst/>
            <a:gdLst/>
            <a:ahLst/>
            <a:cxnLst/>
            <a:rect l="l" t="t" r="r" b="b"/>
            <a:pathLst>
              <a:path w="7934325" h="724535">
                <a:moveTo>
                  <a:pt x="7933994" y="724246"/>
                </a:moveTo>
                <a:lnTo>
                  <a:pt x="0" y="724246"/>
                </a:lnTo>
                <a:lnTo>
                  <a:pt x="0" y="0"/>
                </a:lnTo>
                <a:lnTo>
                  <a:pt x="7933994" y="0"/>
                </a:lnTo>
                <a:lnTo>
                  <a:pt x="7933994" y="724246"/>
                </a:lnTo>
                <a:close/>
              </a:path>
            </a:pathLst>
          </a:custGeom>
          <a:solidFill>
            <a:srgbClr val="DDD9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388" rIns="0" bIns="0" rtlCol="0">
            <a:spAutoFit/>
          </a:bodyPr>
          <a:lstStyle/>
          <a:p>
            <a:pPr marL="3869690">
              <a:lnSpc>
                <a:spcPct val="100000"/>
              </a:lnSpc>
              <a:spcBef>
                <a:spcPts val="100"/>
              </a:spcBef>
            </a:pPr>
            <a:r>
              <a:rPr dirty="0"/>
              <a:t>Uses</a:t>
            </a:r>
            <a:r>
              <a:rPr spc="-25" dirty="0"/>
              <a:t> </a:t>
            </a:r>
            <a:r>
              <a:rPr spc="-10" dirty="0"/>
              <a:t>Cases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202" y="1857262"/>
            <a:ext cx="5493529" cy="42177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55797" y="3378791"/>
            <a:ext cx="8502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405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Uses Cases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88472" y="2126657"/>
            <a:ext cx="4709160" cy="270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Basically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EDA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is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important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every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business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problem,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it’s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first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crucial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step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process.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Some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of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use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cases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where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use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EDA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is:-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298450" marR="5080" indent="-25527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Cancer</a:t>
            </a:r>
            <a:r>
              <a:rPr sz="1600" b="1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b="1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600" b="1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:-</a:t>
            </a:r>
            <a:r>
              <a:rPr sz="1600" b="1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this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set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have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to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predict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who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are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suffering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from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cancer</a:t>
            </a:r>
            <a:r>
              <a:rPr sz="1600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and</a:t>
            </a:r>
            <a:r>
              <a:rPr sz="1600" spc="-4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who’s 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not.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C0C0C"/>
              </a:buClr>
              <a:buFont typeface="Arial"/>
              <a:buChar char="•"/>
            </a:pPr>
            <a:endParaRPr sz="1600">
              <a:latin typeface="Cambria"/>
              <a:cs typeface="Cambria"/>
            </a:endParaRPr>
          </a:p>
          <a:p>
            <a:pPr marL="298450" marR="156845" indent="-25527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Fraud</a:t>
            </a:r>
            <a:r>
              <a:rPr sz="1600" b="1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Data</a:t>
            </a:r>
            <a:r>
              <a:rPr sz="16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Analysis</a:t>
            </a:r>
            <a:r>
              <a:rPr sz="1600" b="1" spc="-3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b="1" spc="-4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spc="-10" dirty="0">
                <a:solidFill>
                  <a:srgbClr val="0C0C0C"/>
                </a:solidFill>
                <a:latin typeface="Cambria"/>
                <a:cs typeface="Cambria"/>
              </a:rPr>
              <a:t>E-commerce </a:t>
            </a:r>
            <a:r>
              <a:rPr sz="1600" b="1" spc="-20" dirty="0">
                <a:solidFill>
                  <a:srgbClr val="0C0C0C"/>
                </a:solidFill>
                <a:latin typeface="Cambria"/>
                <a:cs typeface="Cambria"/>
              </a:rPr>
              <a:t>Transactions</a:t>
            </a:r>
            <a:r>
              <a:rPr sz="1600" b="1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b="1" dirty="0">
                <a:solidFill>
                  <a:srgbClr val="0C0C0C"/>
                </a:solidFill>
                <a:latin typeface="Cambria"/>
                <a:cs typeface="Cambria"/>
              </a:rPr>
              <a:t>:-</a:t>
            </a:r>
            <a:r>
              <a:rPr sz="1600" b="1" spc="3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this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dataset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we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have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to</a:t>
            </a:r>
            <a:r>
              <a:rPr sz="1600" spc="-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detect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fraud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in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0C0C0C"/>
                </a:solidFill>
                <a:latin typeface="Cambria"/>
                <a:cs typeface="Cambria"/>
              </a:rPr>
              <a:t>a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20" dirty="0">
                <a:solidFill>
                  <a:srgbClr val="0C0C0C"/>
                </a:solidFill>
                <a:latin typeface="Cambria"/>
                <a:cs typeface="Cambria"/>
              </a:rPr>
              <a:t>E-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commerce</a:t>
            </a:r>
            <a:r>
              <a:rPr sz="1600" spc="-3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0C0C0C"/>
                </a:solidFill>
                <a:latin typeface="Cambria"/>
                <a:cs typeface="Cambria"/>
              </a:rPr>
              <a:t>transaction.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975608" y="2573167"/>
              <a:ext cx="1297305" cy="3168015"/>
            </a:xfrm>
            <a:custGeom>
              <a:avLst/>
              <a:gdLst/>
              <a:ahLst/>
              <a:cxnLst/>
              <a:rect l="l" t="t" r="r" b="b"/>
              <a:pathLst>
                <a:path w="1297304" h="3168015">
                  <a:moveTo>
                    <a:pt x="0" y="0"/>
                  </a:moveTo>
                  <a:lnTo>
                    <a:pt x="0" y="3167611"/>
                  </a:lnTo>
                  <a:lnTo>
                    <a:pt x="1297114" y="3167611"/>
                  </a:lnTo>
                  <a:lnTo>
                    <a:pt x="1297114" y="2108188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0999" y="4536956"/>
              <a:ext cx="163448" cy="1634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27827" y="2573164"/>
              <a:ext cx="2210435" cy="3489325"/>
            </a:xfrm>
            <a:custGeom>
              <a:avLst/>
              <a:gdLst/>
              <a:ahLst/>
              <a:cxnLst/>
              <a:rect l="l" t="t" r="r" b="b"/>
              <a:pathLst>
                <a:path w="2210434" h="3489325">
                  <a:moveTo>
                    <a:pt x="0" y="0"/>
                  </a:moveTo>
                  <a:lnTo>
                    <a:pt x="0" y="3489037"/>
                  </a:lnTo>
                  <a:lnTo>
                    <a:pt x="2209910" y="3489037"/>
                  </a:lnTo>
                  <a:lnTo>
                    <a:pt x="2209910" y="2819487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6014" y="5248253"/>
              <a:ext cx="163448" cy="1634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77757" y="2276475"/>
              <a:ext cx="24765" cy="3275329"/>
            </a:xfrm>
            <a:custGeom>
              <a:avLst/>
              <a:gdLst/>
              <a:ahLst/>
              <a:cxnLst/>
              <a:rect l="l" t="t" r="r" b="b"/>
              <a:pathLst>
                <a:path w="24764" h="3275329">
                  <a:moveTo>
                    <a:pt x="0" y="0"/>
                  </a:moveTo>
                  <a:lnTo>
                    <a:pt x="24313" y="327507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0813" y="5532504"/>
              <a:ext cx="163445" cy="1634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19275" y="2573203"/>
              <a:ext cx="1380490" cy="3185795"/>
            </a:xfrm>
            <a:custGeom>
              <a:avLst/>
              <a:gdLst/>
              <a:ahLst/>
              <a:cxnLst/>
              <a:rect l="l" t="t" r="r" b="b"/>
              <a:pathLst>
                <a:path w="1380489" h="3185795">
                  <a:moveTo>
                    <a:pt x="1379926" y="0"/>
                  </a:moveTo>
                  <a:lnTo>
                    <a:pt x="1379926" y="3185745"/>
                  </a:lnTo>
                  <a:lnTo>
                    <a:pt x="0" y="3185745"/>
                  </a:lnTo>
                  <a:lnTo>
                    <a:pt x="0" y="2108156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7551" y="4536961"/>
              <a:ext cx="163449" cy="1634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68550" y="2573174"/>
              <a:ext cx="2249170" cy="3465829"/>
            </a:xfrm>
            <a:custGeom>
              <a:avLst/>
              <a:gdLst/>
              <a:ahLst/>
              <a:cxnLst/>
              <a:rect l="l" t="t" r="r" b="b"/>
              <a:pathLst>
                <a:path w="2249170" h="3465829">
                  <a:moveTo>
                    <a:pt x="2248597" y="0"/>
                  </a:moveTo>
                  <a:lnTo>
                    <a:pt x="2248597" y="3465590"/>
                  </a:lnTo>
                  <a:lnTo>
                    <a:pt x="0" y="3465590"/>
                  </a:lnTo>
                  <a:lnTo>
                    <a:pt x="0" y="2819518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826" y="5248294"/>
              <a:ext cx="163449" cy="16344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836201"/>
              <a:ext cx="12192000" cy="1360805"/>
            </a:xfrm>
            <a:custGeom>
              <a:avLst/>
              <a:gdLst/>
              <a:ahLst/>
              <a:cxnLst/>
              <a:rect l="l" t="t" r="r" b="b"/>
              <a:pathLst>
                <a:path w="12192000" h="1360804">
                  <a:moveTo>
                    <a:pt x="12192000" y="102438"/>
                  </a:moveTo>
                  <a:lnTo>
                    <a:pt x="12187238" y="102438"/>
                  </a:lnTo>
                  <a:lnTo>
                    <a:pt x="12187238" y="0"/>
                  </a:lnTo>
                  <a:lnTo>
                    <a:pt x="0" y="0"/>
                  </a:lnTo>
                  <a:lnTo>
                    <a:pt x="0" y="102438"/>
                  </a:lnTo>
                  <a:lnTo>
                    <a:pt x="0" y="1257960"/>
                  </a:lnTo>
                  <a:lnTo>
                    <a:pt x="0" y="1360398"/>
                  </a:lnTo>
                  <a:lnTo>
                    <a:pt x="12187238" y="1360398"/>
                  </a:lnTo>
                  <a:lnTo>
                    <a:pt x="12187238" y="1257960"/>
                  </a:lnTo>
                  <a:lnTo>
                    <a:pt x="12192000" y="1257960"/>
                  </a:lnTo>
                  <a:lnTo>
                    <a:pt x="12192000" y="102438"/>
                  </a:lnTo>
                  <a:close/>
                </a:path>
              </a:pathLst>
            </a:custGeom>
            <a:solidFill>
              <a:srgbClr val="0B6373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820629" y="2928619"/>
            <a:ext cx="45396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FFFF"/>
                </a:solidFill>
              </a:rPr>
              <a:t>THANK</a:t>
            </a:r>
            <a:r>
              <a:rPr sz="6000" spc="-350" dirty="0">
                <a:solidFill>
                  <a:srgbClr val="FFFFFF"/>
                </a:solidFill>
              </a:rPr>
              <a:t> </a:t>
            </a:r>
            <a:r>
              <a:rPr sz="6000" spc="-25" dirty="0">
                <a:solidFill>
                  <a:srgbClr val="FFFFFF"/>
                </a:solidFill>
              </a:rPr>
              <a:t>YOU</a:t>
            </a:r>
            <a:endParaRPr sz="6000"/>
          </a:p>
        </p:txBody>
      </p:sp>
      <p:grpSp>
        <p:nvGrpSpPr>
          <p:cNvPr id="16" name="object 16"/>
          <p:cNvGrpSpPr/>
          <p:nvPr/>
        </p:nvGrpSpPr>
        <p:grpSpPr>
          <a:xfrm>
            <a:off x="4878932" y="1368081"/>
            <a:ext cx="2434590" cy="1311910"/>
            <a:chOff x="4878932" y="1368081"/>
            <a:chExt cx="2434590" cy="1311910"/>
          </a:xfrm>
        </p:grpSpPr>
        <p:sp>
          <p:nvSpPr>
            <p:cNvPr id="17" name="object 17"/>
            <p:cNvSpPr/>
            <p:nvPr/>
          </p:nvSpPr>
          <p:spPr>
            <a:xfrm>
              <a:off x="4878932" y="1368081"/>
              <a:ext cx="2434590" cy="1311910"/>
            </a:xfrm>
            <a:custGeom>
              <a:avLst/>
              <a:gdLst/>
              <a:ahLst/>
              <a:cxnLst/>
              <a:rect l="l" t="t" r="r" b="b"/>
              <a:pathLst>
                <a:path w="2434590" h="1311910">
                  <a:moveTo>
                    <a:pt x="474419" y="1311445"/>
                  </a:moveTo>
                  <a:lnTo>
                    <a:pt x="421467" y="1306473"/>
                  </a:lnTo>
                  <a:lnTo>
                    <a:pt x="371503" y="1298048"/>
                  </a:lnTo>
                  <a:lnTo>
                    <a:pt x="324368" y="1286210"/>
                  </a:lnTo>
                  <a:lnTo>
                    <a:pt x="279906" y="1270997"/>
                  </a:lnTo>
                  <a:lnTo>
                    <a:pt x="237958" y="1252447"/>
                  </a:lnTo>
                  <a:lnTo>
                    <a:pt x="198370" y="1230601"/>
                  </a:lnTo>
                  <a:lnTo>
                    <a:pt x="160982" y="1205495"/>
                  </a:lnTo>
                  <a:lnTo>
                    <a:pt x="125637" y="1177169"/>
                  </a:lnTo>
                  <a:lnTo>
                    <a:pt x="92179" y="1145663"/>
                  </a:lnTo>
                  <a:lnTo>
                    <a:pt x="60451" y="1111014"/>
                  </a:lnTo>
                  <a:lnTo>
                    <a:pt x="33746" y="1068347"/>
                  </a:lnTo>
                  <a:lnTo>
                    <a:pt x="15350" y="1022998"/>
                  </a:lnTo>
                  <a:lnTo>
                    <a:pt x="4391" y="976101"/>
                  </a:lnTo>
                  <a:lnTo>
                    <a:pt x="0" y="928789"/>
                  </a:lnTo>
                  <a:lnTo>
                    <a:pt x="1304" y="882194"/>
                  </a:lnTo>
                  <a:lnTo>
                    <a:pt x="7433" y="837451"/>
                  </a:lnTo>
                  <a:lnTo>
                    <a:pt x="17516" y="795691"/>
                  </a:lnTo>
                  <a:lnTo>
                    <a:pt x="30682" y="758048"/>
                  </a:lnTo>
                  <a:lnTo>
                    <a:pt x="61143" y="704592"/>
                  </a:lnTo>
                  <a:lnTo>
                    <a:pt x="113461" y="654921"/>
                  </a:lnTo>
                  <a:lnTo>
                    <a:pt x="149643" y="629318"/>
                  </a:lnTo>
                  <a:lnTo>
                    <a:pt x="191805" y="605207"/>
                  </a:lnTo>
                  <a:lnTo>
                    <a:pt x="239420" y="584090"/>
                  </a:lnTo>
                  <a:lnTo>
                    <a:pt x="291960" y="567467"/>
                  </a:lnTo>
                  <a:lnTo>
                    <a:pt x="348901" y="556843"/>
                  </a:lnTo>
                  <a:lnTo>
                    <a:pt x="409713" y="553718"/>
                  </a:lnTo>
                  <a:lnTo>
                    <a:pt x="473872" y="559596"/>
                  </a:lnTo>
                  <a:lnTo>
                    <a:pt x="469002" y="507230"/>
                  </a:lnTo>
                  <a:lnTo>
                    <a:pt x="473790" y="456568"/>
                  </a:lnTo>
                  <a:lnTo>
                    <a:pt x="487488" y="408731"/>
                  </a:lnTo>
                  <a:lnTo>
                    <a:pt x="509348" y="364838"/>
                  </a:lnTo>
                  <a:lnTo>
                    <a:pt x="538620" y="326010"/>
                  </a:lnTo>
                  <a:lnTo>
                    <a:pt x="574557" y="293369"/>
                  </a:lnTo>
                  <a:lnTo>
                    <a:pt x="616409" y="268033"/>
                  </a:lnTo>
                  <a:lnTo>
                    <a:pt x="665316" y="246713"/>
                  </a:lnTo>
                  <a:lnTo>
                    <a:pt x="715630" y="233821"/>
                  </a:lnTo>
                  <a:lnTo>
                    <a:pt x="766391" y="228394"/>
                  </a:lnTo>
                  <a:lnTo>
                    <a:pt x="816638" y="229467"/>
                  </a:lnTo>
                  <a:lnTo>
                    <a:pt x="865411" y="236074"/>
                  </a:lnTo>
                  <a:lnTo>
                    <a:pt x="911750" y="247250"/>
                  </a:lnTo>
                  <a:lnTo>
                    <a:pt x="954696" y="262032"/>
                  </a:lnTo>
                  <a:lnTo>
                    <a:pt x="993287" y="279453"/>
                  </a:lnTo>
                  <a:lnTo>
                    <a:pt x="1006018" y="254233"/>
                  </a:lnTo>
                  <a:lnTo>
                    <a:pt x="1044655" y="198295"/>
                  </a:lnTo>
                  <a:lnTo>
                    <a:pt x="1070740" y="169048"/>
                  </a:lnTo>
                  <a:lnTo>
                    <a:pt x="1101455" y="139931"/>
                  </a:lnTo>
                  <a:lnTo>
                    <a:pt x="1136891" y="111680"/>
                  </a:lnTo>
                  <a:lnTo>
                    <a:pt x="1177137" y="85031"/>
                  </a:lnTo>
                  <a:lnTo>
                    <a:pt x="1222283" y="60720"/>
                  </a:lnTo>
                  <a:lnTo>
                    <a:pt x="1272418" y="39483"/>
                  </a:lnTo>
                  <a:lnTo>
                    <a:pt x="1327634" y="22056"/>
                  </a:lnTo>
                  <a:lnTo>
                    <a:pt x="1388019" y="9176"/>
                  </a:lnTo>
                  <a:lnTo>
                    <a:pt x="1453663" y="1579"/>
                  </a:lnTo>
                  <a:lnTo>
                    <a:pt x="1524656" y="0"/>
                  </a:lnTo>
                  <a:lnTo>
                    <a:pt x="1540752" y="522"/>
                  </a:lnTo>
                  <a:lnTo>
                    <a:pt x="1590580" y="4068"/>
                  </a:lnTo>
                  <a:lnTo>
                    <a:pt x="1654742" y="17184"/>
                  </a:lnTo>
                  <a:lnTo>
                    <a:pt x="1713473" y="34926"/>
                  </a:lnTo>
                  <a:lnTo>
                    <a:pt x="1766969" y="56826"/>
                  </a:lnTo>
                  <a:lnTo>
                    <a:pt x="1815429" y="82415"/>
                  </a:lnTo>
                  <a:lnTo>
                    <a:pt x="1859048" y="111225"/>
                  </a:lnTo>
                  <a:lnTo>
                    <a:pt x="1898025" y="142789"/>
                  </a:lnTo>
                  <a:lnTo>
                    <a:pt x="1932556" y="176637"/>
                  </a:lnTo>
                  <a:lnTo>
                    <a:pt x="1962838" y="212301"/>
                  </a:lnTo>
                  <a:lnTo>
                    <a:pt x="1989069" y="249313"/>
                  </a:lnTo>
                  <a:lnTo>
                    <a:pt x="2011447" y="287205"/>
                  </a:lnTo>
                  <a:lnTo>
                    <a:pt x="2030167" y="325508"/>
                  </a:lnTo>
                  <a:lnTo>
                    <a:pt x="2045428" y="363754"/>
                  </a:lnTo>
                  <a:lnTo>
                    <a:pt x="2057426" y="401475"/>
                  </a:lnTo>
                  <a:lnTo>
                    <a:pt x="2072423" y="473466"/>
                  </a:lnTo>
                  <a:lnTo>
                    <a:pt x="2076736" y="537737"/>
                  </a:lnTo>
                  <a:lnTo>
                    <a:pt x="2147155" y="556488"/>
                  </a:lnTo>
                  <a:lnTo>
                    <a:pt x="2208069" y="579861"/>
                  </a:lnTo>
                  <a:lnTo>
                    <a:pt x="2260113" y="607192"/>
                  </a:lnTo>
                  <a:lnTo>
                    <a:pt x="2303924" y="637819"/>
                  </a:lnTo>
                  <a:lnTo>
                    <a:pt x="2340137" y="671079"/>
                  </a:lnTo>
                  <a:lnTo>
                    <a:pt x="2369387" y="706309"/>
                  </a:lnTo>
                  <a:lnTo>
                    <a:pt x="2392309" y="742847"/>
                  </a:lnTo>
                  <a:lnTo>
                    <a:pt x="2409540" y="780029"/>
                  </a:lnTo>
                  <a:lnTo>
                    <a:pt x="2421714" y="817193"/>
                  </a:lnTo>
                  <a:lnTo>
                    <a:pt x="2433434" y="888817"/>
                  </a:lnTo>
                  <a:lnTo>
                    <a:pt x="2434251" y="921950"/>
                  </a:lnTo>
                  <a:lnTo>
                    <a:pt x="2432554" y="952415"/>
                  </a:lnTo>
                  <a:lnTo>
                    <a:pt x="2414199" y="1030760"/>
                  </a:lnTo>
                  <a:lnTo>
                    <a:pt x="2391922" y="1076789"/>
                  </a:lnTo>
                  <a:lnTo>
                    <a:pt x="2363229" y="1117860"/>
                  </a:lnTo>
                  <a:lnTo>
                    <a:pt x="2329201" y="1154199"/>
                  </a:lnTo>
                  <a:lnTo>
                    <a:pt x="2290923" y="1186033"/>
                  </a:lnTo>
                  <a:lnTo>
                    <a:pt x="2249477" y="1213589"/>
                  </a:lnTo>
                  <a:lnTo>
                    <a:pt x="2205946" y="1237091"/>
                  </a:lnTo>
                  <a:lnTo>
                    <a:pt x="2161411" y="1256768"/>
                  </a:lnTo>
                  <a:lnTo>
                    <a:pt x="2116957" y="1272843"/>
                  </a:lnTo>
                  <a:lnTo>
                    <a:pt x="2073666" y="1285545"/>
                  </a:lnTo>
                  <a:lnTo>
                    <a:pt x="2032621" y="1295099"/>
                  </a:lnTo>
                  <a:lnTo>
                    <a:pt x="1994904" y="1301731"/>
                  </a:lnTo>
                  <a:lnTo>
                    <a:pt x="1933787" y="1307134"/>
                  </a:lnTo>
                  <a:lnTo>
                    <a:pt x="474419" y="131144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6403" y="1523359"/>
              <a:ext cx="1737720" cy="11555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2810</Words>
  <Application>Microsoft Office PowerPoint</Application>
  <PresentationFormat>Widescreen</PresentationFormat>
  <Paragraphs>356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Arial Black</vt:lpstr>
      <vt:lpstr>Calibri</vt:lpstr>
      <vt:lpstr>Cambria</vt:lpstr>
      <vt:lpstr>Noto Sans Symbols</vt:lpstr>
      <vt:lpstr>Times New Roman</vt:lpstr>
      <vt:lpstr>Office Theme</vt:lpstr>
      <vt:lpstr>Exploratory Data Analysis</vt:lpstr>
      <vt:lpstr>Agenda</vt:lpstr>
      <vt:lpstr>Data Science Process</vt:lpstr>
      <vt:lpstr>Exploratory Data Analysis</vt:lpstr>
      <vt:lpstr>PowerPoint Presentation</vt:lpstr>
      <vt:lpstr>Visualization</vt:lpstr>
      <vt:lpstr>Important Charts for Visualisation</vt:lpstr>
      <vt:lpstr>Box Plot</vt:lpstr>
      <vt:lpstr>Pair-plot</vt:lpstr>
      <vt:lpstr>Violin Plot</vt:lpstr>
      <vt:lpstr>Box Plot vs ViolinPlot</vt:lpstr>
      <vt:lpstr>Strip Plot</vt:lpstr>
      <vt:lpstr>Steps Involved in EDA</vt:lpstr>
      <vt:lpstr>PowerPoint Presentation</vt:lpstr>
      <vt:lpstr>PowerPoint Presentation</vt:lpstr>
      <vt:lpstr>Some Questions you need to ask yourself about the data before cleaning the data</vt:lpstr>
      <vt:lpstr>Handle Missing Value</vt:lpstr>
      <vt:lpstr>Example</vt:lpstr>
      <vt:lpstr>Standardization/ Feature Scaling</vt:lpstr>
      <vt:lpstr>Feature Scaling Technique</vt:lpstr>
      <vt:lpstr>Example</vt:lpstr>
      <vt:lpstr>Outlier Treatment Outliers are the most extremes values in the data. It is a abnormal  observations  that  deviate  from  the  norm. Outliers do. not fit in the normal behaviour of the data.</vt:lpstr>
      <vt:lpstr>PowerPoint Presentation</vt:lpstr>
      <vt:lpstr>Univariate Analysis</vt:lpstr>
      <vt:lpstr>Types of Data</vt:lpstr>
      <vt:lpstr>Types of Data</vt:lpstr>
      <vt:lpstr>Segmented Univariate Analysis</vt:lpstr>
      <vt:lpstr>BivariateAnalysis</vt:lpstr>
      <vt:lpstr>Example</vt:lpstr>
      <vt:lpstr>Derived Metrics</vt:lpstr>
      <vt:lpstr>Feature Binning</vt:lpstr>
      <vt:lpstr>PowerPoint Presentation</vt:lpstr>
      <vt:lpstr>Feature Encoding</vt:lpstr>
      <vt:lpstr>Uses Cases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Bosubabu Sambana</cp:lastModifiedBy>
  <cp:revision>4</cp:revision>
  <dcterms:created xsi:type="dcterms:W3CDTF">2025-05-23T00:37:15Z</dcterms:created>
  <dcterms:modified xsi:type="dcterms:W3CDTF">2026-07-31T05:02:23Z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2025-05-23T00:00:00Z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2025-05-23T00:00:00Z</vt:filetime>
  </property>
</Properties>
</file>