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3" r:id="rId4"/>
    <p:sldId id="259" r:id="rId5"/>
    <p:sldId id="260" r:id="rId6"/>
    <p:sldId id="269" r:id="rId7"/>
    <p:sldId id="258" r:id="rId8"/>
    <p:sldId id="284" r:id="rId9"/>
    <p:sldId id="285" r:id="rId10"/>
    <p:sldId id="261" r:id="rId11"/>
    <p:sldId id="262" r:id="rId12"/>
    <p:sldId id="263" r:id="rId13"/>
    <p:sldId id="264" r:id="rId14"/>
    <p:sldId id="265" r:id="rId15"/>
    <p:sldId id="267" r:id="rId16"/>
    <p:sldId id="266" r:id="rId17"/>
    <p:sldId id="278" r:id="rId18"/>
    <p:sldId id="279" r:id="rId19"/>
    <p:sldId id="280" r:id="rId20"/>
    <p:sldId id="281" r:id="rId21"/>
    <p:sldId id="282" r:id="rId22"/>
    <p:sldId id="271" r:id="rId23"/>
    <p:sldId id="272" r:id="rId24"/>
    <p:sldId id="273" r:id="rId25"/>
    <p:sldId id="275" r:id="rId26"/>
    <p:sldId id="274" r:id="rId27"/>
    <p:sldId id="276" r:id="rId28"/>
    <p:sldId id="277" r:id="rId29"/>
    <p:sldId id="27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6" autoAdjust="0"/>
    <p:restoredTop sz="94660"/>
  </p:normalViewPr>
  <p:slideViewPr>
    <p:cSldViewPr>
      <p:cViewPr varScale="1">
        <p:scale>
          <a:sx n="98" d="100"/>
          <a:sy n="98" d="100"/>
        </p:scale>
        <p:origin x="102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70A6F72-06D2-4253-960F-A5245C676292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59D0D10-2486-45C5-9A9A-FD742F11E7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random/>
  </p:transition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28800"/>
            <a:ext cx="6480048" cy="1143000"/>
          </a:xfrm>
        </p:spPr>
        <p:txBody>
          <a:bodyPr/>
          <a:lstStyle/>
          <a:p>
            <a:r>
              <a:rPr lang="en-US" dirty="0">
                <a:effectLst/>
              </a:rPr>
              <a:t>Mechanistic analysis</a:t>
            </a:r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Coupler Curves</a:t>
            </a:r>
          </a:p>
          <a:p>
            <a:r>
              <a:rPr lang="en-US"/>
              <a:t>Toggle Position </a:t>
            </a:r>
            <a:endParaRPr lang="en-US" dirty="0"/>
          </a:p>
          <a:p>
            <a:r>
              <a:rPr lang="en-US" dirty="0"/>
              <a:t>Transmission Angle</a:t>
            </a:r>
          </a:p>
          <a:p>
            <a:r>
              <a:rPr lang="en-US" dirty="0"/>
              <a:t>Mechanical Advantage</a:t>
            </a:r>
          </a:p>
          <a:p>
            <a:r>
              <a:rPr lang="en-US" dirty="0"/>
              <a:t>Acceleration Analysis</a:t>
            </a:r>
          </a:p>
          <a:p>
            <a:r>
              <a:rPr lang="en-US" dirty="0"/>
              <a:t>Coriolis Component of acceleration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Def: </a:t>
            </a:r>
          </a:p>
          <a:p>
            <a:pPr lvl="1"/>
            <a:r>
              <a:rPr lang="en-US" sz="2400" dirty="0"/>
              <a:t>A coupler curve is the locus of a point on the coupler link.</a:t>
            </a:r>
          </a:p>
          <a:p>
            <a:r>
              <a:rPr lang="en-US" sz="2800" dirty="0"/>
              <a:t>For the mechanisms considered, the displacement of the links joined with the fixed link was the input or output of the simple mechanisms.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Coupler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 great number of applications the output from a simple mechanism is the path traced by one of the points on the coupler link.</a:t>
            </a:r>
          </a:p>
          <a:p>
            <a:r>
              <a:rPr lang="en-US" sz="2800" dirty="0"/>
              <a:t>These paths are generally called “</a:t>
            </a:r>
            <a:r>
              <a:rPr lang="en-US" sz="2800" b="1" i="1" dirty="0"/>
              <a:t>coupler point curves</a:t>
            </a:r>
            <a:r>
              <a:rPr lang="en-US" sz="2800" dirty="0"/>
              <a:t>” or “</a:t>
            </a:r>
            <a:r>
              <a:rPr lang="en-US" sz="2800" b="1" i="1" dirty="0"/>
              <a:t>coupler paths</a:t>
            </a:r>
            <a:r>
              <a:rPr lang="en-US" sz="2800" dirty="0"/>
              <a:t>”.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99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Mohdlimdi23\Desktop\KOM\F03-21a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3544" y="0"/>
            <a:ext cx="8329612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 </a:t>
            </a:r>
            <a:r>
              <a:rPr lang="en-US" sz="2800"/>
              <a:t>are various, methods </a:t>
            </a:r>
            <a:r>
              <a:rPr lang="en-US" sz="2800" dirty="0"/>
              <a:t>and synthesis that could be used to obtain trail solution to motion control problem.</a:t>
            </a:r>
          </a:p>
          <a:p>
            <a:r>
              <a:rPr lang="en-US" sz="2800" dirty="0"/>
              <a:t>One of such rapid process is toggle position.</a:t>
            </a:r>
          </a:p>
          <a:p>
            <a:r>
              <a:rPr lang="en-US" sz="2800" dirty="0"/>
              <a:t>In this technique, one needs to check whether the mechanism reaches all the desired position without encountering a limit position.</a:t>
            </a: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Toggle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The toggle positions are determined by the co-linearity of two of the moving links. </a:t>
            </a:r>
          </a:p>
          <a:p>
            <a:r>
              <a:rPr lang="en-US" sz="2800" dirty="0"/>
              <a:t>Hence any mechanism at its limit of motion  is known as Toggle position.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Toggle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 showing toggle position technique.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62275"/>
            <a:ext cx="914400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Transmission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angle µ between the output link and the coupler is known as transmission angle.</a:t>
            </a:r>
          </a:p>
          <a:p>
            <a:r>
              <a:rPr lang="en-US" sz="2800" dirty="0"/>
              <a:t>As shown in fig, if link  AB is input &amp; the force applied to output DC is transmitted through coupler BC.</a:t>
            </a:r>
          </a:p>
          <a:p>
            <a:r>
              <a:rPr lang="en-US" sz="2800" dirty="0"/>
              <a:t>For particular value of force, the</a:t>
            </a:r>
          </a:p>
          <a:p>
            <a:pPr>
              <a:buNone/>
            </a:pPr>
            <a:r>
              <a:rPr lang="en-US" sz="2800" dirty="0"/>
              <a:t>     torque is max when µ is  90º.</a:t>
            </a:r>
          </a:p>
          <a:p>
            <a:endParaRPr lang="en-US" sz="2800" dirty="0"/>
          </a:p>
        </p:txBody>
      </p:sp>
      <p:pic>
        <p:nvPicPr>
          <p:cNvPr id="2050" name="Picture 2" descr="C:\Users\Mohdlimdi23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038600"/>
            <a:ext cx="2915937" cy="2517294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Transmission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When BC and DC are coincident µ is 0 and the mechanism would lock.</a:t>
            </a:r>
          </a:p>
          <a:p>
            <a:r>
              <a:rPr lang="en-US" sz="2800" dirty="0"/>
              <a:t>When µ deviates a lot from 90º, the torque on output link decreases.</a:t>
            </a:r>
          </a:p>
          <a:p>
            <a:r>
              <a:rPr lang="en-US" sz="2800" dirty="0"/>
              <a:t>Generally µ is kept more than 45º.</a:t>
            </a:r>
          </a:p>
          <a:p>
            <a:r>
              <a:rPr lang="en-US" sz="2800" dirty="0"/>
              <a:t>The max and min value of µ can be found by putting dµ/d</a:t>
            </a:r>
            <a:r>
              <a:rPr lang="el-GR" sz="2800" dirty="0"/>
              <a:t>θ</a:t>
            </a:r>
            <a:r>
              <a:rPr lang="en-US" sz="2800" dirty="0"/>
              <a:t> equal to 0.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Transmission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 can be seen that µ is max when </a:t>
            </a:r>
            <a:r>
              <a:rPr lang="el-GR" sz="2800" dirty="0"/>
              <a:t>θ</a:t>
            </a:r>
            <a:r>
              <a:rPr lang="en-US" sz="2800" dirty="0"/>
              <a:t> is 180º, &amp; min when </a:t>
            </a:r>
            <a:r>
              <a:rPr lang="el-GR" sz="2800" dirty="0"/>
              <a:t>θ</a:t>
            </a:r>
            <a:r>
              <a:rPr lang="en-US" sz="2800" dirty="0"/>
              <a:t> is 0º.</a:t>
            </a:r>
          </a:p>
          <a:p>
            <a:r>
              <a:rPr lang="en-US" sz="2800" dirty="0"/>
              <a:t>But this happens only in double crank or rocker crank mechanism.</a:t>
            </a:r>
          </a:p>
          <a:p>
            <a:r>
              <a:rPr lang="en-US" sz="2800" dirty="0"/>
              <a:t>The max and min value of µ is both mechanisms are given in next slide.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Mohdlimdi23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81000"/>
            <a:ext cx="9143999" cy="72390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mechanical advantage (MA) of a mechanism is the ratio of the output force/torque to the input force/torque at any instant.</a:t>
            </a:r>
          </a:p>
          <a:p>
            <a:r>
              <a:rPr lang="en-US" sz="2800" dirty="0"/>
              <a:t>In the given fig, is friction and inertia forces are ignored,</a:t>
            </a:r>
          </a:p>
          <a:p>
            <a:pPr lvl="1"/>
            <a:r>
              <a:rPr lang="en-US" sz="2400" dirty="0"/>
              <a:t>Input torque T</a:t>
            </a:r>
            <a:r>
              <a:rPr lang="en-US" sz="2400" baseline="-25000" dirty="0"/>
              <a:t>2</a:t>
            </a:r>
            <a:r>
              <a:rPr lang="en-US" sz="2400" dirty="0"/>
              <a:t> is applied to link 2</a:t>
            </a:r>
          </a:p>
          <a:p>
            <a:pPr lvl="1"/>
            <a:r>
              <a:rPr lang="en-US" sz="2400" dirty="0"/>
              <a:t>Output resisting torque T</a:t>
            </a:r>
            <a:r>
              <a:rPr lang="en-US" sz="2400" baseline="-25000" dirty="0"/>
              <a:t>4</a:t>
            </a:r>
            <a:r>
              <a:rPr lang="en-US" sz="2400" dirty="0"/>
              <a:t> produced at link 4</a:t>
            </a: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Mohdlimdi23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30151"/>
            <a:ext cx="9144000" cy="5596012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Mechanical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Power input = Power Output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Or MA = T</a:t>
            </a:r>
            <a:r>
              <a:rPr lang="en-US" sz="2400" baseline="-25000" dirty="0"/>
              <a:t>2</a:t>
            </a:r>
            <a:r>
              <a:rPr lang="en-US" sz="2400" dirty="0"/>
              <a:t> / T</a:t>
            </a:r>
            <a:r>
              <a:rPr lang="en-US" sz="2400" baseline="-25000" dirty="0"/>
              <a:t>4</a:t>
            </a:r>
            <a:r>
              <a:rPr lang="en-US" sz="2400" dirty="0"/>
              <a:t> = </a:t>
            </a:r>
            <a:r>
              <a:rPr lang="el-GR" sz="2400" dirty="0"/>
              <a:t>ω</a:t>
            </a:r>
            <a:r>
              <a:rPr lang="en-US" sz="2400" baseline="-25000" dirty="0"/>
              <a:t>2</a:t>
            </a:r>
            <a:r>
              <a:rPr lang="en-US" sz="2400" dirty="0"/>
              <a:t> / </a:t>
            </a:r>
            <a:r>
              <a:rPr lang="el-GR" sz="2400" dirty="0"/>
              <a:t>ω</a:t>
            </a:r>
            <a:r>
              <a:rPr lang="en-US" sz="2400" baseline="-25000" dirty="0"/>
              <a:t>4</a:t>
            </a:r>
          </a:p>
          <a:p>
            <a:r>
              <a:rPr lang="en-US" sz="2400" dirty="0"/>
              <a:t>Thus it is reciprocal of velocity ratio.</a:t>
            </a:r>
          </a:p>
          <a:p>
            <a:r>
              <a:rPr lang="en-US" sz="2400" dirty="0"/>
              <a:t> But in case of crank-rocker, </a:t>
            </a:r>
            <a:r>
              <a:rPr lang="el-GR" sz="2400" dirty="0"/>
              <a:t>ω</a:t>
            </a:r>
            <a:r>
              <a:rPr lang="en-US" sz="2400" baseline="-25000" dirty="0"/>
              <a:t>4</a:t>
            </a:r>
            <a:r>
              <a:rPr lang="en-US" sz="2400" dirty="0"/>
              <a:t> is 0, and </a:t>
            </a:r>
            <a:r>
              <a:rPr lang="el-GR" sz="2400" dirty="0"/>
              <a:t>γ</a:t>
            </a:r>
            <a:r>
              <a:rPr lang="en-US" sz="2400" dirty="0"/>
              <a:t> becomes 180º or 0º, making MA infinity.</a:t>
            </a:r>
          </a:p>
          <a:p>
            <a:r>
              <a:rPr lang="en-US" sz="2400" dirty="0"/>
              <a:t>Hence only a small input torque can overcome a large output torque load.</a:t>
            </a:r>
          </a:p>
          <a:p>
            <a:r>
              <a:rPr lang="en-US" sz="2400" dirty="0"/>
              <a:t>Extreme position of linkage points are known as Toggle points.</a:t>
            </a:r>
          </a:p>
          <a:p>
            <a:endParaRPr lang="en-US" sz="2400"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2438400" y="2209800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</a:t>
            </a:r>
            <a:r>
              <a:rPr lang="en-US" sz="2400" b="1" baseline="-25000" dirty="0"/>
              <a:t>2 </a:t>
            </a:r>
            <a:r>
              <a:rPr lang="en-US" sz="2400" b="1" dirty="0"/>
              <a:t> </a:t>
            </a:r>
            <a:r>
              <a:rPr lang="el-GR" sz="2400" b="1" dirty="0"/>
              <a:t>ω</a:t>
            </a:r>
            <a:r>
              <a:rPr lang="en-US" sz="2400" b="1" baseline="-25000" dirty="0"/>
              <a:t>2</a:t>
            </a:r>
            <a:r>
              <a:rPr lang="en-US" sz="2400" b="1" dirty="0"/>
              <a:t>  = T</a:t>
            </a:r>
            <a:r>
              <a:rPr lang="en-US" sz="2400" b="1" baseline="-25000" dirty="0"/>
              <a:t>4 </a:t>
            </a:r>
            <a:r>
              <a:rPr lang="el-GR" sz="2400" b="1" dirty="0"/>
              <a:t>ω</a:t>
            </a:r>
            <a:r>
              <a:rPr lang="en-US" sz="2400" b="1" baseline="-25000" dirty="0"/>
              <a:t>4</a:t>
            </a: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Acceleration analysis of mechanisms can be performed </a:t>
            </a:r>
            <a:r>
              <a:rPr lang="en-US" sz="2400" dirty="0" err="1"/>
              <a:t>vectorially</a:t>
            </a:r>
            <a:r>
              <a:rPr lang="en-US" sz="2400" dirty="0"/>
              <a:t> using the relative acceleration concept, usually starting with the given values and work through the mechanism by way of series of points A, B, C, etc.</a:t>
            </a:r>
          </a:p>
          <a:p>
            <a:r>
              <a:rPr lang="en-US" sz="2400" dirty="0"/>
              <a:t> important consideration is that the acceleration analysis cannot be performed without performing the velocity analysis since the normal and Coriolis acceleration components can only be determined after the velocity analysis. 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Example.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09800"/>
            <a:ext cx="4393406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133600"/>
            <a:ext cx="321666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7000" y="4495800"/>
            <a:ext cx="437059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triangles </a:t>
            </a:r>
            <a:r>
              <a:rPr lang="en-US" sz="2400" dirty="0" err="1"/>
              <a:t>abc</a:t>
            </a:r>
            <a:r>
              <a:rPr lang="en-US" sz="2400" dirty="0"/>
              <a:t> formed on the velocity and acceleration polygons are similar to the triangle ABC of the mechanism link. The sense of </a:t>
            </a:r>
            <a:r>
              <a:rPr lang="en-US" sz="2400" dirty="0" err="1"/>
              <a:t>abc</a:t>
            </a:r>
            <a:r>
              <a:rPr lang="en-US" sz="2400" dirty="0"/>
              <a:t> is similar to the sense of ABC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Acceleration of a link in pure rotation.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209800"/>
            <a:ext cx="539261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Example.</a:t>
            </a:r>
          </a:p>
        </p:txBody>
      </p:sp>
      <p:pic>
        <p:nvPicPr>
          <p:cNvPr id="8194" name="Picture 2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133600"/>
            <a:ext cx="7432668" cy="47244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 By derivation of the five-term acceleration equation with a spinning and translating reference frame, we see that there are two terms that appear when an object moves inside this rotating frame. One of these is Coriolis acceleration.</a:t>
            </a:r>
          </a:p>
          <a:p>
            <a:r>
              <a:rPr lang="en-US" sz="2400" dirty="0"/>
              <a:t> The Coriolis term is </a:t>
            </a:r>
          </a:p>
          <a:p>
            <a:pPr>
              <a:buNone/>
            </a:pPr>
            <a:r>
              <a:rPr lang="en-US" sz="2400" dirty="0"/>
              <a:t>			𝑎⃗</a:t>
            </a:r>
            <a:r>
              <a:rPr lang="en-US" sz="2400" baseline="-25000" dirty="0"/>
              <a:t>𝐶𝑜𝑟</a:t>
            </a:r>
            <a:r>
              <a:rPr lang="en-US" sz="2400" dirty="0"/>
              <a:t>=2</a:t>
            </a:r>
            <a:r>
              <a:rPr lang="el-GR" sz="2400" dirty="0"/>
              <a:t>Ω⃗×</a:t>
            </a:r>
            <a:r>
              <a:rPr lang="en-US" sz="2400" dirty="0"/>
              <a:t>𝑣⃗</a:t>
            </a:r>
            <a:r>
              <a:rPr lang="en-US" sz="2400" baseline="-25000" dirty="0"/>
              <a:t>𝑥𝑦</a:t>
            </a:r>
            <a:endParaRPr lang="en-US" sz="2400" dirty="0"/>
          </a:p>
          <a:p>
            <a:r>
              <a:rPr lang="en-US" sz="2400" dirty="0"/>
              <a:t>Components of Coriolis acceleration involve only two velocities</a:t>
            </a:r>
          </a:p>
          <a:p>
            <a:pPr lvl="1"/>
            <a:r>
              <a:rPr lang="en-US" sz="2000" dirty="0"/>
              <a:t>The rotational velocity of the rotating frame,</a:t>
            </a:r>
          </a:p>
          <a:p>
            <a:pPr lvl="1"/>
            <a:r>
              <a:rPr lang="en-US" sz="2100" dirty="0"/>
              <a:t>the velocity of an object within this rotating frame</a:t>
            </a:r>
          </a:p>
          <a:p>
            <a:pPr>
              <a:buNone/>
            </a:pPr>
            <a:r>
              <a:rPr lang="en-US" sz="2400" dirty="0"/>
              <a:t>			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Example a rotating rod with a </a:t>
            </a:r>
          </a:p>
          <a:p>
            <a:pPr>
              <a:buNone/>
            </a:pPr>
            <a:r>
              <a:rPr lang="en-US" sz="2400" dirty="0"/>
              <a:t>collar moving along the rod.</a:t>
            </a:r>
          </a:p>
          <a:p>
            <a:r>
              <a:rPr lang="en-US" sz="2400" dirty="0"/>
              <a:t>To understand coriolis </a:t>
            </a:r>
          </a:p>
          <a:p>
            <a:pPr>
              <a:buNone/>
            </a:pPr>
            <a:r>
              <a:rPr lang="en-US" sz="2400" dirty="0"/>
              <a:t>component of acc. Let us take an </a:t>
            </a:r>
          </a:p>
          <a:p>
            <a:pPr>
              <a:buNone/>
            </a:pPr>
            <a:r>
              <a:rPr lang="en-US" sz="2400" dirty="0"/>
              <a:t>example.</a:t>
            </a:r>
          </a:p>
          <a:p>
            <a:r>
              <a:rPr lang="en-US" sz="2400" dirty="0"/>
              <a:t>A cockroach is moving on a old Vinyl LP record.</a:t>
            </a:r>
          </a:p>
          <a:p>
            <a:endParaRPr lang="en-US" sz="2400" dirty="0"/>
          </a:p>
        </p:txBody>
      </p:sp>
      <p:pic>
        <p:nvPicPr>
          <p:cNvPr id="1027" name="Picture 3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1650" y="1143000"/>
            <a:ext cx="3562350" cy="2305050"/>
          </a:xfrm>
          <a:prstGeom prst="rect">
            <a:avLst/>
          </a:prstGeom>
          <a:noFill/>
        </p:spPr>
      </p:pic>
      <p:pic>
        <p:nvPicPr>
          <p:cNvPr id="1029" name="Picture 5" descr="C:\Users\Mohdlimdi23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3971310"/>
            <a:ext cx="2743200" cy="288669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Let’s consider the simple situation where the rotational speed </a:t>
            </a:r>
            <a:r>
              <a:rPr lang="el-GR" sz="2400" dirty="0"/>
              <a:t>Ὠ</a:t>
            </a:r>
            <a:r>
              <a:rPr lang="en-US" sz="2400" dirty="0"/>
              <a:t> is constant and the cockroach’s walking velocity is also constant. </a:t>
            </a:r>
          </a:p>
          <a:p>
            <a:r>
              <a:rPr lang="en-US" sz="2400" dirty="0"/>
              <a:t>The following two fig shows position of cockroach at instant t and t+∆t.</a:t>
            </a:r>
          </a:p>
        </p:txBody>
      </p:sp>
      <p:pic>
        <p:nvPicPr>
          <p:cNvPr id="2051" name="Picture 3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209925"/>
            <a:ext cx="6602413" cy="3648075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Coriolis acceleration = 2</a:t>
            </a:r>
            <a:r>
              <a:rPr lang="en-US" sz="2400" dirty="0">
                <a:sym typeface="Symbol" pitchFamily="18" charset="2"/>
              </a:rPr>
              <a:t></a:t>
            </a:r>
            <a:r>
              <a:rPr lang="en-US" sz="2400" dirty="0" err="1">
                <a:sym typeface="Symbol" pitchFamily="18" charset="2"/>
              </a:rPr>
              <a:t>V</a:t>
            </a:r>
            <a:r>
              <a:rPr lang="en-US" sz="2400" baseline="-25000" dirty="0" err="1">
                <a:sym typeface="Symbol" pitchFamily="18" charset="2"/>
              </a:rPr>
              <a:t>slip</a:t>
            </a:r>
            <a:endParaRPr lang="en-US" sz="2400" baseline="-250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Coriolis acceleration is normal</a:t>
            </a:r>
            <a:r>
              <a:rPr lang="en-US" sz="2400" baseline="-25000" dirty="0"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to the radius, OP, and it points towards the left of an observer moving with the slider if rotation is counterclockwise.  If the rotation is clockwise it points to the right.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dirty="0"/>
              <a:t>To find the acceleration of a point, P, moving on a rotating path: Consider a point, P’, that is fixed on the path and coincides with P at a particular instant.  Find the acceleration of P’</a:t>
            </a:r>
            <a:r>
              <a:rPr lang="en-US" sz="2400" baseline="30000" dirty="0"/>
              <a:t>,</a:t>
            </a:r>
            <a:r>
              <a:rPr lang="en-US" sz="2400" dirty="0"/>
              <a:t> and add the slip acceleration of P and the Coriolis acceleration of P.</a:t>
            </a:r>
            <a:endParaRPr lang="en-US" sz="2800" dirty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dirty="0"/>
              <a:t>A</a:t>
            </a:r>
            <a:r>
              <a:rPr lang="en-US" sz="2400" baseline="-25000" dirty="0"/>
              <a:t>P</a:t>
            </a:r>
            <a:r>
              <a:rPr lang="en-US" sz="2400" dirty="0"/>
              <a:t>=acceleration of P’ + acceleration of P seen from observer moving with rod + Coriolis acceleration=</a:t>
            </a:r>
            <a:r>
              <a:rPr lang="en-US" sz="2400" b="1" dirty="0"/>
              <a:t>A</a:t>
            </a:r>
            <a:r>
              <a:rPr lang="en-US" sz="2400" baseline="-25000" dirty="0"/>
              <a:t>P’ </a:t>
            </a:r>
            <a:r>
              <a:rPr lang="en-US" sz="2400" dirty="0"/>
              <a:t>+ </a:t>
            </a:r>
            <a:r>
              <a:rPr lang="en-US" sz="2400" b="1" dirty="0"/>
              <a:t>A</a:t>
            </a:r>
            <a:r>
              <a:rPr lang="en-US" sz="2400" baseline="-25000" dirty="0"/>
              <a:t>p</a:t>
            </a:r>
            <a:r>
              <a:rPr lang="en-US" sz="2400" baseline="30000" dirty="0"/>
              <a:t>slip </a:t>
            </a:r>
            <a:r>
              <a:rPr lang="en-US" sz="2400" dirty="0"/>
              <a:t>+ </a:t>
            </a:r>
            <a:r>
              <a:rPr lang="en-US" sz="2400" b="1" dirty="0"/>
              <a:t>A</a:t>
            </a:r>
            <a:r>
              <a:rPr lang="en-US" sz="2400" baseline="-25000" dirty="0"/>
              <a:t>P</a:t>
            </a:r>
            <a:r>
              <a:rPr lang="en-US" sz="2400" baseline="30000" dirty="0"/>
              <a:t>Coriolis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sz="2400" baseline="-250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endParaRPr lang="en-US" sz="2400" baseline="-25000" dirty="0">
              <a:sym typeface="Symbol" pitchFamily="18" charset="2"/>
            </a:endParaRPr>
          </a:p>
          <a:p>
            <a:endParaRPr lang="en-US" sz="2400" dirty="0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3074" name="Picture 2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72" y="304800"/>
            <a:ext cx="9110628" cy="59436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Application : Slotted Lever mechanism.</a:t>
            </a:r>
          </a:p>
        </p:txBody>
      </p:sp>
      <p:pic>
        <p:nvPicPr>
          <p:cNvPr id="4098" name="Picture 2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504874" cy="5029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Coriolis Component of Acc.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467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Relation between accelerations of B</a:t>
            </a:r>
            <a:r>
              <a:rPr lang="en-US" sz="2400" baseline="-25000" dirty="0"/>
              <a:t>2</a:t>
            </a:r>
            <a:r>
              <a:rPr lang="en-US" sz="2400" dirty="0"/>
              <a:t> (on crank) and B</a:t>
            </a:r>
            <a:r>
              <a:rPr lang="en-US" sz="2400" baseline="-25000" dirty="0"/>
              <a:t>3</a:t>
            </a:r>
            <a:r>
              <a:rPr lang="en-US" sz="2400" dirty="0"/>
              <a:t> (on slider)</a:t>
            </a:r>
          </a:p>
        </p:txBody>
      </p:sp>
      <p:pic>
        <p:nvPicPr>
          <p:cNvPr id="5122" name="Picture 2" descr="C:\Users\Mohdlimdi23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126586"/>
            <a:ext cx="6096000" cy="4731414"/>
          </a:xfrm>
          <a:prstGeom prst="rect">
            <a:avLst/>
          </a:prstGeom>
          <a:noFill/>
        </p:spPr>
      </p:pic>
      <p:pic>
        <p:nvPicPr>
          <p:cNvPr id="5123" name="Picture 3" descr="C:\Users\Mohdlimdi23\Desktop\Untitled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133600"/>
            <a:ext cx="4235116" cy="838200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33600"/>
            <a:ext cx="7467600" cy="1143000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  <p:pic>
        <p:nvPicPr>
          <p:cNvPr id="4" name="Picture 3" descr="AG00373_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931059"/>
            <a:ext cx="1947863" cy="1873659"/>
          </a:xfrm>
          <a:prstGeom prst="rect">
            <a:avLst/>
          </a:prstGeom>
          <a:noFill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400</TotalTime>
  <Words>973</Words>
  <Application>Microsoft Office PowerPoint</Application>
  <PresentationFormat>On-screen Show (4:3)</PresentationFormat>
  <Paragraphs>93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Franklin Gothic Book</vt:lpstr>
      <vt:lpstr>Symbol</vt:lpstr>
      <vt:lpstr>Wingdings 2</vt:lpstr>
      <vt:lpstr>Technic</vt:lpstr>
      <vt:lpstr>Mechanistic analysis</vt:lpstr>
      <vt:lpstr>Contents</vt:lpstr>
      <vt:lpstr>Coupler Curves</vt:lpstr>
      <vt:lpstr>Coupler Curves</vt:lpstr>
      <vt:lpstr>PowerPoint Presentation</vt:lpstr>
      <vt:lpstr>PowerPoint Presentation</vt:lpstr>
      <vt:lpstr>Toggle Position</vt:lpstr>
      <vt:lpstr>Toggle Position</vt:lpstr>
      <vt:lpstr>Toggle Position</vt:lpstr>
      <vt:lpstr>Transmission Angle</vt:lpstr>
      <vt:lpstr>Transmission Angle</vt:lpstr>
      <vt:lpstr>Transmission Angle</vt:lpstr>
      <vt:lpstr>PowerPoint Presentation</vt:lpstr>
      <vt:lpstr>Mechanical Advantage</vt:lpstr>
      <vt:lpstr>PowerPoint Presentation</vt:lpstr>
      <vt:lpstr>Mechanical Advantage</vt:lpstr>
      <vt:lpstr>Acceleration Analysis</vt:lpstr>
      <vt:lpstr>Acceleration Analysis</vt:lpstr>
      <vt:lpstr>Acceleration Analysis</vt:lpstr>
      <vt:lpstr>Acceleration Analysis</vt:lpstr>
      <vt:lpstr>Acceleration Analysis</vt:lpstr>
      <vt:lpstr>Coriolis Component of Acc.</vt:lpstr>
      <vt:lpstr>Coriolis Component of Acc.</vt:lpstr>
      <vt:lpstr>Coriolis Component of Acc.</vt:lpstr>
      <vt:lpstr>Coriolis Component of Acc.</vt:lpstr>
      <vt:lpstr>PowerPoint Presentation</vt:lpstr>
      <vt:lpstr>Coriolis Component of Acc.</vt:lpstr>
      <vt:lpstr>Coriolis Component of Acc.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mechanism</dc:title>
  <dc:creator>Mohd Limdi</dc:creator>
  <cp:lastModifiedBy>Bosubabu Sambana</cp:lastModifiedBy>
  <cp:revision>54</cp:revision>
  <dcterms:created xsi:type="dcterms:W3CDTF">2015-10-04T14:53:14Z</dcterms:created>
  <dcterms:modified xsi:type="dcterms:W3CDTF">2026-07-31T05:06:10Z</dcterms:modified>
</cp:coreProperties>
</file>