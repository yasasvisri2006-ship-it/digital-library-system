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8" d="100"/>
          <a:sy n="98" d="100"/>
        </p:scale>
        <p:origin x="110" y="21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A7A70D-F6A3-4FA6-BF00-8C494A658C33}" type="doc">
      <dgm:prSet loTypeId="urn:microsoft.com/office/officeart/2005/8/layout/vList2" loCatId="list" qsTypeId="urn:microsoft.com/office/officeart/2005/8/quickstyle/simple3" qsCatId="simple" csTypeId="urn:microsoft.com/office/officeart/2005/8/colors/colorful5" csCatId="colorful"/>
      <dgm:spPr/>
      <dgm:t>
        <a:bodyPr/>
        <a:lstStyle/>
        <a:p>
          <a:endParaRPr lang="en-US"/>
        </a:p>
      </dgm:t>
    </dgm:pt>
    <dgm:pt modelId="{E21256E7-0F7D-4165-9551-1AA1D9E879AE}">
      <dgm:prSet/>
      <dgm:spPr/>
      <dgm:t>
        <a:bodyPr/>
        <a:lstStyle/>
        <a:p>
          <a:r>
            <a:rPr lang="en-US" dirty="0">
              <a:latin typeface="Arial" panose="020B0604020202020204" pitchFamily="34" charset="0"/>
              <a:cs typeface="Arial" panose="020B0604020202020204" pitchFamily="34" charset="0"/>
            </a:rPr>
            <a:t>Structured(relational database &amp; filesystems)</a:t>
          </a:r>
        </a:p>
      </dgm:t>
    </dgm:pt>
    <dgm:pt modelId="{72C37165-FF1E-496D-B454-2750207E04B2}" type="parTrans" cxnId="{B0D0B09D-3E0B-4A0E-8C96-04D763E594FA}">
      <dgm:prSet/>
      <dgm:spPr/>
      <dgm:t>
        <a:bodyPr/>
        <a:lstStyle/>
        <a:p>
          <a:endParaRPr lang="en-US"/>
        </a:p>
      </dgm:t>
    </dgm:pt>
    <dgm:pt modelId="{1EE1E42B-CB3C-48C2-A093-6DCA8E4BB1E9}" type="sibTrans" cxnId="{B0D0B09D-3E0B-4A0E-8C96-04D763E594FA}">
      <dgm:prSet/>
      <dgm:spPr/>
      <dgm:t>
        <a:bodyPr/>
        <a:lstStyle/>
        <a:p>
          <a:endParaRPr lang="en-US"/>
        </a:p>
      </dgm:t>
    </dgm:pt>
    <dgm:pt modelId="{C8458846-EADA-4556-94C5-6A55DFF5373B}">
      <dgm:prSet custT="1"/>
      <dgm:spPr/>
      <dgm:t>
        <a:bodyPr/>
        <a:lstStyle/>
        <a:p>
          <a:r>
            <a:rPr lang="en-US" sz="3800" kern="1200" dirty="0">
              <a:solidFill>
                <a:prstClr val="black"/>
              </a:solidFill>
              <a:latin typeface="Arial" panose="020B0604020202020204" pitchFamily="34" charset="0"/>
              <a:ea typeface="+mn-ea"/>
              <a:cs typeface="Arial" panose="020B0604020202020204" pitchFamily="34" charset="0"/>
            </a:rPr>
            <a:t>Semi-Structured(emails , tweets, forms)</a:t>
          </a:r>
        </a:p>
      </dgm:t>
    </dgm:pt>
    <dgm:pt modelId="{623F76D7-353E-4D5E-97AB-28C850484C59}" type="parTrans" cxnId="{51A107DC-E79A-4D4F-BB49-887EE71AC869}">
      <dgm:prSet/>
      <dgm:spPr/>
      <dgm:t>
        <a:bodyPr/>
        <a:lstStyle/>
        <a:p>
          <a:endParaRPr lang="en-US"/>
        </a:p>
      </dgm:t>
    </dgm:pt>
    <dgm:pt modelId="{8137DD5B-0C55-4C32-A40A-0CCAEAF5A7BC}" type="sibTrans" cxnId="{51A107DC-E79A-4D4F-BB49-887EE71AC869}">
      <dgm:prSet/>
      <dgm:spPr/>
      <dgm:t>
        <a:bodyPr/>
        <a:lstStyle/>
        <a:p>
          <a:endParaRPr lang="en-US"/>
        </a:p>
      </dgm:t>
    </dgm:pt>
    <dgm:pt modelId="{504E13DD-97AF-4D39-8EB9-C81B773CEDFC}">
      <dgm:prSet custT="1"/>
      <dgm:spPr/>
      <dgm:t>
        <a:bodyPr/>
        <a:lstStyle/>
        <a:p>
          <a:pPr marL="0" lvl="0" indent="0" algn="l" defTabSz="1689100">
            <a:lnSpc>
              <a:spcPct val="90000"/>
            </a:lnSpc>
            <a:spcBef>
              <a:spcPct val="0"/>
            </a:spcBef>
            <a:spcAft>
              <a:spcPct val="35000"/>
            </a:spcAft>
            <a:buNone/>
          </a:pPr>
          <a:r>
            <a:rPr lang="en-US" sz="3800" kern="1200" dirty="0">
              <a:solidFill>
                <a:prstClr val="black"/>
              </a:solidFill>
              <a:latin typeface="Arial" panose="020B0604020202020204" pitchFamily="34" charset="0"/>
              <a:ea typeface="+mn-ea"/>
              <a:cs typeface="Arial" panose="020B0604020202020204" pitchFamily="34" charset="0"/>
            </a:rPr>
            <a:t>Unstructured(images, audio, video)</a:t>
          </a:r>
        </a:p>
      </dgm:t>
    </dgm:pt>
    <dgm:pt modelId="{1084E581-A8E0-4717-A526-EC18EFE2518A}" type="parTrans" cxnId="{A2CD54B3-30D5-4E60-9DA6-DD6043F4FACC}">
      <dgm:prSet/>
      <dgm:spPr/>
      <dgm:t>
        <a:bodyPr/>
        <a:lstStyle/>
        <a:p>
          <a:endParaRPr lang="en-US"/>
        </a:p>
      </dgm:t>
    </dgm:pt>
    <dgm:pt modelId="{5066B341-53DD-4C9B-A952-E6D5913B8A5C}" type="sibTrans" cxnId="{A2CD54B3-30D5-4E60-9DA6-DD6043F4FACC}">
      <dgm:prSet/>
      <dgm:spPr/>
      <dgm:t>
        <a:bodyPr/>
        <a:lstStyle/>
        <a:p>
          <a:endParaRPr lang="en-US"/>
        </a:p>
      </dgm:t>
    </dgm:pt>
    <dgm:pt modelId="{BE5762BB-D578-4EF1-A76C-363F57CB47A0}" type="pres">
      <dgm:prSet presAssocID="{64A7A70D-F6A3-4FA6-BF00-8C494A658C33}" presName="linear" presStyleCnt="0">
        <dgm:presLayoutVars>
          <dgm:animLvl val="lvl"/>
          <dgm:resizeHandles val="exact"/>
        </dgm:presLayoutVars>
      </dgm:prSet>
      <dgm:spPr/>
    </dgm:pt>
    <dgm:pt modelId="{6A8FE3A8-534D-457B-9A25-4A668951B324}" type="pres">
      <dgm:prSet presAssocID="{E21256E7-0F7D-4165-9551-1AA1D9E879AE}" presName="parentText" presStyleLbl="node1" presStyleIdx="0" presStyleCnt="3" custLinFactNeighborX="1484" custLinFactNeighborY="-4909">
        <dgm:presLayoutVars>
          <dgm:chMax val="0"/>
          <dgm:bulletEnabled val="1"/>
        </dgm:presLayoutVars>
      </dgm:prSet>
      <dgm:spPr/>
    </dgm:pt>
    <dgm:pt modelId="{5D0599E0-A5B9-4211-82A8-081D50180745}" type="pres">
      <dgm:prSet presAssocID="{1EE1E42B-CB3C-48C2-A093-6DCA8E4BB1E9}" presName="spacer" presStyleCnt="0"/>
      <dgm:spPr/>
    </dgm:pt>
    <dgm:pt modelId="{DD3BA9C5-BC92-445F-A1E8-5DBD96404C57}" type="pres">
      <dgm:prSet presAssocID="{C8458846-EADA-4556-94C5-6A55DFF5373B}" presName="parentText" presStyleLbl="node1" presStyleIdx="1" presStyleCnt="3">
        <dgm:presLayoutVars>
          <dgm:chMax val="0"/>
          <dgm:bulletEnabled val="1"/>
        </dgm:presLayoutVars>
      </dgm:prSet>
      <dgm:spPr/>
    </dgm:pt>
    <dgm:pt modelId="{10C1A6B6-1B37-4893-8FF1-A8D3679D3ECF}" type="pres">
      <dgm:prSet presAssocID="{8137DD5B-0C55-4C32-A40A-0CCAEAF5A7BC}" presName="spacer" presStyleCnt="0"/>
      <dgm:spPr/>
    </dgm:pt>
    <dgm:pt modelId="{710D1EE4-1B81-46A6-A833-B5A4AAF4DD3D}" type="pres">
      <dgm:prSet presAssocID="{504E13DD-97AF-4D39-8EB9-C81B773CEDFC}" presName="parentText" presStyleLbl="node1" presStyleIdx="2" presStyleCnt="3">
        <dgm:presLayoutVars>
          <dgm:chMax val="0"/>
          <dgm:bulletEnabled val="1"/>
        </dgm:presLayoutVars>
      </dgm:prSet>
      <dgm:spPr/>
    </dgm:pt>
  </dgm:ptLst>
  <dgm:cxnLst>
    <dgm:cxn modelId="{62869D43-D3E2-48C5-B052-DA2B219A7FEC}" type="presOf" srcId="{504E13DD-97AF-4D39-8EB9-C81B773CEDFC}" destId="{710D1EE4-1B81-46A6-A833-B5A4AAF4DD3D}" srcOrd="0" destOrd="0" presId="urn:microsoft.com/office/officeart/2005/8/layout/vList2"/>
    <dgm:cxn modelId="{FCD40572-0EEA-4670-A250-A79C24E3FBC2}" type="presOf" srcId="{C8458846-EADA-4556-94C5-6A55DFF5373B}" destId="{DD3BA9C5-BC92-445F-A1E8-5DBD96404C57}" srcOrd="0" destOrd="0" presId="urn:microsoft.com/office/officeart/2005/8/layout/vList2"/>
    <dgm:cxn modelId="{B0D0B09D-3E0B-4A0E-8C96-04D763E594FA}" srcId="{64A7A70D-F6A3-4FA6-BF00-8C494A658C33}" destId="{E21256E7-0F7D-4165-9551-1AA1D9E879AE}" srcOrd="0" destOrd="0" parTransId="{72C37165-FF1E-496D-B454-2750207E04B2}" sibTransId="{1EE1E42B-CB3C-48C2-A093-6DCA8E4BB1E9}"/>
    <dgm:cxn modelId="{A2CD54B3-30D5-4E60-9DA6-DD6043F4FACC}" srcId="{64A7A70D-F6A3-4FA6-BF00-8C494A658C33}" destId="{504E13DD-97AF-4D39-8EB9-C81B773CEDFC}" srcOrd="2" destOrd="0" parTransId="{1084E581-A8E0-4717-A526-EC18EFE2518A}" sibTransId="{5066B341-53DD-4C9B-A952-E6D5913B8A5C}"/>
    <dgm:cxn modelId="{3C0397CB-29F4-45A4-A390-50FE45F5A4A6}" type="presOf" srcId="{E21256E7-0F7D-4165-9551-1AA1D9E879AE}" destId="{6A8FE3A8-534D-457B-9A25-4A668951B324}" srcOrd="0" destOrd="0" presId="urn:microsoft.com/office/officeart/2005/8/layout/vList2"/>
    <dgm:cxn modelId="{51A107DC-E79A-4D4F-BB49-887EE71AC869}" srcId="{64A7A70D-F6A3-4FA6-BF00-8C494A658C33}" destId="{C8458846-EADA-4556-94C5-6A55DFF5373B}" srcOrd="1" destOrd="0" parTransId="{623F76D7-353E-4D5E-97AB-28C850484C59}" sibTransId="{8137DD5B-0C55-4C32-A40A-0CCAEAF5A7BC}"/>
    <dgm:cxn modelId="{4857A9FB-8847-44F1-A69F-54169446D673}" type="presOf" srcId="{64A7A70D-F6A3-4FA6-BF00-8C494A658C33}" destId="{BE5762BB-D578-4EF1-A76C-363F57CB47A0}" srcOrd="0" destOrd="0" presId="urn:microsoft.com/office/officeart/2005/8/layout/vList2"/>
    <dgm:cxn modelId="{B836866C-3A94-465B-B2CA-EB18CBEA0640}" type="presParOf" srcId="{BE5762BB-D578-4EF1-A76C-363F57CB47A0}" destId="{6A8FE3A8-534D-457B-9A25-4A668951B324}" srcOrd="0" destOrd="0" presId="urn:microsoft.com/office/officeart/2005/8/layout/vList2"/>
    <dgm:cxn modelId="{EE895D78-98A3-442A-8B2D-5E55D273BD71}" type="presParOf" srcId="{BE5762BB-D578-4EF1-A76C-363F57CB47A0}" destId="{5D0599E0-A5B9-4211-82A8-081D50180745}" srcOrd="1" destOrd="0" presId="urn:microsoft.com/office/officeart/2005/8/layout/vList2"/>
    <dgm:cxn modelId="{C8DF5584-E17A-46E8-81BA-26FC00BDB1F4}" type="presParOf" srcId="{BE5762BB-D578-4EF1-A76C-363F57CB47A0}" destId="{DD3BA9C5-BC92-445F-A1E8-5DBD96404C57}" srcOrd="2" destOrd="0" presId="urn:microsoft.com/office/officeart/2005/8/layout/vList2"/>
    <dgm:cxn modelId="{C65423A4-B17E-436B-803D-5E4847CF8C1A}" type="presParOf" srcId="{BE5762BB-D578-4EF1-A76C-363F57CB47A0}" destId="{10C1A6B6-1B37-4893-8FF1-A8D3679D3ECF}" srcOrd="3" destOrd="0" presId="urn:microsoft.com/office/officeart/2005/8/layout/vList2"/>
    <dgm:cxn modelId="{EA177C6E-DCA0-4B38-B6E1-C78ABCF05B57}" type="presParOf" srcId="{BE5762BB-D578-4EF1-A76C-363F57CB47A0}" destId="{710D1EE4-1B81-46A6-A833-B5A4AAF4DD3D}"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8FE3A8-534D-457B-9A25-4A668951B324}">
      <dsp:nvSpPr>
        <dsp:cNvPr id="0" name=""/>
        <dsp:cNvSpPr/>
      </dsp:nvSpPr>
      <dsp:spPr>
        <a:xfrm>
          <a:off x="0" y="7837"/>
          <a:ext cx="6190459" cy="1505790"/>
        </a:xfrm>
        <a:prstGeom prst="roundRect">
          <a:avLst/>
        </a:prstGeom>
        <a:gradFill rotWithShape="0">
          <a:gsLst>
            <a:gs pos="0">
              <a:schemeClr val="accent5">
                <a:hueOff val="0"/>
                <a:satOff val="0"/>
                <a:lumOff val="0"/>
                <a:alphaOff val="0"/>
                <a:tint val="62000"/>
                <a:hueMod val="94000"/>
                <a:satMod val="140000"/>
                <a:lumMod val="110000"/>
              </a:schemeClr>
            </a:gs>
            <a:gs pos="100000">
              <a:schemeClr val="accent5">
                <a:hueOff val="0"/>
                <a:satOff val="0"/>
                <a:lumOff val="0"/>
                <a:alphaOff val="0"/>
                <a:tint val="84000"/>
                <a:satMod val="16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latin typeface="Arial" panose="020B0604020202020204" pitchFamily="34" charset="0"/>
              <a:cs typeface="Arial" panose="020B0604020202020204" pitchFamily="34" charset="0"/>
            </a:rPr>
            <a:t>Structured(relational database &amp; filesystems)</a:t>
          </a:r>
        </a:p>
      </dsp:txBody>
      <dsp:txXfrm>
        <a:off x="73507" y="81344"/>
        <a:ext cx="6043445" cy="1358776"/>
      </dsp:txXfrm>
    </dsp:sp>
    <dsp:sp modelId="{DD3BA9C5-BC92-445F-A1E8-5DBD96404C57}">
      <dsp:nvSpPr>
        <dsp:cNvPr id="0" name=""/>
        <dsp:cNvSpPr/>
      </dsp:nvSpPr>
      <dsp:spPr>
        <a:xfrm>
          <a:off x="0" y="1631461"/>
          <a:ext cx="6190459" cy="1505790"/>
        </a:xfrm>
        <a:prstGeom prst="roundRect">
          <a:avLst/>
        </a:prstGeom>
        <a:gradFill rotWithShape="0">
          <a:gsLst>
            <a:gs pos="0">
              <a:schemeClr val="accent5">
                <a:hueOff val="10077129"/>
                <a:satOff val="-4709"/>
                <a:lumOff val="-5294"/>
                <a:alphaOff val="0"/>
                <a:tint val="62000"/>
                <a:hueMod val="94000"/>
                <a:satMod val="140000"/>
                <a:lumMod val="110000"/>
              </a:schemeClr>
            </a:gs>
            <a:gs pos="100000">
              <a:schemeClr val="accent5">
                <a:hueOff val="10077129"/>
                <a:satOff val="-4709"/>
                <a:lumOff val="-5294"/>
                <a:alphaOff val="0"/>
                <a:tint val="84000"/>
                <a:satMod val="16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solidFill>
                <a:prstClr val="black"/>
              </a:solidFill>
              <a:latin typeface="Arial" panose="020B0604020202020204" pitchFamily="34" charset="0"/>
              <a:ea typeface="+mn-ea"/>
              <a:cs typeface="Arial" panose="020B0604020202020204" pitchFamily="34" charset="0"/>
            </a:rPr>
            <a:t>Semi-Structured(emails , tweets, forms)</a:t>
          </a:r>
        </a:p>
      </dsp:txBody>
      <dsp:txXfrm>
        <a:off x="73507" y="1704968"/>
        <a:ext cx="6043445" cy="1358776"/>
      </dsp:txXfrm>
    </dsp:sp>
    <dsp:sp modelId="{710D1EE4-1B81-46A6-A833-B5A4AAF4DD3D}">
      <dsp:nvSpPr>
        <dsp:cNvPr id="0" name=""/>
        <dsp:cNvSpPr/>
      </dsp:nvSpPr>
      <dsp:spPr>
        <a:xfrm>
          <a:off x="0" y="3249571"/>
          <a:ext cx="6190459" cy="1505790"/>
        </a:xfrm>
        <a:prstGeom prst="roundRect">
          <a:avLst/>
        </a:prstGeom>
        <a:gradFill rotWithShape="0">
          <a:gsLst>
            <a:gs pos="0">
              <a:schemeClr val="accent5">
                <a:hueOff val="20154258"/>
                <a:satOff val="-9417"/>
                <a:lumOff val="-10587"/>
                <a:alphaOff val="0"/>
                <a:tint val="62000"/>
                <a:hueMod val="94000"/>
                <a:satMod val="140000"/>
                <a:lumMod val="110000"/>
              </a:schemeClr>
            </a:gs>
            <a:gs pos="100000">
              <a:schemeClr val="accent5">
                <a:hueOff val="20154258"/>
                <a:satOff val="-9417"/>
                <a:lumOff val="-10587"/>
                <a:alphaOff val="0"/>
                <a:tint val="84000"/>
                <a:satMod val="16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solidFill>
                <a:prstClr val="black"/>
              </a:solidFill>
              <a:latin typeface="Arial" panose="020B0604020202020204" pitchFamily="34" charset="0"/>
              <a:ea typeface="+mn-ea"/>
              <a:cs typeface="Arial" panose="020B0604020202020204" pitchFamily="34" charset="0"/>
            </a:rPr>
            <a:t>Unstructured(images, audio, video)</a:t>
          </a:r>
        </a:p>
      </dsp:txBody>
      <dsp:txXfrm>
        <a:off x="73507" y="3323078"/>
        <a:ext cx="6043445" cy="135877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7/31/2026</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7C148-A8DF-4128-B846-A6EE9D496411}"/>
              </a:ext>
            </a:extLst>
          </p:cNvPr>
          <p:cNvSpPr>
            <a:spLocks noGrp="1"/>
          </p:cNvSpPr>
          <p:nvPr>
            <p:ph type="ctrTitle"/>
          </p:nvPr>
        </p:nvSpPr>
        <p:spPr/>
        <p:txBody>
          <a:bodyPr/>
          <a:lstStyle/>
          <a:p>
            <a:r>
              <a:rPr lang="en-US" dirty="0"/>
              <a:t>Prescriptive analytics</a:t>
            </a:r>
          </a:p>
        </p:txBody>
      </p:sp>
    </p:spTree>
    <p:extLst>
      <p:ext uri="{BB962C8B-B14F-4D97-AF65-F5344CB8AC3E}">
        <p14:creationId xmlns:p14="http://schemas.microsoft.com/office/powerpoint/2010/main" val="37000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34" name="Rectangle 11">
            <a:extLst>
              <a:ext uri="{FF2B5EF4-FFF2-40B4-BE49-F238E27FC236}">
                <a16:creationId xmlns:a16="http://schemas.microsoft.com/office/drawing/2014/main" id="{9ACA6826-032C-4799-B079-15DB2A6CBD93}"/>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Content Placeholder 3">
            <a:extLst>
              <a:ext uri="{FF2B5EF4-FFF2-40B4-BE49-F238E27FC236}">
                <a16:creationId xmlns:a16="http://schemas.microsoft.com/office/drawing/2014/main" id="{AE04E5EA-CBFF-4099-8F25-DA3A7FCF7E20}"/>
              </a:ext>
            </a:extLst>
          </p:cNvPr>
          <p:cNvPicPr>
            <a:picLocks noChangeAspect="1"/>
          </p:cNvPicPr>
          <p:nvPr/>
        </p:nvPicPr>
        <p:blipFill>
          <a:blip r:embed="rId2"/>
          <a:stretch>
            <a:fillRect/>
          </a:stretch>
        </p:blipFill>
        <p:spPr>
          <a:xfrm>
            <a:off x="8380911" y="685800"/>
            <a:ext cx="3062293" cy="3921711"/>
          </a:xfrm>
          <a:prstGeom prst="rect">
            <a:avLst/>
          </a:prstGeom>
          <a:effectLst>
            <a:innerShdw blurRad="57150" dist="38100" dir="14460000">
              <a:prstClr val="black">
                <a:alpha val="70000"/>
              </a:prstClr>
            </a:innerShdw>
          </a:effectLst>
        </p:spPr>
      </p:pic>
      <p:grpSp>
        <p:nvGrpSpPr>
          <p:cNvPr id="36" name="Group 13">
            <a:extLst>
              <a:ext uri="{FF2B5EF4-FFF2-40B4-BE49-F238E27FC236}">
                <a16:creationId xmlns:a16="http://schemas.microsoft.com/office/drawing/2014/main" id="{DD58A807-BD0E-4B1D-A523-2F20E7FE2695}"/>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33837"/>
            <a:ext cx="2981858" cy="3208867"/>
            <a:chOff x="9206969" y="2963333"/>
            <a:chExt cx="2981858" cy="3208867"/>
          </a:xfrm>
        </p:grpSpPr>
        <p:cxnSp>
          <p:nvCxnSpPr>
            <p:cNvPr id="15" name="Straight Connector 14">
              <a:extLst>
                <a:ext uri="{FF2B5EF4-FFF2-40B4-BE49-F238E27FC236}">
                  <a16:creationId xmlns:a16="http://schemas.microsoft.com/office/drawing/2014/main" id="{AC82FD88-0436-4D5C-B5A2-7B90191949E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2706DBD-9DBD-49D6-80EB-C896096D2F0B}"/>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251C7442-3F0F-49E3-9389-D6B4BAE14A89}"/>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BA614368-43A5-4794-BA71-09F8585F9FC2}"/>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F42B96B-0C70-40CB-A027-175F2A16571A}"/>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1">
            <a:extLst>
              <a:ext uri="{FF2B5EF4-FFF2-40B4-BE49-F238E27FC236}">
                <a16:creationId xmlns:a16="http://schemas.microsoft.com/office/drawing/2014/main" id="{F9F71665-E337-4F98-AE40-786154D22F7D}"/>
              </a:ext>
            </a:extLst>
          </p:cNvPr>
          <p:cNvSpPr>
            <a:spLocks noGrp="1"/>
          </p:cNvSpPr>
          <p:nvPr>
            <p:ph type="title"/>
          </p:nvPr>
        </p:nvSpPr>
        <p:spPr>
          <a:xfrm>
            <a:off x="684212" y="4487332"/>
            <a:ext cx="8534400" cy="1507067"/>
          </a:xfrm>
        </p:spPr>
        <p:txBody>
          <a:bodyPr>
            <a:normAutofit/>
          </a:bodyPr>
          <a:lstStyle/>
          <a:p>
            <a:r>
              <a:rPr lang="en-US"/>
              <a:t>Prescriptive analytics workflow</a:t>
            </a:r>
            <a:endParaRPr lang="en-US" dirty="0"/>
          </a:p>
        </p:txBody>
      </p:sp>
      <p:sp>
        <p:nvSpPr>
          <p:cNvPr id="37" name="Content Placeholder 8"/>
          <p:cNvSpPr>
            <a:spLocks noGrp="1"/>
          </p:cNvSpPr>
          <p:nvPr>
            <p:ph idx="1"/>
          </p:nvPr>
        </p:nvSpPr>
        <p:spPr>
          <a:xfrm>
            <a:off x="684212" y="685800"/>
            <a:ext cx="7201259" cy="3615267"/>
          </a:xfrm>
        </p:spPr>
        <p:txBody>
          <a:bodyPr>
            <a:normAutofit/>
          </a:bodyPr>
          <a:lstStyle/>
          <a:p>
            <a:pPr marL="0" indent="0">
              <a:buNone/>
            </a:pPr>
            <a:r>
              <a:rPr lang="en-US" dirty="0">
                <a:solidFill>
                  <a:schemeClr val="tx1">
                    <a:lumMod val="95000"/>
                  </a:schemeClr>
                </a:solidFill>
              </a:rPr>
              <a:t>Many organizations are investing in analytics as they understand the importance of driving decisions and actions based on actionable insights from real time data rather than just experience and intuition. </a:t>
            </a:r>
          </a:p>
          <a:p>
            <a:pPr marL="0" indent="0">
              <a:buNone/>
            </a:pPr>
            <a:r>
              <a:rPr lang="en-US" dirty="0">
                <a:solidFill>
                  <a:schemeClr val="tx1">
                    <a:lumMod val="95000"/>
                  </a:schemeClr>
                </a:solidFill>
              </a:rPr>
              <a:t>The data from various sources is needed to formulate hypotheses. And initial course of action is drafted, based on the analytical models which can either prove the formulated hypothesis to be true or not , corrective actions are taken, if required. </a:t>
            </a:r>
          </a:p>
        </p:txBody>
      </p:sp>
    </p:spTree>
    <p:extLst>
      <p:ext uri="{BB962C8B-B14F-4D97-AF65-F5344CB8AC3E}">
        <p14:creationId xmlns:p14="http://schemas.microsoft.com/office/powerpoint/2010/main" val="2749155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92000"/>
                <a:satMod val="169000"/>
                <a:lumMod val="164000"/>
              </a:schemeClr>
            </a:gs>
            <a:gs pos="100000">
              <a:schemeClr val="bg2">
                <a:shade val="96000"/>
                <a:satMod val="120000"/>
                <a:lumMod val="90000"/>
              </a:schemeClr>
            </a:gs>
          </a:gsLst>
          <a:path path="circle">
            <a:fillToRect b="100000"/>
          </a:path>
        </a:gra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2C33F367-76E5-4D2A-96B1-4FD443CDD1CF}"/>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dk2">
                  <a:tint val="97000"/>
                  <a:hueMod val="92000"/>
                  <a:satMod val="169000"/>
                  <a:lumMod val="164000"/>
                </a:schemeClr>
              </a:gs>
              <a:gs pos="100000">
                <a:schemeClr val="dk2">
                  <a:shade val="96000"/>
                  <a:satMod val="120000"/>
                  <a:lumMod val="90000"/>
                </a:schemeClr>
              </a:gs>
            </a:gsLst>
            <a:lin ang="6120000" scaled="1"/>
          </a:gra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26" name="Snip Diagonal Corner Rectangle 21">
            <a:extLst>
              <a:ext uri="{FF2B5EF4-FFF2-40B4-BE49-F238E27FC236}">
                <a16:creationId xmlns:a16="http://schemas.microsoft.com/office/drawing/2014/main" id="{6F769419-3E73-449D-B62A-0CDEC946A679}"/>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8129873" cy="6858002"/>
          </a:xfrm>
          <a:prstGeom prst="snip2DiagRect">
            <a:avLst>
              <a:gd name="adj1" fmla="val 0"/>
              <a:gd name="adj2" fmla="val 0"/>
            </a:avLst>
          </a:prstGeom>
          <a:solidFill>
            <a:schemeClr val="bg1">
              <a:alpha val="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a:extLst>
              <a:ext uri="{FF2B5EF4-FFF2-40B4-BE49-F238E27FC236}">
                <a16:creationId xmlns:a16="http://schemas.microsoft.com/office/drawing/2014/main" id="{A6515200-42F9-488F-9895-6CDBCD1E87C8}"/>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29" name="Straight Connector 28">
              <a:extLst>
                <a:ext uri="{FF2B5EF4-FFF2-40B4-BE49-F238E27FC236}">
                  <a16:creationId xmlns:a16="http://schemas.microsoft.com/office/drawing/2014/main" id="{43185F0E-78D5-4C2D-9239-D3515B448837}"/>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D5BD9142-FF9C-4EED-A027-18D095481BB8}"/>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42F547D3-9752-4481-B3A8-50E08610B8EC}"/>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999C2F-3D0D-4813-9696-83630A6FEABD}"/>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EC737390-C9CA-456B-9F40-D7A76EA242E7}"/>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sp>
        <p:nvSpPr>
          <p:cNvPr id="2" name="Title 1">
            <a:extLst>
              <a:ext uri="{FF2B5EF4-FFF2-40B4-BE49-F238E27FC236}">
                <a16:creationId xmlns:a16="http://schemas.microsoft.com/office/drawing/2014/main" id="{03980DD0-0BA1-4704-9010-6DB2720C4FC1}"/>
              </a:ext>
            </a:extLst>
          </p:cNvPr>
          <p:cNvSpPr>
            <a:spLocks noGrp="1"/>
          </p:cNvSpPr>
          <p:nvPr>
            <p:ph type="title"/>
          </p:nvPr>
        </p:nvSpPr>
        <p:spPr>
          <a:xfrm>
            <a:off x="7877908" y="941424"/>
            <a:ext cx="3754649" cy="912813"/>
          </a:xfrm>
        </p:spPr>
        <p:txBody>
          <a:bodyPr>
            <a:normAutofit/>
          </a:bodyPr>
          <a:lstStyle/>
          <a:p>
            <a:r>
              <a:rPr lang="en-US" dirty="0">
                <a:solidFill>
                  <a:srgbClr val="FFFFFF"/>
                </a:solidFill>
              </a:rPr>
              <a:t>Types of data </a:t>
            </a:r>
          </a:p>
        </p:txBody>
      </p:sp>
      <p:graphicFrame>
        <p:nvGraphicFramePr>
          <p:cNvPr id="5" name="Content Placeholder 2"/>
          <p:cNvGraphicFramePr>
            <a:graphicFrameLocks noGrp="1"/>
          </p:cNvGraphicFramePr>
          <p:nvPr>
            <p:ph idx="1"/>
            <p:extLst>
              <p:ext uri="{D42A27DB-BD31-4B8C-83A1-F6EECF244321}">
                <p14:modId xmlns:p14="http://schemas.microsoft.com/office/powerpoint/2010/main" val="1016781354"/>
              </p:ext>
            </p:extLst>
          </p:nvPr>
        </p:nvGraphicFramePr>
        <p:xfrm>
          <a:off x="940645" y="941424"/>
          <a:ext cx="6190459" cy="47687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3A5F71A9-8E9E-4D13-9CBD-5A25BE65B28C}"/>
              </a:ext>
            </a:extLst>
          </p:cNvPr>
          <p:cNvSpPr txBox="1"/>
          <p:nvPr/>
        </p:nvSpPr>
        <p:spPr>
          <a:xfrm>
            <a:off x="7726017" y="2247432"/>
            <a:ext cx="4002157" cy="3693319"/>
          </a:xfrm>
          <a:prstGeom prst="rect">
            <a:avLst/>
          </a:prstGeom>
          <a:noFill/>
        </p:spPr>
        <p:txBody>
          <a:bodyPr wrap="square" rtlCol="0">
            <a:spAutoFit/>
          </a:bodyPr>
          <a:lstStyle/>
          <a:p>
            <a:r>
              <a:rPr lang="en-US" dirty="0"/>
              <a:t>Our analytical capabilities need to produce insights from different paradigms. Other insights come from turning our analytical models loose on incredibly large volumes of data, and then looking for hidden patterns and causal relationships and things that we may not necessarily ever have thought about. But the power of our technology ferrets out those things and shows them to us and lets us take action upon them.</a:t>
            </a:r>
          </a:p>
        </p:txBody>
      </p:sp>
    </p:spTree>
    <p:extLst>
      <p:ext uri="{BB962C8B-B14F-4D97-AF65-F5344CB8AC3E}">
        <p14:creationId xmlns:p14="http://schemas.microsoft.com/office/powerpoint/2010/main" val="4217080871"/>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3A6D4-C1F1-4F51-956F-71207F9878B5}"/>
              </a:ext>
            </a:extLst>
          </p:cNvPr>
          <p:cNvSpPr>
            <a:spLocks noGrp="1"/>
          </p:cNvSpPr>
          <p:nvPr>
            <p:ph type="title"/>
          </p:nvPr>
        </p:nvSpPr>
        <p:spPr/>
        <p:txBody>
          <a:bodyPr/>
          <a:lstStyle/>
          <a:p>
            <a:r>
              <a:rPr lang="en-US" dirty="0"/>
              <a:t>Analytics taxonomy: what types of questions do they answer</a:t>
            </a:r>
          </a:p>
        </p:txBody>
      </p:sp>
      <p:sp>
        <p:nvSpPr>
          <p:cNvPr id="3" name="Content Placeholder 2">
            <a:extLst>
              <a:ext uri="{FF2B5EF4-FFF2-40B4-BE49-F238E27FC236}">
                <a16:creationId xmlns:a16="http://schemas.microsoft.com/office/drawing/2014/main" id="{A1FC37D5-FDF7-4826-A1E7-DD5184251928}"/>
              </a:ext>
            </a:extLst>
          </p:cNvPr>
          <p:cNvSpPr>
            <a:spLocks noGrp="1"/>
          </p:cNvSpPr>
          <p:nvPr>
            <p:ph idx="1"/>
          </p:nvPr>
        </p:nvSpPr>
        <p:spPr/>
        <p:txBody>
          <a:bodyPr>
            <a:normAutofit fontScale="92500" lnSpcReduction="20000"/>
          </a:bodyPr>
          <a:lstStyle/>
          <a:p>
            <a:r>
              <a:rPr lang="en-US" dirty="0">
                <a:solidFill>
                  <a:schemeClr val="tx1"/>
                </a:solidFill>
              </a:rPr>
              <a:t>Descriptive analytics: What happened and why as well as what’s happening right now and why</a:t>
            </a:r>
          </a:p>
          <a:p>
            <a:r>
              <a:rPr lang="en-US" dirty="0">
                <a:solidFill>
                  <a:schemeClr val="tx1"/>
                </a:solidFill>
              </a:rPr>
              <a:t>Predictive analytics: What is likely to happen and why</a:t>
            </a:r>
          </a:p>
          <a:p>
            <a:r>
              <a:rPr lang="en-US" dirty="0">
                <a:solidFill>
                  <a:schemeClr val="tx1"/>
                </a:solidFill>
              </a:rPr>
              <a:t>Discovery analytics: Looking into something interesting in the lines of the data available to us. Trying to figure out if there is probable discovery of interesting patterns and correlations</a:t>
            </a:r>
          </a:p>
          <a:p>
            <a:r>
              <a:rPr lang="en-US" dirty="0">
                <a:solidFill>
                  <a:schemeClr val="tx1"/>
                </a:solidFill>
              </a:rPr>
              <a:t>Prescriptive analytics: The output of the above three categories  of analytics is fed to the prescriptive analytics engine, and it guides us by not only what is going on but also what needs to be done about them.</a:t>
            </a:r>
          </a:p>
          <a:p>
            <a:pPr marL="0" indent="0">
              <a:buNone/>
            </a:pPr>
            <a:r>
              <a:rPr lang="en-US" dirty="0">
                <a:solidFill>
                  <a:schemeClr val="tx1"/>
                </a:solidFill>
              </a:rPr>
              <a:t>All four needs to work together in continuum to reap the greatest business benefits.</a:t>
            </a:r>
          </a:p>
        </p:txBody>
      </p:sp>
    </p:spTree>
    <p:extLst>
      <p:ext uri="{BB962C8B-B14F-4D97-AF65-F5344CB8AC3E}">
        <p14:creationId xmlns:p14="http://schemas.microsoft.com/office/powerpoint/2010/main" val="1568982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pic>
        <p:nvPicPr>
          <p:cNvPr id="7" name="Content Placeholder 3">
            <a:extLst>
              <a:ext uri="{FF2B5EF4-FFF2-40B4-BE49-F238E27FC236}">
                <a16:creationId xmlns:a16="http://schemas.microsoft.com/office/drawing/2014/main" id="{4FCFB03F-3F11-4EFF-B415-21DE6438B218}"/>
              </a:ext>
            </a:extLst>
          </p:cNvPr>
          <p:cNvPicPr>
            <a:picLocks noChangeAspect="1"/>
          </p:cNvPicPr>
          <p:nvPr/>
        </p:nvPicPr>
        <p:blipFill>
          <a:blip r:embed="rId2"/>
          <a:stretch>
            <a:fillRect/>
          </a:stretch>
        </p:blipFill>
        <p:spPr>
          <a:xfrm>
            <a:off x="791239" y="1109197"/>
            <a:ext cx="5304759" cy="2824783"/>
          </a:xfrm>
          <a:prstGeom prst="rect">
            <a:avLst/>
          </a:prstGeom>
          <a:effectLst>
            <a:innerShdw blurRad="57150" dist="38100" dir="14460000">
              <a:prstClr val="black">
                <a:alpha val="70000"/>
              </a:prstClr>
            </a:innerShdw>
          </a:effectLst>
        </p:spPr>
      </p:pic>
      <p:sp>
        <p:nvSpPr>
          <p:cNvPr id="2" name="Title 1">
            <a:extLst>
              <a:ext uri="{FF2B5EF4-FFF2-40B4-BE49-F238E27FC236}">
                <a16:creationId xmlns:a16="http://schemas.microsoft.com/office/drawing/2014/main" id="{BB44F8B8-E8CD-4CCF-8A5C-45859B3B59F9}"/>
              </a:ext>
            </a:extLst>
          </p:cNvPr>
          <p:cNvSpPr>
            <a:spLocks noGrp="1"/>
          </p:cNvSpPr>
          <p:nvPr>
            <p:ph type="title"/>
          </p:nvPr>
        </p:nvSpPr>
        <p:spPr>
          <a:xfrm>
            <a:off x="684212" y="4487332"/>
            <a:ext cx="8534400" cy="1507067"/>
          </a:xfrm>
        </p:spPr>
        <p:txBody>
          <a:bodyPr>
            <a:normAutofit/>
          </a:bodyPr>
          <a:lstStyle/>
          <a:p>
            <a:r>
              <a:rPr lang="en-US"/>
              <a:t>Prescriptive analytics : building blocks</a:t>
            </a:r>
            <a:endParaRPr lang="en-US" dirty="0"/>
          </a:p>
        </p:txBody>
      </p:sp>
      <p:sp>
        <p:nvSpPr>
          <p:cNvPr id="9" name="Content Placeholder 8"/>
          <p:cNvSpPr>
            <a:spLocks noGrp="1"/>
          </p:cNvSpPr>
          <p:nvPr>
            <p:ph idx="1"/>
          </p:nvPr>
        </p:nvSpPr>
        <p:spPr>
          <a:xfrm>
            <a:off x="6499654" y="733647"/>
            <a:ext cx="4419171" cy="3575884"/>
          </a:xfrm>
        </p:spPr>
        <p:txBody>
          <a:bodyPr>
            <a:normAutofit fontScale="85000" lnSpcReduction="20000"/>
          </a:bodyPr>
          <a:lstStyle/>
          <a:p>
            <a:pPr marL="0" indent="0">
              <a:buNone/>
            </a:pPr>
            <a:r>
              <a:rPr lang="en-US" dirty="0">
                <a:solidFill>
                  <a:schemeClr val="tx1"/>
                </a:solidFill>
              </a:rPr>
              <a:t>Workflow begins by detection of events. Events are categorized, processed and data is derived from them to be used for analytical models. Result of these hypothetical model would lead to formulation of hypothesis As we form hypotheses, it's very important that nothing falls through the cracks and we will have a list of initial actions we'll take along every one of our prescriptive analytics workflows that are appropriate for that particular scenario. Finally, the prescriptive analytics stands through the fact that once the hypothesis are proven or disproven, the actions are taken. </a:t>
            </a:r>
          </a:p>
        </p:txBody>
      </p:sp>
    </p:spTree>
    <p:extLst>
      <p:ext uri="{BB962C8B-B14F-4D97-AF65-F5344CB8AC3E}">
        <p14:creationId xmlns:p14="http://schemas.microsoft.com/office/powerpoint/2010/main" val="2695487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59021-686B-46B9-8F64-38FDC9DF5FF8}"/>
              </a:ext>
            </a:extLst>
          </p:cNvPr>
          <p:cNvSpPr>
            <a:spLocks noGrp="1"/>
          </p:cNvSpPr>
          <p:nvPr>
            <p:ph type="title"/>
          </p:nvPr>
        </p:nvSpPr>
        <p:spPr/>
        <p:txBody>
          <a:bodyPr/>
          <a:lstStyle/>
          <a:p>
            <a:r>
              <a:rPr lang="en-US" dirty="0"/>
              <a:t>Identifying events</a:t>
            </a:r>
          </a:p>
        </p:txBody>
      </p:sp>
      <p:sp>
        <p:nvSpPr>
          <p:cNvPr id="3" name="Content Placeholder 2">
            <a:extLst>
              <a:ext uri="{FF2B5EF4-FFF2-40B4-BE49-F238E27FC236}">
                <a16:creationId xmlns:a16="http://schemas.microsoft.com/office/drawing/2014/main" id="{06F0916C-38A9-4E19-BA16-863AA1D675B8}"/>
              </a:ext>
            </a:extLst>
          </p:cNvPr>
          <p:cNvSpPr>
            <a:spLocks noGrp="1"/>
          </p:cNvSpPr>
          <p:nvPr>
            <p:ph idx="1"/>
          </p:nvPr>
        </p:nvSpPr>
        <p:spPr/>
        <p:txBody>
          <a:bodyPr>
            <a:normAutofit fontScale="92500"/>
          </a:bodyPr>
          <a:lstStyle/>
          <a:p>
            <a:pPr marL="0" indent="0">
              <a:buNone/>
            </a:pPr>
            <a:r>
              <a:rPr lang="en-US" dirty="0">
                <a:solidFill>
                  <a:schemeClr val="tx1"/>
                </a:solidFill>
              </a:rPr>
              <a:t>The events could be triggered by the possible triggers like a new chunk of data, signal or a business event. Complicated business events could be a raising prices of raw materials, new regulations for procurement of raw materials, ore let say the competitors launching a new product line. </a:t>
            </a:r>
          </a:p>
          <a:p>
            <a:pPr marL="0" indent="0">
              <a:buNone/>
            </a:pPr>
            <a:r>
              <a:rPr lang="en-US" dirty="0">
                <a:solidFill>
                  <a:schemeClr val="tx1"/>
                </a:solidFill>
              </a:rPr>
              <a:t>Events could also be discrete or synthesized. Synthesized events could be looking at pressure readings from sensors deep down in natural gas exploration wells and if the pressure readings are above a certain point that could indicate a potential problem that we need to explore.</a:t>
            </a:r>
          </a:p>
          <a:p>
            <a:pPr marL="0" indent="0">
              <a:buNone/>
            </a:pPr>
            <a:r>
              <a:rPr lang="en-US" dirty="0">
                <a:solidFill>
                  <a:schemeClr val="tx1"/>
                </a:solidFill>
              </a:rPr>
              <a:t>Data driven events sometimes are Boolean. An output code like true or false could be a possible output.</a:t>
            </a:r>
          </a:p>
        </p:txBody>
      </p:sp>
    </p:spTree>
    <p:extLst>
      <p:ext uri="{BB962C8B-B14F-4D97-AF65-F5344CB8AC3E}">
        <p14:creationId xmlns:p14="http://schemas.microsoft.com/office/powerpoint/2010/main" val="2570940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0CAF1-E484-4C20-8325-E5EC98D8405D}"/>
              </a:ext>
            </a:extLst>
          </p:cNvPr>
          <p:cNvSpPr>
            <a:spLocks noGrp="1"/>
          </p:cNvSpPr>
          <p:nvPr>
            <p:ph type="title"/>
          </p:nvPr>
        </p:nvSpPr>
        <p:spPr/>
        <p:txBody>
          <a:bodyPr/>
          <a:lstStyle/>
          <a:p>
            <a:r>
              <a:rPr lang="en-US" dirty="0"/>
              <a:t>Formulating</a:t>
            </a:r>
          </a:p>
        </p:txBody>
      </p:sp>
      <p:sp>
        <p:nvSpPr>
          <p:cNvPr id="3" name="Content Placeholder 2">
            <a:extLst>
              <a:ext uri="{FF2B5EF4-FFF2-40B4-BE49-F238E27FC236}">
                <a16:creationId xmlns:a16="http://schemas.microsoft.com/office/drawing/2014/main" id="{56CCC7A7-D2FA-4F98-A2EB-3AD3C83F3EC0}"/>
              </a:ext>
            </a:extLst>
          </p:cNvPr>
          <p:cNvSpPr>
            <a:spLocks noGrp="1"/>
          </p:cNvSpPr>
          <p:nvPr>
            <p:ph idx="1"/>
          </p:nvPr>
        </p:nvSpPr>
        <p:spPr/>
        <p:txBody>
          <a:bodyPr>
            <a:normAutofit lnSpcReduction="10000"/>
          </a:bodyPr>
          <a:lstStyle/>
          <a:p>
            <a:r>
              <a:rPr lang="en-US" dirty="0">
                <a:solidFill>
                  <a:schemeClr val="tx1"/>
                </a:solidFill>
              </a:rPr>
              <a:t>Prescriptive analytics = analytics + business workflow</a:t>
            </a:r>
          </a:p>
          <a:p>
            <a:r>
              <a:rPr lang="en-US" dirty="0">
                <a:solidFill>
                  <a:schemeClr val="tx1"/>
                </a:solidFill>
              </a:rPr>
              <a:t>Prescriptive analytics combines the event driven and analytics driven actions.</a:t>
            </a:r>
          </a:p>
          <a:p>
            <a:r>
              <a:rPr lang="en-US" dirty="0">
                <a:solidFill>
                  <a:schemeClr val="tx1"/>
                </a:solidFill>
              </a:rPr>
              <a:t>Event-Driven Actions: the event itself forms the initial hypothesis. </a:t>
            </a:r>
            <a:br>
              <a:rPr lang="en-US" dirty="0">
                <a:solidFill>
                  <a:schemeClr val="tx1"/>
                </a:solidFill>
              </a:rPr>
            </a:br>
            <a:r>
              <a:rPr lang="en-US" dirty="0">
                <a:solidFill>
                  <a:schemeClr val="tx1"/>
                </a:solidFill>
              </a:rPr>
              <a:t>This is the staring point and  then we can finetune the system and workflow. </a:t>
            </a:r>
          </a:p>
          <a:p>
            <a:r>
              <a:rPr lang="en-US" dirty="0">
                <a:solidFill>
                  <a:schemeClr val="tx1"/>
                </a:solidFill>
              </a:rPr>
              <a:t>On detecting the event, first validate the data . Decisions need not be formulated on bad data, Then take the initial prescribed actions, keeping in mind to avoid “point-of-no-return” actions. Ensure then that the analytics are triggered, Finally vigilantly monitor the hypothesis.</a:t>
            </a:r>
          </a:p>
        </p:txBody>
      </p:sp>
    </p:spTree>
    <p:extLst>
      <p:ext uri="{BB962C8B-B14F-4D97-AF65-F5344CB8AC3E}">
        <p14:creationId xmlns:p14="http://schemas.microsoft.com/office/powerpoint/2010/main" val="2054150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9CFFB-4852-4D12-B186-988FA1B4C055}"/>
              </a:ext>
            </a:extLst>
          </p:cNvPr>
          <p:cNvSpPr>
            <a:spLocks noGrp="1"/>
          </p:cNvSpPr>
          <p:nvPr>
            <p:ph type="title"/>
          </p:nvPr>
        </p:nvSpPr>
        <p:spPr/>
        <p:txBody>
          <a:bodyPr/>
          <a:lstStyle/>
          <a:p>
            <a:r>
              <a:rPr lang="en-US" dirty="0"/>
              <a:t>Analytics and data</a:t>
            </a:r>
          </a:p>
        </p:txBody>
      </p:sp>
      <p:sp>
        <p:nvSpPr>
          <p:cNvPr id="3" name="Content Placeholder 2">
            <a:extLst>
              <a:ext uri="{FF2B5EF4-FFF2-40B4-BE49-F238E27FC236}">
                <a16:creationId xmlns:a16="http://schemas.microsoft.com/office/drawing/2014/main" id="{9D1E96E8-E5E1-4E61-84A5-1A8A8180D7D1}"/>
              </a:ext>
            </a:extLst>
          </p:cNvPr>
          <p:cNvSpPr>
            <a:spLocks noGrp="1"/>
          </p:cNvSpPr>
          <p:nvPr>
            <p:ph idx="1"/>
          </p:nvPr>
        </p:nvSpPr>
        <p:spPr/>
        <p:txBody>
          <a:bodyPr>
            <a:normAutofit fontScale="85000" lnSpcReduction="10000"/>
          </a:bodyPr>
          <a:lstStyle/>
          <a:p>
            <a:r>
              <a:rPr lang="en-US" dirty="0">
                <a:solidFill>
                  <a:schemeClr val="tx1"/>
                </a:solidFill>
              </a:rPr>
              <a:t>We might have all the data necessary for the analytics </a:t>
            </a:r>
            <a:r>
              <a:rPr lang="en-US" dirty="0" err="1">
                <a:solidFill>
                  <a:schemeClr val="tx1"/>
                </a:solidFill>
              </a:rPr>
              <a:t>ir</a:t>
            </a:r>
            <a:r>
              <a:rPr lang="en-US" dirty="0">
                <a:solidFill>
                  <a:schemeClr val="tx1"/>
                </a:solidFill>
              </a:rPr>
              <a:t> we might need some additional data subjects and attributes needed to prove or disprove hypothesis. Then we need to identify the correlation, is there a pre determined correlation which  is narrowly defined by the business questions, or a dynamic correlation which is tracking unplanned findings. </a:t>
            </a:r>
          </a:p>
          <a:p>
            <a:r>
              <a:rPr lang="en-US" dirty="0">
                <a:solidFill>
                  <a:schemeClr val="tx1"/>
                </a:solidFill>
              </a:rPr>
              <a:t>Managing high velocity hypothesis: Even analytics that aren't high-velocity in nature, still need to be handled proactively and as rapidly as possible to be effective, but in general they do tend to have less complex workflows, typically a single pass from the point at which we capture data all the way through to when we take their prescribed actions. In these cases, fast may be a matter of hours or days or even longer for many strategic type of analytics. High velocity analytics, though, often involve multiple passes through our workflow with processes looping back to some previous point as new data is acquired and processed.</a:t>
            </a:r>
          </a:p>
        </p:txBody>
      </p:sp>
    </p:spTree>
    <p:extLst>
      <p:ext uri="{BB962C8B-B14F-4D97-AF65-F5344CB8AC3E}">
        <p14:creationId xmlns:p14="http://schemas.microsoft.com/office/powerpoint/2010/main" val="2461307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EEA-330F-49C8-A89C-9CDFC33A6FC6}"/>
              </a:ext>
            </a:extLst>
          </p:cNvPr>
          <p:cNvSpPr>
            <a:spLocks noGrp="1"/>
          </p:cNvSpPr>
          <p:nvPr>
            <p:ph type="title"/>
          </p:nvPr>
        </p:nvSpPr>
        <p:spPr/>
        <p:txBody>
          <a:bodyPr/>
          <a:lstStyle/>
          <a:p>
            <a:r>
              <a:rPr lang="en-US" dirty="0"/>
              <a:t>Definitive conclusion</a:t>
            </a:r>
          </a:p>
        </p:txBody>
      </p:sp>
      <p:sp>
        <p:nvSpPr>
          <p:cNvPr id="3" name="Content Placeholder 2">
            <a:extLst>
              <a:ext uri="{FF2B5EF4-FFF2-40B4-BE49-F238E27FC236}">
                <a16:creationId xmlns:a16="http://schemas.microsoft.com/office/drawing/2014/main" id="{1A2708BC-7B51-4CF7-A37D-5E6BD7F9DB0A}"/>
              </a:ext>
            </a:extLst>
          </p:cNvPr>
          <p:cNvSpPr>
            <a:spLocks noGrp="1"/>
          </p:cNvSpPr>
          <p:nvPr>
            <p:ph idx="1"/>
          </p:nvPr>
        </p:nvSpPr>
        <p:spPr/>
        <p:txBody>
          <a:bodyPr>
            <a:normAutofit fontScale="77500" lnSpcReduction="20000"/>
          </a:bodyPr>
          <a:lstStyle/>
          <a:p>
            <a:r>
              <a:rPr lang="en-US" dirty="0">
                <a:solidFill>
                  <a:schemeClr val="tx1"/>
                </a:solidFill>
              </a:rPr>
              <a:t>Business hypotheses are a fundamental concept of prescriptive analytics because they allow us to go beyond our traditional limitations of only acting on a factual basis. Now, we can use the power of our analytics to indicate to us what's likely to happen or some interesting and potentially important pattern for our organization that has been figured </a:t>
            </a:r>
            <a:r>
              <a:rPr lang="en-US" dirty="0" err="1">
                <a:solidFill>
                  <a:schemeClr val="tx1"/>
                </a:solidFill>
              </a:rPr>
              <a:t>outby</a:t>
            </a:r>
            <a:r>
              <a:rPr lang="en-US" dirty="0">
                <a:solidFill>
                  <a:schemeClr val="tx1"/>
                </a:solidFill>
              </a:rPr>
              <a:t> our discovery analytical models. What's particularly important about this workflow is that these hypotheses aren't just wild guesses, but rather, they're the result of a progressively refined and broadened portfolio of analytical models and the portfolio is closely aligned with the most important decisions and actions of your organization.</a:t>
            </a:r>
          </a:p>
          <a:p>
            <a:r>
              <a:rPr lang="en-US" dirty="0">
                <a:solidFill>
                  <a:schemeClr val="tx1"/>
                </a:solidFill>
              </a:rPr>
              <a:t>Sometimes, we'll analyze and evaluate totally different information and the synergistic effect of that information, with the data we already have, helps us either prove or disprove the hypothesis and sometimes, especially in timer-based situations, we never quite get to the </a:t>
            </a:r>
            <a:r>
              <a:rPr lang="en-US" dirty="0" err="1">
                <a:solidFill>
                  <a:schemeClr val="tx1"/>
                </a:solidFill>
              </a:rPr>
              <a:t>pointof</a:t>
            </a:r>
            <a:r>
              <a:rPr lang="en-US" dirty="0">
                <a:solidFill>
                  <a:schemeClr val="tx1"/>
                </a:solidFill>
              </a:rPr>
              <a:t> definitively proving a hypothesis, but we need to make a default decision because the consequences of not acting at all are just too severe. Let's go back to several of the examples we've seen earlier and take each of their hypotheses farther down the prescriptive analytics workflow to the point of which we either prove or disprove each one's hypothesis.</a:t>
            </a:r>
          </a:p>
        </p:txBody>
      </p:sp>
    </p:spTree>
    <p:extLst>
      <p:ext uri="{BB962C8B-B14F-4D97-AF65-F5344CB8AC3E}">
        <p14:creationId xmlns:p14="http://schemas.microsoft.com/office/powerpoint/2010/main" val="2284662453"/>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212</TotalTime>
  <Words>1028</Words>
  <Application>Microsoft Office PowerPoint</Application>
  <PresentationFormat>Widescreen</PresentationFormat>
  <Paragraphs>32</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Century Gothic</vt:lpstr>
      <vt:lpstr>Wingdings 3</vt:lpstr>
      <vt:lpstr>Slice</vt:lpstr>
      <vt:lpstr>Prescriptive analytics</vt:lpstr>
      <vt:lpstr>Prescriptive analytics workflow</vt:lpstr>
      <vt:lpstr>Types of data </vt:lpstr>
      <vt:lpstr>Analytics taxonomy: what types of questions do they answer</vt:lpstr>
      <vt:lpstr>Prescriptive analytics : building blocks</vt:lpstr>
      <vt:lpstr>Identifying events</vt:lpstr>
      <vt:lpstr>Formulating</vt:lpstr>
      <vt:lpstr>Analytics and data</vt:lpstr>
      <vt:lpstr>Definitive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Prescriptive analytics</dc:title>
  <dc:creator>Dell Laptop</dc:creator>
  <cp:lastModifiedBy>Bosubabu Sambana</cp:lastModifiedBy>
  <cp:revision>26</cp:revision>
  <dcterms:created xsi:type="dcterms:W3CDTF">2017-12-22T14:39:16Z</dcterms:created>
  <dcterms:modified xsi:type="dcterms:W3CDTF">2026-07-31T05:08:41Z</dcterms:modified>
</cp:coreProperties>
</file>