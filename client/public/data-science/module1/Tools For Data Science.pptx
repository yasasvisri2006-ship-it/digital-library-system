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E88C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E6E6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E88C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E6E6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E88C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E88C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1667" y="486605"/>
            <a:ext cx="127430" cy="17593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055254" y="486612"/>
            <a:ext cx="425450" cy="176530"/>
          </a:xfrm>
          <a:custGeom>
            <a:avLst/>
            <a:gdLst/>
            <a:ahLst/>
            <a:cxnLst/>
            <a:rect l="l" t="t" r="r" b="b"/>
            <a:pathLst>
              <a:path w="425450" h="176529">
                <a:moveTo>
                  <a:pt x="113868" y="1968"/>
                </a:moveTo>
                <a:lnTo>
                  <a:pt x="0" y="1968"/>
                </a:lnTo>
                <a:lnTo>
                  <a:pt x="0" y="31153"/>
                </a:lnTo>
                <a:lnTo>
                  <a:pt x="0" y="71742"/>
                </a:lnTo>
                <a:lnTo>
                  <a:pt x="0" y="102184"/>
                </a:lnTo>
                <a:lnTo>
                  <a:pt x="0" y="144043"/>
                </a:lnTo>
                <a:lnTo>
                  <a:pt x="0" y="174485"/>
                </a:lnTo>
                <a:lnTo>
                  <a:pt x="113868" y="174485"/>
                </a:lnTo>
                <a:lnTo>
                  <a:pt x="113868" y="144043"/>
                </a:lnTo>
                <a:lnTo>
                  <a:pt x="33439" y="144043"/>
                </a:lnTo>
                <a:lnTo>
                  <a:pt x="33439" y="102184"/>
                </a:lnTo>
                <a:lnTo>
                  <a:pt x="102235" y="102184"/>
                </a:lnTo>
                <a:lnTo>
                  <a:pt x="102235" y="71742"/>
                </a:lnTo>
                <a:lnTo>
                  <a:pt x="33439" y="71742"/>
                </a:lnTo>
                <a:lnTo>
                  <a:pt x="33439" y="31153"/>
                </a:lnTo>
                <a:lnTo>
                  <a:pt x="113868" y="31153"/>
                </a:lnTo>
                <a:lnTo>
                  <a:pt x="113868" y="1968"/>
                </a:lnTo>
                <a:close/>
              </a:path>
              <a:path w="425450" h="176529">
                <a:moveTo>
                  <a:pt x="261645" y="123253"/>
                </a:moveTo>
                <a:lnTo>
                  <a:pt x="248081" y="86512"/>
                </a:lnTo>
                <a:lnTo>
                  <a:pt x="194779" y="70561"/>
                </a:lnTo>
                <a:lnTo>
                  <a:pt x="187515" y="69596"/>
                </a:lnTo>
                <a:lnTo>
                  <a:pt x="182181" y="66700"/>
                </a:lnTo>
                <a:lnTo>
                  <a:pt x="178790" y="63309"/>
                </a:lnTo>
                <a:lnTo>
                  <a:pt x="174917" y="59931"/>
                </a:lnTo>
                <a:lnTo>
                  <a:pt x="173456" y="55587"/>
                </a:lnTo>
                <a:lnTo>
                  <a:pt x="173456" y="51231"/>
                </a:lnTo>
                <a:lnTo>
                  <a:pt x="175107" y="42735"/>
                </a:lnTo>
                <a:lnTo>
                  <a:pt x="180060" y="35826"/>
                </a:lnTo>
                <a:lnTo>
                  <a:pt x="188379" y="31178"/>
                </a:lnTo>
                <a:lnTo>
                  <a:pt x="200113" y="29476"/>
                </a:lnTo>
                <a:lnTo>
                  <a:pt x="209054" y="29870"/>
                </a:lnTo>
                <a:lnTo>
                  <a:pt x="218224" y="31470"/>
                </a:lnTo>
                <a:lnTo>
                  <a:pt x="227291" y="34988"/>
                </a:lnTo>
                <a:lnTo>
                  <a:pt x="235966" y="41084"/>
                </a:lnTo>
                <a:lnTo>
                  <a:pt x="257289" y="19812"/>
                </a:lnTo>
                <a:lnTo>
                  <a:pt x="245567" y="10807"/>
                </a:lnTo>
                <a:lnTo>
                  <a:pt x="232638" y="4648"/>
                </a:lnTo>
                <a:lnTo>
                  <a:pt x="217970" y="1117"/>
                </a:lnTo>
                <a:lnTo>
                  <a:pt x="201079" y="0"/>
                </a:lnTo>
                <a:lnTo>
                  <a:pt x="175958" y="3810"/>
                </a:lnTo>
                <a:lnTo>
                  <a:pt x="157048" y="14503"/>
                </a:lnTo>
                <a:lnTo>
                  <a:pt x="145135" y="30988"/>
                </a:lnTo>
                <a:lnTo>
                  <a:pt x="140995" y="52197"/>
                </a:lnTo>
                <a:lnTo>
                  <a:pt x="141732" y="62725"/>
                </a:lnTo>
                <a:lnTo>
                  <a:pt x="167347" y="95516"/>
                </a:lnTo>
                <a:lnTo>
                  <a:pt x="207860" y="103428"/>
                </a:lnTo>
                <a:lnTo>
                  <a:pt x="215620" y="104876"/>
                </a:lnTo>
                <a:lnTo>
                  <a:pt x="219494" y="106819"/>
                </a:lnTo>
                <a:lnTo>
                  <a:pt x="223367" y="109715"/>
                </a:lnTo>
                <a:lnTo>
                  <a:pt x="226758" y="113093"/>
                </a:lnTo>
                <a:lnTo>
                  <a:pt x="228701" y="118414"/>
                </a:lnTo>
                <a:lnTo>
                  <a:pt x="228701" y="124218"/>
                </a:lnTo>
                <a:lnTo>
                  <a:pt x="226644" y="133527"/>
                </a:lnTo>
                <a:lnTo>
                  <a:pt x="220637" y="140347"/>
                </a:lnTo>
                <a:lnTo>
                  <a:pt x="210908" y="144538"/>
                </a:lnTo>
                <a:lnTo>
                  <a:pt x="197688" y="145961"/>
                </a:lnTo>
                <a:lnTo>
                  <a:pt x="185928" y="145186"/>
                </a:lnTo>
                <a:lnTo>
                  <a:pt x="174853" y="142646"/>
                </a:lnTo>
                <a:lnTo>
                  <a:pt x="164782" y="138010"/>
                </a:lnTo>
                <a:lnTo>
                  <a:pt x="156019" y="130987"/>
                </a:lnTo>
                <a:lnTo>
                  <a:pt x="133731" y="153212"/>
                </a:lnTo>
                <a:lnTo>
                  <a:pt x="147332" y="163906"/>
                </a:lnTo>
                <a:lnTo>
                  <a:pt x="162191" y="170916"/>
                </a:lnTo>
                <a:lnTo>
                  <a:pt x="178701" y="174764"/>
                </a:lnTo>
                <a:lnTo>
                  <a:pt x="197205" y="175933"/>
                </a:lnTo>
                <a:lnTo>
                  <a:pt x="222605" y="172453"/>
                </a:lnTo>
                <a:lnTo>
                  <a:pt x="243052" y="162280"/>
                </a:lnTo>
                <a:lnTo>
                  <a:pt x="256692" y="145757"/>
                </a:lnTo>
                <a:lnTo>
                  <a:pt x="261645" y="123253"/>
                </a:lnTo>
                <a:close/>
              </a:path>
              <a:path w="425450" h="176529">
                <a:moveTo>
                  <a:pt x="424929" y="174485"/>
                </a:moveTo>
                <a:lnTo>
                  <a:pt x="413588" y="143548"/>
                </a:lnTo>
                <a:lnTo>
                  <a:pt x="403301" y="115519"/>
                </a:lnTo>
                <a:lnTo>
                  <a:pt x="380072" y="52197"/>
                </a:lnTo>
                <a:lnTo>
                  <a:pt x="370179" y="25234"/>
                </a:lnTo>
                <a:lnTo>
                  <a:pt x="370179" y="115519"/>
                </a:lnTo>
                <a:lnTo>
                  <a:pt x="327063" y="115519"/>
                </a:lnTo>
                <a:lnTo>
                  <a:pt x="349338" y="52197"/>
                </a:lnTo>
                <a:lnTo>
                  <a:pt x="370179" y="115519"/>
                </a:lnTo>
                <a:lnTo>
                  <a:pt x="370179" y="25234"/>
                </a:lnTo>
                <a:lnTo>
                  <a:pt x="361454" y="1447"/>
                </a:lnTo>
                <a:lnTo>
                  <a:pt x="334810" y="1447"/>
                </a:lnTo>
                <a:lnTo>
                  <a:pt x="271818" y="174485"/>
                </a:lnTo>
                <a:lnTo>
                  <a:pt x="307187" y="174485"/>
                </a:lnTo>
                <a:lnTo>
                  <a:pt x="317855" y="143548"/>
                </a:lnTo>
                <a:lnTo>
                  <a:pt x="379387" y="143548"/>
                </a:lnTo>
                <a:lnTo>
                  <a:pt x="389559" y="174485"/>
                </a:lnTo>
                <a:lnTo>
                  <a:pt x="424929" y="174485"/>
                </a:lnTo>
                <a:close/>
              </a:path>
            </a:pathLst>
          </a:custGeom>
          <a:solidFill>
            <a:srgbClr val="2A4C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01026" y="488055"/>
            <a:ext cx="131306" cy="17303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832442" y="298588"/>
            <a:ext cx="219075" cy="225425"/>
          </a:xfrm>
          <a:custGeom>
            <a:avLst/>
            <a:gdLst/>
            <a:ahLst/>
            <a:cxnLst/>
            <a:rect l="l" t="t" r="r" b="b"/>
            <a:pathLst>
              <a:path w="219075" h="225425">
                <a:moveTo>
                  <a:pt x="147296" y="135816"/>
                </a:moveTo>
                <a:lnTo>
                  <a:pt x="149718" y="89900"/>
                </a:lnTo>
                <a:lnTo>
                  <a:pt x="219006" y="116483"/>
                </a:lnTo>
                <a:lnTo>
                  <a:pt x="147296" y="135816"/>
                </a:lnTo>
                <a:close/>
              </a:path>
              <a:path w="219075" h="225425">
                <a:moveTo>
                  <a:pt x="0" y="175933"/>
                </a:moveTo>
                <a:lnTo>
                  <a:pt x="93513" y="59933"/>
                </a:lnTo>
                <a:lnTo>
                  <a:pt x="142450" y="0"/>
                </a:lnTo>
                <a:lnTo>
                  <a:pt x="134640" y="153216"/>
                </a:lnTo>
                <a:lnTo>
                  <a:pt x="83823" y="153216"/>
                </a:lnTo>
                <a:lnTo>
                  <a:pt x="0" y="175933"/>
                </a:lnTo>
                <a:close/>
              </a:path>
              <a:path w="219075" h="225425">
                <a:moveTo>
                  <a:pt x="47483" y="98116"/>
                </a:moveTo>
                <a:lnTo>
                  <a:pt x="6783" y="35766"/>
                </a:lnTo>
                <a:lnTo>
                  <a:pt x="76070" y="62350"/>
                </a:lnTo>
                <a:lnTo>
                  <a:pt x="47483" y="98116"/>
                </a:lnTo>
                <a:close/>
              </a:path>
              <a:path w="219075" h="225425">
                <a:moveTo>
                  <a:pt x="131306" y="225233"/>
                </a:moveTo>
                <a:lnTo>
                  <a:pt x="83823" y="153216"/>
                </a:lnTo>
                <a:lnTo>
                  <a:pt x="134640" y="153216"/>
                </a:lnTo>
                <a:lnTo>
                  <a:pt x="133729" y="171100"/>
                </a:lnTo>
                <a:lnTo>
                  <a:pt x="131306" y="225233"/>
                </a:lnTo>
                <a:close/>
              </a:path>
            </a:pathLst>
          </a:custGeom>
          <a:solidFill>
            <a:srgbClr val="67C5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53839" y="689605"/>
            <a:ext cx="135255" cy="139065"/>
          </a:xfrm>
          <a:custGeom>
            <a:avLst/>
            <a:gdLst/>
            <a:ahLst/>
            <a:cxnLst/>
            <a:rect l="l" t="t" r="r" b="b"/>
            <a:pathLst>
              <a:path w="135254" h="139065">
                <a:moveTo>
                  <a:pt x="54751" y="138716"/>
                </a:moveTo>
                <a:lnTo>
                  <a:pt x="51359" y="86033"/>
                </a:lnTo>
                <a:lnTo>
                  <a:pt x="0" y="72500"/>
                </a:lnTo>
                <a:lnTo>
                  <a:pt x="49906" y="53166"/>
                </a:lnTo>
                <a:lnTo>
                  <a:pt x="46514" y="0"/>
                </a:lnTo>
                <a:lnTo>
                  <a:pt x="80431" y="41083"/>
                </a:lnTo>
                <a:lnTo>
                  <a:pt x="129853" y="22233"/>
                </a:lnTo>
                <a:lnTo>
                  <a:pt x="101266" y="66700"/>
                </a:lnTo>
                <a:lnTo>
                  <a:pt x="134698" y="107783"/>
                </a:lnTo>
                <a:lnTo>
                  <a:pt x="83338" y="94250"/>
                </a:lnTo>
                <a:lnTo>
                  <a:pt x="54751" y="138716"/>
                </a:lnTo>
                <a:close/>
              </a:path>
            </a:pathLst>
          </a:custGeom>
          <a:solidFill>
            <a:srgbClr val="F6DB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707919" y="532038"/>
            <a:ext cx="180340" cy="173990"/>
          </a:xfrm>
          <a:custGeom>
            <a:avLst/>
            <a:gdLst/>
            <a:ahLst/>
            <a:cxnLst/>
            <a:rect l="l" t="t" r="r" b="b"/>
            <a:pathLst>
              <a:path w="180340" h="173990">
                <a:moveTo>
                  <a:pt x="87214" y="173516"/>
                </a:moveTo>
                <a:lnTo>
                  <a:pt x="68802" y="107300"/>
                </a:lnTo>
                <a:lnTo>
                  <a:pt x="0" y="103916"/>
                </a:lnTo>
                <a:lnTo>
                  <a:pt x="57658" y="66216"/>
                </a:lnTo>
                <a:lnTo>
                  <a:pt x="39246" y="0"/>
                </a:lnTo>
                <a:lnTo>
                  <a:pt x="93029" y="42533"/>
                </a:lnTo>
                <a:lnTo>
                  <a:pt x="150203" y="4833"/>
                </a:lnTo>
                <a:lnTo>
                  <a:pt x="126461" y="69116"/>
                </a:lnTo>
                <a:lnTo>
                  <a:pt x="180243" y="111650"/>
                </a:lnTo>
                <a:lnTo>
                  <a:pt x="111441" y="108750"/>
                </a:lnTo>
                <a:lnTo>
                  <a:pt x="87214" y="173516"/>
                </a:lnTo>
                <a:close/>
              </a:path>
            </a:pathLst>
          </a:custGeom>
          <a:solidFill>
            <a:srgbClr val="9CD5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05090" y="787722"/>
            <a:ext cx="96905" cy="9328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5237" y="826872"/>
            <a:ext cx="81400" cy="8071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60404" y="793522"/>
            <a:ext cx="63957" cy="64283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8321256" y="367232"/>
            <a:ext cx="163830" cy="113664"/>
          </a:xfrm>
          <a:custGeom>
            <a:avLst/>
            <a:gdLst/>
            <a:ahLst/>
            <a:cxnLst/>
            <a:rect l="l" t="t" r="r" b="b"/>
            <a:pathLst>
              <a:path w="163829" h="113665">
                <a:moveTo>
                  <a:pt x="53301" y="81191"/>
                </a:moveTo>
                <a:lnTo>
                  <a:pt x="32956" y="81673"/>
                </a:lnTo>
                <a:lnTo>
                  <a:pt x="26174" y="62344"/>
                </a:lnTo>
                <a:lnTo>
                  <a:pt x="20358" y="81673"/>
                </a:lnTo>
                <a:lnTo>
                  <a:pt x="0" y="82156"/>
                </a:lnTo>
                <a:lnTo>
                  <a:pt x="16484" y="93764"/>
                </a:lnTo>
                <a:lnTo>
                  <a:pt x="10668" y="113576"/>
                </a:lnTo>
                <a:lnTo>
                  <a:pt x="27139" y="101015"/>
                </a:lnTo>
                <a:lnTo>
                  <a:pt x="43611" y="112610"/>
                </a:lnTo>
                <a:lnTo>
                  <a:pt x="36830" y="93281"/>
                </a:lnTo>
                <a:lnTo>
                  <a:pt x="53301" y="81191"/>
                </a:lnTo>
                <a:close/>
              </a:path>
              <a:path w="163829" h="113665">
                <a:moveTo>
                  <a:pt x="109994" y="43014"/>
                </a:moveTo>
                <a:lnTo>
                  <a:pt x="95453" y="41084"/>
                </a:lnTo>
                <a:lnTo>
                  <a:pt x="93040" y="26581"/>
                </a:lnTo>
                <a:lnTo>
                  <a:pt x="86741" y="39624"/>
                </a:lnTo>
                <a:lnTo>
                  <a:pt x="72199" y="37693"/>
                </a:lnTo>
                <a:lnTo>
                  <a:pt x="82854" y="47840"/>
                </a:lnTo>
                <a:lnTo>
                  <a:pt x="76555" y="60896"/>
                </a:lnTo>
                <a:lnTo>
                  <a:pt x="89154" y="54127"/>
                </a:lnTo>
                <a:lnTo>
                  <a:pt x="99822" y="64274"/>
                </a:lnTo>
                <a:lnTo>
                  <a:pt x="97396" y="49784"/>
                </a:lnTo>
                <a:lnTo>
                  <a:pt x="109994" y="43014"/>
                </a:lnTo>
                <a:close/>
              </a:path>
              <a:path w="163829" h="113665">
                <a:moveTo>
                  <a:pt x="163779" y="14008"/>
                </a:moveTo>
                <a:lnTo>
                  <a:pt x="153111" y="11112"/>
                </a:lnTo>
                <a:lnTo>
                  <a:pt x="152628" y="0"/>
                </a:lnTo>
                <a:lnTo>
                  <a:pt x="146329" y="9182"/>
                </a:lnTo>
                <a:lnTo>
                  <a:pt x="135674" y="5791"/>
                </a:lnTo>
                <a:lnTo>
                  <a:pt x="142455" y="14490"/>
                </a:lnTo>
                <a:lnTo>
                  <a:pt x="136156" y="23672"/>
                </a:lnTo>
                <a:lnTo>
                  <a:pt x="146329" y="20294"/>
                </a:lnTo>
                <a:lnTo>
                  <a:pt x="153111" y="28994"/>
                </a:lnTo>
                <a:lnTo>
                  <a:pt x="153111" y="17881"/>
                </a:lnTo>
                <a:lnTo>
                  <a:pt x="163779" y="14008"/>
                </a:lnTo>
                <a:close/>
              </a:path>
            </a:pathLst>
          </a:custGeom>
          <a:solidFill>
            <a:srgbClr val="F6DB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902143" y="697344"/>
            <a:ext cx="633730" cy="46355"/>
          </a:xfrm>
          <a:custGeom>
            <a:avLst/>
            <a:gdLst/>
            <a:ahLst/>
            <a:cxnLst/>
            <a:rect l="l" t="t" r="r" b="b"/>
            <a:pathLst>
              <a:path w="633729" h="46354">
                <a:moveTo>
                  <a:pt x="28105" y="482"/>
                </a:moveTo>
                <a:lnTo>
                  <a:pt x="18897" y="482"/>
                </a:lnTo>
                <a:lnTo>
                  <a:pt x="18897" y="35763"/>
                </a:lnTo>
                <a:lnTo>
                  <a:pt x="16471" y="38188"/>
                </a:lnTo>
                <a:lnTo>
                  <a:pt x="9207" y="38188"/>
                </a:lnTo>
                <a:lnTo>
                  <a:pt x="7759" y="37223"/>
                </a:lnTo>
                <a:lnTo>
                  <a:pt x="6299" y="35763"/>
                </a:lnTo>
                <a:lnTo>
                  <a:pt x="0" y="41084"/>
                </a:lnTo>
                <a:lnTo>
                  <a:pt x="3390" y="44462"/>
                </a:lnTo>
                <a:lnTo>
                  <a:pt x="6781" y="45923"/>
                </a:lnTo>
                <a:lnTo>
                  <a:pt x="12115" y="45923"/>
                </a:lnTo>
                <a:lnTo>
                  <a:pt x="20358" y="45923"/>
                </a:lnTo>
                <a:lnTo>
                  <a:pt x="28105" y="40601"/>
                </a:lnTo>
                <a:lnTo>
                  <a:pt x="28105" y="482"/>
                </a:lnTo>
                <a:close/>
              </a:path>
              <a:path w="633729" h="46354">
                <a:moveTo>
                  <a:pt x="70739" y="9664"/>
                </a:moveTo>
                <a:lnTo>
                  <a:pt x="68999" y="7734"/>
                </a:lnTo>
                <a:lnTo>
                  <a:pt x="66382" y="4838"/>
                </a:lnTo>
                <a:lnTo>
                  <a:pt x="62992" y="1930"/>
                </a:lnTo>
                <a:lnTo>
                  <a:pt x="62026" y="1460"/>
                </a:lnTo>
                <a:lnTo>
                  <a:pt x="62026" y="14020"/>
                </a:lnTo>
                <a:lnTo>
                  <a:pt x="62026" y="31419"/>
                </a:lnTo>
                <a:lnTo>
                  <a:pt x="61531" y="33832"/>
                </a:lnTo>
                <a:lnTo>
                  <a:pt x="59601" y="35763"/>
                </a:lnTo>
                <a:lnTo>
                  <a:pt x="58635" y="37223"/>
                </a:lnTo>
                <a:lnTo>
                  <a:pt x="56692" y="38188"/>
                </a:lnTo>
                <a:lnTo>
                  <a:pt x="51841" y="38188"/>
                </a:lnTo>
                <a:lnTo>
                  <a:pt x="49428" y="37223"/>
                </a:lnTo>
                <a:lnTo>
                  <a:pt x="48450" y="35763"/>
                </a:lnTo>
                <a:lnTo>
                  <a:pt x="46520" y="33832"/>
                </a:lnTo>
                <a:lnTo>
                  <a:pt x="46037" y="31419"/>
                </a:lnTo>
                <a:lnTo>
                  <a:pt x="46037" y="14020"/>
                </a:lnTo>
                <a:lnTo>
                  <a:pt x="46520" y="12090"/>
                </a:lnTo>
                <a:lnTo>
                  <a:pt x="48450" y="10147"/>
                </a:lnTo>
                <a:lnTo>
                  <a:pt x="49428" y="8699"/>
                </a:lnTo>
                <a:lnTo>
                  <a:pt x="51841" y="7734"/>
                </a:lnTo>
                <a:lnTo>
                  <a:pt x="56692" y="7734"/>
                </a:lnTo>
                <a:lnTo>
                  <a:pt x="58635" y="8699"/>
                </a:lnTo>
                <a:lnTo>
                  <a:pt x="59601" y="10147"/>
                </a:lnTo>
                <a:lnTo>
                  <a:pt x="61531" y="12090"/>
                </a:lnTo>
                <a:lnTo>
                  <a:pt x="62026" y="14020"/>
                </a:lnTo>
                <a:lnTo>
                  <a:pt x="62026" y="1460"/>
                </a:lnTo>
                <a:lnTo>
                  <a:pt x="59118" y="0"/>
                </a:lnTo>
                <a:lnTo>
                  <a:pt x="48945" y="0"/>
                </a:lnTo>
                <a:lnTo>
                  <a:pt x="45059" y="1930"/>
                </a:lnTo>
                <a:lnTo>
                  <a:pt x="41668" y="4838"/>
                </a:lnTo>
                <a:lnTo>
                  <a:pt x="37312" y="9664"/>
                </a:lnTo>
                <a:lnTo>
                  <a:pt x="37312" y="36245"/>
                </a:lnTo>
                <a:lnTo>
                  <a:pt x="41668" y="41084"/>
                </a:lnTo>
                <a:lnTo>
                  <a:pt x="45059" y="43980"/>
                </a:lnTo>
                <a:lnTo>
                  <a:pt x="48945" y="45923"/>
                </a:lnTo>
                <a:lnTo>
                  <a:pt x="59118" y="45923"/>
                </a:lnTo>
                <a:lnTo>
                  <a:pt x="62992" y="43980"/>
                </a:lnTo>
                <a:lnTo>
                  <a:pt x="66382" y="41084"/>
                </a:lnTo>
                <a:lnTo>
                  <a:pt x="68999" y="38188"/>
                </a:lnTo>
                <a:lnTo>
                  <a:pt x="70739" y="36245"/>
                </a:lnTo>
                <a:lnTo>
                  <a:pt x="70739" y="9664"/>
                </a:lnTo>
                <a:close/>
              </a:path>
              <a:path w="633729" h="46354">
                <a:moveTo>
                  <a:pt x="89636" y="482"/>
                </a:moveTo>
                <a:lnTo>
                  <a:pt x="80924" y="482"/>
                </a:lnTo>
                <a:lnTo>
                  <a:pt x="80924" y="45440"/>
                </a:lnTo>
                <a:lnTo>
                  <a:pt x="89636" y="45440"/>
                </a:lnTo>
                <a:lnTo>
                  <a:pt x="89636" y="482"/>
                </a:lnTo>
                <a:close/>
              </a:path>
              <a:path w="633729" h="46354">
                <a:moveTo>
                  <a:pt x="136156" y="482"/>
                </a:moveTo>
                <a:lnTo>
                  <a:pt x="126949" y="482"/>
                </a:lnTo>
                <a:lnTo>
                  <a:pt x="126949" y="28028"/>
                </a:lnTo>
                <a:lnTo>
                  <a:pt x="109016" y="482"/>
                </a:lnTo>
                <a:lnTo>
                  <a:pt x="101269" y="482"/>
                </a:lnTo>
                <a:lnTo>
                  <a:pt x="101269" y="45440"/>
                </a:lnTo>
                <a:lnTo>
                  <a:pt x="109994" y="45440"/>
                </a:lnTo>
                <a:lnTo>
                  <a:pt x="109994" y="17881"/>
                </a:lnTo>
                <a:lnTo>
                  <a:pt x="127914" y="45440"/>
                </a:lnTo>
                <a:lnTo>
                  <a:pt x="136156" y="45440"/>
                </a:lnTo>
                <a:lnTo>
                  <a:pt x="136156" y="482"/>
                </a:lnTo>
                <a:close/>
              </a:path>
              <a:path w="633729" h="46354">
                <a:moveTo>
                  <a:pt x="176860" y="482"/>
                </a:moveTo>
                <a:lnTo>
                  <a:pt x="144386" y="482"/>
                </a:lnTo>
                <a:lnTo>
                  <a:pt x="144386" y="8216"/>
                </a:lnTo>
                <a:lnTo>
                  <a:pt x="156019" y="8216"/>
                </a:lnTo>
                <a:lnTo>
                  <a:pt x="156019" y="45440"/>
                </a:lnTo>
                <a:lnTo>
                  <a:pt x="164744" y="45440"/>
                </a:lnTo>
                <a:lnTo>
                  <a:pt x="164744" y="8216"/>
                </a:lnTo>
                <a:lnTo>
                  <a:pt x="176860" y="8216"/>
                </a:lnTo>
                <a:lnTo>
                  <a:pt x="176860" y="482"/>
                </a:lnTo>
                <a:close/>
              </a:path>
              <a:path w="633729" h="46354">
                <a:moveTo>
                  <a:pt x="233540" y="482"/>
                </a:moveTo>
                <a:lnTo>
                  <a:pt x="224828" y="482"/>
                </a:lnTo>
                <a:lnTo>
                  <a:pt x="224828" y="34798"/>
                </a:lnTo>
                <a:lnTo>
                  <a:pt x="221437" y="38188"/>
                </a:lnTo>
                <a:lnTo>
                  <a:pt x="211734" y="38188"/>
                </a:lnTo>
                <a:lnTo>
                  <a:pt x="208838" y="34798"/>
                </a:lnTo>
                <a:lnTo>
                  <a:pt x="208838" y="482"/>
                </a:lnTo>
                <a:lnTo>
                  <a:pt x="200113" y="482"/>
                </a:lnTo>
                <a:lnTo>
                  <a:pt x="200113" y="39636"/>
                </a:lnTo>
                <a:lnTo>
                  <a:pt x="207378" y="45923"/>
                </a:lnTo>
                <a:lnTo>
                  <a:pt x="216585" y="45923"/>
                </a:lnTo>
                <a:lnTo>
                  <a:pt x="225793" y="45923"/>
                </a:lnTo>
                <a:lnTo>
                  <a:pt x="233540" y="39636"/>
                </a:lnTo>
                <a:lnTo>
                  <a:pt x="233540" y="482"/>
                </a:lnTo>
                <a:close/>
              </a:path>
              <a:path w="633729" h="46354">
                <a:moveTo>
                  <a:pt x="279095" y="482"/>
                </a:moveTo>
                <a:lnTo>
                  <a:pt x="269887" y="482"/>
                </a:lnTo>
                <a:lnTo>
                  <a:pt x="269887" y="28028"/>
                </a:lnTo>
                <a:lnTo>
                  <a:pt x="251955" y="482"/>
                </a:lnTo>
                <a:lnTo>
                  <a:pt x="244208" y="482"/>
                </a:lnTo>
                <a:lnTo>
                  <a:pt x="244208" y="45440"/>
                </a:lnTo>
                <a:lnTo>
                  <a:pt x="252920" y="45440"/>
                </a:lnTo>
                <a:lnTo>
                  <a:pt x="252920" y="17881"/>
                </a:lnTo>
                <a:lnTo>
                  <a:pt x="270852" y="45440"/>
                </a:lnTo>
                <a:lnTo>
                  <a:pt x="279095" y="45440"/>
                </a:lnTo>
                <a:lnTo>
                  <a:pt x="279095" y="482"/>
                </a:lnTo>
                <a:close/>
              </a:path>
              <a:path w="633729" h="46354">
                <a:moveTo>
                  <a:pt x="324154" y="9664"/>
                </a:moveTo>
                <a:lnTo>
                  <a:pt x="322554" y="8216"/>
                </a:lnTo>
                <a:lnTo>
                  <a:pt x="318820" y="4838"/>
                </a:lnTo>
                <a:lnTo>
                  <a:pt x="315912" y="1447"/>
                </a:lnTo>
                <a:lnTo>
                  <a:pt x="314464" y="1130"/>
                </a:lnTo>
                <a:lnTo>
                  <a:pt x="314464" y="13055"/>
                </a:lnTo>
                <a:lnTo>
                  <a:pt x="314464" y="32867"/>
                </a:lnTo>
                <a:lnTo>
                  <a:pt x="312521" y="34798"/>
                </a:lnTo>
                <a:lnTo>
                  <a:pt x="311073" y="36728"/>
                </a:lnTo>
                <a:lnTo>
                  <a:pt x="309130" y="37706"/>
                </a:lnTo>
                <a:lnTo>
                  <a:pt x="299440" y="37706"/>
                </a:lnTo>
                <a:lnTo>
                  <a:pt x="299440" y="8216"/>
                </a:lnTo>
                <a:lnTo>
                  <a:pt x="309130" y="8216"/>
                </a:lnTo>
                <a:lnTo>
                  <a:pt x="311073" y="9182"/>
                </a:lnTo>
                <a:lnTo>
                  <a:pt x="312521" y="11112"/>
                </a:lnTo>
                <a:lnTo>
                  <a:pt x="314464" y="13055"/>
                </a:lnTo>
                <a:lnTo>
                  <a:pt x="314464" y="1130"/>
                </a:lnTo>
                <a:lnTo>
                  <a:pt x="311556" y="482"/>
                </a:lnTo>
                <a:lnTo>
                  <a:pt x="290715" y="482"/>
                </a:lnTo>
                <a:lnTo>
                  <a:pt x="290715" y="45440"/>
                </a:lnTo>
                <a:lnTo>
                  <a:pt x="311556" y="45440"/>
                </a:lnTo>
                <a:lnTo>
                  <a:pt x="315912" y="44462"/>
                </a:lnTo>
                <a:lnTo>
                  <a:pt x="318820" y="41084"/>
                </a:lnTo>
                <a:lnTo>
                  <a:pt x="322554" y="37706"/>
                </a:lnTo>
                <a:lnTo>
                  <a:pt x="324154" y="36245"/>
                </a:lnTo>
                <a:lnTo>
                  <a:pt x="324040" y="34798"/>
                </a:lnTo>
                <a:lnTo>
                  <a:pt x="323672" y="29489"/>
                </a:lnTo>
                <a:lnTo>
                  <a:pt x="323672" y="15951"/>
                </a:lnTo>
                <a:lnTo>
                  <a:pt x="324154" y="9664"/>
                </a:lnTo>
                <a:close/>
              </a:path>
              <a:path w="633729" h="46354">
                <a:moveTo>
                  <a:pt x="363397" y="482"/>
                </a:moveTo>
                <a:lnTo>
                  <a:pt x="333362" y="482"/>
                </a:lnTo>
                <a:lnTo>
                  <a:pt x="333362" y="45440"/>
                </a:lnTo>
                <a:lnTo>
                  <a:pt x="363397" y="45440"/>
                </a:lnTo>
                <a:lnTo>
                  <a:pt x="363397" y="37706"/>
                </a:lnTo>
                <a:lnTo>
                  <a:pt x="342557" y="37706"/>
                </a:lnTo>
                <a:lnTo>
                  <a:pt x="342557" y="26581"/>
                </a:lnTo>
                <a:lnTo>
                  <a:pt x="360489" y="26581"/>
                </a:lnTo>
                <a:lnTo>
                  <a:pt x="360489" y="18846"/>
                </a:lnTo>
                <a:lnTo>
                  <a:pt x="342557" y="18846"/>
                </a:lnTo>
                <a:lnTo>
                  <a:pt x="342557" y="8216"/>
                </a:lnTo>
                <a:lnTo>
                  <a:pt x="363397" y="8216"/>
                </a:lnTo>
                <a:lnTo>
                  <a:pt x="363397" y="482"/>
                </a:lnTo>
                <a:close/>
              </a:path>
              <a:path w="633729" h="46354">
                <a:moveTo>
                  <a:pt x="407492" y="45440"/>
                </a:moveTo>
                <a:lnTo>
                  <a:pt x="398081" y="27546"/>
                </a:lnTo>
                <a:lnTo>
                  <a:pt x="397319" y="26098"/>
                </a:lnTo>
                <a:lnTo>
                  <a:pt x="401675" y="24650"/>
                </a:lnTo>
                <a:lnTo>
                  <a:pt x="405549" y="20294"/>
                </a:lnTo>
                <a:lnTo>
                  <a:pt x="405549" y="8216"/>
                </a:lnTo>
                <a:lnTo>
                  <a:pt x="405549" y="6769"/>
                </a:lnTo>
                <a:lnTo>
                  <a:pt x="400215" y="482"/>
                </a:lnTo>
                <a:lnTo>
                  <a:pt x="396824" y="482"/>
                </a:lnTo>
                <a:lnTo>
                  <a:pt x="396824" y="10629"/>
                </a:lnTo>
                <a:lnTo>
                  <a:pt x="396824" y="17881"/>
                </a:lnTo>
                <a:lnTo>
                  <a:pt x="393928" y="20294"/>
                </a:lnTo>
                <a:lnTo>
                  <a:pt x="381812" y="20294"/>
                </a:lnTo>
                <a:lnTo>
                  <a:pt x="381812" y="8216"/>
                </a:lnTo>
                <a:lnTo>
                  <a:pt x="393928" y="8216"/>
                </a:lnTo>
                <a:lnTo>
                  <a:pt x="396824" y="10629"/>
                </a:lnTo>
                <a:lnTo>
                  <a:pt x="396824" y="482"/>
                </a:lnTo>
                <a:lnTo>
                  <a:pt x="373087" y="482"/>
                </a:lnTo>
                <a:lnTo>
                  <a:pt x="373087" y="45440"/>
                </a:lnTo>
                <a:lnTo>
                  <a:pt x="381812" y="45440"/>
                </a:lnTo>
                <a:lnTo>
                  <a:pt x="381812" y="27546"/>
                </a:lnTo>
                <a:lnTo>
                  <a:pt x="388112" y="27546"/>
                </a:lnTo>
                <a:lnTo>
                  <a:pt x="397319" y="45440"/>
                </a:lnTo>
                <a:lnTo>
                  <a:pt x="407492" y="45440"/>
                </a:lnTo>
                <a:close/>
              </a:path>
              <a:path w="633729" h="46354">
                <a:moveTo>
                  <a:pt x="444792" y="482"/>
                </a:moveTo>
                <a:lnTo>
                  <a:pt x="412330" y="482"/>
                </a:lnTo>
                <a:lnTo>
                  <a:pt x="412330" y="8216"/>
                </a:lnTo>
                <a:lnTo>
                  <a:pt x="423964" y="8216"/>
                </a:lnTo>
                <a:lnTo>
                  <a:pt x="423964" y="45440"/>
                </a:lnTo>
                <a:lnTo>
                  <a:pt x="433171" y="45440"/>
                </a:lnTo>
                <a:lnTo>
                  <a:pt x="433171" y="8216"/>
                </a:lnTo>
                <a:lnTo>
                  <a:pt x="444792" y="8216"/>
                </a:lnTo>
                <a:lnTo>
                  <a:pt x="444792" y="482"/>
                </a:lnTo>
                <a:close/>
              </a:path>
              <a:path w="633729" h="46354">
                <a:moveTo>
                  <a:pt x="484047" y="45440"/>
                </a:moveTo>
                <a:lnTo>
                  <a:pt x="481215" y="37706"/>
                </a:lnTo>
                <a:lnTo>
                  <a:pt x="478370" y="29972"/>
                </a:lnTo>
                <a:lnTo>
                  <a:pt x="472351" y="13538"/>
                </a:lnTo>
                <a:lnTo>
                  <a:pt x="469988" y="7086"/>
                </a:lnTo>
                <a:lnTo>
                  <a:pt x="469988" y="29972"/>
                </a:lnTo>
                <a:lnTo>
                  <a:pt x="458851" y="29972"/>
                </a:lnTo>
                <a:lnTo>
                  <a:pt x="464667" y="13538"/>
                </a:lnTo>
                <a:lnTo>
                  <a:pt x="469988" y="29972"/>
                </a:lnTo>
                <a:lnTo>
                  <a:pt x="469988" y="7086"/>
                </a:lnTo>
                <a:lnTo>
                  <a:pt x="467575" y="482"/>
                </a:lnTo>
                <a:lnTo>
                  <a:pt x="460781" y="482"/>
                </a:lnTo>
                <a:lnTo>
                  <a:pt x="444309" y="45440"/>
                </a:lnTo>
                <a:lnTo>
                  <a:pt x="453517" y="45440"/>
                </a:lnTo>
                <a:lnTo>
                  <a:pt x="456425" y="37706"/>
                </a:lnTo>
                <a:lnTo>
                  <a:pt x="472414" y="37706"/>
                </a:lnTo>
                <a:lnTo>
                  <a:pt x="474840" y="45440"/>
                </a:lnTo>
                <a:lnTo>
                  <a:pt x="484047" y="45440"/>
                </a:lnTo>
                <a:close/>
              </a:path>
              <a:path w="633729" h="46354">
                <a:moveTo>
                  <a:pt x="527646" y="45440"/>
                </a:moveTo>
                <a:lnTo>
                  <a:pt x="511657" y="18364"/>
                </a:lnTo>
                <a:lnTo>
                  <a:pt x="526681" y="482"/>
                </a:lnTo>
                <a:lnTo>
                  <a:pt x="515543" y="482"/>
                </a:lnTo>
                <a:lnTo>
                  <a:pt x="499554" y="19812"/>
                </a:lnTo>
                <a:lnTo>
                  <a:pt x="499554" y="482"/>
                </a:lnTo>
                <a:lnTo>
                  <a:pt x="490829" y="482"/>
                </a:lnTo>
                <a:lnTo>
                  <a:pt x="490829" y="45440"/>
                </a:lnTo>
                <a:lnTo>
                  <a:pt x="499554" y="45440"/>
                </a:lnTo>
                <a:lnTo>
                  <a:pt x="499554" y="31902"/>
                </a:lnTo>
                <a:lnTo>
                  <a:pt x="505358" y="25133"/>
                </a:lnTo>
                <a:lnTo>
                  <a:pt x="516991" y="45440"/>
                </a:lnTo>
                <a:lnTo>
                  <a:pt x="527646" y="45440"/>
                </a:lnTo>
                <a:close/>
              </a:path>
              <a:path w="633729" h="46354">
                <a:moveTo>
                  <a:pt x="543153" y="482"/>
                </a:moveTo>
                <a:lnTo>
                  <a:pt x="534428" y="482"/>
                </a:lnTo>
                <a:lnTo>
                  <a:pt x="534428" y="45440"/>
                </a:lnTo>
                <a:lnTo>
                  <a:pt x="543153" y="45440"/>
                </a:lnTo>
                <a:lnTo>
                  <a:pt x="543153" y="482"/>
                </a:lnTo>
                <a:close/>
              </a:path>
              <a:path w="633729" h="46354">
                <a:moveTo>
                  <a:pt x="589191" y="482"/>
                </a:moveTo>
                <a:lnTo>
                  <a:pt x="580466" y="482"/>
                </a:lnTo>
                <a:lnTo>
                  <a:pt x="580466" y="28028"/>
                </a:lnTo>
                <a:lnTo>
                  <a:pt x="562533" y="482"/>
                </a:lnTo>
                <a:lnTo>
                  <a:pt x="554786" y="482"/>
                </a:lnTo>
                <a:lnTo>
                  <a:pt x="554786" y="45440"/>
                </a:lnTo>
                <a:lnTo>
                  <a:pt x="563511" y="45440"/>
                </a:lnTo>
                <a:lnTo>
                  <a:pt x="563511" y="17881"/>
                </a:lnTo>
                <a:lnTo>
                  <a:pt x="581431" y="45440"/>
                </a:lnTo>
                <a:lnTo>
                  <a:pt x="589191" y="45440"/>
                </a:lnTo>
                <a:lnTo>
                  <a:pt x="589191" y="482"/>
                </a:lnTo>
                <a:close/>
              </a:path>
              <a:path w="633729" h="46354">
                <a:moveTo>
                  <a:pt x="633272" y="14503"/>
                </a:moveTo>
                <a:lnTo>
                  <a:pt x="631825" y="6769"/>
                </a:lnTo>
                <a:lnTo>
                  <a:pt x="626491" y="0"/>
                </a:lnTo>
                <a:lnTo>
                  <a:pt x="610984" y="0"/>
                </a:lnTo>
                <a:lnTo>
                  <a:pt x="607110" y="1930"/>
                </a:lnTo>
                <a:lnTo>
                  <a:pt x="603719" y="4838"/>
                </a:lnTo>
                <a:lnTo>
                  <a:pt x="599363" y="9664"/>
                </a:lnTo>
                <a:lnTo>
                  <a:pt x="599363" y="36245"/>
                </a:lnTo>
                <a:lnTo>
                  <a:pt x="603719" y="41084"/>
                </a:lnTo>
                <a:lnTo>
                  <a:pt x="607110" y="43980"/>
                </a:lnTo>
                <a:lnTo>
                  <a:pt x="610984" y="45923"/>
                </a:lnTo>
                <a:lnTo>
                  <a:pt x="620674" y="45923"/>
                </a:lnTo>
                <a:lnTo>
                  <a:pt x="625043" y="44462"/>
                </a:lnTo>
                <a:lnTo>
                  <a:pt x="628916" y="40601"/>
                </a:lnTo>
                <a:lnTo>
                  <a:pt x="631825" y="37706"/>
                </a:lnTo>
                <a:lnTo>
                  <a:pt x="633272" y="33350"/>
                </a:lnTo>
                <a:lnTo>
                  <a:pt x="633272" y="20294"/>
                </a:lnTo>
                <a:lnTo>
                  <a:pt x="615835" y="20294"/>
                </a:lnTo>
                <a:lnTo>
                  <a:pt x="615835" y="27546"/>
                </a:lnTo>
                <a:lnTo>
                  <a:pt x="624560" y="27546"/>
                </a:lnTo>
                <a:lnTo>
                  <a:pt x="624560" y="31902"/>
                </a:lnTo>
                <a:lnTo>
                  <a:pt x="623582" y="33832"/>
                </a:lnTo>
                <a:lnTo>
                  <a:pt x="622134" y="35763"/>
                </a:lnTo>
                <a:lnTo>
                  <a:pt x="620674" y="37223"/>
                </a:lnTo>
                <a:lnTo>
                  <a:pt x="618744" y="38188"/>
                </a:lnTo>
                <a:lnTo>
                  <a:pt x="613410" y="38188"/>
                </a:lnTo>
                <a:lnTo>
                  <a:pt x="611479" y="37223"/>
                </a:lnTo>
                <a:lnTo>
                  <a:pt x="610501" y="35763"/>
                </a:lnTo>
                <a:lnTo>
                  <a:pt x="608571" y="33832"/>
                </a:lnTo>
                <a:lnTo>
                  <a:pt x="608088" y="31419"/>
                </a:lnTo>
                <a:lnTo>
                  <a:pt x="608088" y="14020"/>
                </a:lnTo>
                <a:lnTo>
                  <a:pt x="608571" y="12090"/>
                </a:lnTo>
                <a:lnTo>
                  <a:pt x="610501" y="10147"/>
                </a:lnTo>
                <a:lnTo>
                  <a:pt x="611479" y="8699"/>
                </a:lnTo>
                <a:lnTo>
                  <a:pt x="613410" y="7734"/>
                </a:lnTo>
                <a:lnTo>
                  <a:pt x="620674" y="7734"/>
                </a:lnTo>
                <a:lnTo>
                  <a:pt x="623100" y="10147"/>
                </a:lnTo>
                <a:lnTo>
                  <a:pt x="624078" y="14503"/>
                </a:lnTo>
                <a:lnTo>
                  <a:pt x="633272" y="14503"/>
                </a:lnTo>
                <a:close/>
              </a:path>
            </a:pathLst>
          </a:custGeom>
          <a:solidFill>
            <a:srgbClr val="2A4C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6513588"/>
            <a:ext cx="9143999" cy="23152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6536626"/>
            <a:ext cx="9144000" cy="321945"/>
          </a:xfrm>
          <a:custGeom>
            <a:avLst/>
            <a:gdLst/>
            <a:ahLst/>
            <a:cxnLst/>
            <a:rect l="l" t="t" r="r" b="b"/>
            <a:pathLst>
              <a:path w="9144000" h="321945">
                <a:moveTo>
                  <a:pt x="9144000" y="0"/>
                </a:moveTo>
                <a:lnTo>
                  <a:pt x="0" y="0"/>
                </a:lnTo>
                <a:lnTo>
                  <a:pt x="0" y="321373"/>
                </a:lnTo>
                <a:lnTo>
                  <a:pt x="9144000" y="321373"/>
                </a:lnTo>
                <a:lnTo>
                  <a:pt x="9144000" y="0"/>
                </a:lnTo>
                <a:close/>
              </a:path>
            </a:pathLst>
          </a:custGeom>
          <a:solidFill>
            <a:srgbClr val="4E88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6536626"/>
            <a:ext cx="9144000" cy="321945"/>
          </a:xfrm>
          <a:custGeom>
            <a:avLst/>
            <a:gdLst/>
            <a:ahLst/>
            <a:cxnLst/>
            <a:rect l="l" t="t" r="r" b="b"/>
            <a:pathLst>
              <a:path w="9144000" h="321945">
                <a:moveTo>
                  <a:pt x="0" y="0"/>
                </a:moveTo>
                <a:lnTo>
                  <a:pt x="9144000" y="0"/>
                </a:lnTo>
                <a:lnTo>
                  <a:pt x="9144000" y="321373"/>
                </a:lnTo>
                <a:lnTo>
                  <a:pt x="0" y="32137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498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86701" y="380710"/>
            <a:ext cx="878609" cy="4506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97497"/>
            <a:ext cx="6182995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E88C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425" y="1209737"/>
            <a:ext cx="8087149" cy="3463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E6E6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5941" y="6616938"/>
            <a:ext cx="2409825" cy="153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5273" y="6616938"/>
            <a:ext cx="218440" cy="153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50.jp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bject 125"/>
          <p:cNvSpPr txBox="1"/>
          <p:nvPr/>
        </p:nvSpPr>
        <p:spPr>
          <a:xfrm>
            <a:off x="1159255" y="3904995"/>
            <a:ext cx="36868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Dr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Gerald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Gurtner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Sept.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2019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Engage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summer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school,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FTTE,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Belgrade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6" name="object 126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600200" y="1981200"/>
            <a:ext cx="569912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4400" spc="-4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</a:t>
            </a:r>
            <a:r>
              <a:rPr lang="en-IN" sz="4400" spc="-1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IN" sz="4400" spc="-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IN" sz="4400" spc="-9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400" spc="-1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Science</a:t>
            </a:r>
            <a:endParaRPr lang="en-IN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spc="-10" dirty="0"/>
              <a:t>scientist’s</a:t>
            </a:r>
            <a:r>
              <a:rPr spc="-70" dirty="0"/>
              <a:t> </a:t>
            </a:r>
            <a:r>
              <a:rPr spc="-25" dirty="0"/>
              <a:t>job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2834" y="1209737"/>
            <a:ext cx="7523480" cy="42684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scientist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has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three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tasks: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Choosing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preparing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  <a:p>
            <a:pPr marL="355600" marR="6908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Using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scientific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tools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extract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high-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level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knowledge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(exploration,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modelling,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analysis)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Communicate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results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Two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sides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covered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here:</a:t>
            </a:r>
            <a:endParaRPr sz="2400" dirty="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Methodology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(experimental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setup,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modelling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choice,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data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analysis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),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algorithmic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choices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Practical</a:t>
            </a:r>
            <a:r>
              <a:rPr sz="2400" spc="-9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tools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implemented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algorithms.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0800" y="2667000"/>
            <a:ext cx="445442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Data</a:t>
            </a:r>
            <a:r>
              <a:rPr sz="4000" spc="-85" dirty="0"/>
              <a:t> </a:t>
            </a:r>
            <a:r>
              <a:rPr lang="en-IN" sz="4000" spc="-85" dirty="0"/>
              <a:t>P</a:t>
            </a:r>
            <a:r>
              <a:rPr sz="4000" spc="-10" dirty="0"/>
              <a:t>reparation</a:t>
            </a:r>
            <a:endParaRPr sz="4000" dirty="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Storing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preparing</a:t>
            </a:r>
            <a:r>
              <a:rPr spc="-75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900481"/>
            <a:ext cx="8103870" cy="54571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6EB628"/>
                </a:solidFill>
                <a:latin typeface="Calibri"/>
                <a:cs typeface="Calibri"/>
              </a:rPr>
              <a:t>Storing</a:t>
            </a:r>
            <a:r>
              <a:rPr sz="2200" spc="-7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6EB628"/>
                </a:solidFill>
                <a:latin typeface="Calibri"/>
                <a:cs typeface="Calibri"/>
              </a:rPr>
              <a:t>data</a:t>
            </a:r>
            <a:r>
              <a:rPr sz="2200" spc="-2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098550" marR="471170" lvl="1" indent="-342900">
              <a:lnSpc>
                <a:spcPts val="2380"/>
              </a:lnSpc>
              <a:spcBef>
                <a:spcPts val="560"/>
              </a:spcBef>
              <a:buFont typeface="Wingdings"/>
              <a:buChar char=""/>
              <a:tabLst>
                <a:tab pos="1098550" algn="l"/>
              </a:tabLst>
            </a:pP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best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tool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(see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next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part).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Are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6E6E6E"/>
                </a:solidFill>
                <a:latin typeface="Calibri"/>
                <a:cs typeface="Calibri"/>
              </a:rPr>
              <a:t>they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organized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in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tables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relationships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between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them?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Is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it </a:t>
            </a:r>
            <a:r>
              <a:rPr sz="2200" spc="-20" dirty="0">
                <a:solidFill>
                  <a:srgbClr val="6E6E6E"/>
                </a:solidFill>
                <a:latin typeface="Calibri"/>
                <a:cs typeface="Calibri"/>
              </a:rPr>
              <a:t>big?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solidFill>
                  <a:srgbClr val="6EB628"/>
                </a:solidFill>
                <a:latin typeface="Calibri"/>
                <a:cs typeface="Calibri"/>
              </a:rPr>
              <a:t>Preparing</a:t>
            </a:r>
            <a:r>
              <a:rPr sz="2200" spc="-8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6EB628"/>
                </a:solidFill>
                <a:latin typeface="Calibri"/>
                <a:cs typeface="Calibri"/>
              </a:rPr>
              <a:t>data</a:t>
            </a:r>
            <a:r>
              <a:rPr sz="2200" spc="-2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1097915" algn="l"/>
              </a:tabLst>
            </a:pP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Check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format</a:t>
            </a:r>
            <a:endParaRPr sz="2200">
              <a:latin typeface="Calibri"/>
              <a:cs typeface="Calibri"/>
            </a:endParaRPr>
          </a:p>
          <a:p>
            <a:pPr marL="1098550" marR="360045" lvl="1" indent="-342900">
              <a:lnSpc>
                <a:spcPts val="2380"/>
              </a:lnSpc>
              <a:spcBef>
                <a:spcPts val="560"/>
              </a:spcBef>
              <a:buFont typeface="Wingdings"/>
              <a:buChar char=""/>
              <a:tabLst>
                <a:tab pos="1098550" algn="l"/>
              </a:tabLst>
            </a:pPr>
            <a:r>
              <a:rPr sz="2200" spc="-25" dirty="0">
                <a:solidFill>
                  <a:srgbClr val="6E6E6E"/>
                </a:solidFill>
                <a:latin typeface="Calibri"/>
                <a:cs typeface="Calibri"/>
              </a:rPr>
              <a:t>Track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inconsistent</a:t>
            </a:r>
            <a:r>
              <a:rPr sz="22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data: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look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at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distributions</a:t>
            </a:r>
            <a:r>
              <a:rPr sz="22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variables,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track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outliers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(see</a:t>
            </a:r>
            <a:r>
              <a:rPr sz="22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next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slide),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6E6E6E"/>
                </a:solidFill>
                <a:latin typeface="Calibri"/>
                <a:cs typeface="Calibri"/>
              </a:rPr>
              <a:t>cross-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check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by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different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means</a:t>
            </a:r>
            <a:r>
              <a:rPr sz="2200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200" spc="-1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possible.</a:t>
            </a:r>
            <a:endParaRPr sz="22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20"/>
              </a:spcBef>
              <a:buFont typeface="Wingdings"/>
              <a:buChar char=""/>
              <a:tabLst>
                <a:tab pos="1097915" algn="l"/>
              </a:tabLst>
            </a:pPr>
            <a:r>
              <a:rPr sz="2200" dirty="0">
                <a:solidFill>
                  <a:srgbClr val="6EB628"/>
                </a:solidFill>
                <a:latin typeface="Calibri"/>
                <a:cs typeface="Calibri"/>
              </a:rPr>
              <a:t>Data</a:t>
            </a:r>
            <a:r>
              <a:rPr sz="22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B628"/>
                </a:solidFill>
                <a:latin typeface="Calibri"/>
                <a:cs typeface="Calibri"/>
              </a:rPr>
              <a:t>fusion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1497965" algn="l"/>
              </a:tabLst>
            </a:pP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cross</a:t>
            </a:r>
            <a:r>
              <a:rPr sz="22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field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between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database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2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needed,</a:t>
            </a:r>
            <a:endParaRPr sz="2200">
              <a:latin typeface="Calibri"/>
              <a:cs typeface="Calibri"/>
            </a:endParaRPr>
          </a:p>
          <a:p>
            <a:pPr marL="1498600" marR="5080" lvl="2" indent="-342900">
              <a:lnSpc>
                <a:spcPts val="2380"/>
              </a:lnSpc>
              <a:spcBef>
                <a:spcPts val="560"/>
              </a:spcBef>
              <a:buFont typeface="Wingdings"/>
              <a:buChar char=""/>
              <a:tabLst>
                <a:tab pos="1498600" algn="l"/>
              </a:tabLst>
            </a:pP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choose</a:t>
            </a:r>
            <a:r>
              <a:rPr sz="22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you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can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live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default</a:t>
            </a:r>
            <a:r>
              <a:rPr sz="22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values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missing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fields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(‘outer/left’</a:t>
            </a:r>
            <a:r>
              <a:rPr sz="22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join)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or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you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need</a:t>
            </a:r>
            <a:r>
              <a:rPr sz="22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remove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2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(‘inner’ join),</a:t>
            </a:r>
            <a:endParaRPr sz="2200">
              <a:latin typeface="Calibri"/>
              <a:cs typeface="Calibri"/>
            </a:endParaRPr>
          </a:p>
          <a:p>
            <a:pPr marL="1498600" marR="1307465" lvl="2" indent="-342900">
              <a:lnSpc>
                <a:spcPts val="2380"/>
              </a:lnSpc>
              <a:spcBef>
                <a:spcPts val="515"/>
              </a:spcBef>
              <a:buFont typeface="Wingdings"/>
              <a:buChar char=""/>
              <a:tabLst>
                <a:tab pos="1498600" algn="l"/>
              </a:tabLst>
            </a:pP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make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sure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that</a:t>
            </a:r>
            <a:r>
              <a:rPr sz="22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you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do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not</a:t>
            </a:r>
            <a:r>
              <a:rPr sz="22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lose</a:t>
            </a:r>
            <a:r>
              <a:rPr sz="22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too</a:t>
            </a:r>
            <a:r>
              <a:rPr sz="22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much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data, understand</a:t>
            </a:r>
            <a:r>
              <a:rPr sz="22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E6E6E"/>
                </a:solidFill>
                <a:latin typeface="Calibri"/>
                <a:cs typeface="Calibri"/>
              </a:rPr>
              <a:t>possible</a:t>
            </a:r>
            <a:r>
              <a:rPr sz="22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6E6E"/>
                </a:solidFill>
                <a:latin typeface="Calibri"/>
                <a:cs typeface="Calibri"/>
              </a:rPr>
              <a:t>biases.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5524" y="2864612"/>
            <a:ext cx="36969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Preparing</a:t>
            </a:r>
            <a:r>
              <a:rPr sz="3200" spc="-80" dirty="0"/>
              <a:t> </a:t>
            </a:r>
            <a:r>
              <a:rPr sz="3200" spc="-10" dirty="0"/>
              <a:t>simulations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Prepare</a:t>
            </a:r>
            <a:r>
              <a:rPr spc="-80" dirty="0"/>
              <a:t> </a:t>
            </a:r>
            <a:r>
              <a:rPr dirty="0"/>
              <a:t>input</a:t>
            </a:r>
            <a:r>
              <a:rPr spc="-95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209737"/>
            <a:ext cx="7828915" cy="25126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Select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interesting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fields.</a:t>
            </a:r>
            <a:endParaRPr sz="2400">
              <a:latin typeface="Calibri"/>
              <a:cs typeface="Calibri"/>
            </a:endParaRPr>
          </a:p>
          <a:p>
            <a:pPr marL="355600" marR="30226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Isolate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them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from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primary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source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(different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files,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different databases).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Version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data!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Reproductibility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is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key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science!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Optimise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input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big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models: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different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tables/files,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find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out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which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fields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are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used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more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heavily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56743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run</a:t>
            </a:r>
            <a:r>
              <a:rPr spc="-50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(ABM,</a:t>
            </a:r>
            <a:r>
              <a:rPr spc="-30" dirty="0"/>
              <a:t> </a:t>
            </a:r>
            <a:r>
              <a:rPr spc="-10" dirty="0"/>
              <a:t>Monte-Carlo)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383457"/>
            <a:ext cx="8104505" cy="4999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Estimate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computational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complexity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right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language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Heavy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load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Wingdings"/>
                <a:cs typeface="Wingdings"/>
              </a:rPr>
              <a:t></a:t>
            </a:r>
            <a:r>
              <a:rPr sz="2400" spc="-120" dirty="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consider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low-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level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language.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Light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computation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Wingdings"/>
                <a:cs typeface="Wingdings"/>
              </a:rPr>
              <a:t></a:t>
            </a:r>
            <a:r>
              <a:rPr sz="2400" spc="-130" dirty="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high-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level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language.</a:t>
            </a:r>
            <a:endParaRPr sz="2400">
              <a:latin typeface="Calibri"/>
              <a:cs typeface="Calibri"/>
            </a:endParaRPr>
          </a:p>
          <a:p>
            <a:pPr marL="1097915" marR="1046480" lvl="1" indent="-342900">
              <a:lnSpc>
                <a:spcPts val="2860"/>
              </a:lnSpc>
              <a:spcBef>
                <a:spcPts val="6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Agent-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based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Wingdings"/>
                <a:cs typeface="Wingdings"/>
              </a:rPr>
              <a:t></a:t>
            </a:r>
            <a:r>
              <a:rPr sz="2400" spc="-105" dirty="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OO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language,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dedicated framework.</a:t>
            </a: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right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(stable)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libraries</a:t>
            </a:r>
            <a:r>
              <a:rPr sz="2400" spc="-6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problem.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Don’t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recode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something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which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been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done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unless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there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good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reason.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Stackoverflow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&amp;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Github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friends!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Develop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own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needed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(reusable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functions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etc).</a:t>
            </a:r>
            <a:endParaRPr sz="2400">
              <a:latin typeface="Calibri"/>
              <a:cs typeface="Calibri"/>
            </a:endParaRPr>
          </a:p>
          <a:p>
            <a:pPr marL="355600" marR="9334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Prepare</a:t>
            </a:r>
            <a:r>
              <a:rPr sz="2400" spc="-7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data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6EB628"/>
                </a:solidFill>
                <a:latin typeface="Calibri"/>
                <a:cs typeface="Calibri"/>
              </a:rPr>
              <a:t>flow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,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input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output.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Prepare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parameter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file,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easy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read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56743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run</a:t>
            </a:r>
            <a:r>
              <a:rPr spc="-50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(ABM,</a:t>
            </a:r>
            <a:r>
              <a:rPr spc="-30" dirty="0"/>
              <a:t> </a:t>
            </a:r>
            <a:r>
              <a:rPr spc="-10" dirty="0"/>
              <a:t>Monte-Carlo)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459657"/>
            <a:ext cx="7859395" cy="46342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Organise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simulations: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Choose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carefully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combination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parameters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test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(part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experimental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setup…),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sampling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continuous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start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small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samples.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Do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running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time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tests,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extrapolate.</a:t>
            </a:r>
            <a:endParaRPr sz="2400">
              <a:latin typeface="Calibri"/>
              <a:cs typeface="Calibri"/>
            </a:endParaRPr>
          </a:p>
          <a:p>
            <a:pPr marL="355600" marR="6731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Estimate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number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realisations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stochastic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have</a:t>
            </a:r>
            <a:r>
              <a:rPr sz="2400" spc="-1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significant</a:t>
            </a:r>
            <a:r>
              <a:rPr sz="2400" spc="-1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results.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Keep</a:t>
            </a:r>
            <a:r>
              <a:rPr sz="2400" spc="-3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log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simulations.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Calibri"/>
              <a:cs typeface="Calibri"/>
            </a:endParaRPr>
          </a:p>
          <a:p>
            <a:pPr marL="12700" marR="668020">
              <a:lnSpc>
                <a:spcPct val="100000"/>
              </a:lnSpc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When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code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stable,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optimize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code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IF</a:t>
            </a:r>
            <a:r>
              <a:rPr sz="2400" spc="-9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NEEDED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starting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with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low-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hanging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fruits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(obvious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bottlenecks).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6742" y="2864612"/>
            <a:ext cx="24949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Analysing</a:t>
            </a:r>
            <a:r>
              <a:rPr sz="3200" spc="-60" dirty="0"/>
              <a:t> </a:t>
            </a:r>
            <a:r>
              <a:rPr sz="3200" spc="-20" dirty="0"/>
              <a:t>data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Exploring</a:t>
            </a:r>
            <a:r>
              <a:rPr spc="-80" dirty="0"/>
              <a:t> </a:t>
            </a:r>
            <a:r>
              <a:rPr dirty="0"/>
              <a:t>variables</a:t>
            </a:r>
            <a:r>
              <a:rPr spc="-90" dirty="0"/>
              <a:t> </a:t>
            </a:r>
            <a:r>
              <a:rPr spc="-10" dirty="0"/>
              <a:t>independently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884600"/>
            <a:ext cx="7972425" cy="55854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Start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by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exploring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each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variable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independently: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typical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behavior: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median.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dispersion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standard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deviation,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25-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75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percentiles.</a:t>
            </a:r>
            <a:endParaRPr sz="2400">
              <a:latin typeface="Calibri"/>
              <a:cs typeface="Calibri"/>
            </a:endParaRPr>
          </a:p>
          <a:p>
            <a:pPr marL="355600" marR="35433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Plot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distributions,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try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understand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why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they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look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way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they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look.</a:t>
            </a:r>
            <a:endParaRPr sz="2400">
              <a:latin typeface="Calibri"/>
              <a:cs typeface="Calibri"/>
            </a:endParaRPr>
          </a:p>
          <a:p>
            <a:pPr marL="12700" marR="5080" indent="-635">
              <a:lnSpc>
                <a:spcPct val="120000"/>
              </a:lnSpc>
              <a:spcBef>
                <a:spcPts val="5"/>
              </a:spcBef>
              <a:buFont typeface="Arial MT"/>
              <a:buChar char="•"/>
              <a:tabLst>
                <a:tab pos="12700" algn="l"/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	Compute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understand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outliers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(using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z-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score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instance).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dynamical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data:</a:t>
            </a:r>
            <a:endParaRPr sz="2400">
              <a:latin typeface="Calibri"/>
              <a:cs typeface="Calibri"/>
            </a:endParaRPr>
          </a:p>
          <a:p>
            <a:pPr marL="355600" marR="32067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Estimate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stationarity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(e.g.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moving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std),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spot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trends.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distribution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equilibrium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Compare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ensemble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time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mean.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Consider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detrending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data.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Ex: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daily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traffic: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ensemble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given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Substract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ensemble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each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day.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61829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Exploring</a:t>
            </a:r>
            <a:r>
              <a:rPr spc="-65" dirty="0"/>
              <a:t> </a:t>
            </a:r>
            <a:r>
              <a:rPr spc="-10" dirty="0"/>
              <a:t>relationships</a:t>
            </a:r>
            <a:r>
              <a:rPr spc="-75" dirty="0"/>
              <a:t> </a:t>
            </a:r>
            <a:r>
              <a:rPr dirty="0"/>
              <a:t>between</a:t>
            </a:r>
            <a:r>
              <a:rPr spc="-40" dirty="0"/>
              <a:t> </a:t>
            </a:r>
            <a:r>
              <a:rPr spc="-10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2707" y="2365057"/>
            <a:ext cx="5081291" cy="32322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715887"/>
            <a:ext cx="7515859" cy="56686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Understand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relationships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between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pairs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variables:</a:t>
            </a:r>
            <a:endParaRPr sz="2400">
              <a:latin typeface="Calibri"/>
              <a:cs typeface="Calibri"/>
            </a:endParaRPr>
          </a:p>
          <a:p>
            <a:pPr marL="382270" marR="54864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8227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analyse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correlations: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correlation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matrix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(+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significance</a:t>
            </a:r>
            <a:r>
              <a:rPr sz="2400" spc="-114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thresholds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)</a:t>
            </a:r>
            <a:r>
              <a:rPr sz="2400" spc="-114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354965" marR="3952875" indent="-342900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partial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correlations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coefficients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interesting variables.</a:t>
            </a:r>
            <a:endParaRPr sz="2400">
              <a:latin typeface="Calibri"/>
              <a:cs typeface="Calibri"/>
            </a:endParaRPr>
          </a:p>
          <a:p>
            <a:pPr marL="355600" marR="405574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Do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scatter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plots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between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pairs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variables.</a:t>
            </a:r>
            <a:endParaRPr sz="2400">
              <a:latin typeface="Calibri"/>
              <a:cs typeface="Calibri"/>
            </a:endParaRPr>
          </a:p>
          <a:p>
            <a:pPr marL="354965" marR="415226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Spot</a:t>
            </a:r>
            <a:r>
              <a:rPr sz="2400" spc="-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non-linear correlations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scatter plots.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6E6E6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buClr>
                <a:srgbClr val="6E6E6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38455" indent="-284480">
              <a:lnSpc>
                <a:spcPct val="100000"/>
              </a:lnSpc>
              <a:buFont typeface="Arial MT"/>
              <a:buChar char="•"/>
              <a:tabLst>
                <a:tab pos="33845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Dyn.: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consider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computing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partial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corr.,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controlling</a:t>
            </a:r>
            <a:r>
              <a:rPr sz="2400" spc="-8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for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Exploring</a:t>
            </a:r>
            <a:r>
              <a:rPr spc="-65" dirty="0"/>
              <a:t> </a:t>
            </a:r>
            <a:r>
              <a:rPr spc="-10" dirty="0"/>
              <a:t>relationships</a:t>
            </a:r>
            <a:r>
              <a:rPr spc="-75" dirty="0"/>
              <a:t> </a:t>
            </a:r>
            <a:r>
              <a:rPr dirty="0"/>
              <a:t>between</a:t>
            </a:r>
            <a:r>
              <a:rPr spc="-40" dirty="0"/>
              <a:t> </a:t>
            </a:r>
            <a:r>
              <a:rPr spc="-10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0512" y="924686"/>
            <a:ext cx="5868986" cy="56317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55041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9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(experimental</a:t>
            </a:r>
            <a:r>
              <a:rPr spc="-70" dirty="0"/>
              <a:t> </a:t>
            </a:r>
            <a:r>
              <a:rPr spc="-10" dirty="0"/>
              <a:t>results, </a:t>
            </a:r>
            <a:r>
              <a:rPr dirty="0"/>
              <a:t>empirical</a:t>
            </a:r>
            <a:r>
              <a:rPr spc="-90" dirty="0"/>
              <a:t> </a:t>
            </a:r>
            <a:r>
              <a:rPr spc="-10" dirty="0"/>
              <a:t>data)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9549" y="3169832"/>
            <a:ext cx="4752592" cy="31574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3139" y="1282889"/>
            <a:ext cx="7658734" cy="312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Standardise</a:t>
            </a:r>
            <a:r>
              <a:rPr sz="2400" spc="-7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analysis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(remove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divide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by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std)</a:t>
            </a:r>
            <a:endParaRPr sz="2400">
              <a:latin typeface="Calibri"/>
              <a:cs typeface="Calibri"/>
            </a:endParaRPr>
          </a:p>
          <a:p>
            <a:pPr marL="355600" marR="48069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ordinal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variables,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simple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regressions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pairs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of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variables.</a:t>
            </a:r>
            <a:endParaRPr sz="2400">
              <a:latin typeface="Calibri"/>
              <a:cs typeface="Calibri"/>
            </a:endParaRPr>
          </a:p>
          <a:p>
            <a:pPr marL="355600" marR="4458335" indent="-3429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Compare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distributions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between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values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independent</a:t>
            </a:r>
            <a:r>
              <a:rPr sz="2400" spc="-1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variables.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QQ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55041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9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(experimental</a:t>
            </a:r>
            <a:r>
              <a:rPr spc="-70" dirty="0"/>
              <a:t> </a:t>
            </a:r>
            <a:r>
              <a:rPr spc="-10" dirty="0"/>
              <a:t>results, </a:t>
            </a:r>
            <a:r>
              <a:rPr dirty="0"/>
              <a:t>empirical</a:t>
            </a:r>
            <a:r>
              <a:rPr spc="-90" dirty="0"/>
              <a:t> </a:t>
            </a:r>
            <a:r>
              <a:rPr spc="-10" dirty="0"/>
              <a:t>data)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155" y="1226108"/>
            <a:ext cx="5839618" cy="53302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Engage</a:t>
            </a:r>
            <a:r>
              <a:rPr spc="-35" dirty="0"/>
              <a:t> </a:t>
            </a:r>
            <a:r>
              <a:rPr dirty="0"/>
              <a:t>summer</a:t>
            </a:r>
            <a:r>
              <a:rPr spc="-20" dirty="0"/>
              <a:t> </a:t>
            </a:r>
            <a:r>
              <a:rPr dirty="0"/>
              <a:t>school,</a:t>
            </a:r>
            <a:r>
              <a:rPr spc="-35" dirty="0"/>
              <a:t> </a:t>
            </a:r>
            <a:r>
              <a:rPr dirty="0"/>
              <a:t>Belgrade,</a:t>
            </a:r>
            <a:r>
              <a:rPr spc="-25" dirty="0"/>
              <a:t> </a:t>
            </a:r>
            <a:r>
              <a:rPr spc="-10" dirty="0"/>
              <a:t>12/09/2019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55041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9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(experimental</a:t>
            </a:r>
            <a:r>
              <a:rPr spc="-70" dirty="0"/>
              <a:t> </a:t>
            </a:r>
            <a:r>
              <a:rPr spc="-10" dirty="0"/>
              <a:t>results, </a:t>
            </a:r>
            <a:r>
              <a:rPr dirty="0"/>
              <a:t>empirical</a:t>
            </a:r>
            <a:r>
              <a:rPr spc="-90" dirty="0"/>
              <a:t> </a:t>
            </a:r>
            <a:r>
              <a:rPr spc="-10" dirty="0"/>
              <a:t>data)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925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/>
              <a:t>Depending</a:t>
            </a:r>
            <a:r>
              <a:rPr spc="-55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dirty="0"/>
              <a:t>your</a:t>
            </a:r>
            <a:r>
              <a:rPr spc="-65" dirty="0"/>
              <a:t> </a:t>
            </a:r>
            <a:r>
              <a:rPr spc="-10" dirty="0"/>
              <a:t>hypotheses,</a:t>
            </a:r>
            <a:r>
              <a:rPr spc="-45" dirty="0"/>
              <a:t> </a:t>
            </a:r>
            <a:r>
              <a:rPr dirty="0"/>
              <a:t>find</a:t>
            </a:r>
            <a:r>
              <a:rPr spc="-65" dirty="0"/>
              <a:t> </a:t>
            </a:r>
            <a:r>
              <a:rPr spc="-10" dirty="0">
                <a:solidFill>
                  <a:srgbClr val="6EB628"/>
                </a:solidFill>
              </a:rPr>
              <a:t>adequate</a:t>
            </a:r>
            <a:r>
              <a:rPr spc="-50" dirty="0">
                <a:solidFill>
                  <a:srgbClr val="6EB628"/>
                </a:solidFill>
              </a:rPr>
              <a:t> </a:t>
            </a:r>
            <a:r>
              <a:rPr spc="-10" dirty="0"/>
              <a:t>statistical</a:t>
            </a:r>
            <a:r>
              <a:rPr spc="-80" dirty="0"/>
              <a:t> </a:t>
            </a:r>
            <a:r>
              <a:rPr spc="-10" dirty="0"/>
              <a:t>tests:</a:t>
            </a:r>
          </a:p>
          <a:p>
            <a:pPr marL="1132205" lvl="1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113284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Exact</a:t>
            </a:r>
            <a:r>
              <a:rPr sz="2400" spc="-9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test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132205" lvl="1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1132840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Bootstrapping,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permutation?</a:t>
            </a:r>
            <a:endParaRPr sz="2400">
              <a:latin typeface="Calibri"/>
              <a:cs typeface="Calibri"/>
            </a:endParaRPr>
          </a:p>
          <a:p>
            <a:pPr marL="1132205" lvl="1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1132840" algn="l"/>
              </a:tabLst>
            </a:pP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Non-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exact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tests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(chi2,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test,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etc…).</a:t>
            </a:r>
            <a:endParaRPr sz="2400">
              <a:latin typeface="Calibri"/>
              <a:cs typeface="Calibri"/>
            </a:endParaRPr>
          </a:p>
          <a:p>
            <a:pPr marL="1132840" marR="1134745" lvl="1" indent="-34353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113347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Decrease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6E6E6E"/>
                </a:solidFill>
                <a:latin typeface="Calibri"/>
                <a:cs typeface="Calibri"/>
              </a:rPr>
              <a:t>p-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value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multiple-hypotheses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tests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(Bonferroni…)!</a:t>
            </a:r>
            <a:endParaRPr sz="2400">
              <a:latin typeface="Calibri"/>
              <a:cs typeface="Calibri"/>
            </a:endParaRPr>
          </a:p>
          <a:p>
            <a:pPr marL="38925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/>
              <a:t>Build</a:t>
            </a:r>
            <a:r>
              <a:rPr spc="-60" dirty="0"/>
              <a:t> </a:t>
            </a:r>
            <a:r>
              <a:rPr dirty="0"/>
              <a:t>confidence</a:t>
            </a:r>
            <a:r>
              <a:rPr spc="-35" dirty="0"/>
              <a:t> </a:t>
            </a:r>
            <a:r>
              <a:rPr spc="-10" dirty="0"/>
              <a:t>intervals</a:t>
            </a:r>
            <a:r>
              <a:rPr spc="-50" dirty="0"/>
              <a:t> </a:t>
            </a:r>
            <a:r>
              <a:rPr dirty="0"/>
              <a:t>(e.g.</a:t>
            </a:r>
            <a:r>
              <a:rPr spc="-4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10" dirty="0"/>
              <a:t>bootstrapping)</a:t>
            </a:r>
          </a:p>
          <a:p>
            <a:pPr marL="38925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/>
              <a:t>Don’t</a:t>
            </a:r>
            <a:r>
              <a:rPr spc="-80" dirty="0"/>
              <a:t> </a:t>
            </a:r>
            <a:r>
              <a:rPr dirty="0"/>
              <a:t>discard</a:t>
            </a:r>
            <a:r>
              <a:rPr spc="-75" dirty="0"/>
              <a:t> </a:t>
            </a:r>
            <a:r>
              <a:rPr spc="-10" dirty="0"/>
              <a:t>negative</a:t>
            </a:r>
            <a:r>
              <a:rPr spc="-70" dirty="0"/>
              <a:t> </a:t>
            </a:r>
            <a:r>
              <a:rPr spc="-10" dirty="0"/>
              <a:t>results!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55041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9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(experimental</a:t>
            </a:r>
            <a:r>
              <a:rPr spc="-70" dirty="0"/>
              <a:t> </a:t>
            </a:r>
            <a:r>
              <a:rPr spc="-10" dirty="0"/>
              <a:t>results, </a:t>
            </a:r>
            <a:r>
              <a:rPr dirty="0"/>
              <a:t>empirical</a:t>
            </a:r>
            <a:r>
              <a:rPr spc="-90" dirty="0"/>
              <a:t> </a:t>
            </a:r>
            <a:r>
              <a:rPr spc="-10" dirty="0"/>
              <a:t>data)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13430" y="2330342"/>
            <a:ext cx="5882640" cy="4064635"/>
            <a:chOff x="2913430" y="2330342"/>
            <a:chExt cx="5882640" cy="4064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3430" y="2330342"/>
              <a:ext cx="5882109" cy="40643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3907" y="2506979"/>
              <a:ext cx="967727" cy="4998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38963" y="2539279"/>
              <a:ext cx="857250" cy="389255"/>
            </a:xfrm>
            <a:custGeom>
              <a:avLst/>
              <a:gdLst/>
              <a:ahLst/>
              <a:cxnLst/>
              <a:rect l="l" t="t" r="r" b="b"/>
              <a:pathLst>
                <a:path w="857250" h="389255">
                  <a:moveTo>
                    <a:pt x="0" y="194475"/>
                  </a:moveTo>
                  <a:lnTo>
                    <a:pt x="18147" y="138308"/>
                  </a:lnTo>
                  <a:lnTo>
                    <a:pt x="69052" y="88582"/>
                  </a:lnTo>
                  <a:lnTo>
                    <a:pt x="105132" y="66885"/>
                  </a:lnTo>
                  <a:lnTo>
                    <a:pt x="147413" y="47702"/>
                  </a:lnTo>
                  <a:lnTo>
                    <a:pt x="195232" y="31331"/>
                  </a:lnTo>
                  <a:lnTo>
                    <a:pt x="247925" y="18075"/>
                  </a:lnTo>
                  <a:lnTo>
                    <a:pt x="304830" y="8234"/>
                  </a:lnTo>
                  <a:lnTo>
                    <a:pt x="365284" y="2108"/>
                  </a:lnTo>
                  <a:lnTo>
                    <a:pt x="428625" y="0"/>
                  </a:lnTo>
                  <a:lnTo>
                    <a:pt x="491965" y="2108"/>
                  </a:lnTo>
                  <a:lnTo>
                    <a:pt x="552419" y="8234"/>
                  </a:lnTo>
                  <a:lnTo>
                    <a:pt x="609324" y="18075"/>
                  </a:lnTo>
                  <a:lnTo>
                    <a:pt x="662017" y="31331"/>
                  </a:lnTo>
                  <a:lnTo>
                    <a:pt x="709836" y="47702"/>
                  </a:lnTo>
                  <a:lnTo>
                    <a:pt x="752117" y="66885"/>
                  </a:lnTo>
                  <a:lnTo>
                    <a:pt x="788197" y="88582"/>
                  </a:lnTo>
                  <a:lnTo>
                    <a:pt x="839102" y="138308"/>
                  </a:lnTo>
                  <a:lnTo>
                    <a:pt x="857250" y="194475"/>
                  </a:lnTo>
                  <a:lnTo>
                    <a:pt x="852602" y="223212"/>
                  </a:lnTo>
                  <a:lnTo>
                    <a:pt x="817413" y="276460"/>
                  </a:lnTo>
                  <a:lnTo>
                    <a:pt x="752117" y="322064"/>
                  </a:lnTo>
                  <a:lnTo>
                    <a:pt x="709836" y="341248"/>
                  </a:lnTo>
                  <a:lnTo>
                    <a:pt x="662017" y="357618"/>
                  </a:lnTo>
                  <a:lnTo>
                    <a:pt x="609324" y="370874"/>
                  </a:lnTo>
                  <a:lnTo>
                    <a:pt x="552419" y="380716"/>
                  </a:lnTo>
                  <a:lnTo>
                    <a:pt x="491965" y="386841"/>
                  </a:lnTo>
                  <a:lnTo>
                    <a:pt x="428625" y="388950"/>
                  </a:lnTo>
                  <a:lnTo>
                    <a:pt x="365284" y="386841"/>
                  </a:lnTo>
                  <a:lnTo>
                    <a:pt x="304830" y="380716"/>
                  </a:lnTo>
                  <a:lnTo>
                    <a:pt x="247925" y="370874"/>
                  </a:lnTo>
                  <a:lnTo>
                    <a:pt x="195232" y="357618"/>
                  </a:lnTo>
                  <a:lnTo>
                    <a:pt x="147413" y="341248"/>
                  </a:lnTo>
                  <a:lnTo>
                    <a:pt x="105132" y="322064"/>
                  </a:lnTo>
                  <a:lnTo>
                    <a:pt x="69052" y="300368"/>
                  </a:lnTo>
                  <a:lnTo>
                    <a:pt x="18147" y="250641"/>
                  </a:lnTo>
                  <a:lnTo>
                    <a:pt x="0" y="19447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5941" y="1562098"/>
            <a:ext cx="19500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Ex.: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Kolmogorov-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Smirnov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test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05" dirty="0"/>
              <a:t> </a:t>
            </a:r>
            <a:r>
              <a:rPr dirty="0"/>
              <a:t>data:</a:t>
            </a:r>
            <a:r>
              <a:rPr spc="-8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modelling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0512" y="2526982"/>
            <a:ext cx="5800719" cy="40446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540" y="1093913"/>
            <a:ext cx="7826375" cy="51390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8935" marR="894080" indent="-3429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6893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Divide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two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sets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(randomly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selected),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e.g.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75%/25%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training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test</a:t>
            </a:r>
            <a:r>
              <a:rPr sz="2400" spc="-6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368935" marR="5080" indent="-342900">
              <a:lnSpc>
                <a:spcPts val="2590"/>
              </a:lnSpc>
              <a:spcBef>
                <a:spcPts val="580"/>
              </a:spcBef>
              <a:buFont typeface="Arial MT"/>
              <a:buChar char="•"/>
              <a:tabLst>
                <a:tab pos="36893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Look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at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literature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out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which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would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relevant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(part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experimental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plan…).</a:t>
            </a:r>
            <a:endParaRPr sz="2400">
              <a:latin typeface="Calibri"/>
              <a:cs typeface="Calibri"/>
            </a:endParaRPr>
          </a:p>
          <a:p>
            <a:pPr marL="355600" marR="5495925" indent="-342900">
              <a:lnSpc>
                <a:spcPts val="259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Start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a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simple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model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like</a:t>
            </a:r>
            <a:r>
              <a:rPr sz="2400" spc="-11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ordinary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least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square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.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Include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dummy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variables</a:t>
            </a:r>
            <a:r>
              <a:rPr sz="2400" spc="-1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for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categorical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variables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test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their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impact.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Discard</a:t>
            </a:r>
            <a:r>
              <a:rPr sz="2400" spc="-11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weak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variables.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05" dirty="0"/>
              <a:t> </a:t>
            </a:r>
            <a:r>
              <a:rPr dirty="0"/>
              <a:t>data:</a:t>
            </a:r>
            <a:r>
              <a:rPr spc="-8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modelling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130489"/>
            <a:ext cx="8099425" cy="412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6266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Train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chosen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start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as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simple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as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possible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(few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leaves/neurons/parameters)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Control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underfitting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training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(e.g.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R)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overfitting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test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data: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“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in-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sample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”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score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Compute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“</a:t>
            </a:r>
            <a:r>
              <a:rPr sz="2400" spc="-30" dirty="0">
                <a:solidFill>
                  <a:srgbClr val="6EB628"/>
                </a:solidFill>
                <a:latin typeface="Calibri"/>
                <a:cs typeface="Calibri"/>
              </a:rPr>
              <a:t>out-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sample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”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score.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Compare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OLS.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Play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parameters.</a:t>
            </a:r>
            <a:endParaRPr sz="2400">
              <a:latin typeface="Calibri"/>
              <a:cs typeface="Calibri"/>
            </a:endParaRPr>
          </a:p>
          <a:p>
            <a:pPr marL="355600" marR="51562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Make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prediction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new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data.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Check</a:t>
            </a:r>
            <a:r>
              <a:rPr sz="2400" spc="-6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B628"/>
                </a:solidFill>
                <a:latin typeface="Calibri"/>
                <a:cs typeface="Calibri"/>
              </a:rPr>
              <a:t>consistency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compare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other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models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Iterate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improve!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00" dirty="0"/>
              <a:t> </a:t>
            </a:r>
            <a:r>
              <a:rPr dirty="0"/>
              <a:t>data:</a:t>
            </a:r>
            <a:r>
              <a:rPr spc="-80" dirty="0"/>
              <a:t> </a:t>
            </a:r>
            <a:r>
              <a:rPr spc="-10" dirty="0"/>
              <a:t>clustering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057336"/>
            <a:ext cx="8025765" cy="5073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‘right’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algorithm: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network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data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498600" marR="365760" lvl="2" indent="-342900">
              <a:lnSpc>
                <a:spcPts val="2860"/>
              </a:lnSpc>
              <a:spcBef>
                <a:spcPts val="710"/>
              </a:spcBef>
              <a:buFont typeface="Arial MT"/>
              <a:buChar char="•"/>
              <a:tabLst>
                <a:tab pos="1498600" algn="l"/>
              </a:tabLst>
            </a:pP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Yes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Wingdings"/>
                <a:cs typeface="Wingdings"/>
              </a:rPr>
              <a:t></a:t>
            </a:r>
            <a:r>
              <a:rPr sz="2400" spc="-130" dirty="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community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detection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algorithms.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Infomap,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modularity,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OSLOM.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No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Wingdings"/>
                <a:cs typeface="Wingdings"/>
              </a:rPr>
              <a:t></a:t>
            </a:r>
            <a:r>
              <a:rPr sz="2400" spc="-110" dirty="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clustering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algorithms.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K-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mean,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mean-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shift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098550" marR="803910" lvl="1" indent="-343535">
              <a:lnSpc>
                <a:spcPct val="100000"/>
              </a:lnSpc>
              <a:spcBef>
                <a:spcPts val="555"/>
              </a:spcBef>
              <a:buChar char="•"/>
              <a:tabLst>
                <a:tab pos="1098550" algn="l"/>
                <a:tab pos="1166495" algn="l"/>
              </a:tabLst>
            </a:pPr>
            <a:r>
              <a:rPr sz="2400" dirty="0">
                <a:solidFill>
                  <a:srgbClr val="6E6E6E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Fixed</a:t>
            </a:r>
            <a:r>
              <a:rPr sz="2400" spc="-6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number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of</a:t>
            </a:r>
            <a:r>
              <a:rPr sz="2400" spc="-6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clusters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(K-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means)?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Clusters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can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overlap</a:t>
            </a:r>
            <a:r>
              <a:rPr sz="2400" spc="-11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(OSLOM)?</a:t>
            </a:r>
            <a:endParaRPr sz="2400">
              <a:latin typeface="Calibri"/>
              <a:cs typeface="Calibri"/>
            </a:endParaRPr>
          </a:p>
          <a:p>
            <a:pPr marL="355600" marR="20383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right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“distance”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function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(when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non-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network).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Start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something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simple.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Ex.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trajectories: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Differences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flight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plan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total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distances.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Maximum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lateral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distances.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00" dirty="0"/>
              <a:t> </a:t>
            </a:r>
            <a:r>
              <a:rPr dirty="0"/>
              <a:t>data:</a:t>
            </a:r>
            <a:r>
              <a:rPr spc="-80" dirty="0"/>
              <a:t> </a:t>
            </a:r>
            <a:r>
              <a:rPr spc="-10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558" y="976494"/>
            <a:ext cx="7892296" cy="5543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00" dirty="0"/>
              <a:t> </a:t>
            </a:r>
            <a:r>
              <a:rPr dirty="0"/>
              <a:t>data:</a:t>
            </a:r>
            <a:r>
              <a:rPr spc="-80" dirty="0"/>
              <a:t> </a:t>
            </a:r>
            <a:r>
              <a:rPr spc="-10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892555"/>
            <a:ext cx="6991349" cy="55965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00" dirty="0"/>
              <a:t> </a:t>
            </a:r>
            <a:r>
              <a:rPr dirty="0"/>
              <a:t>data:</a:t>
            </a:r>
            <a:r>
              <a:rPr spc="-80" dirty="0"/>
              <a:t> </a:t>
            </a:r>
            <a:r>
              <a:rPr spc="-10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9801" y="1822156"/>
            <a:ext cx="4447725" cy="32442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6758" y="1084883"/>
            <a:ext cx="8080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aware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scale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most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algorithms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have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natural,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‘biased’ scale.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26758" y="4888786"/>
            <a:ext cx="7963534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Test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robustness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modify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input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data,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modify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distance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function.</a:t>
            </a: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proper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metrics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compare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partitions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rand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index,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mutual information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281" y="3116679"/>
            <a:ext cx="2371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(modularity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based)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Show</a:t>
            </a:r>
            <a:r>
              <a:rPr spc="-35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26758" y="1926131"/>
            <a:ext cx="3811904" cy="17811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Three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golden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rules: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target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audience,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don’t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mislead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audience,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less</a:t>
            </a:r>
            <a:r>
              <a:rPr sz="2400" spc="-3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more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(usually)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96766" y="2864612"/>
            <a:ext cx="36322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40" dirty="0"/>
              <a:t>Tools</a:t>
            </a:r>
            <a:r>
              <a:rPr sz="3200" spc="-100" dirty="0"/>
              <a:t> </a:t>
            </a:r>
            <a:r>
              <a:rPr sz="3200" dirty="0"/>
              <a:t>for</a:t>
            </a:r>
            <a:r>
              <a:rPr sz="3200" spc="-105" dirty="0"/>
              <a:t> </a:t>
            </a:r>
            <a:r>
              <a:rPr sz="3200" dirty="0"/>
              <a:t>data</a:t>
            </a:r>
            <a:r>
              <a:rPr sz="3200" spc="-120" dirty="0"/>
              <a:t> </a:t>
            </a:r>
            <a:r>
              <a:rPr sz="3200" spc="-10" dirty="0"/>
              <a:t>science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887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8" y="982063"/>
            <a:ext cx="5125720" cy="528002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6E6E6E"/>
                </a:solidFill>
                <a:latin typeface="Calibri"/>
                <a:cs typeface="Calibri"/>
              </a:rPr>
              <a:t>File</a:t>
            </a:r>
            <a:r>
              <a:rPr sz="2400" b="1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1097915" algn="l"/>
              </a:tabLst>
            </a:pPr>
            <a:r>
              <a:rPr sz="1900" b="1" spc="-10" dirty="0">
                <a:solidFill>
                  <a:srgbClr val="6E6E6E"/>
                </a:solidFill>
                <a:latin typeface="Calibri"/>
                <a:cs typeface="Calibri"/>
              </a:rPr>
              <a:t>Advantage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Easy</a:t>
            </a:r>
            <a:r>
              <a:rPr sz="19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to</a:t>
            </a:r>
            <a:r>
              <a:rPr sz="19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53881E"/>
                </a:solidFill>
                <a:latin typeface="Calibri"/>
                <a:cs typeface="Calibri"/>
              </a:rPr>
              <a:t>use</a:t>
            </a:r>
            <a:endParaRPr sz="1900">
              <a:latin typeface="Calibri"/>
              <a:cs typeface="Calibri"/>
            </a:endParaRPr>
          </a:p>
          <a:p>
            <a:pPr marL="1498600" marR="1066800" lvl="2" indent="-342900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8600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Easy</a:t>
            </a:r>
            <a:r>
              <a:rPr sz="19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output/input</a:t>
            </a:r>
            <a:r>
              <a:rPr sz="19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53881E"/>
                </a:solidFill>
                <a:latin typeface="Calibri"/>
                <a:cs typeface="Calibri"/>
              </a:rPr>
              <a:t>from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models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Portable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Easy</a:t>
            </a:r>
            <a:r>
              <a:rPr sz="1900" spc="-10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backup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spc="-30" dirty="0">
                <a:solidFill>
                  <a:srgbClr val="53881E"/>
                </a:solidFill>
                <a:latin typeface="Calibri"/>
                <a:cs typeface="Calibri"/>
              </a:rPr>
              <a:t>CSV,</a:t>
            </a:r>
            <a:r>
              <a:rPr sz="19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53881E"/>
                </a:solidFill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097915" algn="l"/>
              </a:tabLst>
            </a:pPr>
            <a:r>
              <a:rPr sz="1900" b="1" spc="-10" dirty="0">
                <a:solidFill>
                  <a:srgbClr val="6E6E6E"/>
                </a:solidFill>
                <a:latin typeface="Calibri"/>
                <a:cs typeface="Calibri"/>
              </a:rPr>
              <a:t>Disadvantages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Hard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scale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Hard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process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Hard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join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other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Difficult</a:t>
            </a:r>
            <a:r>
              <a:rPr sz="19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maintain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Difficult</a:t>
            </a:r>
            <a:r>
              <a:rPr sz="19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9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sharing/security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Hard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manipulate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(change,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update)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61152" y="927265"/>
            <a:ext cx="3197225" cy="2734310"/>
            <a:chOff x="5561152" y="927265"/>
            <a:chExt cx="3197225" cy="2734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1152" y="927265"/>
              <a:ext cx="2614229" cy="15777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2282" y="1782191"/>
              <a:ext cx="2695573" cy="187898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09209" y="1805940"/>
            <a:ext cx="3747770" cy="2208530"/>
            <a:chOff x="5109209" y="1805940"/>
            <a:chExt cx="3747770" cy="2208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643" y="1929384"/>
              <a:ext cx="3704081" cy="18920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9209" y="1805940"/>
              <a:ext cx="3716272" cy="2208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8262" y="1952625"/>
              <a:ext cx="3612362" cy="18002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98262" y="1952625"/>
              <a:ext cx="3612515" cy="1800225"/>
            </a:xfrm>
            <a:custGeom>
              <a:avLst/>
              <a:gdLst/>
              <a:ahLst/>
              <a:cxnLst/>
              <a:rect l="l" t="t" r="r" b="b"/>
              <a:pathLst>
                <a:path w="3612515" h="1800225">
                  <a:moveTo>
                    <a:pt x="0" y="0"/>
                  </a:moveTo>
                  <a:lnTo>
                    <a:pt x="3612362" y="0"/>
                  </a:lnTo>
                  <a:lnTo>
                    <a:pt x="3612362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8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77007" y="2139759"/>
            <a:ext cx="33299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Calibri"/>
              <a:buChar char="-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might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useful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(see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slides)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Keep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track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folder</a:t>
            </a:r>
            <a:endParaRPr sz="1800">
              <a:latin typeface="Calibri"/>
              <a:cs typeface="Calibri"/>
            </a:endParaRPr>
          </a:p>
          <a:p>
            <a:pPr marL="298450" marR="51435" indent="-285750">
              <a:lnSpc>
                <a:spcPct val="100000"/>
              </a:lnSpc>
              <a:buChar char="-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scripts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(e.g.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folder)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887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88848" y="2009394"/>
            <a:ext cx="3516629" cy="4164329"/>
            <a:chOff x="688848" y="2009394"/>
            <a:chExt cx="3516629" cy="4164329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2282" y="2009394"/>
              <a:ext cx="3473183" cy="41323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848" y="2040635"/>
              <a:ext cx="3342131" cy="41330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192" y="2031999"/>
              <a:ext cx="3381375" cy="40409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8192" y="2031999"/>
              <a:ext cx="3381375" cy="4041140"/>
            </a:xfrm>
            <a:custGeom>
              <a:avLst/>
              <a:gdLst/>
              <a:ahLst/>
              <a:cxnLst/>
              <a:rect l="l" t="t" r="r" b="b"/>
              <a:pathLst>
                <a:path w="3381375" h="4041140">
                  <a:moveTo>
                    <a:pt x="0" y="0"/>
                  </a:moveTo>
                  <a:lnTo>
                    <a:pt x="3381375" y="0"/>
                  </a:lnTo>
                  <a:lnTo>
                    <a:pt x="3381375" y="4040949"/>
                  </a:lnTo>
                  <a:lnTo>
                    <a:pt x="0" y="404094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8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938" y="1059948"/>
            <a:ext cx="3277870" cy="491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6E6E6E"/>
                </a:solidFill>
                <a:latin typeface="Calibri"/>
                <a:cs typeface="Calibri"/>
              </a:rPr>
              <a:t>File</a:t>
            </a:r>
            <a:r>
              <a:rPr sz="2400" b="1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15"/>
              </a:spcBef>
              <a:buClr>
                <a:srgbClr val="6E6E6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619125" lvl="1" indent="-285750">
              <a:lnSpc>
                <a:spcPct val="100000"/>
              </a:lnSpc>
              <a:spcBef>
                <a:spcPts val="5"/>
              </a:spcBef>
              <a:buChar char="-"/>
              <a:tabLst>
                <a:tab pos="61912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Linux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cat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grep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sed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head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tail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pipe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endParaRPr sz="1800">
              <a:latin typeface="Calibri"/>
              <a:cs typeface="Calibri"/>
            </a:endParaRPr>
          </a:p>
          <a:p>
            <a:pPr marL="1076325" lvl="2" indent="-285750">
              <a:lnSpc>
                <a:spcPct val="100000"/>
              </a:lnSpc>
              <a:buChar char="-"/>
              <a:tabLst>
                <a:tab pos="1076325" algn="l"/>
              </a:tabLst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man</a:t>
            </a:r>
            <a:endParaRPr sz="1800">
              <a:latin typeface="Calibri"/>
              <a:cs typeface="Calibri"/>
            </a:endParaRPr>
          </a:p>
          <a:p>
            <a:pPr marL="619125" lvl="1" indent="-285750">
              <a:lnSpc>
                <a:spcPct val="100000"/>
              </a:lnSpc>
              <a:buChar char="-"/>
              <a:tabLst>
                <a:tab pos="619125" algn="l"/>
              </a:tabLst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awk</a:t>
            </a:r>
            <a:endParaRPr sz="1800">
              <a:latin typeface="Calibri"/>
              <a:cs typeface="Calibri"/>
            </a:endParaRPr>
          </a:p>
          <a:p>
            <a:pPr marL="619125" lvl="1" indent="-285750">
              <a:lnSpc>
                <a:spcPct val="100000"/>
              </a:lnSpc>
              <a:buChar char="-"/>
              <a:tabLst>
                <a:tab pos="61912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office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(more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rows)</a:t>
            </a:r>
            <a:endParaRPr sz="1800">
              <a:latin typeface="Calibri"/>
              <a:cs typeface="Calibri"/>
            </a:endParaRPr>
          </a:p>
          <a:p>
            <a:pPr marL="619125" marR="5080" lvl="1" indent="-285750">
              <a:lnSpc>
                <a:spcPct val="100000"/>
              </a:lnSpc>
              <a:buChar char="-"/>
              <a:tabLst>
                <a:tab pos="61912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Sublime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text/Atom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(to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check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files)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 descr="Image result for tools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95297" y="1518310"/>
            <a:ext cx="1142999" cy="1142999"/>
          </a:xfrm>
          <a:prstGeom prst="rect">
            <a:avLst/>
          </a:prstGeom>
        </p:spPr>
      </p:pic>
      <p:pic>
        <p:nvPicPr>
          <p:cNvPr id="16" name="object 16" descr="Image result for tips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49113" y="1167612"/>
            <a:ext cx="808069" cy="1142994"/>
          </a:xfrm>
          <a:prstGeom prst="rect">
            <a:avLst/>
          </a:prstGeom>
        </p:spPr>
      </p:pic>
      <p:pic>
        <p:nvPicPr>
          <p:cNvPr id="17" name="object 17" descr="Image result for linux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15429" y="5247982"/>
            <a:ext cx="888270" cy="104673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887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8" y="1083379"/>
            <a:ext cx="5064760" cy="54775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dirty="0">
                <a:solidFill>
                  <a:srgbClr val="6E6E6E"/>
                </a:solidFill>
                <a:latin typeface="Calibri"/>
                <a:cs typeface="Calibri"/>
              </a:rPr>
              <a:t>Relational</a:t>
            </a:r>
            <a:r>
              <a:rPr sz="2200" b="1" spc="-1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6E6E6E"/>
                </a:solidFill>
                <a:latin typeface="Calibri"/>
                <a:cs typeface="Calibri"/>
              </a:rPr>
              <a:t>database</a:t>
            </a:r>
            <a:endParaRPr sz="22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1097915" algn="l"/>
              </a:tabLst>
            </a:pPr>
            <a:r>
              <a:rPr sz="1800" b="1" spc="-10" dirty="0">
                <a:solidFill>
                  <a:srgbClr val="6E6E6E"/>
                </a:solidFill>
                <a:latin typeface="Calibri"/>
                <a:cs typeface="Calibri"/>
              </a:rPr>
              <a:t>Advantage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Structured</a:t>
            </a:r>
            <a:r>
              <a:rPr sz="18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Query</a:t>
            </a:r>
            <a:r>
              <a:rPr sz="18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Language</a:t>
            </a:r>
            <a:r>
              <a:rPr sz="18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3881E"/>
                </a:solidFill>
                <a:latin typeface="Calibri"/>
                <a:cs typeface="Calibri"/>
              </a:rPr>
              <a:t>(SQL)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Easy</a:t>
            </a:r>
            <a:r>
              <a:rPr sz="18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join</a:t>
            </a:r>
            <a:r>
              <a:rPr sz="18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3881E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Server</a:t>
            </a:r>
            <a:r>
              <a:rPr sz="1800" spc="-3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based</a:t>
            </a:r>
            <a:r>
              <a:rPr sz="1800" spc="-2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solutions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Secure</a:t>
            </a:r>
            <a:r>
              <a:rPr sz="18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View</a:t>
            </a:r>
            <a:r>
              <a:rPr sz="1800" spc="-2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on</a:t>
            </a:r>
            <a:r>
              <a:rPr sz="1800" spc="-3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3881E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Explore</a:t>
            </a:r>
            <a:r>
              <a:rPr sz="18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with</a:t>
            </a:r>
            <a:r>
              <a:rPr sz="1800" spc="-5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interface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Structure</a:t>
            </a:r>
            <a:r>
              <a:rPr sz="18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of</a:t>
            </a:r>
            <a:r>
              <a:rPr sz="18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database</a:t>
            </a:r>
            <a:r>
              <a:rPr sz="1800" spc="-5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3881E"/>
                </a:solidFill>
                <a:latin typeface="Calibri"/>
                <a:cs typeface="Calibri"/>
              </a:rPr>
              <a:t>(UML)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API</a:t>
            </a:r>
            <a:r>
              <a:rPr sz="18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programming</a:t>
            </a:r>
            <a:r>
              <a:rPr sz="1800" spc="-3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marL="1498600" marR="5080" lvl="2" indent="-342900">
              <a:lnSpc>
                <a:spcPts val="1939"/>
              </a:lnSpc>
              <a:spcBef>
                <a:spcPts val="465"/>
              </a:spcBef>
              <a:buFont typeface="Arial MT"/>
              <a:buChar char="•"/>
              <a:tabLst>
                <a:tab pos="1498600" algn="l"/>
              </a:tabLst>
            </a:pP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ACID</a:t>
            </a:r>
            <a:r>
              <a:rPr sz="18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principle</a:t>
            </a:r>
            <a:r>
              <a:rPr sz="18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3881E"/>
                </a:solidFill>
                <a:latin typeface="Calibri"/>
                <a:cs typeface="Calibri"/>
              </a:rPr>
              <a:t>(Atomicity,</a:t>
            </a:r>
            <a:r>
              <a:rPr sz="1800" spc="-4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Consistency, </a:t>
            </a:r>
            <a:r>
              <a:rPr sz="1800" dirty="0">
                <a:solidFill>
                  <a:srgbClr val="53881E"/>
                </a:solidFill>
                <a:latin typeface="Calibri"/>
                <a:cs typeface="Calibri"/>
              </a:rPr>
              <a:t>Isolation,</a:t>
            </a:r>
            <a:r>
              <a:rPr sz="1800" spc="-8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3881E"/>
                </a:solidFill>
                <a:latin typeface="Calibri"/>
                <a:cs typeface="Calibri"/>
              </a:rPr>
              <a:t>Durability)</a:t>
            </a:r>
            <a:endParaRPr sz="18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1097915" algn="l"/>
              </a:tabLst>
            </a:pPr>
            <a:r>
              <a:rPr sz="1800" b="1" spc="-10" dirty="0">
                <a:solidFill>
                  <a:srgbClr val="6E6E6E"/>
                </a:solidFill>
                <a:latin typeface="Calibri"/>
                <a:cs typeface="Calibri"/>
              </a:rPr>
              <a:t>Disadvantages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Might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difficult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scale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Slower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Dynamic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definition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Harder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keep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traceability</a:t>
            </a:r>
            <a:endParaRPr sz="18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9796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configuration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perfomances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MySQL Workbench - Visual Database Desig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0209" y="1046746"/>
            <a:ext cx="3289464" cy="2465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09209" y="1929383"/>
            <a:ext cx="3516629" cy="2444750"/>
            <a:chOff x="5109209" y="1929383"/>
            <a:chExt cx="3516629" cy="2444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643" y="1929383"/>
              <a:ext cx="3473195" cy="24444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9209" y="2077211"/>
              <a:ext cx="89103" cy="22166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8262" y="1952624"/>
              <a:ext cx="3381375" cy="23526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98262" y="1952624"/>
              <a:ext cx="3381375" cy="2352675"/>
            </a:xfrm>
            <a:custGeom>
              <a:avLst/>
              <a:gdLst/>
              <a:ahLst/>
              <a:cxnLst/>
              <a:rect l="l" t="t" r="r" b="b"/>
              <a:pathLst>
                <a:path w="3381375" h="2352675">
                  <a:moveTo>
                    <a:pt x="0" y="0"/>
                  </a:moveTo>
                  <a:lnTo>
                    <a:pt x="3381375" y="0"/>
                  </a:lnTo>
                  <a:lnTo>
                    <a:pt x="3381375" y="2352675"/>
                  </a:lnTo>
                  <a:lnTo>
                    <a:pt x="0" y="23526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8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77007" y="2141664"/>
            <a:ext cx="289814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Calibri"/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Indexes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ids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Foreign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1800">
              <a:latin typeface="Calibri"/>
              <a:cs typeface="Calibri"/>
            </a:endParaRPr>
          </a:p>
          <a:p>
            <a:pPr marL="298450" marR="451484" indent="-285750">
              <a:lnSpc>
                <a:spcPct val="100000"/>
              </a:lnSpc>
              <a:buChar char="-"/>
              <a:tabLst>
                <a:tab pos="29845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 parameters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r>
              <a:rPr sz="18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8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887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5457" y="1059948"/>
            <a:ext cx="2987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Relational</a:t>
            </a:r>
            <a:r>
              <a:rPr sz="2400" b="1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databases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8848" y="2009394"/>
            <a:ext cx="3516629" cy="3202940"/>
            <a:chOff x="688848" y="2009394"/>
            <a:chExt cx="3516629" cy="32029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2282" y="2009394"/>
              <a:ext cx="3473183" cy="32026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848" y="2125218"/>
              <a:ext cx="2471927" cy="30358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192" y="2031999"/>
              <a:ext cx="3381375" cy="3111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8192" y="2031999"/>
              <a:ext cx="3381375" cy="3111500"/>
            </a:xfrm>
            <a:custGeom>
              <a:avLst/>
              <a:gdLst/>
              <a:ahLst/>
              <a:cxnLst/>
              <a:rect l="l" t="t" r="r" b="b"/>
              <a:pathLst>
                <a:path w="3381375" h="3111500">
                  <a:moveTo>
                    <a:pt x="0" y="0"/>
                  </a:moveTo>
                  <a:lnTo>
                    <a:pt x="3381375" y="0"/>
                  </a:lnTo>
                  <a:lnTo>
                    <a:pt x="3381375" y="3111500"/>
                  </a:lnTo>
                  <a:lnTo>
                    <a:pt x="0" y="31115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8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6932" y="2188971"/>
            <a:ext cx="208661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Workbench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Sequel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160"/>
              </a:spcBef>
              <a:buChar char="-"/>
              <a:tabLst>
                <a:tab pos="2978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PostreSQL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160"/>
              </a:spcBef>
              <a:buChar char="-"/>
              <a:tabLst>
                <a:tab pos="2978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MariaDB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160"/>
              </a:spcBef>
              <a:buChar char="-"/>
              <a:tabLst>
                <a:tab pos="2978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SQLite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36799" y="1381125"/>
            <a:ext cx="2283460" cy="3676650"/>
            <a:chOff x="2636799" y="1381125"/>
            <a:chExt cx="2283460" cy="3676650"/>
          </a:xfrm>
        </p:grpSpPr>
        <p:pic>
          <p:nvPicPr>
            <p:cNvPr id="17" name="object 17" descr="Image result for tools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76839" y="1381125"/>
              <a:ext cx="1142999" cy="1142999"/>
            </a:xfrm>
            <a:prstGeom prst="rect">
              <a:avLst/>
            </a:prstGeom>
          </p:spPr>
        </p:pic>
        <p:pic>
          <p:nvPicPr>
            <p:cNvPr id="18" name="object 18" descr="Related image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5671" y="2202945"/>
              <a:ext cx="1325064" cy="918803"/>
            </a:xfrm>
            <a:prstGeom prst="rect">
              <a:avLst/>
            </a:prstGeom>
          </p:spPr>
        </p:pic>
        <p:pic>
          <p:nvPicPr>
            <p:cNvPr id="19" name="object 19" descr="Image result for postgresql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6107" y="3138855"/>
              <a:ext cx="558935" cy="576719"/>
            </a:xfrm>
            <a:prstGeom prst="rect">
              <a:avLst/>
            </a:prstGeom>
          </p:spPr>
        </p:pic>
        <p:pic>
          <p:nvPicPr>
            <p:cNvPr id="20" name="object 20" descr="Image result for mariadb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84638" y="3529391"/>
              <a:ext cx="1084001" cy="1084001"/>
            </a:xfrm>
            <a:prstGeom prst="rect">
              <a:avLst/>
            </a:prstGeom>
          </p:spPr>
        </p:pic>
        <p:pic>
          <p:nvPicPr>
            <p:cNvPr id="21" name="object 21" descr="Image result for sqlite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36799" y="4425862"/>
              <a:ext cx="1332775" cy="631911"/>
            </a:xfrm>
            <a:prstGeom prst="rect">
              <a:avLst/>
            </a:prstGeom>
          </p:spPr>
        </p:pic>
      </p:grpSp>
      <p:pic>
        <p:nvPicPr>
          <p:cNvPr id="22" name="object 22" descr="Image result for tips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49113" y="1167612"/>
            <a:ext cx="808069" cy="1142994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887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38" y="1075308"/>
            <a:ext cx="7954009" cy="50990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Non-Relational</a:t>
            </a:r>
            <a:r>
              <a:rPr sz="2400" b="1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E6E6E"/>
                </a:solidFill>
                <a:latin typeface="Calibri"/>
                <a:cs typeface="Calibri"/>
              </a:rPr>
              <a:t>database</a:t>
            </a:r>
            <a:r>
              <a:rPr sz="2400" b="1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(NoSQL)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1097915" algn="l"/>
              </a:tabLst>
            </a:pPr>
            <a:r>
              <a:rPr sz="1900" b="1" spc="-10" dirty="0">
                <a:solidFill>
                  <a:srgbClr val="6E6E6E"/>
                </a:solidFill>
                <a:latin typeface="Calibri"/>
                <a:cs typeface="Calibri"/>
              </a:rPr>
              <a:t>Advantage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Address</a:t>
            </a:r>
            <a:r>
              <a:rPr sz="19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the</a:t>
            </a:r>
            <a:r>
              <a:rPr sz="1900" spc="-5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scalability</a:t>
            </a:r>
            <a:r>
              <a:rPr sz="1900" spc="-6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problem</a:t>
            </a:r>
            <a:r>
              <a:rPr sz="19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characteristic</a:t>
            </a:r>
            <a:r>
              <a:rPr sz="19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53881E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Schema-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free</a:t>
            </a:r>
            <a:r>
              <a:rPr sz="19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and</a:t>
            </a:r>
            <a:r>
              <a:rPr sz="1900" spc="-3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built</a:t>
            </a:r>
            <a:r>
              <a:rPr sz="19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on</a:t>
            </a:r>
            <a:r>
              <a:rPr sz="1900" spc="-3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distributed</a:t>
            </a:r>
            <a:r>
              <a:rPr sz="1900" spc="-4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systems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Access</a:t>
            </a:r>
            <a:r>
              <a:rPr sz="1900" spc="-6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53881E"/>
                </a:solidFill>
                <a:latin typeface="Calibri"/>
                <a:cs typeface="Calibri"/>
              </a:rPr>
              <a:t>time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Massive</a:t>
            </a:r>
            <a:r>
              <a:rPr sz="1900" spc="-7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volumes</a:t>
            </a:r>
            <a:r>
              <a:rPr sz="1900" spc="-7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of</a:t>
            </a:r>
            <a:r>
              <a:rPr sz="1900" spc="-7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45" dirty="0">
                <a:solidFill>
                  <a:srgbClr val="53881E"/>
                </a:solidFill>
                <a:latin typeface="Calibri"/>
                <a:cs typeface="Calibri"/>
              </a:rPr>
              <a:t>new,</a:t>
            </a:r>
            <a:r>
              <a:rPr sz="1900" spc="-6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rapidly</a:t>
            </a:r>
            <a:r>
              <a:rPr sz="19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changing</a:t>
            </a:r>
            <a:r>
              <a:rPr sz="1900" spc="-6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data</a:t>
            </a:r>
            <a:r>
              <a:rPr sz="1900" spc="-6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types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Object-oriented</a:t>
            </a:r>
            <a:r>
              <a:rPr sz="1900" spc="-15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programming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53881E"/>
                </a:solidFill>
                <a:latin typeface="Calibri"/>
                <a:cs typeface="Calibri"/>
              </a:rPr>
              <a:t>Dynamic</a:t>
            </a:r>
            <a:r>
              <a:rPr sz="1900" spc="-60" dirty="0">
                <a:solidFill>
                  <a:srgbClr val="53881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53881E"/>
                </a:solidFill>
                <a:latin typeface="Calibri"/>
                <a:cs typeface="Calibri"/>
              </a:rPr>
              <a:t>schemas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spc="-25" dirty="0">
                <a:solidFill>
                  <a:srgbClr val="53881E"/>
                </a:solidFill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097915" algn="l"/>
              </a:tabLst>
            </a:pPr>
            <a:r>
              <a:rPr sz="1900" b="1" spc="-10" dirty="0">
                <a:solidFill>
                  <a:srgbClr val="6E6E6E"/>
                </a:solidFill>
                <a:latin typeface="Calibri"/>
                <a:cs typeface="Calibri"/>
              </a:rPr>
              <a:t>Disadvantages</a:t>
            </a:r>
            <a:endParaRPr sz="1900">
              <a:latin typeface="Calibri"/>
              <a:cs typeface="Calibri"/>
            </a:endParaRPr>
          </a:p>
          <a:p>
            <a:pPr marL="1498600" marR="5080" lvl="2" indent="-342900">
              <a:lnSpc>
                <a:spcPts val="2050"/>
              </a:lnSpc>
              <a:spcBef>
                <a:spcPts val="484"/>
              </a:spcBef>
              <a:buFont typeface="Arial MT"/>
              <a:buChar char="•"/>
              <a:tabLst>
                <a:tab pos="1498600" algn="l"/>
              </a:tabLst>
            </a:pP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Relaxed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ACID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principles: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eventual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consistency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(if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alibri"/>
                <a:cs typeface="Calibri"/>
              </a:rPr>
              <a:t>new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updates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particular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item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certain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period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time, eventually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accesses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will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return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last</a:t>
            </a:r>
            <a:r>
              <a:rPr sz="19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updated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value)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may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lead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loss</a:t>
            </a:r>
            <a:r>
              <a:rPr sz="1900" spc="3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(quality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application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code)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Heterogeneity</a:t>
            </a:r>
            <a:r>
              <a:rPr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systems</a:t>
            </a:r>
            <a:r>
              <a:rPr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(little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uniformity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among</a:t>
            </a:r>
            <a:r>
              <a:rPr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them)</a:t>
            </a:r>
            <a:endParaRPr sz="19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497965" algn="l"/>
              </a:tabLst>
            </a:pP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Lack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standardisation</a:t>
            </a:r>
            <a:r>
              <a:rPr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(maturity)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35702" y="1929383"/>
            <a:ext cx="3390265" cy="1835150"/>
            <a:chOff x="5235702" y="1929383"/>
            <a:chExt cx="3390265" cy="1835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8374" y="1929383"/>
              <a:ext cx="3347465" cy="18348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5702" y="2321051"/>
              <a:ext cx="88785" cy="11193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4475" y="1952624"/>
              <a:ext cx="3255162" cy="17430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24475" y="1952624"/>
              <a:ext cx="3255645" cy="1743075"/>
            </a:xfrm>
            <a:custGeom>
              <a:avLst/>
              <a:gdLst/>
              <a:ahLst/>
              <a:cxnLst/>
              <a:rect l="l" t="t" r="r" b="b"/>
              <a:pathLst>
                <a:path w="3255645" h="1743075">
                  <a:moveTo>
                    <a:pt x="0" y="0"/>
                  </a:moveTo>
                  <a:lnTo>
                    <a:pt x="3255162" y="0"/>
                  </a:lnTo>
                  <a:lnTo>
                    <a:pt x="3255162" y="1743075"/>
                  </a:lnTo>
                  <a:lnTo>
                    <a:pt x="0" y="17430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8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03215" y="2385504"/>
            <a:ext cx="29070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Calibri"/>
              <a:buChar char="-"/>
              <a:tabLst>
                <a:tab pos="29845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implementations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/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alternatives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8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online!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887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storage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38" y="1059948"/>
            <a:ext cx="36087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Non-Relational</a:t>
            </a:r>
            <a:r>
              <a:rPr sz="2400" b="1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E6E6E"/>
                </a:solidFill>
                <a:latin typeface="Calibri"/>
                <a:cs typeface="Calibri"/>
              </a:rPr>
              <a:t>databases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3652" y="1802130"/>
            <a:ext cx="4321810" cy="3854450"/>
            <a:chOff x="263652" y="1802130"/>
            <a:chExt cx="4321810" cy="38544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324" y="1981200"/>
              <a:ext cx="4278629" cy="34274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652" y="1802130"/>
              <a:ext cx="2582417" cy="38541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425" y="2003945"/>
              <a:ext cx="4186986" cy="33357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2425" y="2003945"/>
              <a:ext cx="4187190" cy="3336290"/>
            </a:xfrm>
            <a:custGeom>
              <a:avLst/>
              <a:gdLst/>
              <a:ahLst/>
              <a:cxnLst/>
              <a:rect l="l" t="t" r="r" b="b"/>
              <a:pathLst>
                <a:path w="4187190" h="3336290">
                  <a:moveTo>
                    <a:pt x="0" y="0"/>
                  </a:moveTo>
                  <a:lnTo>
                    <a:pt x="4186986" y="0"/>
                  </a:lnTo>
                  <a:lnTo>
                    <a:pt x="4186986" y="3335743"/>
                  </a:lnTo>
                  <a:lnTo>
                    <a:pt x="0" y="333574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85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1165" y="2684519"/>
            <a:ext cx="219773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CASSANDRA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160"/>
              </a:spcBef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HBASE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160"/>
              </a:spcBef>
              <a:buChar char="-"/>
              <a:tabLst>
                <a:tab pos="2978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mongoDB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160"/>
              </a:spcBef>
              <a:buChar char="-"/>
              <a:tabLst>
                <a:tab pos="2978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Dynamo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29271" y="1518310"/>
            <a:ext cx="3885565" cy="4920615"/>
            <a:chOff x="929271" y="1518310"/>
            <a:chExt cx="3885565" cy="4920615"/>
          </a:xfrm>
        </p:grpSpPr>
        <p:pic>
          <p:nvPicPr>
            <p:cNvPr id="17" name="object 17" descr="Image result for tools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71497" y="1518310"/>
              <a:ext cx="1142999" cy="1142999"/>
            </a:xfrm>
            <a:prstGeom prst="rect">
              <a:avLst/>
            </a:prstGeom>
          </p:spPr>
        </p:pic>
        <p:pic>
          <p:nvPicPr>
            <p:cNvPr id="18" name="object 18" descr="Related image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2868" y="3487434"/>
              <a:ext cx="1059272" cy="1059279"/>
            </a:xfrm>
            <a:prstGeom prst="rect">
              <a:avLst/>
            </a:prstGeom>
          </p:spPr>
        </p:pic>
        <p:pic>
          <p:nvPicPr>
            <p:cNvPr id="19" name="object 19" descr="Apache Cassandra logo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7106" y="2500642"/>
              <a:ext cx="1428748" cy="295600"/>
            </a:xfrm>
            <a:prstGeom prst="rect">
              <a:avLst/>
            </a:prstGeom>
          </p:spPr>
        </p:pic>
        <p:pic>
          <p:nvPicPr>
            <p:cNvPr id="20" name="object 20" descr="Image result for Apache HBase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87959" y="2918040"/>
              <a:ext cx="913290" cy="560937"/>
            </a:xfrm>
            <a:prstGeom prst="rect">
              <a:avLst/>
            </a:prstGeom>
          </p:spPr>
        </p:pic>
        <p:pic>
          <p:nvPicPr>
            <p:cNvPr id="21" name="object 21" descr="Image result for amazon dynamodb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80167" y="4472018"/>
              <a:ext cx="1440474" cy="720236"/>
            </a:xfrm>
            <a:prstGeom prst="rect">
              <a:avLst/>
            </a:prstGeom>
          </p:spPr>
        </p:pic>
        <p:pic>
          <p:nvPicPr>
            <p:cNvPr id="22" name="object 22" descr="Image result for nosql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9271" y="5225300"/>
              <a:ext cx="3091383" cy="1213366"/>
            </a:xfrm>
            <a:prstGeom prst="rect">
              <a:avLst/>
            </a:prstGeom>
          </p:spPr>
        </p:pic>
      </p:grpSp>
      <p:pic>
        <p:nvPicPr>
          <p:cNvPr id="23" name="object 23" descr="Image result for tips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49113" y="1167612"/>
            <a:ext cx="808069" cy="1142994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14400"/>
            <a:ext cx="7753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30" dirty="0">
                <a:solidFill>
                  <a:srgbClr val="6EB628"/>
                </a:solidFill>
                <a:latin typeface="Calibri"/>
                <a:cs typeface="Calibri"/>
              </a:rPr>
              <a:t>Tableau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(commercial):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fusion,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correction,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cleaning,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943793"/>
            <a:ext cx="7924800" cy="48261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130489"/>
            <a:ext cx="7898765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2194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Matlab</a:t>
            </a:r>
            <a:r>
              <a:rPr sz="2400" spc="-8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(commercial,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equivalent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open-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source: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Sage,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Scilab, Octave):</a:t>
            </a:r>
            <a:endParaRPr sz="2400">
              <a:latin typeface="Calibri"/>
              <a:cs typeface="Calibri"/>
            </a:endParaRPr>
          </a:p>
          <a:p>
            <a:pPr marL="342265" marR="922655" lvl="1" indent="-342265" algn="r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422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Excellent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at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numerical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analysis.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Lots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libraries.</a:t>
            </a:r>
            <a:endParaRPr sz="2400">
              <a:latin typeface="Calibri"/>
              <a:cs typeface="Calibri"/>
            </a:endParaRPr>
          </a:p>
          <a:p>
            <a:pPr marL="342265" marR="915035" indent="-342265" algn="r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422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Excel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!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Open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source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Libreoffice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can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handle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more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rows.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Python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(free,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open-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source):</a:t>
            </a:r>
            <a:endParaRPr sz="2400">
              <a:latin typeface="Calibri"/>
              <a:cs typeface="Calibri"/>
            </a:endParaRPr>
          </a:p>
          <a:p>
            <a:pPr marL="342265" marR="1390650" lvl="1" indent="-342265" algn="r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422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Jupyter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notebook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(interactive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python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shell).</a:t>
            </a:r>
            <a:endParaRPr sz="2400">
              <a:latin typeface="Calibri"/>
              <a:cs typeface="Calibri"/>
            </a:endParaRPr>
          </a:p>
          <a:p>
            <a:pPr marL="342265" marR="1342390" lvl="2" indent="-342265" algn="r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422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Easy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share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results.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Collaborative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version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from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google.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Pandas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build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“dataframes”.</a:t>
            </a:r>
            <a:endParaRPr sz="2400">
              <a:latin typeface="Calibri"/>
              <a:cs typeface="Calibri"/>
            </a:endParaRPr>
          </a:p>
          <a:p>
            <a:pPr marL="1097915" marR="5080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Geographical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cartopy,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basemap,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geopandas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(built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pandas).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Manage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projections,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distances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Big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community,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open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modules,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easy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learn.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handling</a:t>
            </a:r>
            <a:r>
              <a:rPr spc="-75" dirty="0"/>
              <a:t> </a:t>
            </a:r>
            <a:r>
              <a:rPr spc="-10" dirty="0"/>
              <a:t>(jupyter)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158" y="1047750"/>
            <a:ext cx="8339931" cy="50784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10" dirty="0"/>
              <a:t> development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825881"/>
            <a:ext cx="7698105" cy="56584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Low-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level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languages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computational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power: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C/C++.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High-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level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languages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use: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Python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498600" marR="5080" lvl="2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8600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Advantages: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easy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learn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use,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massive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numerical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libraries,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full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power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‘real’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language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simulations: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simpy,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ABM: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Mesa,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scientific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(algebra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etc):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numpy,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scipy,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database(s)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interface: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alchemy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file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access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(csv,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excel,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jason):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pandas.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multiprocessing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1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simple</a:t>
            </a:r>
            <a:r>
              <a:rPr sz="2400" spc="-1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CPU</a:t>
            </a:r>
            <a:r>
              <a:rPr sz="2400" spc="-1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parallelisation.</a:t>
            </a:r>
            <a:endParaRPr sz="2400">
              <a:latin typeface="Calibri"/>
              <a:cs typeface="Calibri"/>
            </a:endParaRPr>
          </a:p>
          <a:p>
            <a:pPr marL="12700" marR="2705735" lvl="2" indent="1485265">
              <a:lnSpc>
                <a:spcPct val="120000"/>
              </a:lnSpc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Numba: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GPU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parallelisation.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Rmk: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Windows,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Anaconda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suite.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10" dirty="0"/>
              <a:t> 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742" y="1276350"/>
            <a:ext cx="7622289" cy="47831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10" dirty="0"/>
              <a:t> development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057336"/>
            <a:ext cx="7773670" cy="49631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Java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Dedicated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frameworks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ABMs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(Java):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Jade,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Jadex.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Faster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than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Python.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Less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obvious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syntax,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harder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learn.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Not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used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handling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visualisation.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6E6E6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90"/>
              </a:spcBef>
              <a:buClr>
                <a:srgbClr val="6E6E6E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ts val="259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Don’t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hesitate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version-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control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tool,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like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git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Quick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learn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very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useful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keep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track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changes,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even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if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you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develop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alone.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(rmk: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free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Github</a:t>
            </a:r>
            <a:r>
              <a:rPr sz="2400" spc="-6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space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academics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and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students).</a:t>
            </a:r>
            <a:endParaRPr sz="2400">
              <a:latin typeface="Calibri"/>
              <a:cs typeface="Calibri"/>
            </a:endParaRPr>
          </a:p>
          <a:p>
            <a:pPr marL="355600" marR="336550" indent="-343535">
              <a:lnSpc>
                <a:spcPts val="2590"/>
              </a:lnSpc>
              <a:spcBef>
                <a:spcPts val="58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bash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scripts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(or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python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scripts…)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equivalent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run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batch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simulations.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analysis/modelling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787782"/>
            <a:ext cx="8021320" cy="37566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Python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pandas/numpy: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can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quickly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extract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standard</a:t>
            </a:r>
            <a:r>
              <a:rPr sz="2400" spc="-8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statistics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scipy,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scipy.stats: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useful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tools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like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z-scores.</a:t>
            </a:r>
            <a:endParaRPr sz="2400">
              <a:latin typeface="Calibri"/>
              <a:cs typeface="Calibri"/>
            </a:endParaRPr>
          </a:p>
          <a:p>
            <a:pPr marL="1098550" marR="894715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8550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scikit-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learn: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more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depth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analysis.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Dedicated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machine</a:t>
            </a:r>
            <a:r>
              <a:rPr sz="2400" spc="-7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learning.</a:t>
            </a:r>
            <a:endParaRPr sz="2400">
              <a:latin typeface="Calibri"/>
              <a:cs typeface="Calibri"/>
            </a:endParaRPr>
          </a:p>
          <a:p>
            <a:pPr marL="1097915" marR="164465" lvl="1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networkx: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useful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network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data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Can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easily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compute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degree,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strength,</a:t>
            </a:r>
            <a:r>
              <a:rPr sz="2400" spc="-10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cliques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097915" marR="5080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TensorFlow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(from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Google),</a:t>
            </a:r>
            <a:r>
              <a:rPr sz="2400" spc="4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Keras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(using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TensorFlow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theano):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deep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learning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(or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not…).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analysis/modelling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787782"/>
            <a:ext cx="7973059" cy="30251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”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(free,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open-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source):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very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focused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statistics,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easy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learn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use,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lots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libraries.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Tableau,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Matlab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etc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Julia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new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language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designed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data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science.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Still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young,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but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promising.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5" dirty="0"/>
              <a:t> </a:t>
            </a:r>
            <a:r>
              <a:rPr spc="-10" dirty="0"/>
              <a:t>analysis/clustering</a:t>
            </a:r>
            <a:r>
              <a:rPr spc="-114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911606"/>
            <a:ext cx="7901940" cy="37566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Python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Clustering</a:t>
            </a:r>
            <a:r>
              <a:rPr sz="2400" spc="-8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(Kmeans,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mean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shift,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etc):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scikit-learn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Community</a:t>
            </a:r>
            <a:r>
              <a:rPr sz="2400" spc="-8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detection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497965" lvl="2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497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Infomap: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now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usable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Python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(and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networkx)</a:t>
            </a:r>
            <a:endParaRPr sz="2400">
              <a:latin typeface="Calibri"/>
              <a:cs typeface="Calibri"/>
            </a:endParaRPr>
          </a:p>
          <a:p>
            <a:pPr marL="1498600" marR="5080" lvl="2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498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Simple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modularity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maximisation: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include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networkx.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More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advanced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capabilities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other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non-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standard</a:t>
            </a:r>
            <a:r>
              <a:rPr sz="2400" spc="-10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library.</a:t>
            </a:r>
            <a:endParaRPr sz="2400">
              <a:latin typeface="Calibri"/>
              <a:cs typeface="Calibri"/>
            </a:endParaRPr>
          </a:p>
          <a:p>
            <a:pPr marL="355600" marR="22288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OSLOM: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powerful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algorithm,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tool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written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executed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script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97497"/>
            <a:ext cx="19500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Optimisation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749681"/>
            <a:ext cx="7936230" cy="57683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Look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literature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for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guidance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Find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out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characteristics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problem: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Several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variables?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Bounded?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Discrete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optimization?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Continuous?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One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minimum?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Several?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Computational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load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point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estimation?</a:t>
            </a:r>
            <a:endParaRPr sz="2400">
              <a:latin typeface="Calibri"/>
              <a:cs typeface="Calibri"/>
            </a:endParaRPr>
          </a:p>
          <a:p>
            <a:pPr marL="354965" marR="893444" indent="-342900">
              <a:lnSpc>
                <a:spcPts val="259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Good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candidates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(scipy.optimize,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google_or,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or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pyomo modules):</a:t>
            </a:r>
            <a:endParaRPr sz="2400">
              <a:latin typeface="Calibri"/>
              <a:cs typeface="Calibri"/>
            </a:endParaRPr>
          </a:p>
          <a:p>
            <a:pPr marL="1097915" marR="5080" lvl="1" indent="-342900">
              <a:lnSpc>
                <a:spcPts val="2590"/>
              </a:lnSpc>
              <a:spcBef>
                <a:spcPts val="58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Basin-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hopping,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simulated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annealing,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genetic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algorithm: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good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unknown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energy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landscape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Long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converge.</a:t>
            </a:r>
            <a:endParaRPr sz="2400">
              <a:latin typeface="Calibri"/>
              <a:cs typeface="Calibri"/>
            </a:endParaRPr>
          </a:p>
          <a:p>
            <a:pPr marL="1098550" marR="454025" lvl="1" indent="-343535">
              <a:lnSpc>
                <a:spcPts val="2590"/>
              </a:lnSpc>
              <a:spcBef>
                <a:spcPts val="580"/>
              </a:spcBef>
              <a:buFont typeface="Arial MT"/>
              <a:buChar char="•"/>
              <a:tabLst>
                <a:tab pos="1098550" algn="l"/>
              </a:tabLst>
            </a:pP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Gradient-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based</a:t>
            </a:r>
            <a:r>
              <a:rPr sz="2400" spc="-1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methods.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Usually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good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unique minimum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098550" marR="1320165" lvl="1" indent="-342900">
              <a:lnSpc>
                <a:spcPts val="2590"/>
              </a:lnSpc>
              <a:spcBef>
                <a:spcPts val="580"/>
              </a:spcBef>
              <a:buFont typeface="Arial MT"/>
              <a:buChar char="•"/>
              <a:tabLst>
                <a:tab pos="1098550" algn="l"/>
              </a:tabLst>
            </a:pP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(Mixed-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)integer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linear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or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quadratic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methods. Deterministic.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3139" y="1130489"/>
            <a:ext cx="8016240" cy="448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most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scientists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working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with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Python,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matplotlib</a:t>
            </a:r>
            <a:r>
              <a:rPr sz="2400" spc="-5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way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go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graphs.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Some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improvements:</a:t>
            </a:r>
            <a:endParaRPr sz="2400">
              <a:latin typeface="Calibri"/>
              <a:cs typeface="Calibri"/>
            </a:endParaRPr>
          </a:p>
          <a:p>
            <a:pPr marL="1098550" marR="271145" lvl="1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855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Shapely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8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easily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polygons.</a:t>
            </a:r>
            <a:r>
              <a:rPr sz="2400" spc="-9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Very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useful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airspaces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Seaborn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statistical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visualisations.</a:t>
            </a:r>
            <a:endParaRPr sz="2400">
              <a:latin typeface="Calibri"/>
              <a:cs typeface="Calibri"/>
            </a:endParaRPr>
          </a:p>
          <a:p>
            <a:pPr marL="1097915" lvl="1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097915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Ggplot2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nice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plots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Wingdings"/>
                <a:cs typeface="Wingdings"/>
              </a:rPr>
              <a:t>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095375" marR="508000" lvl="1" indent="-340360" algn="just">
              <a:lnSpc>
                <a:spcPct val="99600"/>
              </a:lnSpc>
              <a:spcBef>
                <a:spcPts val="590"/>
              </a:spcBef>
              <a:buFont typeface="Arial MT"/>
              <a:buChar char="•"/>
              <a:tabLst>
                <a:tab pos="109855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Plotly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:</a:t>
            </a:r>
            <a:r>
              <a:rPr sz="2400" spc="-6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non-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open,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API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using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D3.js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under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hood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6E6E6E"/>
                </a:solidFill>
                <a:latin typeface="Wingdings"/>
                <a:cs typeface="Wingdings"/>
              </a:rPr>
              <a:t></a:t>
            </a:r>
            <a:r>
              <a:rPr sz="2400" spc="-50" dirty="0">
                <a:solidFill>
                  <a:srgbClr val="6E6E6E"/>
                </a:solidFill>
                <a:latin typeface="Times New Roman"/>
                <a:cs typeface="Times New Roman"/>
              </a:rPr>
              <a:t> 	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interactive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display.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Drawback:</a:t>
            </a:r>
            <a:r>
              <a:rPr sz="2400" spc="-7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connect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the 	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server.</a:t>
            </a:r>
            <a:endParaRPr sz="2400">
              <a:latin typeface="Calibri"/>
              <a:cs typeface="Calibri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Google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map</a:t>
            </a:r>
            <a:r>
              <a:rPr sz="2400" spc="-5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Python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(and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other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languages…)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API.</a:t>
            </a:r>
            <a:endParaRPr sz="2400">
              <a:latin typeface="Calibri"/>
              <a:cs typeface="Calibri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Blender</a:t>
            </a:r>
            <a:r>
              <a:rPr sz="2400" spc="-4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3D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visualization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(Python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console).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999" y="638495"/>
            <a:ext cx="5156250" cy="59179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704" y="801243"/>
            <a:ext cx="7084719" cy="57551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61" y="1364900"/>
            <a:ext cx="6138356" cy="47326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7783" y="858837"/>
            <a:ext cx="5277365" cy="55302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144" y="1637388"/>
            <a:ext cx="5812254" cy="4711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093913"/>
            <a:ext cx="7804784" cy="37636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2270" marR="5080" indent="-3429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8227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D3.js</a:t>
            </a:r>
            <a:r>
              <a:rPr sz="2400" spc="-7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(free):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JavaScript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library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do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beautiful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interactive graphs.</a:t>
            </a:r>
            <a:endParaRPr sz="2400">
              <a:latin typeface="Calibri"/>
              <a:cs typeface="Calibri"/>
            </a:endParaRPr>
          </a:p>
          <a:p>
            <a:pPr marL="355600" marR="5317490" indent="-3429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Google</a:t>
            </a:r>
            <a:r>
              <a:rPr sz="2400" spc="-3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Earth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accepts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XML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files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display polygons, trajectories</a:t>
            </a:r>
            <a:r>
              <a:rPr sz="2400" spc="-3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355600" marR="5269230" indent="-3435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6EB628"/>
                </a:solidFill>
                <a:latin typeface="Calibri"/>
                <a:cs typeface="Calibri"/>
              </a:rPr>
              <a:t>Gephi</a:t>
            </a:r>
            <a:r>
              <a:rPr sz="2400" spc="-60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(open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source,</a:t>
            </a:r>
            <a:r>
              <a:rPr sz="2400" spc="-8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free)</a:t>
            </a:r>
            <a:r>
              <a:rPr sz="2400" spc="-7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for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graphs/networks.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visualisation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84758"/>
            <a:ext cx="2463165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488950" indent="-2844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FromDady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 	developed</a:t>
            </a:r>
            <a:r>
              <a:rPr sz="2400" spc="-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by 	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ENAC.</a:t>
            </a:r>
            <a:endParaRPr sz="2400">
              <a:latin typeface="Calibri"/>
              <a:cs typeface="Calibri"/>
            </a:endParaRPr>
          </a:p>
          <a:p>
            <a:pPr marL="297180" marR="112395" indent="-28448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Extremely</a:t>
            </a:r>
            <a:r>
              <a:rPr sz="2400" spc="-10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quick, 	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handles</a:t>
            </a:r>
            <a:r>
              <a:rPr sz="2400" spc="-9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massive 	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amount</a:t>
            </a:r>
            <a:r>
              <a:rPr sz="2400" spc="-5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97180" marR="135255" indent="-28448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Excellent</a:t>
            </a:r>
            <a:r>
              <a:rPr sz="2400" spc="-6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E6E6E"/>
                </a:solidFill>
                <a:latin typeface="Calibri"/>
                <a:cs typeface="Calibri"/>
              </a:rPr>
              <a:t>for 	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trajectory</a:t>
            </a:r>
            <a:r>
              <a:rPr sz="2400" spc="-45" dirty="0">
                <a:solidFill>
                  <a:srgbClr val="6EB62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B628"/>
                </a:solidFill>
                <a:latin typeface="Calibri"/>
                <a:cs typeface="Calibri"/>
              </a:rPr>
              <a:t>data 	</a:t>
            </a:r>
            <a:r>
              <a:rPr sz="2400" spc="-10" dirty="0">
                <a:solidFill>
                  <a:srgbClr val="6EB628"/>
                </a:solidFill>
                <a:latin typeface="Calibri"/>
                <a:cs typeface="Calibri"/>
              </a:rPr>
              <a:t>exploration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: 	</a:t>
            </a: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‘brush’</a:t>
            </a:r>
            <a:r>
              <a:rPr sz="2400" spc="45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‘pick’, 	‘drop’</a:t>
            </a:r>
            <a:r>
              <a:rPr sz="2400" spc="-12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functions.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Not</a:t>
            </a:r>
            <a:r>
              <a:rPr sz="2400" spc="-5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E6E6E"/>
                </a:solidFill>
                <a:latin typeface="Calibri"/>
                <a:cs typeface="Calibri"/>
              </a:rPr>
              <a:t>open-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source.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6E6E6E"/>
                </a:solidFill>
                <a:latin typeface="Calibri"/>
                <a:cs typeface="Calibri"/>
              </a:rPr>
              <a:t>Remaining</a:t>
            </a:r>
            <a:r>
              <a:rPr sz="2400" spc="-120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6E6E6E"/>
                </a:solidFill>
                <a:latin typeface="Calibri"/>
                <a:cs typeface="Calibri"/>
              </a:rPr>
              <a:t>bugs.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839" y="858837"/>
            <a:ext cx="6090284" cy="55874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2236</Words>
  <Application>Microsoft Office PowerPoint</Application>
  <PresentationFormat>On-screen Show (4:3)</PresentationFormat>
  <Paragraphs>352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 MT</vt:lpstr>
      <vt:lpstr>Calibri</vt:lpstr>
      <vt:lpstr>Times New Roman</vt:lpstr>
      <vt:lpstr>Wingdings</vt:lpstr>
      <vt:lpstr>Office Theme</vt:lpstr>
      <vt:lpstr>Tools For Data Science</vt:lpstr>
      <vt:lpstr>The data scientist’s job</vt:lpstr>
      <vt:lpstr>Data Preparation</vt:lpstr>
      <vt:lpstr>Storing and preparing data</vt:lpstr>
      <vt:lpstr>Preparing simulations</vt:lpstr>
      <vt:lpstr>Prepare input data</vt:lpstr>
      <vt:lpstr>Develop and run model (ABM, Monte-Carlo)</vt:lpstr>
      <vt:lpstr>Develop and run model (ABM, Monte-Carlo)</vt:lpstr>
      <vt:lpstr>Analysing data</vt:lpstr>
      <vt:lpstr>Exploring variables independently</vt:lpstr>
      <vt:lpstr>Exploring relationships between variables</vt:lpstr>
      <vt:lpstr>Exploring relationships between variables</vt:lpstr>
      <vt:lpstr>Analysing data (experimental results, empirical data)</vt:lpstr>
      <vt:lpstr>Analysing data (experimental results, empirical data)</vt:lpstr>
      <vt:lpstr>Analysing data (experimental results, empirical data)</vt:lpstr>
      <vt:lpstr>Analysing data (experimental results, empirical data)</vt:lpstr>
      <vt:lpstr>Analysing data: data modelling</vt:lpstr>
      <vt:lpstr>Analysing data: data modelling</vt:lpstr>
      <vt:lpstr>Analysing data: clustering</vt:lpstr>
      <vt:lpstr>Analysing data: clustering</vt:lpstr>
      <vt:lpstr>Analysing data: clustering</vt:lpstr>
      <vt:lpstr>Analysing data: clustering</vt:lpstr>
      <vt:lpstr>Show data</vt:lpstr>
      <vt:lpstr>Tools for data science</vt:lpstr>
      <vt:lpstr>Data storage</vt:lpstr>
      <vt:lpstr>Data storage</vt:lpstr>
      <vt:lpstr>Data storage</vt:lpstr>
      <vt:lpstr>Data storage</vt:lpstr>
      <vt:lpstr>Data storage</vt:lpstr>
      <vt:lpstr>Data storage</vt:lpstr>
      <vt:lpstr>Data handling</vt:lpstr>
      <vt:lpstr>Data handling</vt:lpstr>
      <vt:lpstr>Data handling (jupyter)</vt:lpstr>
      <vt:lpstr>Model development</vt:lpstr>
      <vt:lpstr>Model development</vt:lpstr>
      <vt:lpstr>Model development</vt:lpstr>
      <vt:lpstr>Data analysis/modelling</vt:lpstr>
      <vt:lpstr>Data analysis/modelling</vt:lpstr>
      <vt:lpstr>Data analysis/clustering algorithms</vt:lpstr>
      <vt:lpstr>Optimisation</vt:lpstr>
      <vt:lpstr>Data visualisation</vt:lpstr>
      <vt:lpstr>Data visualisation</vt:lpstr>
      <vt:lpstr>Data visualisation</vt:lpstr>
      <vt:lpstr>Data visualisation</vt:lpstr>
      <vt:lpstr>Data visualisation</vt:lpstr>
      <vt:lpstr>Data visualisation</vt:lpstr>
      <vt:lpstr>Data visualisation</vt:lpstr>
    </vt:vector>
  </TitlesOfParts>
  <Company>Sesar 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make a presentation  using Sesar 2020 Theme</dc:title>
  <dc:creator>Engage Consortium</dc:creator>
  <cp:lastModifiedBy>Bosubabu Sambana</cp:lastModifiedBy>
  <cp:revision>4</cp:revision>
  <dcterms:created xsi:type="dcterms:W3CDTF">2026-07-15T04:53:09Z</dcterms:created>
  <dcterms:modified xsi:type="dcterms:W3CDTF">2026-07-15T05:34:36Z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0x01010004CEA515081ED84E8E0CA5B114A64657</vt:lpwstr>
  </property>
  <property fmtid="{D5CDD505-2E9C-101B-9397-08002B2CF9AE}" pid="3" name="Converter">
    <vt:lpwstr>SolidFramework v10.0.19910.1</vt:lpwstr>
  </property>
  <property fmtid="{D5CDD505-2E9C-101B-9397-08002B2CF9AE}" pid="4" name="Created">
    <vt:filetime>2019-09-20T00:00:00Z</vt:filetime>
  </property>
  <property fmtid="{D5CDD505-2E9C-101B-9397-08002B2CF9AE}" pid="5" name="Creator">
    <vt:lpwstr>Acrobat PDFMaker 11 for PowerPoint</vt:lpwstr>
  </property>
  <property fmtid="{D5CDD505-2E9C-101B-9397-08002B2CF9AE}" pid="6" name="LastSaved">
    <vt:filetime>2026-07-15T00:00:00Z</vt:filetime>
  </property>
  <property fmtid="{D5CDD505-2E9C-101B-9397-08002B2CF9AE}" pid="7" name="Producer">
    <vt:lpwstr>Adobe PDF Library 11.0</vt:lpwstr>
  </property>
</Properties>
</file>