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Decision Tree Classification Algorithm</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68045" y="549910"/>
            <a:ext cx="10485755" cy="5627370"/>
          </a:xfrm>
        </p:spPr>
        <p:txBody>
          <a:bodyPr>
            <a:normAutofit lnSpcReduction="20000"/>
          </a:bodyPr>
          <a:p>
            <a:pPr algn="just"/>
            <a:r>
              <a:rPr lang="en-US"/>
              <a:t>Decision Tree is a Supervised learning technique that can be used for both classification and Regression problems, but mostly it is preferred for solving Classification problems. </a:t>
            </a:r>
            <a:endParaRPr lang="en-US"/>
          </a:p>
          <a:p>
            <a:pPr algn="just"/>
            <a:r>
              <a:rPr lang="en-US"/>
              <a:t>It is a tree-structured classifier, where internal nodes represent the features of a dataset, branches represent the decision rules and each leaf node represents the outcome.</a:t>
            </a:r>
            <a:endParaRPr lang="en-US"/>
          </a:p>
          <a:p>
            <a:pPr algn="just"/>
            <a:r>
              <a:rPr lang="en-US"/>
              <a:t>In a Decision tree, there are two nodes, which are the Decision Node and Leaf Node. Decision nodes are used to make any decision and have multiple branches, whereas Leaf nodes are the output of those decisions and do not contain any further branches.</a:t>
            </a:r>
            <a:endParaRPr lang="en-US"/>
          </a:p>
          <a:p>
            <a:pPr algn="just"/>
            <a:r>
              <a:rPr lang="en-US"/>
              <a:t>The decisions or the test are performed on the basis of features of the given dataset.</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7060" y="520700"/>
            <a:ext cx="10746740" cy="5656580"/>
          </a:xfrm>
        </p:spPr>
        <p:txBody>
          <a:bodyPr/>
          <a:p>
            <a:r>
              <a:rPr lang="en-US"/>
              <a:t>It is a graphical representation for getting all the possible solutions to a problem/decision based on given conditions.</a:t>
            </a:r>
            <a:endParaRPr lang="en-US"/>
          </a:p>
          <a:p>
            <a:r>
              <a:rPr lang="en-US"/>
              <a:t>It is called a decision tree because, similar to a tree, it starts with the root node, which expands on further branches and constructs a tree-like structure.</a:t>
            </a:r>
            <a:endParaRPr lang="en-US"/>
          </a:p>
          <a:p>
            <a:r>
              <a:rPr lang="en-US"/>
              <a:t>In order to build a tree, we use the CART algorithm, which stands for Classification and Regression Tree algorithm.</a:t>
            </a:r>
            <a:endParaRPr lang="en-US"/>
          </a:p>
          <a:p>
            <a:r>
              <a:rPr lang="en-US"/>
              <a:t>A decision tree simply asks a question, and based on the answer (Yes/No), it further split the tree into subtrees.</a:t>
            </a:r>
            <a:endParaRPr lang="en-US"/>
          </a:p>
          <a:p>
            <a:r>
              <a:rPr lang="en-US"/>
              <a:t>Below diagram explains the general structure of a decision tree:</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1" descr="IMG_256"/>
          <p:cNvPicPr>
            <a:picLocks noChangeAspect="1"/>
          </p:cNvPicPr>
          <p:nvPr>
            <p:ph idx="1"/>
          </p:nvPr>
        </p:nvPicPr>
        <p:blipFill>
          <a:blip r:embed="rId1"/>
          <a:stretch>
            <a:fillRect/>
          </a:stretch>
        </p:blipFill>
        <p:spPr>
          <a:xfrm>
            <a:off x="949325" y="570230"/>
            <a:ext cx="10081895" cy="580707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Why use Decision Trees?</a:t>
            </a:r>
            <a:endParaRPr lang="en-US"/>
          </a:p>
        </p:txBody>
      </p:sp>
      <p:sp>
        <p:nvSpPr>
          <p:cNvPr id="3" name="Content Placeholder 2"/>
          <p:cNvSpPr>
            <a:spLocks noGrp="1"/>
          </p:cNvSpPr>
          <p:nvPr>
            <p:ph idx="1"/>
          </p:nvPr>
        </p:nvSpPr>
        <p:spPr/>
        <p:txBody>
          <a:bodyPr/>
          <a:p>
            <a:r>
              <a:rPr lang="en-US"/>
              <a:t>There are various algorithms in Machine learning, so choosing the best algorithm for the given dataset and problem is the main point to remember while creating a machine learning model. Below are the two reasons for using the Decision tree:</a:t>
            </a:r>
            <a:endParaRPr lang="en-US"/>
          </a:p>
          <a:p>
            <a:endParaRPr lang="en-US"/>
          </a:p>
          <a:p>
            <a:pPr lvl="1"/>
            <a:r>
              <a:rPr lang="en-US"/>
              <a:t>Decision Trees usually mimic human thinking ability while making a decision, so it is easy to understand.</a:t>
            </a:r>
            <a:endParaRPr lang="en-US"/>
          </a:p>
          <a:p>
            <a:pPr lvl="1"/>
            <a:r>
              <a:rPr lang="en-US"/>
              <a:t>The logic behind the decision tree can be easily understood because it shows a tree-like structure.</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Decision Tree Terminologies</a:t>
            </a:r>
            <a:endParaRPr lang="en-US"/>
          </a:p>
        </p:txBody>
      </p:sp>
      <p:sp>
        <p:nvSpPr>
          <p:cNvPr id="3" name="Content Placeholder 2"/>
          <p:cNvSpPr>
            <a:spLocks noGrp="1"/>
          </p:cNvSpPr>
          <p:nvPr>
            <p:ph idx="1"/>
          </p:nvPr>
        </p:nvSpPr>
        <p:spPr>
          <a:xfrm>
            <a:off x="757555" y="1358900"/>
            <a:ext cx="10596245" cy="4818380"/>
          </a:xfrm>
        </p:spPr>
        <p:txBody>
          <a:bodyPr>
            <a:normAutofit fontScale="90000"/>
          </a:bodyPr>
          <a:p>
            <a:r>
              <a:rPr lang="en-US"/>
              <a:t>Root Node: Root node is from where the decision tree starts. It represents the entire dataset, which further gets divided into two or more homogeneous sets.</a:t>
            </a:r>
            <a:endParaRPr lang="en-US"/>
          </a:p>
          <a:p>
            <a:r>
              <a:rPr lang="en-US"/>
              <a:t>Leaf Node: Leaf nodes are the final output node, and the tree cannot be segregated further after getting a leaf node.</a:t>
            </a:r>
            <a:endParaRPr lang="en-US"/>
          </a:p>
          <a:p>
            <a:r>
              <a:rPr lang="en-US"/>
              <a:t>Splitting: Splitting is the process of dividing the decision node/root node into sub-nodes according to the given conditions.</a:t>
            </a:r>
            <a:endParaRPr lang="en-US"/>
          </a:p>
          <a:p>
            <a:r>
              <a:rPr lang="en-US"/>
              <a:t>Branch/Sub Tree: A tree formed by splitting the tree.</a:t>
            </a:r>
            <a:endParaRPr lang="en-US"/>
          </a:p>
          <a:p>
            <a:r>
              <a:rPr lang="en-US"/>
              <a:t>Pruning: Pruning is the process of removing the unwanted branches from the tree.</a:t>
            </a:r>
            <a:endParaRPr lang="en-US"/>
          </a:p>
          <a:p>
            <a:r>
              <a:rPr lang="en-US"/>
              <a:t>Parent/Child node: The root node of the tree is called the parent node, and other nodes are called the child nodes.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How does the Decision Tree algorithm Work?</a:t>
            </a:r>
            <a:br>
              <a:rPr lang="en-US"/>
            </a:br>
            <a:endParaRPr lang="en-US"/>
          </a:p>
        </p:txBody>
      </p:sp>
      <p:sp>
        <p:nvSpPr>
          <p:cNvPr id="3" name="Content Placeholder 2"/>
          <p:cNvSpPr>
            <a:spLocks noGrp="1"/>
          </p:cNvSpPr>
          <p:nvPr>
            <p:ph idx="1"/>
          </p:nvPr>
        </p:nvSpPr>
        <p:spPr>
          <a:xfrm>
            <a:off x="929005" y="1125855"/>
            <a:ext cx="10424795" cy="5051425"/>
          </a:xfrm>
        </p:spPr>
        <p:txBody>
          <a:bodyPr/>
          <a:p>
            <a:r>
              <a:rPr lang="en-US"/>
              <a:t>In a decision tree, for predicting the class of the given dataset, the algorithm starts from the root node of the tree. This algorithm compares the values of root attribute with the record (real dataset) attribute and, based on the comparison, follows the branch and jumps to the next node.</a:t>
            </a:r>
            <a:endParaRPr lang="en-US"/>
          </a:p>
          <a:p>
            <a:r>
              <a:rPr lang="en-US"/>
              <a:t>For the next node, the algorithm again compares the attribute value with the other sub-nodes and move further. It continues the process until it reaches the leaf node of the tree. The complete process can be better understood using the below algorithm:</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88670" y="597535"/>
            <a:ext cx="10565130" cy="5579745"/>
          </a:xfrm>
        </p:spPr>
        <p:txBody>
          <a:bodyPr>
            <a:normAutofit lnSpcReduction="20000"/>
          </a:bodyPr>
          <a:p>
            <a:r>
              <a:rPr lang="en-US"/>
              <a:t>Step-1: Begin the tree with the root node, says S, which contains the complete dataset.</a:t>
            </a:r>
            <a:endParaRPr lang="en-US"/>
          </a:p>
          <a:p>
            <a:r>
              <a:rPr lang="en-US"/>
              <a:t>Step-2: Find the best attribute in the dataset using Attribute Selection Measure (ASM).</a:t>
            </a:r>
            <a:endParaRPr lang="en-US"/>
          </a:p>
          <a:p>
            <a:r>
              <a:rPr lang="en-US"/>
              <a:t>Step-3: Divide the S into subsets that contains possible values for the best attributes.</a:t>
            </a:r>
            <a:endParaRPr lang="en-US"/>
          </a:p>
          <a:p>
            <a:r>
              <a:rPr lang="en-US"/>
              <a:t>Step-4: Generate the decision tree node, which contains the best attribute.</a:t>
            </a:r>
            <a:endParaRPr lang="en-US"/>
          </a:p>
          <a:p>
            <a:r>
              <a:rPr lang="en-US"/>
              <a:t>Step-5: Recursively make new decision trees using the subsets of the dataset created in step -3. Continue this process until a stage is reached where you cannot further classify the nodes and called the final node as a leaf node.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13715" y="608330"/>
            <a:ext cx="10840085" cy="5568950"/>
          </a:xfrm>
        </p:spPr>
        <p:txBody>
          <a:bodyPr/>
          <a:p>
            <a:pPr algn="just"/>
            <a:r>
              <a:rPr lang="en-US"/>
              <a:t>Example: Suppose there is a candidate who has a job offer and wants to decide whether he should accept the offer or Not. So, to solve this problem, the decision tree starts with the root node (Salary attribute by ASM). </a:t>
            </a:r>
            <a:endParaRPr lang="en-US"/>
          </a:p>
          <a:p>
            <a:pPr algn="just"/>
            <a:r>
              <a:rPr lang="en-US"/>
              <a:t>The root node splits further into the next decision node (distance from the office) and one leaf node based on the corresponding labels. The next decision node further gets split into one decision node (Cab facility) and one leaf node. </a:t>
            </a:r>
            <a:endParaRPr lang="en-US"/>
          </a:p>
          <a:p>
            <a:pPr algn="just"/>
            <a:r>
              <a:rPr lang="en-US"/>
              <a:t>Finally, the decision node splits into two leaf nodes (Accepted offers and Declined offer). Consider the below diagram:</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2" descr="IMG_257"/>
          <p:cNvPicPr>
            <a:picLocks noChangeAspect="1"/>
          </p:cNvPicPr>
          <p:nvPr>
            <p:ph idx="1"/>
          </p:nvPr>
        </p:nvPicPr>
        <p:blipFill>
          <a:blip r:embed="rId1"/>
          <a:stretch>
            <a:fillRect/>
          </a:stretch>
        </p:blipFill>
        <p:spPr>
          <a:xfrm>
            <a:off x="1772285" y="814705"/>
            <a:ext cx="8423275" cy="552196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Attribute Selection Measures</a:t>
            </a:r>
            <a:endParaRPr lang="en-US"/>
          </a:p>
        </p:txBody>
      </p:sp>
      <p:sp>
        <p:nvSpPr>
          <p:cNvPr id="3" name="Content Placeholder 2"/>
          <p:cNvSpPr>
            <a:spLocks noGrp="1"/>
          </p:cNvSpPr>
          <p:nvPr>
            <p:ph idx="1"/>
          </p:nvPr>
        </p:nvSpPr>
        <p:spPr/>
        <p:txBody>
          <a:bodyPr/>
          <a:p>
            <a:pPr algn="just"/>
            <a:r>
              <a:rPr lang="en-US"/>
              <a:t>While implementing a Decision tree, the main issue arises that how to select the best attribute for the root node and for sub-nodes. So, to solve such problems there is a technique which is called as Attribute selection measure or ASM. By this measurement, we can easily select the best attribute for the nodes of the tree. There are two popular techniques for ASM, which are:</a:t>
            </a:r>
            <a:endParaRPr lang="en-US"/>
          </a:p>
          <a:p>
            <a:r>
              <a:rPr lang="en-US"/>
              <a:t>Information Gain</a:t>
            </a:r>
            <a:endParaRPr lang="en-US"/>
          </a:p>
          <a:p>
            <a:r>
              <a:rPr lang="en-US"/>
              <a:t>Gini Index</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Information Gain:</a:t>
            </a:r>
            <a:endParaRPr lang="en-US"/>
          </a:p>
        </p:txBody>
      </p:sp>
      <p:sp>
        <p:nvSpPr>
          <p:cNvPr id="3" name="Content Placeholder 2"/>
          <p:cNvSpPr>
            <a:spLocks noGrp="1"/>
          </p:cNvSpPr>
          <p:nvPr>
            <p:ph idx="1"/>
          </p:nvPr>
        </p:nvSpPr>
        <p:spPr>
          <a:xfrm>
            <a:off x="838200" y="1825625"/>
            <a:ext cx="10944225" cy="4342130"/>
          </a:xfrm>
        </p:spPr>
        <p:txBody>
          <a:bodyPr>
            <a:normAutofit lnSpcReduction="20000"/>
          </a:bodyPr>
          <a:p>
            <a:r>
              <a:rPr lang="en-US"/>
              <a:t>Information gain is the measurement of changes in entropy after the segmentation of a dataset based on an attribute.</a:t>
            </a:r>
            <a:endParaRPr lang="en-US"/>
          </a:p>
          <a:p>
            <a:r>
              <a:rPr lang="en-US"/>
              <a:t>It calculates how much information a feature provides us about a class.</a:t>
            </a:r>
            <a:endParaRPr lang="en-US"/>
          </a:p>
          <a:p>
            <a:r>
              <a:rPr lang="en-US"/>
              <a:t>According to the value of information gain, we split the node and build the decision tree.</a:t>
            </a:r>
            <a:endParaRPr lang="en-US"/>
          </a:p>
          <a:p>
            <a:r>
              <a:rPr lang="en-US"/>
              <a:t>A decision tree algorithm always tries to maximize the value of information gain, and a node/attribute having the highest information gain is split first. It can be calculated using the below formula:</a:t>
            </a:r>
            <a:endParaRPr lang="en-US"/>
          </a:p>
          <a:p>
            <a:r>
              <a:rPr lang="en-US"/>
              <a:t>Information Gain= Entropy(S)-[(Weighted Avg) *Entropy(each feature)  </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01675" y="645160"/>
            <a:ext cx="10652125" cy="5532120"/>
          </a:xfrm>
        </p:spPr>
        <p:txBody>
          <a:bodyPr/>
          <a:p>
            <a:r>
              <a:rPr lang="en-US"/>
              <a:t>Entropy: Entropy is a metric to measure the impurity in a given attribute. It specifies randomness in data. Entropy can be calculated as:</a:t>
            </a:r>
            <a:endParaRPr lang="en-US"/>
          </a:p>
          <a:p>
            <a:r>
              <a:rPr lang="en-US"/>
              <a:t>Entropy(s)= -P(yes)log2 P(yes)- P(no) log2 P(no)</a:t>
            </a:r>
            <a:endParaRPr lang="en-US"/>
          </a:p>
          <a:p>
            <a:pPr marL="0" indent="0">
              <a:buNone/>
            </a:pPr>
            <a:r>
              <a:rPr lang="en-US"/>
              <a:t>Where,</a:t>
            </a:r>
            <a:endParaRPr lang="en-US"/>
          </a:p>
          <a:p>
            <a:pPr marL="0" indent="0">
              <a:buNone/>
            </a:pPr>
            <a:r>
              <a:rPr lang="en-US"/>
              <a:t>S= Total number of samples</a:t>
            </a:r>
            <a:endParaRPr lang="en-US"/>
          </a:p>
          <a:p>
            <a:pPr marL="0" indent="0">
              <a:buNone/>
            </a:pPr>
            <a:r>
              <a:rPr lang="en-US"/>
              <a:t>P(yes)= probability of yes</a:t>
            </a:r>
            <a:endParaRPr lang="en-US"/>
          </a:p>
          <a:p>
            <a:pPr marL="0" indent="0">
              <a:buNone/>
            </a:pPr>
            <a:r>
              <a:rPr lang="en-US"/>
              <a:t>P(no)= probability of no</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Gini Index:</a:t>
            </a:r>
            <a:br>
              <a:rPr lang="en-US"/>
            </a:br>
            <a:endParaRPr lang="en-US"/>
          </a:p>
        </p:txBody>
      </p:sp>
      <p:sp>
        <p:nvSpPr>
          <p:cNvPr id="3" name="Content Placeholder 2"/>
          <p:cNvSpPr>
            <a:spLocks noGrp="1"/>
          </p:cNvSpPr>
          <p:nvPr>
            <p:ph idx="1"/>
          </p:nvPr>
        </p:nvSpPr>
        <p:spPr/>
        <p:txBody>
          <a:bodyPr>
            <a:normAutofit lnSpcReduction="10000"/>
          </a:bodyPr>
          <a:p>
            <a:r>
              <a:rPr lang="en-US"/>
              <a:t>Gini index is a measure of impurity or purity used while creating a decision tree in the CART(Classification and Regression Tree) algorithm.</a:t>
            </a:r>
            <a:endParaRPr lang="en-US"/>
          </a:p>
          <a:p>
            <a:r>
              <a:rPr lang="en-US"/>
              <a:t>An attribute with the low Gini index should be preferred as compared to the high Gini index.</a:t>
            </a:r>
            <a:endParaRPr lang="en-US"/>
          </a:p>
          <a:p>
            <a:r>
              <a:rPr lang="en-US"/>
              <a:t>It only creates binary splits, and the CART algorithm uses the Gini index to create binary splits.</a:t>
            </a:r>
            <a:endParaRPr lang="en-US"/>
          </a:p>
          <a:p>
            <a:r>
              <a:rPr lang="en-US"/>
              <a:t>Gini index can be calculated using the below formula:</a:t>
            </a:r>
            <a:endParaRPr lang="en-US"/>
          </a:p>
          <a:p>
            <a:r>
              <a:rPr lang="en-US"/>
              <a:t>Gini Index= 1- ∑jPj2</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08990" y="469900"/>
            <a:ext cx="10544810" cy="5707380"/>
          </a:xfrm>
        </p:spPr>
        <p:txBody>
          <a:bodyPr>
            <a:normAutofit fontScale="90000"/>
          </a:bodyPr>
          <a:p>
            <a:pPr marL="0" indent="0">
              <a:buNone/>
            </a:pPr>
            <a:r>
              <a:rPr lang="en-US" b="1"/>
              <a:t>Advantages of the Decision Tree</a:t>
            </a:r>
            <a:endParaRPr lang="en-US" b="1"/>
          </a:p>
          <a:p>
            <a:r>
              <a:rPr lang="en-US"/>
              <a:t>It is simple to understand as it follows the same process which a human follow while making any decision in real-life.</a:t>
            </a:r>
            <a:endParaRPr lang="en-US"/>
          </a:p>
          <a:p>
            <a:r>
              <a:rPr lang="en-US"/>
              <a:t>It can be very useful for solving decision-related problems.</a:t>
            </a:r>
            <a:endParaRPr lang="en-US"/>
          </a:p>
          <a:p>
            <a:r>
              <a:rPr lang="en-US"/>
              <a:t>It helps to think about all the possible outcomes for a problem.</a:t>
            </a:r>
            <a:endParaRPr lang="en-US"/>
          </a:p>
          <a:p>
            <a:r>
              <a:rPr lang="en-US"/>
              <a:t>There is less requirement of data cleaning compared to other algorithms.</a:t>
            </a:r>
            <a:endParaRPr lang="en-US"/>
          </a:p>
          <a:p>
            <a:pPr marL="0" indent="0">
              <a:buNone/>
            </a:pPr>
            <a:r>
              <a:rPr lang="en-US" b="1"/>
              <a:t>Disadvantages of the Decision Tree</a:t>
            </a:r>
            <a:endParaRPr lang="en-US" b="1"/>
          </a:p>
          <a:p>
            <a:r>
              <a:rPr lang="en-US"/>
              <a:t>oThe decision tree contains lots of layers, which makes it complex.</a:t>
            </a:r>
            <a:endParaRPr lang="en-US"/>
          </a:p>
          <a:p>
            <a:r>
              <a:rPr lang="en-US"/>
              <a:t>oIt may have an overfitting issue, which can be resolved using the Random Forest algorithm.</a:t>
            </a:r>
            <a:endParaRPr lang="en-US"/>
          </a:p>
          <a:p>
            <a:r>
              <a:rPr lang="en-US"/>
              <a:t>oFor more class labels, the computational complexity of the decision tree may increase.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6462</Words>
  <Application>WPS Presentation</Application>
  <PresentationFormat>Widescreen</PresentationFormat>
  <Paragraphs>83</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Calibri Light</vt:lpstr>
      <vt:lpstr>Microsoft YaHei</vt:lpstr>
      <vt:lpstr>Arial Unicode MS</vt:lpstr>
      <vt:lpstr>Calibri</vt:lpstr>
      <vt:lpstr>Office Theme</vt:lpstr>
      <vt:lpstr>Decision Tree Classification Algorithm</vt:lpstr>
      <vt:lpstr>PowerPoint 演示文稿</vt:lpstr>
      <vt:lpstr>PowerPoint 演示文稿</vt:lpstr>
      <vt:lpstr>PowerPoint 演示文稿</vt:lpstr>
      <vt:lpstr>Why use Decision Trees?</vt:lpstr>
      <vt:lpstr>Decision Tree Terminologies</vt:lpstr>
      <vt:lpstr>How does the Decision Tree algorithm Work? </vt:lpstr>
      <vt:lpstr>PowerPoint 演示文稿</vt:lpstr>
      <vt:lpstr>PowerPoint 演示文稿</vt:lpstr>
      <vt:lpstr>PowerPoint 演示文稿</vt:lpstr>
      <vt:lpstr>Attribute Selection Measures</vt:lpstr>
      <vt:lpstr>Information Gain:</vt:lpstr>
      <vt:lpstr>PowerPoint 演示文稿</vt:lpstr>
      <vt:lpstr>Gini Index: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 Classification Algorithm</dc:title>
  <dc:creator/>
  <cp:lastModifiedBy>priya</cp:lastModifiedBy>
  <cp:revision>9</cp:revision>
  <dcterms:created xsi:type="dcterms:W3CDTF">2022-08-12T05:18:00Z</dcterms:created>
  <dcterms:modified xsi:type="dcterms:W3CDTF">2022-12-17T06:18:49Z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31BA8C6917004DA7AC6B2DE811AAA556</vt:lpwstr>
  </property>
  <property fmtid="{D5CDD505-2E9C-101B-9397-08002B2CF9AE}" pid="3" name="KSOProductBuildVer">
    <vt:lpwstr>1033-11.2.0.11417</vt:lpwstr>
  </property>
</Properties>
</file>