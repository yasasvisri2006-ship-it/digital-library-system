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71" r:id="rId11"/>
    <p:sldId id="272" r:id="rId12"/>
    <p:sldId id="265" r:id="rId13"/>
    <p:sldId id="266" r:id="rId14"/>
    <p:sldId id="273" r:id="rId15"/>
    <p:sldId id="275" r:id="rId16"/>
    <p:sldId id="276" r:id="rId17"/>
    <p:sldId id="277" r:id="rId18"/>
    <p:sldId id="278" r:id="rId19"/>
    <p:sldId id="279" r:id="rId20"/>
    <p:sldId id="280" r:id="rId21"/>
    <p:sldId id="281" r:id="rId22"/>
    <p:sldId id="282" r:id="rId23"/>
    <p:sldId id="267" r:id="rId24"/>
    <p:sldId id="283" r:id="rId25"/>
    <p:sldId id="268" r:id="rId26"/>
    <p:sldId id="269" r:id="rId27"/>
    <p:sldId id="270"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1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7B3EEC78-950D-4AA3-AAAE-6CF42F5472EB}" type="datetimeFigureOut">
              <a:rPr lang="en-US" smtClean="0"/>
              <a:pPr/>
              <a:t>11/8/2022</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D52AF3DB-B6C4-443C-988F-99C008E101C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B3EEC78-950D-4AA3-AAAE-6CF42F5472EB}" type="datetimeFigureOut">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AF3DB-B6C4-443C-988F-99C008E101C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B3EEC78-950D-4AA3-AAAE-6CF42F5472EB}" type="datetimeFigureOut">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AF3DB-B6C4-443C-988F-99C008E101C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B3EEC78-950D-4AA3-AAAE-6CF42F5472EB}" type="datetimeFigureOut">
              <a:rPr lang="en-US" smtClean="0"/>
              <a:pPr/>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AF3DB-B6C4-443C-988F-99C008E101C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7B3EEC78-950D-4AA3-AAAE-6CF42F5472EB}" type="datetimeFigureOut">
              <a:rPr lang="en-US" smtClean="0"/>
              <a:pPr/>
              <a:t>11/8/2022</a:t>
            </a:fld>
            <a:endParaRPr lang="en-US"/>
          </a:p>
        </p:txBody>
      </p:sp>
      <p:sp>
        <p:nvSpPr>
          <p:cNvPr id="27" name="Slide Number Placeholder 26"/>
          <p:cNvSpPr>
            <a:spLocks noGrp="1"/>
          </p:cNvSpPr>
          <p:nvPr>
            <p:ph type="sldNum" sz="quarter" idx="11"/>
          </p:nvPr>
        </p:nvSpPr>
        <p:spPr/>
        <p:txBody>
          <a:bodyPr rtlCol="0"/>
          <a:lstStyle/>
          <a:p>
            <a:fld id="{D52AF3DB-B6C4-443C-988F-99C008E101C7}"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7B3EEC78-950D-4AA3-AAAE-6CF42F5472EB}" type="datetimeFigureOut">
              <a:rPr lang="en-US" smtClean="0"/>
              <a:pPr/>
              <a:t>11/8/2022</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D52AF3DB-B6C4-443C-988F-99C008E101C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3EEC78-950D-4AA3-AAAE-6CF42F5472EB}" type="datetimeFigureOut">
              <a:rPr lang="en-US" smtClean="0"/>
              <a:pPr/>
              <a:t>11/8/2022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2AF3DB-B6C4-443C-988F-99C008E101C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B3EEC78-950D-4AA3-AAAE-6CF42F5472EB}" type="datetimeFigureOut">
              <a:rPr lang="en-US" smtClean="0"/>
              <a:pPr/>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AF3DB-B6C4-443C-988F-99C008E101C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B3EEC78-950D-4AA3-AAAE-6CF42F5472EB}" type="datetimeFigureOut">
              <a:rPr lang="en-US" smtClean="0"/>
              <a:pPr/>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AF3DB-B6C4-443C-988F-99C008E101C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B3EEC78-950D-4AA3-AAAE-6CF42F5472EB}" type="datetimeFigureOut">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AF3DB-B6C4-443C-988F-99C008E101C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B3EEC78-950D-4AA3-AAAE-6CF42F5472EB}" type="datetimeFigureOut">
              <a:rPr lang="en-US" smtClean="0"/>
              <a:pPr/>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AF3DB-B6C4-443C-988F-99C008E101C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7B3EEC78-950D-4AA3-AAAE-6CF42F5472EB}" type="datetimeFigureOut">
              <a:rPr lang="en-US" smtClean="0"/>
              <a:pPr/>
              <a:t>11/8/2022</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D52AF3DB-B6C4-443C-988F-99C008E101C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Decision Tree Classification Algorithm</a:t>
            </a:r>
            <a:br>
              <a:rPr lang="en-US" dirty="0" smtClean="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548680"/>
            <a:ext cx="8229600" cy="1066800"/>
          </a:xfrm>
        </p:spPr>
        <p:txBody>
          <a:bodyPr/>
          <a:lstStyle/>
          <a:p>
            <a:r>
              <a:rPr lang="en-IN" dirty="0" smtClean="0"/>
              <a:t>Introduction</a:t>
            </a:r>
            <a:endParaRPr lang="en-US" dirty="0"/>
          </a:p>
        </p:txBody>
      </p:sp>
      <p:sp>
        <p:nvSpPr>
          <p:cNvPr id="3" name="Content Placeholder 2"/>
          <p:cNvSpPr>
            <a:spLocks noGrp="1"/>
          </p:cNvSpPr>
          <p:nvPr>
            <p:ph idx="1"/>
          </p:nvPr>
        </p:nvSpPr>
        <p:spPr>
          <a:xfrm>
            <a:off x="251520" y="1556792"/>
            <a:ext cx="8712968" cy="5112568"/>
          </a:xfrm>
        </p:spPr>
        <p:txBody>
          <a:bodyPr>
            <a:normAutofit fontScale="70000" lnSpcReduction="20000"/>
          </a:bodyPr>
          <a:lstStyle/>
          <a:p>
            <a:pPr algn="just"/>
            <a:r>
              <a:rPr lang="en-US" dirty="0" smtClean="0"/>
              <a:t>Decision Tree is a </a:t>
            </a:r>
            <a:r>
              <a:rPr lang="en-US" b="1" dirty="0" smtClean="0"/>
              <a:t>Supervised learning technique </a:t>
            </a:r>
            <a:r>
              <a:rPr lang="en-US" dirty="0" smtClean="0"/>
              <a:t>that can be used for both classification and Regression problems, but mostly it is preferred for solving Classification problems. </a:t>
            </a:r>
          </a:p>
          <a:p>
            <a:pPr algn="just"/>
            <a:endParaRPr lang="en-US" dirty="0" smtClean="0"/>
          </a:p>
          <a:p>
            <a:pPr algn="just"/>
            <a:r>
              <a:rPr lang="en-US" dirty="0" smtClean="0"/>
              <a:t>It is a tree-structured classifier, where</a:t>
            </a:r>
            <a:r>
              <a:rPr lang="en-US" b="1" dirty="0" smtClean="0"/>
              <a:t> internal nodes represent the features of a dataset, branches represent the decision rules</a:t>
            </a:r>
            <a:r>
              <a:rPr lang="en-US" dirty="0" smtClean="0"/>
              <a:t> and </a:t>
            </a:r>
            <a:r>
              <a:rPr lang="en-US" b="1" dirty="0" smtClean="0"/>
              <a:t>each leaf node represents the outcome.</a:t>
            </a:r>
          </a:p>
          <a:p>
            <a:pPr algn="just"/>
            <a:endParaRPr lang="en-US" dirty="0" smtClean="0"/>
          </a:p>
          <a:p>
            <a:pPr algn="just"/>
            <a:r>
              <a:rPr lang="en-US" dirty="0" smtClean="0"/>
              <a:t>In a Decision tree, there are two nodes, which are the </a:t>
            </a:r>
            <a:r>
              <a:rPr lang="en-US" b="1" dirty="0" smtClean="0"/>
              <a:t>Decision Node</a:t>
            </a:r>
            <a:r>
              <a:rPr lang="en-US" dirty="0" smtClean="0"/>
              <a:t> and</a:t>
            </a:r>
            <a:r>
              <a:rPr lang="en-US" b="1" dirty="0" smtClean="0"/>
              <a:t> Leaf Node.</a:t>
            </a:r>
            <a:r>
              <a:rPr lang="en-US" dirty="0" smtClean="0"/>
              <a:t> Decision nodes are used to make any decision and have multiple branches, whereas Leaf nodes are the output of those decisions and do not contain any further branches.</a:t>
            </a:r>
          </a:p>
          <a:p>
            <a:pPr algn="just"/>
            <a:endParaRPr lang="en-US" dirty="0" smtClean="0"/>
          </a:p>
          <a:p>
            <a:pPr algn="just"/>
            <a:r>
              <a:rPr lang="en-US" dirty="0" smtClean="0"/>
              <a:t>The decisions or the test are performed on the basis of features of the given dataset.</a:t>
            </a:r>
          </a:p>
          <a:p>
            <a:pPr algn="just"/>
            <a:endParaRPr lang="en-US" dirty="0" smtClean="0"/>
          </a:p>
          <a:p>
            <a:pPr algn="just"/>
            <a:r>
              <a:rPr lang="en-US" b="1" i="1" dirty="0" smtClean="0"/>
              <a:t>It is a graphical representation for getting all the possible solutions to a problem/decision based on given conditions.</a:t>
            </a:r>
            <a:endParaRPr lang="en-US"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692696"/>
            <a:ext cx="8784976" cy="2585323"/>
          </a:xfrm>
          <a:prstGeom prst="rect">
            <a:avLst/>
          </a:prstGeom>
          <a:noFill/>
        </p:spPr>
        <p:txBody>
          <a:bodyPr wrap="square" rtlCol="0">
            <a:spAutoFit/>
          </a:bodyPr>
          <a:lstStyle/>
          <a:p>
            <a:pPr algn="just">
              <a:buFont typeface="Arial" pitchFamily="34" charset="0"/>
              <a:buChar char="•"/>
            </a:pPr>
            <a:r>
              <a:rPr lang="en-US" dirty="0" smtClean="0"/>
              <a:t> It </a:t>
            </a:r>
            <a:r>
              <a:rPr lang="en-US" dirty="0"/>
              <a:t>is called a decision tree because, similar to a tree, it starts with the root node, which expands on further branches and constructs a tree-like structure</a:t>
            </a:r>
            <a:r>
              <a:rPr lang="en-US" dirty="0" smtClean="0"/>
              <a:t>.</a:t>
            </a:r>
          </a:p>
          <a:p>
            <a:pPr algn="just">
              <a:buFont typeface="Arial" pitchFamily="34" charset="0"/>
              <a:buChar char="•"/>
            </a:pPr>
            <a:endParaRPr lang="en-US" dirty="0"/>
          </a:p>
          <a:p>
            <a:pPr algn="just">
              <a:buFont typeface="Arial" pitchFamily="34" charset="0"/>
              <a:buChar char="•"/>
            </a:pPr>
            <a:r>
              <a:rPr lang="en-US" dirty="0" smtClean="0"/>
              <a:t> In </a:t>
            </a:r>
            <a:r>
              <a:rPr lang="en-US" dirty="0"/>
              <a:t>order to build a tree, we use the </a:t>
            </a:r>
            <a:r>
              <a:rPr lang="en-US" b="1" dirty="0"/>
              <a:t>CART algorithm,</a:t>
            </a:r>
            <a:r>
              <a:rPr lang="en-US" dirty="0"/>
              <a:t> which stands for </a:t>
            </a:r>
            <a:r>
              <a:rPr lang="en-US" b="1" dirty="0"/>
              <a:t>Classification and Regression Tree algorithm</a:t>
            </a:r>
            <a:r>
              <a:rPr lang="en-US" b="1" dirty="0" smtClean="0"/>
              <a:t>.</a:t>
            </a:r>
          </a:p>
          <a:p>
            <a:pPr algn="just"/>
            <a:endParaRPr lang="en-US" dirty="0"/>
          </a:p>
          <a:p>
            <a:pPr algn="just">
              <a:buFont typeface="Arial" pitchFamily="34" charset="0"/>
              <a:buChar char="•"/>
            </a:pPr>
            <a:r>
              <a:rPr lang="en-US" dirty="0" smtClean="0"/>
              <a:t> A </a:t>
            </a:r>
            <a:r>
              <a:rPr lang="en-US" dirty="0"/>
              <a:t>decision tree simply asks a question, and based on the answer (Yes/No), it further split the tree into </a:t>
            </a:r>
            <a:r>
              <a:rPr lang="en-US" dirty="0" err="1"/>
              <a:t>subtrees</a:t>
            </a:r>
            <a:r>
              <a:rPr lang="en-US" dirty="0"/>
              <a:t>.</a:t>
            </a:r>
          </a:p>
          <a:p>
            <a:endParaRPr lang="en-US" dirty="0"/>
          </a:p>
        </p:txBody>
      </p:sp>
      <p:pic>
        <p:nvPicPr>
          <p:cNvPr id="1026" name="Picture 2" descr="Decision Tree Classification Algorithm"/>
          <p:cNvPicPr>
            <a:picLocks noChangeAspect="1" noChangeArrowheads="1"/>
          </p:cNvPicPr>
          <p:nvPr/>
        </p:nvPicPr>
        <p:blipFill>
          <a:blip r:embed="rId2" cstate="print"/>
          <a:srcRect/>
          <a:stretch>
            <a:fillRect/>
          </a:stretch>
        </p:blipFill>
        <p:spPr bwMode="auto">
          <a:xfrm>
            <a:off x="1331640" y="3284984"/>
            <a:ext cx="5040560" cy="3360373"/>
          </a:xfrm>
          <a:prstGeom prst="rect">
            <a:avLst/>
          </a:prstGeom>
          <a:noFill/>
        </p:spPr>
      </p:pic>
      <p:sp>
        <p:nvSpPr>
          <p:cNvPr id="4" name="TextBox 3"/>
          <p:cNvSpPr txBox="1"/>
          <p:nvPr/>
        </p:nvSpPr>
        <p:spPr>
          <a:xfrm>
            <a:off x="6660232" y="4437112"/>
            <a:ext cx="2304256" cy="646331"/>
          </a:xfrm>
          <a:prstGeom prst="rect">
            <a:avLst/>
          </a:prstGeom>
          <a:noFill/>
        </p:spPr>
        <p:txBody>
          <a:bodyPr wrap="square" rtlCol="0">
            <a:spAutoFit/>
          </a:bodyPr>
          <a:lstStyle/>
          <a:p>
            <a:r>
              <a:rPr lang="en-US" dirty="0" smtClean="0"/>
              <a:t>General </a:t>
            </a:r>
            <a:r>
              <a:rPr lang="en-US" dirty="0"/>
              <a:t>structure of a decision tree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64704"/>
            <a:ext cx="8229600" cy="1066800"/>
          </a:xfrm>
        </p:spPr>
        <p:txBody>
          <a:bodyPr>
            <a:normAutofit fontScale="90000"/>
          </a:bodyPr>
          <a:lstStyle/>
          <a:p>
            <a:r>
              <a:rPr lang="en-US" dirty="0" smtClean="0"/>
              <a:t>Why use Decision Trees?</a:t>
            </a:r>
            <a:br>
              <a:rPr lang="en-US" dirty="0" smtClean="0"/>
            </a:br>
            <a:endParaRPr lang="en-US" dirty="0"/>
          </a:p>
        </p:txBody>
      </p:sp>
      <p:sp>
        <p:nvSpPr>
          <p:cNvPr id="3" name="Content Placeholder 2"/>
          <p:cNvSpPr>
            <a:spLocks noGrp="1"/>
          </p:cNvSpPr>
          <p:nvPr>
            <p:ph idx="1"/>
          </p:nvPr>
        </p:nvSpPr>
        <p:spPr>
          <a:xfrm>
            <a:off x="467544" y="1700808"/>
            <a:ext cx="8229600" cy="4325112"/>
          </a:xfrm>
        </p:spPr>
        <p:txBody>
          <a:bodyPr/>
          <a:lstStyle/>
          <a:p>
            <a:r>
              <a:rPr lang="en-US" dirty="0" smtClean="0"/>
              <a:t>Decision Trees usually mimic human thinking ability while making a decision, so it is easy to understand.</a:t>
            </a:r>
          </a:p>
          <a:p>
            <a:endParaRPr lang="en-US" dirty="0" smtClean="0"/>
          </a:p>
          <a:p>
            <a:r>
              <a:rPr lang="en-US" dirty="0" smtClean="0"/>
              <a:t>The logic behind the decision tree can be easily understood because it shows a tree-like structure.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92696"/>
            <a:ext cx="8229600" cy="576064"/>
          </a:xfrm>
        </p:spPr>
        <p:txBody>
          <a:bodyPr>
            <a:normAutofit fontScale="90000"/>
          </a:bodyPr>
          <a:lstStyle/>
          <a:p>
            <a:r>
              <a:rPr lang="en-US" dirty="0" smtClean="0"/>
              <a:t>Decision Tree Terminologies</a:t>
            </a:r>
            <a:br>
              <a:rPr lang="en-US" dirty="0" smtClean="0"/>
            </a:br>
            <a:endParaRPr lang="en-US" dirty="0"/>
          </a:p>
        </p:txBody>
      </p:sp>
      <p:sp>
        <p:nvSpPr>
          <p:cNvPr id="3" name="Content Placeholder 2"/>
          <p:cNvSpPr>
            <a:spLocks noGrp="1"/>
          </p:cNvSpPr>
          <p:nvPr>
            <p:ph idx="1"/>
          </p:nvPr>
        </p:nvSpPr>
        <p:spPr>
          <a:xfrm>
            <a:off x="251520" y="1196752"/>
            <a:ext cx="8640960" cy="5377784"/>
          </a:xfrm>
        </p:spPr>
        <p:txBody>
          <a:bodyPr>
            <a:normAutofit fontScale="77500" lnSpcReduction="20000"/>
          </a:bodyPr>
          <a:lstStyle/>
          <a:p>
            <a:r>
              <a:rPr lang="en-US" b="1" dirty="0" smtClean="0"/>
              <a:t>Root Node:</a:t>
            </a:r>
            <a:r>
              <a:rPr lang="en-US" dirty="0" smtClean="0"/>
              <a:t> Root node is from where the decision tree starts. It represents the entire dataset, which further gets divided into two or more homogeneous sets.</a:t>
            </a:r>
          </a:p>
          <a:p>
            <a:endParaRPr lang="en-US" dirty="0" smtClean="0"/>
          </a:p>
          <a:p>
            <a:r>
              <a:rPr lang="en-US" b="1" dirty="0" smtClean="0"/>
              <a:t>Leaf Node:</a:t>
            </a:r>
            <a:r>
              <a:rPr lang="en-US" dirty="0" smtClean="0"/>
              <a:t> Leaf nodes are the final output node, and the tree cannot be segregated further after getting a leaf node.</a:t>
            </a:r>
          </a:p>
          <a:p>
            <a:endParaRPr lang="en-US" dirty="0" smtClean="0"/>
          </a:p>
          <a:p>
            <a:r>
              <a:rPr lang="en-US" b="1" dirty="0" smtClean="0"/>
              <a:t>Splitting:</a:t>
            </a:r>
            <a:r>
              <a:rPr lang="en-US" dirty="0" smtClean="0"/>
              <a:t> Splitting is the process of dividing the decision node/root node into sub-nodes according to the given conditions.</a:t>
            </a:r>
          </a:p>
          <a:p>
            <a:endParaRPr lang="en-US" dirty="0" smtClean="0"/>
          </a:p>
          <a:p>
            <a:r>
              <a:rPr lang="en-US" b="1" dirty="0" smtClean="0"/>
              <a:t>Branch/Sub Tree:</a:t>
            </a:r>
            <a:r>
              <a:rPr lang="en-US" dirty="0" smtClean="0"/>
              <a:t> A tree formed by splitting the tree.</a:t>
            </a:r>
          </a:p>
          <a:p>
            <a:endParaRPr lang="en-US" dirty="0" smtClean="0"/>
          </a:p>
          <a:p>
            <a:r>
              <a:rPr lang="en-US" b="1" dirty="0" smtClean="0"/>
              <a:t>Pruning:</a:t>
            </a:r>
            <a:r>
              <a:rPr lang="en-US" dirty="0" smtClean="0"/>
              <a:t> Pruning is the process of removing the unwanted branches from the tree.</a:t>
            </a:r>
          </a:p>
          <a:p>
            <a:endParaRPr lang="en-US" dirty="0" smtClean="0"/>
          </a:p>
          <a:p>
            <a:r>
              <a:rPr lang="en-US" b="1" dirty="0" smtClean="0"/>
              <a:t>Parent/Child node:</a:t>
            </a:r>
            <a:r>
              <a:rPr lang="en-US" dirty="0" smtClean="0"/>
              <a:t> The root node of the tree is called the parent node, and other nodes are called the child nodes.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548680"/>
            <a:ext cx="8640960" cy="1066800"/>
          </a:xfrm>
        </p:spPr>
        <p:txBody>
          <a:bodyPr>
            <a:normAutofit fontScale="90000"/>
          </a:bodyPr>
          <a:lstStyle/>
          <a:p>
            <a:r>
              <a:rPr lang="en-US" b="1" dirty="0" smtClean="0"/>
              <a:t>How does the Decision Tree algorithm Work?</a:t>
            </a:r>
            <a:endParaRPr lang="en-US" dirty="0"/>
          </a:p>
        </p:txBody>
      </p:sp>
      <p:sp>
        <p:nvSpPr>
          <p:cNvPr id="3" name="Content Placeholder 2"/>
          <p:cNvSpPr>
            <a:spLocks noGrp="1"/>
          </p:cNvSpPr>
          <p:nvPr>
            <p:ph idx="1"/>
          </p:nvPr>
        </p:nvSpPr>
        <p:spPr>
          <a:xfrm>
            <a:off x="323528" y="1700808"/>
            <a:ext cx="8568952" cy="4896544"/>
          </a:xfrm>
        </p:spPr>
        <p:txBody>
          <a:bodyPr>
            <a:normAutofit fontScale="92500" lnSpcReduction="10000"/>
          </a:bodyPr>
          <a:lstStyle/>
          <a:p>
            <a:pPr algn="just"/>
            <a:r>
              <a:rPr lang="en-US" dirty="0" smtClean="0"/>
              <a:t>In a decision tree, for predicting the class of the given dataset, the algorithm starts from the root node of the tree. This algorithm compares the values of root attribute with the record (real dataset) attribute and, based on the comparison, follows the branch and jumps to the next node.</a:t>
            </a:r>
          </a:p>
          <a:p>
            <a:pPr algn="just"/>
            <a:endParaRPr lang="en-US" dirty="0" smtClean="0"/>
          </a:p>
          <a:p>
            <a:pPr algn="just"/>
            <a:r>
              <a:rPr lang="en-US" dirty="0" smtClean="0"/>
              <a:t>For the next node, the algorithm again compares the attribute value with the other sub-nodes and move further. It continues the process until it reaches the leaf node of the tree. The complete process can be better understood using the algorithm.</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76672"/>
            <a:ext cx="8229600" cy="792088"/>
          </a:xfrm>
        </p:spPr>
        <p:txBody>
          <a:bodyPr/>
          <a:lstStyle/>
          <a:p>
            <a:r>
              <a:rPr lang="en-IN" dirty="0" smtClean="0"/>
              <a:t>Algorithm</a:t>
            </a:r>
            <a:endParaRPr lang="en-US" dirty="0"/>
          </a:p>
        </p:txBody>
      </p:sp>
      <p:sp>
        <p:nvSpPr>
          <p:cNvPr id="3" name="Content Placeholder 2"/>
          <p:cNvSpPr>
            <a:spLocks noGrp="1"/>
          </p:cNvSpPr>
          <p:nvPr>
            <p:ph idx="1"/>
          </p:nvPr>
        </p:nvSpPr>
        <p:spPr>
          <a:xfrm>
            <a:off x="179512" y="1484784"/>
            <a:ext cx="8805664" cy="5040560"/>
          </a:xfrm>
        </p:spPr>
        <p:txBody>
          <a:bodyPr>
            <a:normAutofit fontScale="77500" lnSpcReduction="20000"/>
          </a:bodyPr>
          <a:lstStyle/>
          <a:p>
            <a:r>
              <a:rPr lang="en-US" b="1" dirty="0" smtClean="0"/>
              <a:t>Step-1:</a:t>
            </a:r>
            <a:r>
              <a:rPr lang="en-US" dirty="0" smtClean="0"/>
              <a:t> Begin the tree with the root node, says S, which contains           	        the complete dataset.</a:t>
            </a:r>
          </a:p>
          <a:p>
            <a:endParaRPr lang="en-US" dirty="0" smtClean="0"/>
          </a:p>
          <a:p>
            <a:r>
              <a:rPr lang="en-US" b="1" dirty="0" smtClean="0"/>
              <a:t>Step-2:</a:t>
            </a:r>
            <a:r>
              <a:rPr lang="en-US" dirty="0" smtClean="0"/>
              <a:t> Find the best attribute in the dataset using </a:t>
            </a:r>
            <a:r>
              <a:rPr lang="en-US" b="1" dirty="0" smtClean="0"/>
              <a:t>Attribute 		        Selection Measure (ASM).</a:t>
            </a:r>
          </a:p>
          <a:p>
            <a:endParaRPr lang="en-US" dirty="0" smtClean="0"/>
          </a:p>
          <a:p>
            <a:r>
              <a:rPr lang="en-US" b="1" dirty="0" smtClean="0"/>
              <a:t>Step-3:</a:t>
            </a:r>
            <a:r>
              <a:rPr lang="en-US" dirty="0" smtClean="0"/>
              <a:t> Divide the S into subsets that contains possible values for 	        the best attributes.</a:t>
            </a:r>
          </a:p>
          <a:p>
            <a:endParaRPr lang="en-US" dirty="0" smtClean="0"/>
          </a:p>
          <a:p>
            <a:r>
              <a:rPr lang="en-US" b="1" dirty="0" smtClean="0"/>
              <a:t>Step-4:</a:t>
            </a:r>
            <a:r>
              <a:rPr lang="en-US" dirty="0" smtClean="0"/>
              <a:t> Generate the decision tree node, which contains the best 	        attribute.</a:t>
            </a:r>
          </a:p>
          <a:p>
            <a:endParaRPr lang="en-US" dirty="0" smtClean="0"/>
          </a:p>
          <a:p>
            <a:r>
              <a:rPr lang="en-US" b="1" dirty="0" smtClean="0"/>
              <a:t>Step-5:</a:t>
            </a:r>
            <a:r>
              <a:rPr lang="en-US" dirty="0" smtClean="0"/>
              <a:t> Recursively make new decision trees using the subsets of 	        the dataset created in step -3. Continue this process until 	        a stage is reached where you cannot further classify the 	        nodes and called the final node as a leaf node.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548680"/>
            <a:ext cx="8229600" cy="504056"/>
          </a:xfrm>
        </p:spPr>
        <p:txBody>
          <a:bodyPr>
            <a:normAutofit fontScale="90000"/>
          </a:bodyPr>
          <a:lstStyle/>
          <a:p>
            <a:r>
              <a:rPr lang="en-IN" dirty="0" smtClean="0"/>
              <a:t>Example</a:t>
            </a:r>
            <a:endParaRPr lang="en-US" dirty="0"/>
          </a:p>
        </p:txBody>
      </p:sp>
      <p:sp>
        <p:nvSpPr>
          <p:cNvPr id="3" name="Content Placeholder 2"/>
          <p:cNvSpPr>
            <a:spLocks noGrp="1"/>
          </p:cNvSpPr>
          <p:nvPr>
            <p:ph idx="1"/>
          </p:nvPr>
        </p:nvSpPr>
        <p:spPr>
          <a:xfrm>
            <a:off x="251520" y="1412776"/>
            <a:ext cx="8712968" cy="5112568"/>
          </a:xfrm>
        </p:spPr>
        <p:txBody>
          <a:bodyPr>
            <a:normAutofit fontScale="85000" lnSpcReduction="20000"/>
          </a:bodyPr>
          <a:lstStyle/>
          <a:p>
            <a:pPr algn="just"/>
            <a:r>
              <a:rPr lang="en-US" dirty="0" smtClean="0"/>
              <a:t>Suppose there is a candidate who has a job offer and wants to decide whether he should accept the offer or Not. </a:t>
            </a:r>
          </a:p>
          <a:p>
            <a:pPr algn="just"/>
            <a:endParaRPr lang="en-US" dirty="0" smtClean="0"/>
          </a:p>
          <a:p>
            <a:pPr algn="just"/>
            <a:r>
              <a:rPr lang="en-US" dirty="0" smtClean="0"/>
              <a:t>So, to solve this problem, the decision tree starts with the root node (Salary attribute by ASM). </a:t>
            </a:r>
          </a:p>
          <a:p>
            <a:pPr algn="just"/>
            <a:endParaRPr lang="en-US" dirty="0" smtClean="0"/>
          </a:p>
          <a:p>
            <a:pPr algn="just"/>
            <a:r>
              <a:rPr lang="en-US" dirty="0" smtClean="0"/>
              <a:t>The root node splits further into the next decision node (distance from the office) and one leaf node based on the corresponding labels. </a:t>
            </a:r>
          </a:p>
          <a:p>
            <a:pPr algn="just"/>
            <a:endParaRPr lang="en-US" dirty="0" smtClean="0"/>
          </a:p>
          <a:p>
            <a:pPr algn="just"/>
            <a:r>
              <a:rPr lang="en-US" dirty="0" smtClean="0"/>
              <a:t>The next decision node further gets split into one decision node (Cab facility) and one leaf node. </a:t>
            </a:r>
          </a:p>
          <a:p>
            <a:pPr algn="just"/>
            <a:endParaRPr lang="en-US" dirty="0" smtClean="0"/>
          </a:p>
          <a:p>
            <a:pPr algn="just"/>
            <a:r>
              <a:rPr lang="en-US" dirty="0" smtClean="0"/>
              <a:t>Finally, the decision node splits into two leaf nodes (Accepted offers and Declined offer).</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Decision Tree Classification Algorithm"/>
          <p:cNvPicPr>
            <a:picLocks noChangeAspect="1" noChangeArrowheads="1"/>
          </p:cNvPicPr>
          <p:nvPr/>
        </p:nvPicPr>
        <p:blipFill>
          <a:blip r:embed="rId2" cstate="print"/>
          <a:srcRect/>
          <a:stretch>
            <a:fillRect/>
          </a:stretch>
        </p:blipFill>
        <p:spPr bwMode="auto">
          <a:xfrm>
            <a:off x="1161592" y="980728"/>
            <a:ext cx="6480720" cy="5184576"/>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xample data"/>
          <p:cNvPicPr>
            <a:picLocks noChangeAspect="1" noChangeArrowheads="1"/>
          </p:cNvPicPr>
          <p:nvPr/>
        </p:nvPicPr>
        <p:blipFill>
          <a:blip r:embed="rId2" cstate="print"/>
          <a:srcRect/>
          <a:stretch>
            <a:fillRect/>
          </a:stretch>
        </p:blipFill>
        <p:spPr bwMode="auto">
          <a:xfrm>
            <a:off x="971600" y="1556792"/>
            <a:ext cx="7200800" cy="4743450"/>
          </a:xfrm>
          <a:prstGeom prst="rect">
            <a:avLst/>
          </a:prstGeom>
          <a:noFill/>
        </p:spPr>
      </p:pic>
      <p:sp>
        <p:nvSpPr>
          <p:cNvPr id="3" name="TextBox 2"/>
          <p:cNvSpPr txBox="1"/>
          <p:nvPr/>
        </p:nvSpPr>
        <p:spPr>
          <a:xfrm>
            <a:off x="323528" y="692696"/>
            <a:ext cx="7416824" cy="584775"/>
          </a:xfrm>
          <a:prstGeom prst="rect">
            <a:avLst/>
          </a:prstGeom>
          <a:noFill/>
        </p:spPr>
        <p:txBody>
          <a:bodyPr wrap="square" rtlCol="0">
            <a:spAutoFit/>
          </a:bodyPr>
          <a:lstStyle/>
          <a:p>
            <a:r>
              <a:rPr lang="en-US" sz="3200" b="1" dirty="0" smtClean="0"/>
              <a:t>Example of a decision tree</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Decision tree example"/>
          <p:cNvPicPr>
            <a:picLocks noChangeAspect="1" noChangeArrowheads="1"/>
          </p:cNvPicPr>
          <p:nvPr/>
        </p:nvPicPr>
        <p:blipFill>
          <a:blip r:embed="rId2" cstate="print"/>
          <a:srcRect/>
          <a:stretch>
            <a:fillRect/>
          </a:stretch>
        </p:blipFill>
        <p:spPr bwMode="auto">
          <a:xfrm>
            <a:off x="467544" y="548680"/>
            <a:ext cx="6552728" cy="4307812"/>
          </a:xfrm>
          <a:prstGeom prst="rect">
            <a:avLst/>
          </a:prstGeom>
          <a:noFill/>
        </p:spPr>
      </p:pic>
      <p:sp>
        <p:nvSpPr>
          <p:cNvPr id="3" name="TextBox 2"/>
          <p:cNvSpPr txBox="1"/>
          <p:nvPr/>
        </p:nvSpPr>
        <p:spPr>
          <a:xfrm>
            <a:off x="179512" y="5013176"/>
            <a:ext cx="8784976" cy="1477328"/>
          </a:xfrm>
          <a:prstGeom prst="rect">
            <a:avLst/>
          </a:prstGeom>
          <a:noFill/>
        </p:spPr>
        <p:txBody>
          <a:bodyPr wrap="square" rtlCol="0">
            <a:spAutoFit/>
          </a:bodyPr>
          <a:lstStyle/>
          <a:p>
            <a:r>
              <a:rPr lang="en-US" b="1" dirty="0" smtClean="0">
                <a:solidFill>
                  <a:schemeClr val="accent4"/>
                </a:solidFill>
              </a:rPr>
              <a:t>We see that if the </a:t>
            </a:r>
            <a:r>
              <a:rPr lang="en-US" b="1" i="1" dirty="0" smtClean="0">
                <a:solidFill>
                  <a:schemeClr val="accent4"/>
                </a:solidFill>
              </a:rPr>
              <a:t>weather is cloudy</a:t>
            </a:r>
            <a:r>
              <a:rPr lang="en-US" b="1" dirty="0" smtClean="0">
                <a:solidFill>
                  <a:schemeClr val="accent4"/>
                </a:solidFill>
              </a:rPr>
              <a:t> then we must go to play. Why didn’t it split more? Why did it stop there?</a:t>
            </a:r>
          </a:p>
          <a:p>
            <a:r>
              <a:rPr lang="en-US" b="1" dirty="0" smtClean="0">
                <a:solidFill>
                  <a:schemeClr val="accent4"/>
                </a:solidFill>
              </a:rPr>
              <a:t>To answer this question, we need to know about few more concepts like entropy, information gain, and </a:t>
            </a:r>
            <a:r>
              <a:rPr lang="en-US" b="1" dirty="0" err="1" smtClean="0">
                <a:solidFill>
                  <a:schemeClr val="accent4"/>
                </a:solidFill>
              </a:rPr>
              <a:t>Gini</a:t>
            </a:r>
            <a:r>
              <a:rPr lang="en-US" b="1" dirty="0" smtClean="0">
                <a:solidFill>
                  <a:schemeClr val="accent4"/>
                </a:solidFill>
              </a:rPr>
              <a:t> index.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764704"/>
            <a:ext cx="8229600" cy="792088"/>
          </a:xfrm>
        </p:spPr>
        <p:txBody>
          <a:bodyPr>
            <a:normAutofit fontScale="90000"/>
          </a:bodyPr>
          <a:lstStyle/>
          <a:p>
            <a:r>
              <a:rPr lang="en-US" dirty="0" smtClean="0"/>
              <a:t>Attribute Selection Measures</a:t>
            </a:r>
            <a:br>
              <a:rPr lang="en-US" dirty="0" smtClean="0"/>
            </a:br>
            <a:endParaRPr lang="en-US" dirty="0"/>
          </a:p>
        </p:txBody>
      </p:sp>
      <p:sp>
        <p:nvSpPr>
          <p:cNvPr id="3" name="Content Placeholder 2"/>
          <p:cNvSpPr>
            <a:spLocks noGrp="1"/>
          </p:cNvSpPr>
          <p:nvPr>
            <p:ph idx="1"/>
          </p:nvPr>
        </p:nvSpPr>
        <p:spPr>
          <a:xfrm>
            <a:off x="323528" y="1484784"/>
            <a:ext cx="8568952" cy="5112568"/>
          </a:xfrm>
        </p:spPr>
        <p:txBody>
          <a:bodyPr>
            <a:normAutofit fontScale="85000" lnSpcReduction="20000"/>
          </a:bodyPr>
          <a:lstStyle/>
          <a:p>
            <a:r>
              <a:rPr lang="en-US" dirty="0" smtClean="0"/>
              <a:t>While implementing a Decision tree, the main issue arises that how to select the best attribute for the root node and for sub-nodes. </a:t>
            </a:r>
          </a:p>
          <a:p>
            <a:endParaRPr lang="en-US" dirty="0" smtClean="0"/>
          </a:p>
          <a:p>
            <a:r>
              <a:rPr lang="en-US" dirty="0" smtClean="0"/>
              <a:t>So, to solve such problems there is a technique which is called as </a:t>
            </a:r>
            <a:r>
              <a:rPr lang="en-US" b="1" dirty="0" smtClean="0"/>
              <a:t>Attribute selection measure or ASM.</a:t>
            </a:r>
          </a:p>
          <a:p>
            <a:r>
              <a:rPr lang="en-US" b="1" dirty="0" smtClean="0"/>
              <a:t> </a:t>
            </a:r>
          </a:p>
          <a:p>
            <a:r>
              <a:rPr lang="en-US" dirty="0" smtClean="0"/>
              <a:t>By this measurement, we can easily select the best attribute for the nodes of the tree. </a:t>
            </a:r>
          </a:p>
          <a:p>
            <a:endParaRPr lang="en-US" dirty="0" smtClean="0"/>
          </a:p>
          <a:p>
            <a:r>
              <a:rPr lang="en-US" dirty="0" smtClean="0"/>
              <a:t>There are two popular techniques for ASM, which are:</a:t>
            </a:r>
          </a:p>
          <a:p>
            <a:endParaRPr lang="en-US" dirty="0" smtClean="0"/>
          </a:p>
          <a:p>
            <a:pPr marL="2498598" lvl="8" indent="-514350">
              <a:buFont typeface="+mj-lt"/>
              <a:buAutoNum type="arabicPeriod"/>
            </a:pPr>
            <a:r>
              <a:rPr lang="en-US" sz="3300" b="1" dirty="0" smtClean="0">
                <a:solidFill>
                  <a:srgbClr val="7030A0"/>
                </a:solidFill>
              </a:rPr>
              <a:t>Information Gain</a:t>
            </a:r>
          </a:p>
          <a:p>
            <a:pPr marL="2498598" lvl="8" indent="-514350">
              <a:buFont typeface="+mj-lt"/>
              <a:buAutoNum type="arabicPeriod"/>
            </a:pPr>
            <a:r>
              <a:rPr lang="en-IN" sz="3300" b="1" dirty="0" err="1" smtClean="0">
                <a:solidFill>
                  <a:srgbClr val="7030A0"/>
                </a:solidFill>
              </a:rPr>
              <a:t>Gini</a:t>
            </a:r>
            <a:r>
              <a:rPr lang="en-IN" sz="3300" b="1" dirty="0" smtClean="0">
                <a:solidFill>
                  <a:srgbClr val="7030A0"/>
                </a:solidFill>
              </a:rPr>
              <a:t> Index</a:t>
            </a:r>
          </a:p>
          <a:p>
            <a:pPr marL="624078" indent="-514350">
              <a:buNone/>
            </a:pPr>
            <a:r>
              <a:rPr lang="en-US" sz="3300" b="1" dirty="0" smtClean="0">
                <a:solidFill>
                  <a:srgbClr val="7030A0"/>
                </a:solidFill>
              </a:rPr>
              <a:t>			</a:t>
            </a:r>
            <a:endParaRPr lang="en-US" sz="4200" dirty="0">
              <a:solidFill>
                <a:srgbClr val="7030A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764704"/>
            <a:ext cx="8229600" cy="576064"/>
          </a:xfrm>
        </p:spPr>
        <p:txBody>
          <a:bodyPr>
            <a:normAutofit fontScale="90000"/>
          </a:bodyPr>
          <a:lstStyle/>
          <a:p>
            <a:r>
              <a:rPr lang="en-US" dirty="0" smtClean="0"/>
              <a:t>Information Gain</a:t>
            </a:r>
            <a:br>
              <a:rPr lang="en-US" dirty="0" smtClean="0"/>
            </a:br>
            <a:endParaRPr lang="en-US" dirty="0"/>
          </a:p>
        </p:txBody>
      </p:sp>
      <p:sp>
        <p:nvSpPr>
          <p:cNvPr id="3" name="Content Placeholder 2"/>
          <p:cNvSpPr>
            <a:spLocks noGrp="1"/>
          </p:cNvSpPr>
          <p:nvPr>
            <p:ph idx="1"/>
          </p:nvPr>
        </p:nvSpPr>
        <p:spPr>
          <a:xfrm>
            <a:off x="179512" y="1196752"/>
            <a:ext cx="8784976" cy="5377784"/>
          </a:xfrm>
        </p:spPr>
        <p:txBody>
          <a:bodyPr>
            <a:normAutofit fontScale="55000" lnSpcReduction="20000"/>
          </a:bodyPr>
          <a:lstStyle/>
          <a:p>
            <a:pPr algn="just"/>
            <a:r>
              <a:rPr lang="en-US" dirty="0" smtClean="0"/>
              <a:t>Information gain is the measurement of changes in entropy after the segmentation of a dataset based on an attribute.</a:t>
            </a:r>
          </a:p>
          <a:p>
            <a:pPr algn="just"/>
            <a:endParaRPr lang="en-US" dirty="0" smtClean="0"/>
          </a:p>
          <a:p>
            <a:pPr algn="just"/>
            <a:r>
              <a:rPr lang="en-US" dirty="0" smtClean="0"/>
              <a:t>It calculates how much information a feature provides us about a class.</a:t>
            </a:r>
          </a:p>
          <a:p>
            <a:pPr algn="just"/>
            <a:endParaRPr lang="en-US" dirty="0" smtClean="0"/>
          </a:p>
          <a:p>
            <a:pPr algn="just"/>
            <a:r>
              <a:rPr lang="en-US" dirty="0" smtClean="0"/>
              <a:t>According to the value of information gain, we split the node and build the decision tree.</a:t>
            </a:r>
          </a:p>
          <a:p>
            <a:pPr algn="just"/>
            <a:endParaRPr lang="en-US" dirty="0" smtClean="0"/>
          </a:p>
          <a:p>
            <a:pPr algn="just"/>
            <a:r>
              <a:rPr lang="en-US" dirty="0" smtClean="0"/>
              <a:t>A decision tree algorithm always tries to maximize the value of information gain, and a node/attribute having the highest information gain is split first.</a:t>
            </a:r>
          </a:p>
          <a:p>
            <a:pPr algn="just"/>
            <a:endParaRPr lang="en-US" dirty="0" smtClean="0"/>
          </a:p>
          <a:p>
            <a:pPr algn="just"/>
            <a:r>
              <a:rPr lang="en-US" dirty="0" smtClean="0"/>
              <a:t> It can be calculated using the below formula:</a:t>
            </a:r>
          </a:p>
          <a:p>
            <a:pPr algn="just"/>
            <a:endParaRPr lang="en-US" dirty="0" smtClean="0"/>
          </a:p>
          <a:p>
            <a:pPr algn="ctr">
              <a:buNone/>
            </a:pPr>
            <a:r>
              <a:rPr lang="en-US" dirty="0" smtClean="0"/>
              <a:t>		</a:t>
            </a:r>
            <a:r>
              <a:rPr lang="en-US" sz="2900" b="1" dirty="0" smtClean="0">
                <a:solidFill>
                  <a:srgbClr val="C00000"/>
                </a:solidFill>
              </a:rPr>
              <a:t>Information Gain= Entropy(S)- [(Weighted </a:t>
            </a:r>
            <a:r>
              <a:rPr lang="en-US" sz="2900" b="1" dirty="0" err="1" smtClean="0">
                <a:solidFill>
                  <a:srgbClr val="C00000"/>
                </a:solidFill>
              </a:rPr>
              <a:t>Avg</a:t>
            </a:r>
            <a:r>
              <a:rPr lang="en-US" sz="2900" b="1" dirty="0" smtClean="0">
                <a:solidFill>
                  <a:srgbClr val="C00000"/>
                </a:solidFill>
              </a:rPr>
              <a:t>) *Entropy(each feature</a:t>
            </a:r>
            <a:r>
              <a:rPr lang="en-US" sz="2900" b="1" dirty="0" smtClean="0">
                <a:solidFill>
                  <a:srgbClr val="C00000"/>
                </a:solidFill>
              </a:rPr>
              <a:t>)]</a:t>
            </a:r>
            <a:r>
              <a:rPr lang="en-US" b="1" dirty="0" smtClean="0">
                <a:solidFill>
                  <a:srgbClr val="C00000"/>
                </a:solidFill>
              </a:rPr>
              <a:t> </a:t>
            </a:r>
          </a:p>
          <a:p>
            <a:pPr algn="just">
              <a:buNone/>
            </a:pPr>
            <a:r>
              <a:rPr lang="en-US" dirty="0" smtClean="0"/>
              <a:t> </a:t>
            </a:r>
          </a:p>
          <a:p>
            <a:pPr algn="just"/>
            <a:r>
              <a:rPr lang="en-US" b="1" dirty="0" smtClean="0"/>
              <a:t>Entropy:</a:t>
            </a:r>
            <a:r>
              <a:rPr lang="en-US" dirty="0" smtClean="0"/>
              <a:t> Entropy is a metric to measure the impurity in a given attribute. It specifies randomness in data. Entropy can be calculated as:</a:t>
            </a:r>
          </a:p>
          <a:p>
            <a:pPr algn="just"/>
            <a:endParaRPr lang="en-US" dirty="0" smtClean="0"/>
          </a:p>
          <a:p>
            <a:pPr algn="ctr">
              <a:buNone/>
            </a:pPr>
            <a:r>
              <a:rPr lang="en-US" sz="3600" b="1" dirty="0" smtClean="0">
                <a:solidFill>
                  <a:srgbClr val="C00000"/>
                </a:solidFill>
              </a:rPr>
              <a:t>Entropy(s)= -P(yes)log2 P(yes)- P(no) log2 P(no)</a:t>
            </a:r>
          </a:p>
          <a:p>
            <a:pPr algn="just"/>
            <a:endParaRPr lang="en-US" b="1" dirty="0" smtClean="0"/>
          </a:p>
          <a:p>
            <a:pPr algn="just">
              <a:buNone/>
            </a:pPr>
            <a:r>
              <a:rPr lang="en-US" b="1" dirty="0" smtClean="0"/>
              <a:t>	Where,</a:t>
            </a:r>
            <a:endParaRPr lang="en-US" dirty="0" smtClean="0"/>
          </a:p>
          <a:p>
            <a:pPr algn="just">
              <a:buNone/>
            </a:pPr>
            <a:r>
              <a:rPr lang="en-US" b="1" dirty="0" smtClean="0"/>
              <a:t>			S= Total number of samples</a:t>
            </a:r>
            <a:endParaRPr lang="en-US" dirty="0" smtClean="0"/>
          </a:p>
          <a:p>
            <a:pPr algn="just">
              <a:buNone/>
            </a:pPr>
            <a:r>
              <a:rPr lang="en-US" b="1" dirty="0" smtClean="0"/>
              <a:t>			P(yes)= probability of yes</a:t>
            </a:r>
            <a:endParaRPr lang="en-US" dirty="0" smtClean="0"/>
          </a:p>
          <a:p>
            <a:pPr algn="just">
              <a:buNone/>
            </a:pPr>
            <a:r>
              <a:rPr lang="en-US" b="1" dirty="0" smtClean="0"/>
              <a:t>			P(no)= probability of no</a:t>
            </a:r>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92696"/>
            <a:ext cx="8229600" cy="922784"/>
          </a:xfrm>
        </p:spPr>
        <p:txBody>
          <a:bodyPr>
            <a:normAutofit fontScale="90000"/>
          </a:bodyPr>
          <a:lstStyle/>
          <a:p>
            <a:r>
              <a:rPr lang="en-US" b="1" dirty="0" smtClean="0"/>
              <a:t>How </a:t>
            </a:r>
            <a:r>
              <a:rPr lang="en-US" b="1" dirty="0" smtClean="0"/>
              <a:t>to calculate Entropy</a:t>
            </a:r>
            <a:r>
              <a:rPr lang="en-US" b="1" dirty="0" smtClean="0"/>
              <a:t>?</a:t>
            </a:r>
            <a:r>
              <a:rPr lang="en-US" dirty="0" smtClean="0"/>
              <a:t/>
            </a:r>
            <a:br>
              <a:rPr lang="en-US" dirty="0" smtClean="0"/>
            </a:br>
            <a:endParaRPr lang="en-US" dirty="0"/>
          </a:p>
        </p:txBody>
      </p:sp>
      <p:sp>
        <p:nvSpPr>
          <p:cNvPr id="3" name="Content Placeholder 2"/>
          <p:cNvSpPr>
            <a:spLocks noGrp="1"/>
          </p:cNvSpPr>
          <p:nvPr>
            <p:ph idx="1"/>
          </p:nvPr>
        </p:nvSpPr>
        <p:spPr>
          <a:xfrm>
            <a:off x="251520" y="1412776"/>
            <a:ext cx="8640960" cy="4968552"/>
          </a:xfrm>
        </p:spPr>
        <p:txBody>
          <a:bodyPr>
            <a:normAutofit lnSpcReduction="10000"/>
          </a:bodyPr>
          <a:lstStyle/>
          <a:p>
            <a:r>
              <a:rPr lang="en-US" dirty="0" smtClean="0"/>
              <a:t>Suppose a </a:t>
            </a:r>
            <a:r>
              <a:rPr lang="en-US" i="1" dirty="0" smtClean="0"/>
              <a:t>feature</a:t>
            </a:r>
            <a:r>
              <a:rPr lang="en-US" dirty="0" smtClean="0"/>
              <a:t> has 8 “yes” and 4 “no” initially, after the first split the left node</a:t>
            </a:r>
            <a:r>
              <a:rPr lang="en-US" i="1" dirty="0" smtClean="0"/>
              <a:t> gets 5 ‘yes’ and 2 ‘no’</a:t>
            </a:r>
            <a:r>
              <a:rPr lang="en-US" dirty="0" smtClean="0"/>
              <a:t> whereas right node</a:t>
            </a:r>
            <a:r>
              <a:rPr lang="en-US" i="1" dirty="0" smtClean="0"/>
              <a:t> gets 3 ‘yes’ and 2 ‘no</a:t>
            </a:r>
            <a:r>
              <a:rPr lang="en-US" i="1" dirty="0" smtClean="0"/>
              <a:t>’.</a:t>
            </a:r>
          </a:p>
          <a:p>
            <a:endParaRPr lang="en-US" dirty="0" smtClean="0"/>
          </a:p>
          <a:p>
            <a:r>
              <a:rPr lang="en-US" dirty="0" smtClean="0"/>
              <a:t>We see here the split is not pure, why? Because we can still see some negative classes in both the nodes. In order to make a decision tree, we need to calculate the impurity of each split, and when the purity is 100%, we make it as a leaf node</a:t>
            </a:r>
            <a:r>
              <a:rPr lang="en-US" dirty="0" smtClean="0"/>
              <a:t>.</a:t>
            </a:r>
          </a:p>
          <a:p>
            <a:endParaRPr lang="en-US" dirty="0" smtClean="0"/>
          </a:p>
          <a:p>
            <a:r>
              <a:rPr lang="en-US" dirty="0" smtClean="0"/>
              <a:t>To check the impurity of feature 2 and feature 3 we will take the help for Entropy formula.</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feature 2"/>
          <p:cNvPicPr>
            <a:picLocks noChangeAspect="1" noChangeArrowheads="1"/>
          </p:cNvPicPr>
          <p:nvPr/>
        </p:nvPicPr>
        <p:blipFill>
          <a:blip r:embed="rId2" cstate="print"/>
          <a:srcRect/>
          <a:stretch>
            <a:fillRect/>
          </a:stretch>
        </p:blipFill>
        <p:spPr bwMode="auto">
          <a:xfrm>
            <a:off x="323528" y="548680"/>
            <a:ext cx="7458075" cy="3848101"/>
          </a:xfrm>
          <a:prstGeom prst="rect">
            <a:avLst/>
          </a:prstGeom>
          <a:noFill/>
        </p:spPr>
      </p:pic>
      <p:sp>
        <p:nvSpPr>
          <p:cNvPr id="3" name="TextBox 2"/>
          <p:cNvSpPr txBox="1"/>
          <p:nvPr/>
        </p:nvSpPr>
        <p:spPr>
          <a:xfrm>
            <a:off x="251520" y="4653136"/>
            <a:ext cx="8640960" cy="1754326"/>
          </a:xfrm>
          <a:prstGeom prst="rect">
            <a:avLst/>
          </a:prstGeom>
          <a:noFill/>
        </p:spPr>
        <p:txBody>
          <a:bodyPr wrap="square" rtlCol="0">
            <a:spAutoFit/>
          </a:bodyPr>
          <a:lstStyle/>
          <a:p>
            <a:r>
              <a:rPr lang="en-US" dirty="0" smtClean="0"/>
              <a:t>We can clearly see from the tree itself that left node has low entropy or more purity than right node since left node has a greater number of “yes” and it is easy to decide here.</a:t>
            </a:r>
          </a:p>
          <a:p>
            <a:r>
              <a:rPr lang="en-US" dirty="0" smtClean="0"/>
              <a:t>Always remember that the </a:t>
            </a:r>
            <a:r>
              <a:rPr lang="en-US" b="1" dirty="0" smtClean="0">
                <a:solidFill>
                  <a:schemeClr val="accent4"/>
                </a:solidFill>
              </a:rPr>
              <a:t>higher the Entropy, the lower will be the purity and the higher will be the impurity.</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entropy calculation"/>
          <p:cNvPicPr>
            <a:picLocks noChangeAspect="1" noChangeArrowheads="1"/>
          </p:cNvPicPr>
          <p:nvPr/>
        </p:nvPicPr>
        <p:blipFill>
          <a:blip r:embed="rId2" cstate="print"/>
          <a:srcRect/>
          <a:stretch>
            <a:fillRect/>
          </a:stretch>
        </p:blipFill>
        <p:spPr bwMode="auto">
          <a:xfrm>
            <a:off x="3203848" y="1052736"/>
            <a:ext cx="4619422" cy="2088232"/>
          </a:xfrm>
          <a:prstGeom prst="rect">
            <a:avLst/>
          </a:prstGeom>
          <a:noFill/>
        </p:spPr>
      </p:pic>
      <p:sp>
        <p:nvSpPr>
          <p:cNvPr id="3" name="TextBox 2"/>
          <p:cNvSpPr txBox="1"/>
          <p:nvPr/>
        </p:nvSpPr>
        <p:spPr>
          <a:xfrm>
            <a:off x="323528" y="1556792"/>
            <a:ext cx="2520280" cy="461665"/>
          </a:xfrm>
          <a:prstGeom prst="rect">
            <a:avLst/>
          </a:prstGeom>
          <a:noFill/>
        </p:spPr>
        <p:txBody>
          <a:bodyPr wrap="square" rtlCol="0">
            <a:spAutoFit/>
          </a:bodyPr>
          <a:lstStyle/>
          <a:p>
            <a:r>
              <a:rPr lang="en-IN" sz="2400" b="1" dirty="0" smtClean="0"/>
              <a:t>For feature 2 :</a:t>
            </a:r>
            <a:endParaRPr lang="en-US" sz="2400" b="1" dirty="0"/>
          </a:p>
        </p:txBody>
      </p:sp>
      <p:pic>
        <p:nvPicPr>
          <p:cNvPr id="34820" name="Picture 4" descr="feature 3 Decision tree algorithm"/>
          <p:cNvPicPr>
            <a:picLocks noChangeAspect="1" noChangeArrowheads="1"/>
          </p:cNvPicPr>
          <p:nvPr/>
        </p:nvPicPr>
        <p:blipFill>
          <a:blip r:embed="rId3" cstate="print"/>
          <a:srcRect/>
          <a:stretch>
            <a:fillRect/>
          </a:stretch>
        </p:blipFill>
        <p:spPr bwMode="auto">
          <a:xfrm>
            <a:off x="3275856" y="3861048"/>
            <a:ext cx="4608512" cy="2109680"/>
          </a:xfrm>
          <a:prstGeom prst="rect">
            <a:avLst/>
          </a:prstGeom>
          <a:noFill/>
        </p:spPr>
      </p:pic>
      <p:sp>
        <p:nvSpPr>
          <p:cNvPr id="5" name="TextBox 4"/>
          <p:cNvSpPr txBox="1"/>
          <p:nvPr/>
        </p:nvSpPr>
        <p:spPr>
          <a:xfrm>
            <a:off x="467544" y="4221088"/>
            <a:ext cx="2664296" cy="830997"/>
          </a:xfrm>
          <a:prstGeom prst="rect">
            <a:avLst/>
          </a:prstGeom>
          <a:noFill/>
        </p:spPr>
        <p:txBody>
          <a:bodyPr wrap="square" rtlCol="0">
            <a:spAutoFit/>
          </a:bodyPr>
          <a:lstStyle/>
          <a:p>
            <a:r>
              <a:rPr lang="en-IN" sz="2400" b="1" dirty="0" smtClean="0"/>
              <a:t>For feature </a:t>
            </a:r>
            <a:r>
              <a:rPr lang="en-IN" sz="2400" b="1" dirty="0" smtClean="0"/>
              <a:t>3 </a:t>
            </a:r>
            <a:r>
              <a:rPr lang="en-IN" sz="2400" b="1" dirty="0" smtClean="0"/>
              <a:t>:</a:t>
            </a:r>
            <a:endParaRPr lang="en-US" sz="2400" b="1" dirty="0" smtClean="0"/>
          </a:p>
          <a:p>
            <a:endParaRPr lang="en-US" sz="2400" dirty="0"/>
          </a:p>
        </p:txBody>
      </p:sp>
      <p:cxnSp>
        <p:nvCxnSpPr>
          <p:cNvPr id="7" name="Straight Connector 6"/>
          <p:cNvCxnSpPr/>
          <p:nvPr/>
        </p:nvCxnSpPr>
        <p:spPr>
          <a:xfrm>
            <a:off x="683568" y="3356992"/>
            <a:ext cx="806489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548680"/>
            <a:ext cx="8712968" cy="6525444"/>
          </a:xfrm>
          <a:prstGeom prst="rect">
            <a:avLst/>
          </a:prstGeom>
          <a:noFill/>
        </p:spPr>
        <p:txBody>
          <a:bodyPr wrap="square" rtlCol="0">
            <a:spAutoFit/>
          </a:bodyPr>
          <a:lstStyle/>
          <a:p>
            <a:r>
              <a:rPr lang="en-IN" sz="3200" b="1" dirty="0" smtClean="0"/>
              <a:t>Example to calculate Information Gain</a:t>
            </a:r>
          </a:p>
          <a:p>
            <a:endParaRPr lang="en-IN" sz="3200" b="1" dirty="0" smtClean="0"/>
          </a:p>
          <a:p>
            <a:pPr algn="just"/>
            <a:r>
              <a:rPr lang="en-US" sz="2400" dirty="0" smtClean="0"/>
              <a:t>Suppose our entire population has a total of 30 instances. The dataset is to predict whether the person will go to the gym or not. </a:t>
            </a:r>
            <a:endParaRPr lang="en-US" sz="2400" dirty="0" smtClean="0"/>
          </a:p>
          <a:p>
            <a:pPr algn="just"/>
            <a:endParaRPr lang="en-US" sz="2400" dirty="0" smtClean="0"/>
          </a:p>
          <a:p>
            <a:pPr algn="just"/>
            <a:r>
              <a:rPr lang="en-US" sz="2400" dirty="0" smtClean="0"/>
              <a:t>Let’s </a:t>
            </a:r>
            <a:r>
              <a:rPr lang="en-US" sz="2400" dirty="0" smtClean="0"/>
              <a:t>say 16 people go to the gym and 14 people </a:t>
            </a:r>
            <a:r>
              <a:rPr lang="en-US" sz="2400" dirty="0" smtClean="0"/>
              <a:t>don’t </a:t>
            </a:r>
          </a:p>
          <a:p>
            <a:pPr algn="just"/>
            <a:endParaRPr lang="en-US" sz="2400" dirty="0" smtClean="0"/>
          </a:p>
          <a:p>
            <a:pPr algn="just"/>
            <a:r>
              <a:rPr lang="en-US" sz="2400" dirty="0" smtClean="0"/>
              <a:t>Now we have two features to predict whether he/she will go to the gym or not</a:t>
            </a:r>
            <a:r>
              <a:rPr lang="en-US" sz="2400" dirty="0" smtClean="0"/>
              <a:t>.</a:t>
            </a:r>
          </a:p>
          <a:p>
            <a:pPr algn="just"/>
            <a:endParaRPr lang="en-US" sz="2400" dirty="0" smtClean="0"/>
          </a:p>
          <a:p>
            <a:pPr algn="just">
              <a:buFont typeface="Wingdings" pitchFamily="2" charset="2"/>
              <a:buChar char="Ø"/>
            </a:pPr>
            <a:r>
              <a:rPr lang="en-US" sz="2400" dirty="0" smtClean="0">
                <a:solidFill>
                  <a:srgbClr val="0070C0"/>
                </a:solidFill>
              </a:rPr>
              <a:t>Feature </a:t>
            </a:r>
            <a:r>
              <a:rPr lang="en-US" sz="2400" dirty="0" smtClean="0">
                <a:solidFill>
                  <a:srgbClr val="0070C0"/>
                </a:solidFill>
              </a:rPr>
              <a:t>1 is </a:t>
            </a:r>
            <a:r>
              <a:rPr lang="en-US" sz="2400" b="1" dirty="0" smtClean="0">
                <a:solidFill>
                  <a:srgbClr val="0070C0"/>
                </a:solidFill>
              </a:rPr>
              <a:t>“Energy”</a:t>
            </a:r>
            <a:r>
              <a:rPr lang="en-US" sz="2400" dirty="0" smtClean="0">
                <a:solidFill>
                  <a:srgbClr val="0070C0"/>
                </a:solidFill>
              </a:rPr>
              <a:t> which takes two values </a:t>
            </a:r>
            <a:r>
              <a:rPr lang="en-US" sz="2400" i="1" dirty="0" smtClean="0">
                <a:solidFill>
                  <a:srgbClr val="0070C0"/>
                </a:solidFill>
              </a:rPr>
              <a:t>“high” and “low”</a:t>
            </a:r>
            <a:endParaRPr lang="en-US" sz="2400" dirty="0" smtClean="0">
              <a:solidFill>
                <a:srgbClr val="0070C0"/>
              </a:solidFill>
            </a:endParaRPr>
          </a:p>
          <a:p>
            <a:pPr algn="just">
              <a:buFont typeface="Wingdings" pitchFamily="2" charset="2"/>
              <a:buChar char="Ø"/>
            </a:pPr>
            <a:r>
              <a:rPr lang="en-US" sz="2400" dirty="0" smtClean="0">
                <a:solidFill>
                  <a:srgbClr val="0070C0"/>
                </a:solidFill>
              </a:rPr>
              <a:t>Feature </a:t>
            </a:r>
            <a:r>
              <a:rPr lang="en-US" sz="2400" dirty="0" smtClean="0">
                <a:solidFill>
                  <a:srgbClr val="0070C0"/>
                </a:solidFill>
              </a:rPr>
              <a:t>2 is </a:t>
            </a:r>
            <a:r>
              <a:rPr lang="en-US" sz="2400" b="1" dirty="0" smtClean="0">
                <a:solidFill>
                  <a:srgbClr val="0070C0"/>
                </a:solidFill>
              </a:rPr>
              <a:t>“Motivation”</a:t>
            </a:r>
            <a:r>
              <a:rPr lang="en-US" sz="2400" dirty="0" smtClean="0">
                <a:solidFill>
                  <a:srgbClr val="0070C0"/>
                </a:solidFill>
              </a:rPr>
              <a:t> which takes 3 values </a:t>
            </a:r>
            <a:r>
              <a:rPr lang="en-US" sz="2400" i="1" dirty="0" smtClean="0">
                <a:solidFill>
                  <a:srgbClr val="0070C0"/>
                </a:solidFill>
              </a:rPr>
              <a:t>“No motivation”, “Neutral” and “Highly motivated”.</a:t>
            </a:r>
            <a:endParaRPr lang="en-US" sz="2400" dirty="0" smtClean="0">
              <a:solidFill>
                <a:srgbClr val="0070C0"/>
              </a:solidFill>
            </a:endParaRPr>
          </a:p>
          <a:p>
            <a:endParaRPr lang="en-US" sz="28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feature1 energy"/>
          <p:cNvPicPr>
            <a:picLocks noChangeAspect="1" noChangeArrowheads="1"/>
          </p:cNvPicPr>
          <p:nvPr/>
        </p:nvPicPr>
        <p:blipFill>
          <a:blip r:embed="rId2" cstate="print"/>
          <a:srcRect/>
          <a:stretch>
            <a:fillRect/>
          </a:stretch>
        </p:blipFill>
        <p:spPr bwMode="auto">
          <a:xfrm>
            <a:off x="395537" y="620689"/>
            <a:ext cx="4824536" cy="2651854"/>
          </a:xfrm>
          <a:prstGeom prst="rect">
            <a:avLst/>
          </a:prstGeom>
          <a:noFill/>
        </p:spPr>
      </p:pic>
      <p:pic>
        <p:nvPicPr>
          <p:cNvPr id="35844" name="Picture 4" descr="calculate the entropy | Decision tree algorithm"/>
          <p:cNvPicPr>
            <a:picLocks noChangeAspect="1" noChangeArrowheads="1"/>
          </p:cNvPicPr>
          <p:nvPr/>
        </p:nvPicPr>
        <p:blipFill>
          <a:blip r:embed="rId3" cstate="print"/>
          <a:srcRect/>
          <a:stretch>
            <a:fillRect/>
          </a:stretch>
        </p:blipFill>
        <p:spPr bwMode="auto">
          <a:xfrm>
            <a:off x="467544" y="4293096"/>
            <a:ext cx="8208912" cy="2232248"/>
          </a:xfrm>
          <a:prstGeom prst="rect">
            <a:avLst/>
          </a:prstGeom>
          <a:noFill/>
        </p:spPr>
      </p:pic>
      <p:sp>
        <p:nvSpPr>
          <p:cNvPr id="4" name="TextBox 3"/>
          <p:cNvSpPr txBox="1"/>
          <p:nvPr/>
        </p:nvSpPr>
        <p:spPr>
          <a:xfrm>
            <a:off x="323528" y="3717032"/>
            <a:ext cx="2736304" cy="369332"/>
          </a:xfrm>
          <a:prstGeom prst="rect">
            <a:avLst/>
          </a:prstGeom>
          <a:noFill/>
        </p:spPr>
        <p:txBody>
          <a:bodyPr wrap="square" rtlCol="0">
            <a:spAutoFit/>
          </a:bodyPr>
          <a:lstStyle/>
          <a:p>
            <a:r>
              <a:rPr lang="en-IN" dirty="0" smtClean="0"/>
              <a:t>Let’s  calculate Entropy</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entropy weighted average"/>
          <p:cNvPicPr>
            <a:picLocks noChangeAspect="1" noChangeArrowheads="1"/>
          </p:cNvPicPr>
          <p:nvPr/>
        </p:nvPicPr>
        <p:blipFill>
          <a:blip r:embed="rId2" cstate="print"/>
          <a:srcRect/>
          <a:stretch>
            <a:fillRect/>
          </a:stretch>
        </p:blipFill>
        <p:spPr bwMode="auto">
          <a:xfrm>
            <a:off x="827584" y="1556792"/>
            <a:ext cx="7143750" cy="781051"/>
          </a:xfrm>
          <a:prstGeom prst="rect">
            <a:avLst/>
          </a:prstGeom>
          <a:noFill/>
        </p:spPr>
      </p:pic>
      <p:pic>
        <p:nvPicPr>
          <p:cNvPr id="37892" name="Picture 4" descr="information gain example"/>
          <p:cNvPicPr>
            <a:picLocks noChangeAspect="1" noChangeArrowheads="1"/>
          </p:cNvPicPr>
          <p:nvPr/>
        </p:nvPicPr>
        <p:blipFill>
          <a:blip r:embed="rId3" cstate="print"/>
          <a:srcRect/>
          <a:stretch>
            <a:fillRect/>
          </a:stretch>
        </p:blipFill>
        <p:spPr bwMode="auto">
          <a:xfrm>
            <a:off x="827584" y="3861048"/>
            <a:ext cx="7067550" cy="1276350"/>
          </a:xfrm>
          <a:prstGeom prst="rect">
            <a:avLst/>
          </a:prstGeom>
          <a:noFill/>
        </p:spPr>
      </p:pic>
      <p:sp>
        <p:nvSpPr>
          <p:cNvPr id="4" name="TextBox 3"/>
          <p:cNvSpPr txBox="1"/>
          <p:nvPr/>
        </p:nvSpPr>
        <p:spPr>
          <a:xfrm>
            <a:off x="251520" y="1052736"/>
            <a:ext cx="8640960" cy="400110"/>
          </a:xfrm>
          <a:prstGeom prst="rect">
            <a:avLst/>
          </a:prstGeom>
          <a:noFill/>
        </p:spPr>
        <p:txBody>
          <a:bodyPr wrap="square" rtlCol="0">
            <a:spAutoFit/>
          </a:bodyPr>
          <a:lstStyle/>
          <a:p>
            <a:r>
              <a:rPr lang="en-US" sz="2000" dirty="0" smtClean="0"/>
              <a:t>To see the </a:t>
            </a:r>
            <a:r>
              <a:rPr lang="en-US" sz="2000" dirty="0" smtClean="0">
                <a:solidFill>
                  <a:srgbClr val="C00000"/>
                </a:solidFill>
              </a:rPr>
              <a:t>weighted average of entropy </a:t>
            </a:r>
            <a:r>
              <a:rPr lang="en-US" sz="2000" dirty="0" smtClean="0"/>
              <a:t>of each node we will do as follows:</a:t>
            </a:r>
            <a:endParaRPr lang="en-US" sz="2000" dirty="0"/>
          </a:p>
        </p:txBody>
      </p:sp>
      <p:sp>
        <p:nvSpPr>
          <p:cNvPr id="5" name="TextBox 4"/>
          <p:cNvSpPr txBox="1"/>
          <p:nvPr/>
        </p:nvSpPr>
        <p:spPr>
          <a:xfrm>
            <a:off x="251520" y="2708920"/>
            <a:ext cx="8568952" cy="707886"/>
          </a:xfrm>
          <a:prstGeom prst="rect">
            <a:avLst/>
          </a:prstGeom>
          <a:noFill/>
        </p:spPr>
        <p:txBody>
          <a:bodyPr wrap="square" rtlCol="0">
            <a:spAutoFit/>
          </a:bodyPr>
          <a:lstStyle/>
          <a:p>
            <a:r>
              <a:rPr lang="en-US" sz="2000" dirty="0" smtClean="0"/>
              <a:t>Now we have the value of E(Parent) and E(</a:t>
            </a:r>
            <a:r>
              <a:rPr lang="en-US" sz="2000" dirty="0" err="1" smtClean="0"/>
              <a:t>Parent|Energy</a:t>
            </a:r>
            <a:r>
              <a:rPr lang="en-US" sz="2000" dirty="0" smtClean="0"/>
              <a:t>), </a:t>
            </a:r>
            <a:r>
              <a:rPr lang="en-US" sz="2000" dirty="0" smtClean="0">
                <a:solidFill>
                  <a:srgbClr val="C00000"/>
                </a:solidFill>
              </a:rPr>
              <a:t>information gain </a:t>
            </a:r>
            <a:r>
              <a:rPr lang="en-US" sz="2000" dirty="0" smtClean="0"/>
              <a:t>will be: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feature2 | Decision tree algorithm"/>
          <p:cNvPicPr>
            <a:picLocks noChangeAspect="1" noChangeArrowheads="1"/>
          </p:cNvPicPr>
          <p:nvPr/>
        </p:nvPicPr>
        <p:blipFill>
          <a:blip r:embed="rId2" cstate="print"/>
          <a:srcRect/>
          <a:stretch>
            <a:fillRect/>
          </a:stretch>
        </p:blipFill>
        <p:spPr bwMode="auto">
          <a:xfrm>
            <a:off x="683568" y="1988840"/>
            <a:ext cx="7172325" cy="3990976"/>
          </a:xfrm>
          <a:prstGeom prst="rect">
            <a:avLst/>
          </a:prstGeom>
          <a:noFill/>
        </p:spPr>
      </p:pic>
      <p:sp>
        <p:nvSpPr>
          <p:cNvPr id="4" name="TextBox 3"/>
          <p:cNvSpPr txBox="1"/>
          <p:nvPr/>
        </p:nvSpPr>
        <p:spPr>
          <a:xfrm>
            <a:off x="323528" y="980728"/>
            <a:ext cx="8568952" cy="707886"/>
          </a:xfrm>
          <a:prstGeom prst="rect">
            <a:avLst/>
          </a:prstGeom>
          <a:noFill/>
        </p:spPr>
        <p:txBody>
          <a:bodyPr wrap="square" rtlCol="0">
            <a:spAutoFit/>
          </a:bodyPr>
          <a:lstStyle/>
          <a:p>
            <a:r>
              <a:rPr lang="en-US" sz="2000" dirty="0" smtClean="0"/>
              <a:t>Similarly, we will do this with the other feature “Motivation” and calculate its information gain.</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feature 2 entropy"/>
          <p:cNvPicPr>
            <a:picLocks noChangeAspect="1" noChangeArrowheads="1"/>
          </p:cNvPicPr>
          <p:nvPr/>
        </p:nvPicPr>
        <p:blipFill>
          <a:blip r:embed="rId2" cstate="print"/>
          <a:srcRect/>
          <a:stretch>
            <a:fillRect/>
          </a:stretch>
        </p:blipFill>
        <p:spPr bwMode="auto">
          <a:xfrm>
            <a:off x="323528" y="1484784"/>
            <a:ext cx="8568952" cy="2232248"/>
          </a:xfrm>
          <a:prstGeom prst="rect">
            <a:avLst/>
          </a:prstGeom>
          <a:noFill/>
        </p:spPr>
      </p:pic>
      <p:sp>
        <p:nvSpPr>
          <p:cNvPr id="3" name="TextBox 2"/>
          <p:cNvSpPr txBox="1"/>
          <p:nvPr/>
        </p:nvSpPr>
        <p:spPr>
          <a:xfrm>
            <a:off x="179512" y="692696"/>
            <a:ext cx="4464496" cy="369332"/>
          </a:xfrm>
          <a:prstGeom prst="rect">
            <a:avLst/>
          </a:prstGeom>
          <a:noFill/>
        </p:spPr>
        <p:txBody>
          <a:bodyPr wrap="square" rtlCol="0">
            <a:spAutoFit/>
          </a:bodyPr>
          <a:lstStyle/>
          <a:p>
            <a:r>
              <a:rPr lang="en-US" dirty="0" smtClean="0">
                <a:solidFill>
                  <a:srgbClr val="C00000"/>
                </a:solidFill>
              </a:rPr>
              <a:t>Let’s calculate the entropy here:</a:t>
            </a:r>
            <a:endParaRPr lang="en-US" dirty="0">
              <a:solidFill>
                <a:srgbClr val="C00000"/>
              </a:solidFill>
            </a:endParaRPr>
          </a:p>
        </p:txBody>
      </p:sp>
      <p:pic>
        <p:nvPicPr>
          <p:cNvPr id="39940" name="Picture 4" descr="weighted entropy "/>
          <p:cNvPicPr>
            <a:picLocks noChangeAspect="1" noChangeArrowheads="1"/>
          </p:cNvPicPr>
          <p:nvPr/>
        </p:nvPicPr>
        <p:blipFill>
          <a:blip r:embed="rId3" cstate="print"/>
          <a:srcRect/>
          <a:stretch>
            <a:fillRect/>
          </a:stretch>
        </p:blipFill>
        <p:spPr bwMode="auto">
          <a:xfrm>
            <a:off x="467544" y="5013176"/>
            <a:ext cx="8189262" cy="648072"/>
          </a:xfrm>
          <a:prstGeom prst="rect">
            <a:avLst/>
          </a:prstGeom>
          <a:noFill/>
        </p:spPr>
      </p:pic>
      <p:sp>
        <p:nvSpPr>
          <p:cNvPr id="5" name="TextBox 4"/>
          <p:cNvSpPr txBox="1"/>
          <p:nvPr/>
        </p:nvSpPr>
        <p:spPr>
          <a:xfrm>
            <a:off x="323528" y="4293096"/>
            <a:ext cx="8280920" cy="369332"/>
          </a:xfrm>
          <a:prstGeom prst="rect">
            <a:avLst/>
          </a:prstGeom>
          <a:noFill/>
        </p:spPr>
        <p:txBody>
          <a:bodyPr wrap="square" rtlCol="0">
            <a:spAutoFit/>
          </a:bodyPr>
          <a:lstStyle/>
          <a:p>
            <a:r>
              <a:rPr lang="en-US" dirty="0" smtClean="0">
                <a:solidFill>
                  <a:srgbClr val="C00000"/>
                </a:solidFill>
              </a:rPr>
              <a:t>To see the weighted average of entropy of each node we will do as follows:</a:t>
            </a:r>
            <a:endParaRPr lang="en-US" dirty="0">
              <a:solidFill>
                <a:srgbClr val="C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feature2 information gain"/>
          <p:cNvPicPr>
            <a:picLocks noChangeAspect="1" noChangeArrowheads="1"/>
          </p:cNvPicPr>
          <p:nvPr/>
        </p:nvPicPr>
        <p:blipFill>
          <a:blip r:embed="rId2" cstate="print"/>
          <a:srcRect/>
          <a:stretch>
            <a:fillRect/>
          </a:stretch>
        </p:blipFill>
        <p:spPr bwMode="auto">
          <a:xfrm>
            <a:off x="611560" y="1628800"/>
            <a:ext cx="7934325" cy="1438275"/>
          </a:xfrm>
          <a:prstGeom prst="rect">
            <a:avLst/>
          </a:prstGeom>
          <a:noFill/>
        </p:spPr>
      </p:pic>
      <p:sp>
        <p:nvSpPr>
          <p:cNvPr id="3" name="TextBox 2"/>
          <p:cNvSpPr txBox="1"/>
          <p:nvPr/>
        </p:nvSpPr>
        <p:spPr>
          <a:xfrm>
            <a:off x="179512" y="692696"/>
            <a:ext cx="8568952" cy="646331"/>
          </a:xfrm>
          <a:prstGeom prst="rect">
            <a:avLst/>
          </a:prstGeom>
          <a:noFill/>
        </p:spPr>
        <p:txBody>
          <a:bodyPr wrap="square" rtlCol="0">
            <a:spAutoFit/>
          </a:bodyPr>
          <a:lstStyle/>
          <a:p>
            <a:r>
              <a:rPr lang="en-US" dirty="0" smtClean="0">
                <a:solidFill>
                  <a:srgbClr val="C00000"/>
                </a:solidFill>
              </a:rPr>
              <a:t>Now we have the value of E(Parent) and E(</a:t>
            </a:r>
            <a:r>
              <a:rPr lang="en-US" dirty="0" err="1" smtClean="0">
                <a:solidFill>
                  <a:srgbClr val="C00000"/>
                </a:solidFill>
              </a:rPr>
              <a:t>Parent|Motivation</a:t>
            </a:r>
            <a:r>
              <a:rPr lang="en-US" dirty="0" smtClean="0">
                <a:solidFill>
                  <a:srgbClr val="C00000"/>
                </a:solidFill>
              </a:rPr>
              <a:t>), information gain will be:</a:t>
            </a:r>
            <a:endParaRPr lang="en-US" dirty="0">
              <a:solidFill>
                <a:srgbClr val="C00000"/>
              </a:solidFill>
            </a:endParaRPr>
          </a:p>
        </p:txBody>
      </p:sp>
      <p:sp>
        <p:nvSpPr>
          <p:cNvPr id="4" name="TextBox 3"/>
          <p:cNvSpPr txBox="1"/>
          <p:nvPr/>
        </p:nvSpPr>
        <p:spPr>
          <a:xfrm>
            <a:off x="251520" y="3573016"/>
            <a:ext cx="8568952" cy="2585323"/>
          </a:xfrm>
          <a:prstGeom prst="rect">
            <a:avLst/>
          </a:prstGeom>
          <a:noFill/>
        </p:spPr>
        <p:txBody>
          <a:bodyPr wrap="square" rtlCol="0">
            <a:spAutoFit/>
          </a:bodyPr>
          <a:lstStyle/>
          <a:p>
            <a:pPr algn="just"/>
            <a:r>
              <a:rPr lang="en-US" dirty="0" smtClean="0"/>
              <a:t>We now see that the “Energy” feature gives more reduction which is 0.37 than the “Motivation” feature. Hence we will select the feature which has the highest information gain and then split the node based on that feature</a:t>
            </a:r>
            <a:r>
              <a:rPr lang="en-US" dirty="0" smtClean="0"/>
              <a:t>.</a:t>
            </a:r>
          </a:p>
          <a:p>
            <a:pPr algn="just"/>
            <a:endParaRPr lang="en-IN" dirty="0" smtClean="0"/>
          </a:p>
          <a:p>
            <a:pPr algn="just"/>
            <a:r>
              <a:rPr lang="en-US" dirty="0" smtClean="0"/>
              <a:t>In this example “Energy” will be our root node and we’ll do the same for sub-nodes. Here we can see that when the energy is “high” the entropy is low and hence we can say a person will definitely go to the gym if he has high energy, but what if the energy is low? We will again split the node based on the new feature which is “Motivation”.</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20688"/>
            <a:ext cx="8229600" cy="648072"/>
          </a:xfrm>
        </p:spPr>
        <p:txBody>
          <a:bodyPr>
            <a:normAutofit fontScale="90000"/>
          </a:bodyPr>
          <a:lstStyle/>
          <a:p>
            <a:r>
              <a:rPr lang="en-US" dirty="0" err="1" smtClean="0"/>
              <a:t>Gini</a:t>
            </a:r>
            <a:r>
              <a:rPr lang="en-US" dirty="0" smtClean="0"/>
              <a:t> Index</a:t>
            </a:r>
            <a:endParaRPr lang="en-US" dirty="0"/>
          </a:p>
        </p:txBody>
      </p:sp>
      <p:sp>
        <p:nvSpPr>
          <p:cNvPr id="3" name="Content Placeholder 2"/>
          <p:cNvSpPr>
            <a:spLocks noGrp="1"/>
          </p:cNvSpPr>
          <p:nvPr>
            <p:ph idx="1"/>
          </p:nvPr>
        </p:nvSpPr>
        <p:spPr>
          <a:xfrm>
            <a:off x="395536" y="1556792"/>
            <a:ext cx="8568952" cy="4968552"/>
          </a:xfrm>
        </p:spPr>
        <p:txBody>
          <a:bodyPr>
            <a:normAutofit fontScale="92500" lnSpcReduction="20000"/>
          </a:bodyPr>
          <a:lstStyle/>
          <a:p>
            <a:pPr algn="just"/>
            <a:r>
              <a:rPr lang="en-US" dirty="0" err="1" smtClean="0"/>
              <a:t>Gini</a:t>
            </a:r>
            <a:r>
              <a:rPr lang="en-US" dirty="0" smtClean="0"/>
              <a:t> index is a measure of impurity or purity used while creating a decision tree in the CART(Classification and Regression Tree) algorithm.</a:t>
            </a:r>
          </a:p>
          <a:p>
            <a:pPr algn="just"/>
            <a:endParaRPr lang="en-US" dirty="0" smtClean="0"/>
          </a:p>
          <a:p>
            <a:pPr algn="just"/>
            <a:r>
              <a:rPr lang="en-US" dirty="0" smtClean="0"/>
              <a:t>An attribute with the low </a:t>
            </a:r>
            <a:r>
              <a:rPr lang="en-US" dirty="0" err="1" smtClean="0"/>
              <a:t>Gini</a:t>
            </a:r>
            <a:r>
              <a:rPr lang="en-US" dirty="0" smtClean="0"/>
              <a:t> index should be preferred as compared to the high </a:t>
            </a:r>
            <a:r>
              <a:rPr lang="en-US" dirty="0" err="1" smtClean="0"/>
              <a:t>Gini</a:t>
            </a:r>
            <a:r>
              <a:rPr lang="en-US" dirty="0" smtClean="0"/>
              <a:t> index.</a:t>
            </a:r>
          </a:p>
          <a:p>
            <a:pPr algn="just"/>
            <a:endParaRPr lang="en-US" dirty="0" smtClean="0"/>
          </a:p>
          <a:p>
            <a:pPr algn="just"/>
            <a:r>
              <a:rPr lang="en-US" dirty="0" smtClean="0"/>
              <a:t>It only creates binary splits, and the CART algorithm uses the </a:t>
            </a:r>
            <a:r>
              <a:rPr lang="en-US" dirty="0" err="1" smtClean="0"/>
              <a:t>Gini</a:t>
            </a:r>
            <a:r>
              <a:rPr lang="en-US" dirty="0" smtClean="0"/>
              <a:t> index to create binary splits.</a:t>
            </a:r>
          </a:p>
          <a:p>
            <a:pPr algn="just"/>
            <a:endParaRPr lang="en-US" dirty="0" smtClean="0"/>
          </a:p>
          <a:p>
            <a:pPr algn="just"/>
            <a:r>
              <a:rPr lang="en-US" dirty="0" err="1" smtClean="0"/>
              <a:t>Gini</a:t>
            </a:r>
            <a:r>
              <a:rPr lang="en-US" dirty="0" smtClean="0"/>
              <a:t> index can be calculated using the below formula:</a:t>
            </a:r>
          </a:p>
          <a:p>
            <a:pPr algn="just"/>
            <a:endParaRPr lang="en-US" dirty="0" smtClean="0"/>
          </a:p>
          <a:p>
            <a:pPr algn="ctr">
              <a:buNone/>
            </a:pPr>
            <a:r>
              <a:rPr lang="en-US" b="1" dirty="0" err="1" smtClean="0">
                <a:solidFill>
                  <a:srgbClr val="C00000"/>
                </a:solidFill>
              </a:rPr>
              <a:t>Gini</a:t>
            </a:r>
            <a:r>
              <a:rPr lang="en-US" b="1" dirty="0" smtClean="0">
                <a:solidFill>
                  <a:srgbClr val="C00000"/>
                </a:solidFill>
              </a:rPr>
              <a:t> Index= 1- ∑</a:t>
            </a:r>
            <a:r>
              <a:rPr lang="en-US" b="1" baseline="-25000" dirty="0" smtClean="0">
                <a:solidFill>
                  <a:srgbClr val="C00000"/>
                </a:solidFill>
              </a:rPr>
              <a:t>j</a:t>
            </a:r>
            <a:r>
              <a:rPr lang="en-US" b="1" dirty="0" smtClean="0">
                <a:solidFill>
                  <a:srgbClr val="C00000"/>
                </a:solidFill>
              </a:rPr>
              <a:t>P</a:t>
            </a:r>
            <a:r>
              <a:rPr lang="en-US" b="1" baseline="-25000" dirty="0" smtClean="0">
                <a:solidFill>
                  <a:srgbClr val="C00000"/>
                </a:solidFill>
              </a:rPr>
              <a:t>j</a:t>
            </a:r>
            <a:r>
              <a:rPr lang="en-US" b="1" baseline="30000" dirty="0" smtClean="0">
                <a:solidFill>
                  <a:srgbClr val="C00000"/>
                </a:solidFill>
              </a:rPr>
              <a:t>2</a:t>
            </a:r>
            <a:endParaRPr lang="en-US" b="1" dirty="0" smtClean="0">
              <a:solidFill>
                <a:srgbClr val="C00000"/>
              </a:solidFill>
            </a:endParaRP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20688"/>
            <a:ext cx="8229600" cy="1066800"/>
          </a:xfrm>
        </p:spPr>
        <p:txBody>
          <a:bodyPr>
            <a:normAutofit fontScale="90000"/>
          </a:bodyPr>
          <a:lstStyle/>
          <a:p>
            <a:r>
              <a:rPr lang="en-US" b="1" dirty="0" smtClean="0"/>
              <a:t>When to stop splitting?</a:t>
            </a:r>
            <a:r>
              <a:rPr lang="en-US" dirty="0" smtClean="0"/>
              <a:t/>
            </a:r>
            <a:br>
              <a:rPr lang="en-US" dirty="0" smtClean="0"/>
            </a:br>
            <a:endParaRPr lang="en-US" dirty="0"/>
          </a:p>
        </p:txBody>
      </p:sp>
      <p:sp>
        <p:nvSpPr>
          <p:cNvPr id="3" name="Content Placeholder 2"/>
          <p:cNvSpPr>
            <a:spLocks noGrp="1"/>
          </p:cNvSpPr>
          <p:nvPr>
            <p:ph idx="1"/>
          </p:nvPr>
        </p:nvSpPr>
        <p:spPr>
          <a:xfrm>
            <a:off x="179512" y="1340768"/>
            <a:ext cx="8784976" cy="5328592"/>
          </a:xfrm>
        </p:spPr>
        <p:txBody>
          <a:bodyPr>
            <a:noAutofit/>
          </a:bodyPr>
          <a:lstStyle/>
          <a:p>
            <a:pPr algn="just">
              <a:buNone/>
            </a:pPr>
            <a:r>
              <a:rPr lang="en-US" sz="1800" dirty="0" smtClean="0"/>
              <a:t>Usually, real-world datasets have a large number of features, which will result in </a:t>
            </a:r>
            <a:r>
              <a:rPr lang="en-US" sz="1800" dirty="0" smtClean="0"/>
              <a:t>a large </a:t>
            </a:r>
            <a:r>
              <a:rPr lang="en-US" sz="1800" dirty="0" smtClean="0"/>
              <a:t>number of splits, which in turn gives a huge tree. Such trees take time to build and can lead to </a:t>
            </a:r>
            <a:r>
              <a:rPr lang="en-US" sz="1800" dirty="0" err="1" smtClean="0"/>
              <a:t>overfitting</a:t>
            </a:r>
            <a:r>
              <a:rPr lang="en-US" sz="1800" dirty="0" smtClean="0"/>
              <a:t>. That means the tree will give very good accuracy on the training dataset but will give bad accuracy in test data. </a:t>
            </a:r>
            <a:r>
              <a:rPr lang="en-US" sz="1800" dirty="0" smtClean="0">
                <a:cs typeface="Times New Roman" pitchFamily="18" charset="0"/>
              </a:rPr>
              <a:t>There </a:t>
            </a:r>
            <a:r>
              <a:rPr lang="en-US" sz="1800" dirty="0" smtClean="0">
                <a:cs typeface="Times New Roman" pitchFamily="18" charset="0"/>
              </a:rPr>
              <a:t>are many ways to tackle this problem </a:t>
            </a:r>
            <a:r>
              <a:rPr lang="en-US" sz="1800" dirty="0" smtClean="0">
                <a:cs typeface="Times New Roman" pitchFamily="18" charset="0"/>
              </a:rPr>
              <a:t>through </a:t>
            </a:r>
            <a:r>
              <a:rPr lang="en-US" sz="1800" dirty="0" err="1" smtClean="0">
                <a:cs typeface="Times New Roman" pitchFamily="18" charset="0"/>
              </a:rPr>
              <a:t>hyperparameter</a:t>
            </a:r>
            <a:r>
              <a:rPr lang="en-US" sz="1800" dirty="0" smtClean="0">
                <a:cs typeface="Times New Roman" pitchFamily="18" charset="0"/>
              </a:rPr>
              <a:t> </a:t>
            </a:r>
            <a:r>
              <a:rPr lang="en-US" sz="1800" dirty="0" smtClean="0">
                <a:cs typeface="Times New Roman" pitchFamily="18" charset="0"/>
              </a:rPr>
              <a:t>tuning. </a:t>
            </a:r>
            <a:endParaRPr lang="en-US" sz="1800" dirty="0" smtClean="0">
              <a:cs typeface="Times New Roman" pitchFamily="18" charset="0"/>
            </a:endParaRPr>
          </a:p>
          <a:p>
            <a:pPr algn="just">
              <a:buNone/>
            </a:pPr>
            <a:endParaRPr lang="en-US" sz="1800" dirty="0" smtClean="0">
              <a:cs typeface="Times New Roman" pitchFamily="18" charset="0"/>
            </a:endParaRPr>
          </a:p>
          <a:p>
            <a:pPr marL="566928" indent="-457200" algn="just">
              <a:buAutoNum type="arabicPeriod"/>
            </a:pPr>
            <a:r>
              <a:rPr lang="en-US" sz="1800" b="1" i="1" dirty="0" err="1" smtClean="0">
                <a:cs typeface="Times New Roman" pitchFamily="18" charset="0"/>
              </a:rPr>
              <a:t>max_depth</a:t>
            </a:r>
            <a:r>
              <a:rPr lang="en-US" sz="1800" dirty="0" smtClean="0">
                <a:cs typeface="Times New Roman" pitchFamily="18" charset="0"/>
              </a:rPr>
              <a:t> </a:t>
            </a:r>
            <a:r>
              <a:rPr lang="en-US" sz="1800" dirty="0" smtClean="0">
                <a:cs typeface="Times New Roman" pitchFamily="18" charset="0"/>
              </a:rPr>
              <a:t>parameter - set </a:t>
            </a:r>
            <a:r>
              <a:rPr lang="en-US" sz="1800" dirty="0" smtClean="0">
                <a:cs typeface="Times New Roman" pitchFamily="18" charset="0"/>
              </a:rPr>
              <a:t>the maximum depth of our decision </a:t>
            </a:r>
            <a:r>
              <a:rPr lang="en-US" sz="1800" dirty="0" smtClean="0">
                <a:cs typeface="Times New Roman" pitchFamily="18" charset="0"/>
              </a:rPr>
              <a:t>tree. </a:t>
            </a:r>
            <a:r>
              <a:rPr lang="en-US" sz="1800" dirty="0" smtClean="0">
                <a:cs typeface="Times New Roman" pitchFamily="18" charset="0"/>
              </a:rPr>
              <a:t>The more the </a:t>
            </a:r>
            <a:r>
              <a:rPr lang="en-US" sz="1800" dirty="0" smtClean="0">
                <a:cs typeface="Times New Roman" pitchFamily="18" charset="0"/>
              </a:rPr>
              <a:t>value of</a:t>
            </a:r>
            <a:r>
              <a:rPr lang="en-US" sz="1800" dirty="0" smtClean="0">
                <a:cs typeface="Times New Roman" pitchFamily="18" charset="0"/>
              </a:rPr>
              <a:t> </a:t>
            </a:r>
            <a:r>
              <a:rPr lang="en-US" sz="1800" b="1" i="1" dirty="0" err="1" smtClean="0">
                <a:cs typeface="Times New Roman" pitchFamily="18" charset="0"/>
              </a:rPr>
              <a:t>max_depth</a:t>
            </a:r>
            <a:r>
              <a:rPr lang="en-US" sz="1800" dirty="0" smtClean="0">
                <a:cs typeface="Times New Roman" pitchFamily="18" charset="0"/>
              </a:rPr>
              <a:t>, the more </a:t>
            </a:r>
            <a:r>
              <a:rPr lang="en-US" sz="1800" dirty="0" smtClean="0">
                <a:cs typeface="Times New Roman" pitchFamily="18" charset="0"/>
              </a:rPr>
              <a:t>complex  </a:t>
            </a:r>
            <a:r>
              <a:rPr lang="en-US" sz="1800" dirty="0" smtClean="0">
                <a:cs typeface="Times New Roman" pitchFamily="18" charset="0"/>
              </a:rPr>
              <a:t>your tree will be.  Hence you need a value that will not </a:t>
            </a:r>
            <a:r>
              <a:rPr lang="en-US" sz="1800" dirty="0" err="1" smtClean="0">
                <a:cs typeface="Times New Roman" pitchFamily="18" charset="0"/>
              </a:rPr>
              <a:t>overfit</a:t>
            </a:r>
            <a:r>
              <a:rPr lang="en-US" sz="1800" dirty="0" smtClean="0">
                <a:cs typeface="Times New Roman" pitchFamily="18" charset="0"/>
              </a:rPr>
              <a:t> as well as </a:t>
            </a:r>
            <a:r>
              <a:rPr lang="en-US" sz="1800" dirty="0" err="1" smtClean="0">
                <a:cs typeface="Times New Roman" pitchFamily="18" charset="0"/>
              </a:rPr>
              <a:t>underfit</a:t>
            </a:r>
            <a:r>
              <a:rPr lang="en-US" sz="1800" dirty="0" smtClean="0">
                <a:cs typeface="Times New Roman" pitchFamily="18" charset="0"/>
              </a:rPr>
              <a:t> our </a:t>
            </a:r>
            <a:r>
              <a:rPr lang="en-US" sz="1800" dirty="0" smtClean="0">
                <a:cs typeface="Times New Roman" pitchFamily="18" charset="0"/>
              </a:rPr>
              <a:t>data.</a:t>
            </a:r>
          </a:p>
          <a:p>
            <a:pPr marL="566928" indent="-457200" algn="just">
              <a:buAutoNum type="arabicPeriod"/>
            </a:pPr>
            <a:endParaRPr lang="en-US" sz="1800" dirty="0" smtClean="0">
              <a:cs typeface="Times New Roman" pitchFamily="18" charset="0"/>
            </a:endParaRPr>
          </a:p>
          <a:p>
            <a:pPr algn="just">
              <a:buNone/>
            </a:pPr>
            <a:r>
              <a:rPr lang="en-US" sz="1800" dirty="0" smtClean="0">
                <a:cs typeface="Times New Roman" pitchFamily="18" charset="0"/>
              </a:rPr>
              <a:t>2. </a:t>
            </a:r>
            <a:r>
              <a:rPr lang="en-US" sz="1800" b="1" i="1" dirty="0" err="1" smtClean="0"/>
              <a:t>min_samples_split</a:t>
            </a:r>
            <a:r>
              <a:rPr lang="en-US" sz="1800" b="1" i="1" dirty="0" smtClean="0"/>
              <a:t> </a:t>
            </a:r>
            <a:r>
              <a:rPr lang="en-US" sz="1800" dirty="0" smtClean="0"/>
              <a:t>- </a:t>
            </a:r>
            <a:r>
              <a:rPr lang="en-US" sz="1800" dirty="0" smtClean="0"/>
              <a:t>set the minimum number of samples for each spilt. </a:t>
            </a:r>
            <a:endParaRPr lang="en-US" sz="1800" dirty="0" smtClean="0"/>
          </a:p>
          <a:p>
            <a:pPr algn="just">
              <a:buNone/>
            </a:pPr>
            <a:endParaRPr lang="en-US" sz="1800" dirty="0" smtClean="0"/>
          </a:p>
          <a:p>
            <a:pPr>
              <a:buNone/>
            </a:pPr>
            <a:r>
              <a:rPr lang="en-US" sz="1800" dirty="0" smtClean="0">
                <a:cs typeface="Times New Roman" pitchFamily="18" charset="0"/>
              </a:rPr>
              <a:t>3. </a:t>
            </a:r>
            <a:r>
              <a:rPr lang="en-US" sz="1800" b="1" i="1" dirty="0" err="1" smtClean="0"/>
              <a:t>min_samples_leaf</a:t>
            </a:r>
            <a:r>
              <a:rPr lang="en-US" sz="1800" dirty="0" smtClean="0"/>
              <a:t> – represents the minimum number of samples required to be in the leaf node. The more you increase the number, the more is the possibility of </a:t>
            </a:r>
            <a:r>
              <a:rPr lang="en-US" sz="1800" dirty="0" err="1" smtClean="0"/>
              <a:t>overfitting</a:t>
            </a:r>
            <a:r>
              <a:rPr lang="en-US" sz="1800" dirty="0" smtClean="0"/>
              <a:t>.</a:t>
            </a:r>
          </a:p>
          <a:p>
            <a:pPr>
              <a:buNone/>
            </a:pPr>
            <a:endParaRPr lang="en-US" sz="1800" dirty="0" smtClean="0"/>
          </a:p>
          <a:p>
            <a:pPr>
              <a:buNone/>
            </a:pPr>
            <a:r>
              <a:rPr lang="en-US" sz="1800" i="1" dirty="0" smtClean="0"/>
              <a:t>4.</a:t>
            </a:r>
            <a:r>
              <a:rPr lang="en-US" sz="1800" b="1" i="1" dirty="0" smtClean="0"/>
              <a:t> </a:t>
            </a:r>
            <a:r>
              <a:rPr lang="en-US" sz="1800" b="1" i="1" dirty="0" err="1" smtClean="0"/>
              <a:t>max_features</a:t>
            </a:r>
            <a:r>
              <a:rPr lang="en-US" sz="1800" dirty="0" smtClean="0"/>
              <a:t> – it helps us decide what number of features to consider when looking for the best split.</a:t>
            </a:r>
          </a:p>
          <a:p>
            <a:pPr algn="just">
              <a:buNone/>
            </a:pPr>
            <a:r>
              <a:rPr lang="en-US" sz="1800" dirty="0" smtClean="0">
                <a:cs typeface="Times New Roman" pitchFamily="18" charset="0"/>
              </a:rPr>
              <a:t> </a:t>
            </a:r>
            <a:endParaRPr lang="en-US" sz="1800" dirty="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92696"/>
            <a:ext cx="8229600" cy="720080"/>
          </a:xfrm>
        </p:spPr>
        <p:txBody>
          <a:bodyPr>
            <a:normAutofit fontScale="90000"/>
          </a:bodyPr>
          <a:lstStyle/>
          <a:p>
            <a:r>
              <a:rPr lang="en-US" dirty="0" smtClean="0"/>
              <a:t>Pruning</a:t>
            </a:r>
            <a:br>
              <a:rPr lang="en-US" dirty="0" smtClean="0"/>
            </a:br>
            <a:endParaRPr lang="en-US" dirty="0"/>
          </a:p>
        </p:txBody>
      </p:sp>
      <p:sp>
        <p:nvSpPr>
          <p:cNvPr id="3" name="Content Placeholder 2"/>
          <p:cNvSpPr>
            <a:spLocks noGrp="1"/>
          </p:cNvSpPr>
          <p:nvPr>
            <p:ph idx="1"/>
          </p:nvPr>
        </p:nvSpPr>
        <p:spPr>
          <a:xfrm>
            <a:off x="179512" y="1196752"/>
            <a:ext cx="8784976" cy="5328592"/>
          </a:xfrm>
        </p:spPr>
        <p:txBody>
          <a:bodyPr>
            <a:normAutofit fontScale="25000" lnSpcReduction="20000"/>
          </a:bodyPr>
          <a:lstStyle/>
          <a:p>
            <a:pPr algn="just"/>
            <a:r>
              <a:rPr lang="en-US" sz="7200" b="1" i="1" dirty="0" smtClean="0">
                <a:solidFill>
                  <a:schemeClr val="accent4">
                    <a:lumMod val="75000"/>
                  </a:schemeClr>
                </a:solidFill>
                <a:latin typeface="Times New Roman" pitchFamily="18" charset="0"/>
                <a:cs typeface="Times New Roman" pitchFamily="18" charset="0"/>
              </a:rPr>
              <a:t>Pruning is a process of deleting the unnecessary nodes from a tree in order to get the optimal decision tree.</a:t>
            </a:r>
          </a:p>
          <a:p>
            <a:pPr algn="just"/>
            <a:endParaRPr lang="en-US" sz="7200" dirty="0" smtClean="0">
              <a:latin typeface="Times New Roman" pitchFamily="18" charset="0"/>
              <a:cs typeface="Times New Roman" pitchFamily="18" charset="0"/>
            </a:endParaRPr>
          </a:p>
          <a:p>
            <a:pPr algn="just"/>
            <a:r>
              <a:rPr lang="en-US" sz="7200" dirty="0" smtClean="0">
                <a:latin typeface="Times New Roman" pitchFamily="18" charset="0"/>
                <a:cs typeface="Times New Roman" pitchFamily="18" charset="0"/>
              </a:rPr>
              <a:t>A too-large tree increases the risk of </a:t>
            </a:r>
            <a:r>
              <a:rPr lang="en-US" sz="7200" dirty="0" err="1" smtClean="0">
                <a:latin typeface="Times New Roman" pitchFamily="18" charset="0"/>
                <a:cs typeface="Times New Roman" pitchFamily="18" charset="0"/>
              </a:rPr>
              <a:t>overfitting</a:t>
            </a:r>
            <a:r>
              <a:rPr lang="en-US" sz="7200" dirty="0" smtClean="0">
                <a:latin typeface="Times New Roman" pitchFamily="18" charset="0"/>
                <a:cs typeface="Times New Roman" pitchFamily="18" charset="0"/>
              </a:rPr>
              <a:t>, and a small tree may not capture all the important features of the dataset. </a:t>
            </a:r>
          </a:p>
          <a:p>
            <a:pPr algn="just"/>
            <a:endParaRPr lang="en-US" sz="7200" dirty="0" smtClean="0">
              <a:latin typeface="Times New Roman" pitchFamily="18" charset="0"/>
              <a:cs typeface="Times New Roman" pitchFamily="18" charset="0"/>
            </a:endParaRPr>
          </a:p>
          <a:p>
            <a:pPr algn="just"/>
            <a:r>
              <a:rPr lang="en-US" sz="7200" dirty="0" smtClean="0">
                <a:latin typeface="Times New Roman" pitchFamily="18" charset="0"/>
                <a:cs typeface="Times New Roman" pitchFamily="18" charset="0"/>
              </a:rPr>
              <a:t>Therefore, a technique that decreases the size of the learning tree without reducing accuracy is known as Pruning.</a:t>
            </a:r>
          </a:p>
          <a:p>
            <a:pPr algn="just">
              <a:buNone/>
            </a:pPr>
            <a:r>
              <a:rPr lang="en-US" sz="7200" dirty="0" smtClean="0">
                <a:latin typeface="Times New Roman" pitchFamily="18" charset="0"/>
                <a:cs typeface="Times New Roman" pitchFamily="18" charset="0"/>
              </a:rPr>
              <a:t> </a:t>
            </a:r>
          </a:p>
          <a:p>
            <a:pPr algn="just"/>
            <a:r>
              <a:rPr lang="en-US" sz="7200" dirty="0" smtClean="0">
                <a:latin typeface="Times New Roman" pitchFamily="18" charset="0"/>
                <a:cs typeface="Times New Roman" pitchFamily="18" charset="0"/>
              </a:rPr>
              <a:t>There are mainly two types of tree </a:t>
            </a:r>
            <a:r>
              <a:rPr lang="en-US" sz="7200" b="1" dirty="0" smtClean="0">
                <a:latin typeface="Times New Roman" pitchFamily="18" charset="0"/>
                <a:cs typeface="Times New Roman" pitchFamily="18" charset="0"/>
              </a:rPr>
              <a:t>pruning </a:t>
            </a:r>
            <a:r>
              <a:rPr lang="en-US" sz="7200" dirty="0" smtClean="0">
                <a:latin typeface="Times New Roman" pitchFamily="18" charset="0"/>
                <a:cs typeface="Times New Roman" pitchFamily="18" charset="0"/>
              </a:rPr>
              <a:t>technology used:</a:t>
            </a:r>
          </a:p>
          <a:p>
            <a:pPr algn="just">
              <a:buNone/>
            </a:pPr>
            <a:r>
              <a:rPr lang="en-US" sz="7200" b="1" dirty="0" smtClean="0">
                <a:latin typeface="Times New Roman" pitchFamily="18" charset="0"/>
                <a:cs typeface="Times New Roman" pitchFamily="18" charset="0"/>
              </a:rPr>
              <a:t>				Cost Complexity Pruning</a:t>
            </a:r>
            <a:endParaRPr lang="en-US" sz="7200" dirty="0" smtClean="0">
              <a:latin typeface="Times New Roman" pitchFamily="18" charset="0"/>
              <a:cs typeface="Times New Roman" pitchFamily="18" charset="0"/>
            </a:endParaRPr>
          </a:p>
          <a:p>
            <a:pPr algn="just">
              <a:buNone/>
            </a:pPr>
            <a:r>
              <a:rPr lang="en-US" sz="7200" b="1" dirty="0" smtClean="0">
                <a:latin typeface="Times New Roman" pitchFamily="18" charset="0"/>
                <a:cs typeface="Times New Roman" pitchFamily="18" charset="0"/>
              </a:rPr>
              <a:t>				Reduced Error Pruning.</a:t>
            </a:r>
          </a:p>
          <a:p>
            <a:pPr algn="just">
              <a:buNone/>
            </a:pPr>
            <a:endParaRPr lang="en-US" sz="7200" b="1" dirty="0" smtClean="0">
              <a:latin typeface="Times New Roman" pitchFamily="18" charset="0"/>
              <a:cs typeface="Times New Roman" pitchFamily="18" charset="0"/>
            </a:endParaRPr>
          </a:p>
          <a:p>
            <a:pPr algn="just"/>
            <a:r>
              <a:rPr lang="en-US" sz="7200" dirty="0" smtClean="0">
                <a:latin typeface="Times New Roman" pitchFamily="18" charset="0"/>
                <a:cs typeface="Times New Roman" pitchFamily="18" charset="0"/>
              </a:rPr>
              <a:t>There are mainly 2 ways for pruning:</a:t>
            </a:r>
          </a:p>
          <a:p>
            <a:pPr algn="just"/>
            <a:endParaRPr lang="en-US" sz="7200" dirty="0" smtClean="0">
              <a:latin typeface="Times New Roman" pitchFamily="18" charset="0"/>
              <a:cs typeface="Times New Roman" pitchFamily="18" charset="0"/>
            </a:endParaRPr>
          </a:p>
          <a:p>
            <a:pPr lvl="2" algn="just">
              <a:buNone/>
            </a:pPr>
            <a:r>
              <a:rPr lang="en-US" sz="7200" dirty="0" smtClean="0">
                <a:latin typeface="Times New Roman" pitchFamily="18" charset="0"/>
                <a:cs typeface="Times New Roman" pitchFamily="18" charset="0"/>
              </a:rPr>
              <a:t>	</a:t>
            </a:r>
            <a:r>
              <a:rPr lang="en-US" sz="7200" dirty="0" smtClean="0">
                <a:solidFill>
                  <a:srgbClr val="C00000"/>
                </a:solidFill>
                <a:latin typeface="Times New Roman" pitchFamily="18" charset="0"/>
                <a:cs typeface="Times New Roman" pitchFamily="18" charset="0"/>
              </a:rPr>
              <a:t>(</a:t>
            </a:r>
            <a:r>
              <a:rPr lang="en-US" sz="7200" dirty="0" err="1" smtClean="0">
                <a:solidFill>
                  <a:srgbClr val="C00000"/>
                </a:solidFill>
                <a:latin typeface="Times New Roman" pitchFamily="18" charset="0"/>
                <a:cs typeface="Times New Roman" pitchFamily="18" charset="0"/>
              </a:rPr>
              <a:t>i</a:t>
            </a:r>
            <a:r>
              <a:rPr lang="en-US" sz="7200" dirty="0" smtClean="0">
                <a:solidFill>
                  <a:srgbClr val="C00000"/>
                </a:solidFill>
                <a:latin typeface="Times New Roman" pitchFamily="18" charset="0"/>
                <a:cs typeface="Times New Roman" pitchFamily="18" charset="0"/>
              </a:rPr>
              <a:t>) </a:t>
            </a:r>
            <a:r>
              <a:rPr lang="en-US" sz="7200" b="1" dirty="0" smtClean="0">
                <a:solidFill>
                  <a:srgbClr val="C00000"/>
                </a:solidFill>
                <a:latin typeface="Times New Roman" pitchFamily="18" charset="0"/>
                <a:cs typeface="Times New Roman" pitchFamily="18" charset="0"/>
              </a:rPr>
              <a:t>Pre-pruning</a:t>
            </a:r>
            <a:r>
              <a:rPr lang="en-US" sz="7200" dirty="0" smtClean="0">
                <a:solidFill>
                  <a:srgbClr val="C00000"/>
                </a:solidFill>
                <a:latin typeface="Times New Roman" pitchFamily="18" charset="0"/>
                <a:cs typeface="Times New Roman" pitchFamily="18" charset="0"/>
              </a:rPr>
              <a:t> – </a:t>
            </a:r>
            <a:r>
              <a:rPr lang="en-US" sz="7200" dirty="0" smtClean="0">
                <a:solidFill>
                  <a:schemeClr val="tx1"/>
                </a:solidFill>
                <a:latin typeface="Times New Roman" pitchFamily="18" charset="0"/>
                <a:cs typeface="Times New Roman" pitchFamily="18" charset="0"/>
              </a:rPr>
              <a:t>we can stop growing the tree earlier, which means we can prune/remove/cut a node if it has low importance </a:t>
            </a:r>
            <a:r>
              <a:rPr lang="en-US" sz="7200" b="1" dirty="0" smtClean="0">
                <a:solidFill>
                  <a:schemeClr val="tx1"/>
                </a:solidFill>
                <a:latin typeface="Times New Roman" pitchFamily="18" charset="0"/>
                <a:cs typeface="Times New Roman" pitchFamily="18" charset="0"/>
              </a:rPr>
              <a:t>while growing</a:t>
            </a:r>
            <a:r>
              <a:rPr lang="en-US" sz="7200" dirty="0" smtClean="0">
                <a:solidFill>
                  <a:schemeClr val="tx1"/>
                </a:solidFill>
                <a:latin typeface="Times New Roman" pitchFamily="18" charset="0"/>
                <a:cs typeface="Times New Roman" pitchFamily="18" charset="0"/>
              </a:rPr>
              <a:t> the tree.</a:t>
            </a:r>
          </a:p>
          <a:p>
            <a:pPr lvl="2" algn="just">
              <a:buNone/>
            </a:pPr>
            <a:endParaRPr lang="en-US" sz="7200" dirty="0" smtClean="0">
              <a:solidFill>
                <a:srgbClr val="C00000"/>
              </a:solidFill>
              <a:latin typeface="Times New Roman" pitchFamily="18" charset="0"/>
              <a:cs typeface="Times New Roman" pitchFamily="18" charset="0"/>
            </a:endParaRPr>
          </a:p>
          <a:p>
            <a:pPr lvl="2" algn="just">
              <a:buNone/>
            </a:pPr>
            <a:r>
              <a:rPr lang="en-US" sz="7200" dirty="0" smtClean="0">
                <a:solidFill>
                  <a:srgbClr val="C00000"/>
                </a:solidFill>
                <a:latin typeface="Times New Roman" pitchFamily="18" charset="0"/>
                <a:cs typeface="Times New Roman" pitchFamily="18" charset="0"/>
              </a:rPr>
              <a:t>	(ii) </a:t>
            </a:r>
            <a:r>
              <a:rPr lang="en-US" sz="7200" b="1" dirty="0" smtClean="0">
                <a:solidFill>
                  <a:srgbClr val="C00000"/>
                </a:solidFill>
                <a:latin typeface="Times New Roman" pitchFamily="18" charset="0"/>
                <a:cs typeface="Times New Roman" pitchFamily="18" charset="0"/>
              </a:rPr>
              <a:t>Post-pruning</a:t>
            </a:r>
            <a:r>
              <a:rPr lang="en-US" sz="7200" dirty="0" smtClean="0">
                <a:solidFill>
                  <a:srgbClr val="C00000"/>
                </a:solidFill>
                <a:latin typeface="Times New Roman" pitchFamily="18" charset="0"/>
                <a:cs typeface="Times New Roman" pitchFamily="18" charset="0"/>
              </a:rPr>
              <a:t> – </a:t>
            </a:r>
            <a:r>
              <a:rPr lang="en-US" sz="7200" dirty="0" smtClean="0">
                <a:solidFill>
                  <a:schemeClr val="tx1"/>
                </a:solidFill>
                <a:latin typeface="Times New Roman" pitchFamily="18" charset="0"/>
                <a:cs typeface="Times New Roman" pitchFamily="18" charset="0"/>
              </a:rPr>
              <a:t>once our </a:t>
            </a:r>
            <a:r>
              <a:rPr lang="en-US" sz="7200" b="1" dirty="0" smtClean="0">
                <a:solidFill>
                  <a:schemeClr val="tx1"/>
                </a:solidFill>
                <a:latin typeface="Times New Roman" pitchFamily="18" charset="0"/>
                <a:cs typeface="Times New Roman" pitchFamily="18" charset="0"/>
              </a:rPr>
              <a:t>tree is built to its depth</a:t>
            </a:r>
            <a:r>
              <a:rPr lang="en-US" sz="7200" dirty="0" smtClean="0">
                <a:solidFill>
                  <a:schemeClr val="tx1"/>
                </a:solidFill>
                <a:latin typeface="Times New Roman" pitchFamily="18" charset="0"/>
                <a:cs typeface="Times New Roman" pitchFamily="18" charset="0"/>
              </a:rPr>
              <a:t>, we can start pruning the nodes based on their significance.</a:t>
            </a:r>
          </a:p>
          <a:p>
            <a:pPr algn="just">
              <a:buNone/>
            </a:pPr>
            <a:endParaRPr lang="en-US" b="1" dirty="0" smtClean="0"/>
          </a:p>
          <a:p>
            <a:pPr algn="just">
              <a:buNone/>
            </a:pPr>
            <a:endParaRPr lang="en-IN" b="1" dirty="0" smtClean="0"/>
          </a:p>
          <a:p>
            <a:pPr algn="just">
              <a:buNone/>
            </a:pPr>
            <a:endParaRPr lang="en-US" dirty="0" smtClean="0"/>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764704"/>
            <a:ext cx="8229600" cy="792088"/>
          </a:xfrm>
        </p:spPr>
        <p:txBody>
          <a:bodyPr>
            <a:normAutofit fontScale="90000"/>
          </a:bodyPr>
          <a:lstStyle/>
          <a:p>
            <a:r>
              <a:rPr lang="en-US" dirty="0" smtClean="0"/>
              <a:t>Advantages of the Decision Tree</a:t>
            </a:r>
            <a:br>
              <a:rPr lang="en-US" dirty="0" smtClean="0"/>
            </a:br>
            <a:endParaRPr lang="en-US" dirty="0"/>
          </a:p>
        </p:txBody>
      </p:sp>
      <p:sp>
        <p:nvSpPr>
          <p:cNvPr id="3" name="Content Placeholder 2"/>
          <p:cNvSpPr>
            <a:spLocks noGrp="1"/>
          </p:cNvSpPr>
          <p:nvPr>
            <p:ph idx="1"/>
          </p:nvPr>
        </p:nvSpPr>
        <p:spPr>
          <a:xfrm>
            <a:off x="251520" y="1412776"/>
            <a:ext cx="8640960" cy="5161760"/>
          </a:xfrm>
        </p:spPr>
        <p:txBody>
          <a:bodyPr>
            <a:normAutofit lnSpcReduction="10000"/>
          </a:bodyPr>
          <a:lstStyle/>
          <a:p>
            <a:r>
              <a:rPr lang="en-US" dirty="0" smtClean="0"/>
              <a:t>It is simple to understand as it follows the same process which a human follow while making any decision in real-life.</a:t>
            </a:r>
          </a:p>
          <a:p>
            <a:endParaRPr lang="en-US" dirty="0" smtClean="0"/>
          </a:p>
          <a:p>
            <a:r>
              <a:rPr lang="en-US" dirty="0" smtClean="0"/>
              <a:t>It can be very useful for solving decision-related problems.</a:t>
            </a:r>
          </a:p>
          <a:p>
            <a:endParaRPr lang="en-US" dirty="0" smtClean="0"/>
          </a:p>
          <a:p>
            <a:r>
              <a:rPr lang="en-US" dirty="0" smtClean="0"/>
              <a:t>It helps to think about all the possible outcomes for a problem.</a:t>
            </a:r>
          </a:p>
          <a:p>
            <a:pPr>
              <a:buNone/>
            </a:pPr>
            <a:endParaRPr lang="en-US" dirty="0" smtClean="0"/>
          </a:p>
          <a:p>
            <a:r>
              <a:rPr lang="en-US" dirty="0" smtClean="0"/>
              <a:t>There is less requirement of data cleaning compared to other algorithms.</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692696"/>
            <a:ext cx="8229600" cy="917848"/>
          </a:xfrm>
        </p:spPr>
        <p:txBody>
          <a:bodyPr>
            <a:normAutofit fontScale="90000"/>
          </a:bodyPr>
          <a:lstStyle/>
          <a:p>
            <a:r>
              <a:rPr lang="en-US" dirty="0" smtClean="0"/>
              <a:t>Disadvantages of the Decision Tree</a:t>
            </a:r>
            <a:br>
              <a:rPr lang="en-US" dirty="0" smtClean="0"/>
            </a:br>
            <a:endParaRPr lang="en-US" dirty="0"/>
          </a:p>
        </p:txBody>
      </p:sp>
      <p:sp>
        <p:nvSpPr>
          <p:cNvPr id="3" name="Content Placeholder 2"/>
          <p:cNvSpPr>
            <a:spLocks noGrp="1"/>
          </p:cNvSpPr>
          <p:nvPr>
            <p:ph idx="1"/>
          </p:nvPr>
        </p:nvSpPr>
        <p:spPr>
          <a:xfrm>
            <a:off x="323528" y="1484784"/>
            <a:ext cx="8640960" cy="4680520"/>
          </a:xfrm>
        </p:spPr>
        <p:txBody>
          <a:bodyPr/>
          <a:lstStyle/>
          <a:p>
            <a:r>
              <a:rPr lang="en-US" dirty="0" smtClean="0"/>
              <a:t>The decision tree contains lots of layers, which makes it complex.</a:t>
            </a:r>
          </a:p>
          <a:p>
            <a:endParaRPr lang="en-US" dirty="0" smtClean="0"/>
          </a:p>
          <a:p>
            <a:r>
              <a:rPr lang="en-US" dirty="0" smtClean="0"/>
              <a:t>It may have an </a:t>
            </a:r>
            <a:r>
              <a:rPr lang="en-US" dirty="0" err="1" smtClean="0"/>
              <a:t>overfitting</a:t>
            </a:r>
            <a:r>
              <a:rPr lang="en-US" dirty="0" smtClean="0"/>
              <a:t> issue, which can be resolved using the </a:t>
            </a:r>
            <a:r>
              <a:rPr lang="en-US" b="1" dirty="0" smtClean="0"/>
              <a:t>Random Forest algorithm.</a:t>
            </a:r>
          </a:p>
          <a:p>
            <a:pPr>
              <a:buNone/>
            </a:pPr>
            <a:endParaRPr lang="en-US" dirty="0" smtClean="0"/>
          </a:p>
          <a:p>
            <a:r>
              <a:rPr lang="en-US" dirty="0" smtClean="0"/>
              <a:t>For more class labels, the computational complexity of the decision tree may increase.</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109</TotalTime>
  <Words>1148</Words>
  <Application>Microsoft Office PowerPoint</Application>
  <PresentationFormat>On-screen Show (4:3)</PresentationFormat>
  <Paragraphs>176</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Urban</vt:lpstr>
      <vt:lpstr>Decision Tree Classification Algorithm </vt:lpstr>
      <vt:lpstr>Introduction</vt:lpstr>
      <vt:lpstr>Slide 3</vt:lpstr>
      <vt:lpstr>Why use Decision Trees? </vt:lpstr>
      <vt:lpstr>Decision Tree Terminologies </vt:lpstr>
      <vt:lpstr>How does the Decision Tree algorithm Work?</vt:lpstr>
      <vt:lpstr>Algorithm</vt:lpstr>
      <vt:lpstr>Example</vt:lpstr>
      <vt:lpstr>Slide 9</vt:lpstr>
      <vt:lpstr>Slide 10</vt:lpstr>
      <vt:lpstr>Slide 11</vt:lpstr>
      <vt:lpstr>Attribute Selection Measures </vt:lpstr>
      <vt:lpstr>Information Gain </vt:lpstr>
      <vt:lpstr>How to calculate Entropy? </vt:lpstr>
      <vt:lpstr>Slide 15</vt:lpstr>
      <vt:lpstr>Slide 16</vt:lpstr>
      <vt:lpstr>Slide 17</vt:lpstr>
      <vt:lpstr>Slide 18</vt:lpstr>
      <vt:lpstr>Slide 19</vt:lpstr>
      <vt:lpstr>Slide 20</vt:lpstr>
      <vt:lpstr>Slide 21</vt:lpstr>
      <vt:lpstr>Slide 22</vt:lpstr>
      <vt:lpstr>Gini Index</vt:lpstr>
      <vt:lpstr>When to stop splitting? </vt:lpstr>
      <vt:lpstr>Pruning </vt:lpstr>
      <vt:lpstr>Advantages of the Decision Tree </vt:lpstr>
      <vt:lpstr>Disadvantages of the Decision Tree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Tree Classification Algorithm </dc:title>
  <dc:creator>Windows User</dc:creator>
  <cp:lastModifiedBy>Windows User</cp:lastModifiedBy>
  <cp:revision>28</cp:revision>
  <dcterms:created xsi:type="dcterms:W3CDTF">2022-11-07T17:34:19Z</dcterms:created>
  <dcterms:modified xsi:type="dcterms:W3CDTF">2022-11-08T15:00:57Z</dcterms:modified>
</cp:coreProperties>
</file>