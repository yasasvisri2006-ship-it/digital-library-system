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1" r:id="rId4"/>
    <p:sldId id="260" r:id="rId5"/>
    <p:sldId id="258" r:id="rId6"/>
    <p:sldId id="259"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133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2FC41F-E127-4A5C-A2A0-5AA75CE044A3}" type="datetimeFigureOut">
              <a:rPr lang="en-US" smtClean="0"/>
              <a:t>8/10/2026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E4D7F3-8EB0-4C1D-BDDB-A9704281D833}" type="slidenum">
              <a:rPr lang="en-US" smtClean="0"/>
              <a:t>‹#›</a:t>
            </a:fld>
            <a:endParaRPr lang="en-US"/>
          </a:p>
        </p:txBody>
      </p:sp>
    </p:spTree>
    <p:extLst>
      <p:ext uri="{BB962C8B-B14F-4D97-AF65-F5344CB8AC3E}">
        <p14:creationId xmlns:p14="http://schemas.microsoft.com/office/powerpoint/2010/main" val="978994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t>7</a:t>
            </a:fld>
            <a:endParaRPr lang="en-US"/>
          </a:p>
        </p:txBody>
      </p:sp>
    </p:spTree>
    <p:extLst>
      <p:ext uri="{BB962C8B-B14F-4D97-AF65-F5344CB8AC3E}">
        <p14:creationId xmlns:p14="http://schemas.microsoft.com/office/powerpoint/2010/main" val="426644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5061D37-F7C3-4A8E-B9CA-D4DF3E7FFAB5}"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41403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061D37-F7C3-4A8E-B9CA-D4DF3E7FFAB5}"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3579527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061D37-F7C3-4A8E-B9CA-D4DF3E7FFAB5}"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2447024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061D37-F7C3-4A8E-B9CA-D4DF3E7FFAB5}"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404567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061D37-F7C3-4A8E-B9CA-D4DF3E7FFAB5}"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169078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061D37-F7C3-4A8E-B9CA-D4DF3E7FFAB5}"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3466598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61D37-F7C3-4A8E-B9CA-D4DF3E7FFAB5}"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4037746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061D37-F7C3-4A8E-B9CA-D4DF3E7FFAB5}"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354122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061D37-F7C3-4A8E-B9CA-D4DF3E7FFAB5}"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3772500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061D37-F7C3-4A8E-B9CA-D4DF3E7FFAB5}"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88060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061D37-F7C3-4A8E-B9CA-D4DF3E7FFAB5}"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t>‹#›</a:t>
            </a:fld>
            <a:endParaRPr lang="en-US"/>
          </a:p>
        </p:txBody>
      </p:sp>
    </p:spTree>
    <p:extLst>
      <p:ext uri="{BB962C8B-B14F-4D97-AF65-F5344CB8AC3E}">
        <p14:creationId xmlns:p14="http://schemas.microsoft.com/office/powerpoint/2010/main" val="182685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61D37-F7C3-4A8E-B9CA-D4DF3E7FFAB5}" type="datetimeFigureOut">
              <a:rPr lang="en-US" smtClean="0"/>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D5342-87F8-4527-9F69-F1F8A85B64E8}" type="slidenum">
              <a:rPr lang="en-US" smtClean="0"/>
              <a:t>‹#›</a:t>
            </a:fld>
            <a:endParaRPr lang="en-US"/>
          </a:p>
        </p:txBody>
      </p:sp>
    </p:spTree>
    <p:extLst>
      <p:ext uri="{BB962C8B-B14F-4D97-AF65-F5344CB8AC3E}">
        <p14:creationId xmlns:p14="http://schemas.microsoft.com/office/powerpoint/2010/main" val="2834463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0"/>
            <a:ext cx="7772400" cy="1470025"/>
          </a:xfrm>
        </p:spPr>
        <p:style>
          <a:lnRef idx="2">
            <a:schemeClr val="dk1"/>
          </a:lnRef>
          <a:fillRef idx="1">
            <a:schemeClr val="lt1"/>
          </a:fillRef>
          <a:effectRef idx="0">
            <a:schemeClr val="dk1"/>
          </a:effectRef>
          <a:fontRef idx="minor">
            <a:schemeClr val="dk1"/>
          </a:fontRef>
        </p:style>
        <p:txBody>
          <a:bodyPr/>
          <a:lstStyle/>
          <a:p>
            <a:r>
              <a:rPr lang="en-US" b="1" dirty="0">
                <a:latin typeface="Times New Roman" pitchFamily="18" charset="0"/>
                <a:cs typeface="Times New Roman" pitchFamily="18" charset="0"/>
              </a:rPr>
              <a:t>Feature Selection</a:t>
            </a:r>
          </a:p>
        </p:txBody>
      </p:sp>
    </p:spTree>
    <p:extLst>
      <p:ext uri="{BB962C8B-B14F-4D97-AF65-F5344CB8AC3E}">
        <p14:creationId xmlns:p14="http://schemas.microsoft.com/office/powerpoint/2010/main" val="19846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4000" b="1" dirty="0">
                <a:latin typeface="Times New Roman" pitchFamily="18" charset="0"/>
                <a:cs typeface="Times New Roman" pitchFamily="18" charset="0"/>
              </a:rPr>
              <a:t>Feature Selection</a:t>
            </a:r>
          </a:p>
        </p:txBody>
      </p:sp>
      <p:sp>
        <p:nvSpPr>
          <p:cNvPr id="3" name="Content Placeholder 2"/>
          <p:cNvSpPr>
            <a:spLocks noGrp="1"/>
          </p:cNvSpPr>
          <p:nvPr>
            <p:ph idx="1"/>
          </p:nvPr>
        </p:nvSpPr>
        <p:spPr/>
        <p:txBody>
          <a:bodyPr>
            <a:normAutofit/>
          </a:bodyPr>
          <a:lstStyle/>
          <a:p>
            <a:r>
              <a:rPr lang="en-US" sz="2600" dirty="0">
                <a:latin typeface="Times New Roman" pitchFamily="18" charset="0"/>
                <a:cs typeface="Times New Roman" pitchFamily="18" charset="0"/>
              </a:rPr>
              <a:t>It  is the process of selecting a subset of relevant features for use in model construction.</a:t>
            </a:r>
          </a:p>
          <a:p>
            <a:r>
              <a:rPr lang="en-US" sz="2600" dirty="0">
                <a:latin typeface="Times New Roman" pitchFamily="18" charset="0"/>
                <a:cs typeface="Times New Roman" pitchFamily="18" charset="0"/>
              </a:rPr>
              <a:t>It is also called variable selection or attribute selection.</a:t>
            </a:r>
          </a:p>
          <a:p>
            <a:r>
              <a:rPr lang="en-US" sz="2600" dirty="0">
                <a:latin typeface="Times New Roman" pitchFamily="18" charset="0"/>
                <a:cs typeface="Times New Roman" pitchFamily="18" charset="0"/>
              </a:rPr>
              <a:t>It reduces the complexity of model.</a:t>
            </a:r>
          </a:p>
          <a:p>
            <a:r>
              <a:rPr lang="en-US" sz="2600" dirty="0">
                <a:latin typeface="Times New Roman" pitchFamily="18" charset="0"/>
                <a:cs typeface="Times New Roman" pitchFamily="18" charset="0"/>
              </a:rPr>
              <a:t>It either improve or maintain accuracy of model.</a:t>
            </a:r>
          </a:p>
        </p:txBody>
      </p:sp>
    </p:spTree>
    <p:extLst>
      <p:ext uri="{BB962C8B-B14F-4D97-AF65-F5344CB8AC3E}">
        <p14:creationId xmlns:p14="http://schemas.microsoft.com/office/powerpoint/2010/main" val="3616317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Curse of Dimensionality</a:t>
            </a:r>
          </a:p>
        </p:txBody>
      </p:sp>
      <p:sp>
        <p:nvSpPr>
          <p:cNvPr id="3" name="TextBox 2"/>
          <p:cNvSpPr txBox="1"/>
          <p:nvPr/>
        </p:nvSpPr>
        <p:spPr>
          <a:xfrm>
            <a:off x="457200" y="1676400"/>
            <a:ext cx="3886200" cy="4093428"/>
          </a:xfrm>
          <a:prstGeom prst="rect">
            <a:avLst/>
          </a:prstGeom>
          <a:noFill/>
        </p:spPr>
        <p:txBody>
          <a:bodyPr wrap="square" rtlCol="0">
            <a:spAutoFit/>
          </a:bodyPr>
          <a:lstStyle/>
          <a:p>
            <a:pPr marL="342900" indent="-342900" algn="just" fontAlgn="base">
              <a:buFont typeface="Arial" pitchFamily="34" charset="0"/>
              <a:buChar char="•"/>
            </a:pPr>
            <a:r>
              <a:rPr lang="en-US" sz="2000" dirty="0">
                <a:latin typeface="Times New Roman" pitchFamily="18" charset="0"/>
                <a:cs typeface="Times New Roman" pitchFamily="18" charset="0"/>
              </a:rPr>
              <a:t>The amount of data required to achieve the same level of accuracy increases exponentially as the number of features increases.</a:t>
            </a:r>
          </a:p>
          <a:p>
            <a:pPr algn="just" fontAlgn="base"/>
            <a:r>
              <a:rPr lang="en-US" sz="2000" dirty="0">
                <a:latin typeface="Times New Roman" pitchFamily="18" charset="0"/>
                <a:cs typeface="Times New Roman" pitchFamily="18" charset="0"/>
              </a:rPr>
              <a:t> </a:t>
            </a:r>
          </a:p>
          <a:p>
            <a:pPr marL="342900" indent="-342900" algn="just" fontAlgn="base">
              <a:buFont typeface="Arial" pitchFamily="34" charset="0"/>
              <a:buChar char="•"/>
            </a:pPr>
            <a:r>
              <a:rPr lang="en-US" sz="2000" dirty="0">
                <a:latin typeface="Times New Roman" pitchFamily="18" charset="0"/>
                <a:cs typeface="Times New Roman" pitchFamily="18" charset="0"/>
              </a:rPr>
              <a:t>But in practice, the volume of training data available to us is fixed. Therefore, in most cases, the performance of the classifier will decrease with an increased number of variables.</a:t>
            </a:r>
          </a:p>
          <a:p>
            <a:pPr algn="just"/>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709" y="1828800"/>
            <a:ext cx="3858491"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078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latin typeface="Times New Roman" pitchFamily="18" charset="0"/>
                <a:cs typeface="Times New Roman" pitchFamily="18" charset="0"/>
              </a:rPr>
              <a:t>Feature Selection Steps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1000" y="1143000"/>
            <a:ext cx="4572000" cy="5105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81000" y="1219200"/>
            <a:ext cx="3962400" cy="4401205"/>
          </a:xfrm>
          <a:prstGeom prst="rect">
            <a:avLst/>
          </a:prstGeom>
          <a:noFill/>
        </p:spPr>
        <p:txBody>
          <a:bodyPr wrap="square" rtlCol="0">
            <a:spAutoFit/>
          </a:bodyPr>
          <a:lstStyle/>
          <a:p>
            <a:r>
              <a:rPr lang="en-US" sz="2800" dirty="0">
                <a:latin typeface="Times New Roman" pitchFamily="18" charset="0"/>
                <a:cs typeface="Times New Roman" pitchFamily="18" charset="0"/>
              </a:rPr>
              <a:t>Feature Selection is an optimization problem.</a:t>
            </a:r>
          </a:p>
          <a:p>
            <a:endParaRPr lang="en-US" sz="2800" dirty="0">
              <a:latin typeface="Times New Roman" pitchFamily="18" charset="0"/>
              <a:cs typeface="Times New Roman" pitchFamily="18" charset="0"/>
            </a:endParaRPr>
          </a:p>
          <a:p>
            <a:r>
              <a:rPr lang="en-US" sz="2800" dirty="0">
                <a:solidFill>
                  <a:srgbClr val="FF0000"/>
                </a:solidFill>
                <a:latin typeface="Times New Roman" pitchFamily="18" charset="0"/>
                <a:cs typeface="Times New Roman" pitchFamily="18" charset="0"/>
              </a:rPr>
              <a:t>Step 1 : </a:t>
            </a:r>
            <a:r>
              <a:rPr lang="en-US" sz="2800" dirty="0">
                <a:latin typeface="Times New Roman" pitchFamily="18" charset="0"/>
                <a:cs typeface="Times New Roman" pitchFamily="18" charset="0"/>
              </a:rPr>
              <a:t>Search the space of possible feature set.</a:t>
            </a:r>
          </a:p>
          <a:p>
            <a:endParaRPr lang="en-US" sz="2800" dirty="0">
              <a:latin typeface="Times New Roman" pitchFamily="18" charset="0"/>
              <a:cs typeface="Times New Roman" pitchFamily="18" charset="0"/>
            </a:endParaRPr>
          </a:p>
          <a:p>
            <a:r>
              <a:rPr lang="en-US" sz="2800" dirty="0">
                <a:solidFill>
                  <a:srgbClr val="FF0000"/>
                </a:solidFill>
                <a:latin typeface="Times New Roman" pitchFamily="18" charset="0"/>
                <a:cs typeface="Times New Roman" pitchFamily="18" charset="0"/>
              </a:rPr>
              <a:t>Step 2 : </a:t>
            </a:r>
            <a:r>
              <a:rPr lang="en-US" sz="2800" dirty="0">
                <a:latin typeface="Times New Roman" pitchFamily="18" charset="0"/>
                <a:cs typeface="Times New Roman" pitchFamily="18" charset="0"/>
              </a:rPr>
              <a:t>Pick the subset that is optimal or near optimal with respect to some objective function. </a:t>
            </a:r>
          </a:p>
        </p:txBody>
      </p:sp>
    </p:spTree>
    <p:extLst>
      <p:ext uri="{BB962C8B-B14F-4D97-AF65-F5344CB8AC3E}">
        <p14:creationId xmlns:p14="http://schemas.microsoft.com/office/powerpoint/2010/main" val="26764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itchFamily="18" charset="0"/>
                <a:cs typeface="Times New Roman" pitchFamily="18" charset="0"/>
              </a:rPr>
              <a:t>Feature Selection Methods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Feature Selection Algorithms can be broadly classified into 3 classes :</a:t>
            </a:r>
          </a:p>
          <a:p>
            <a:pPr lvl="1"/>
            <a:r>
              <a:rPr lang="en-US" sz="2400" dirty="0">
                <a:latin typeface="Times New Roman" pitchFamily="18" charset="0"/>
                <a:cs typeface="Times New Roman" pitchFamily="18" charset="0"/>
              </a:rPr>
              <a:t>Filter Methods</a:t>
            </a:r>
          </a:p>
          <a:p>
            <a:pPr lvl="1"/>
            <a:r>
              <a:rPr lang="en-US" sz="2400" dirty="0">
                <a:latin typeface="Times New Roman" pitchFamily="18" charset="0"/>
                <a:cs typeface="Times New Roman" pitchFamily="18" charset="0"/>
              </a:rPr>
              <a:t>Wrapper Methods</a:t>
            </a:r>
          </a:p>
          <a:p>
            <a:pPr lvl="1"/>
            <a:r>
              <a:rPr lang="en-US" sz="2400" dirty="0">
                <a:latin typeface="Times New Roman" pitchFamily="18" charset="0"/>
                <a:cs typeface="Times New Roman" pitchFamily="18" charset="0"/>
              </a:rPr>
              <a:t>Embedded Methods</a:t>
            </a:r>
          </a:p>
        </p:txBody>
      </p:sp>
    </p:spTree>
    <p:extLst>
      <p:ext uri="{BB962C8B-B14F-4D97-AF65-F5344CB8AC3E}">
        <p14:creationId xmlns:p14="http://schemas.microsoft.com/office/powerpoint/2010/main" val="980422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Filter Methods</a:t>
            </a:r>
            <a:br>
              <a:rPr lang="en-US" sz="4000" b="1" dirty="0">
                <a:latin typeface="Times New Roman" pitchFamily="18" charset="0"/>
                <a:cs typeface="Times New Roman" pitchFamily="18" charset="0"/>
              </a:rPr>
            </a:br>
            <a:endParaRPr lang="en-US" sz="4000" b="1" dirty="0"/>
          </a:p>
        </p:txBody>
      </p:sp>
      <p:sp>
        <p:nvSpPr>
          <p:cNvPr id="3" name="Content Placeholder 2"/>
          <p:cNvSpPr>
            <a:spLocks noGrp="1"/>
          </p:cNvSpPr>
          <p:nvPr>
            <p:ph idx="1"/>
          </p:nvPr>
        </p:nvSpPr>
        <p:spPr>
          <a:xfrm>
            <a:off x="457200" y="1295400"/>
            <a:ext cx="8229600" cy="4830763"/>
          </a:xfrm>
        </p:spPr>
        <p:txBody>
          <a:bodyPr>
            <a:normAutofit/>
          </a:bodyPr>
          <a:lstStyle/>
          <a:p>
            <a:pPr algn="just"/>
            <a:r>
              <a:rPr lang="en-US" sz="2400" dirty="0">
                <a:latin typeface="Times New Roman" pitchFamily="18" charset="0"/>
                <a:cs typeface="Times New Roman" pitchFamily="18" charset="0"/>
              </a:rPr>
              <a:t>purely Statistical in nature.</a:t>
            </a:r>
          </a:p>
          <a:p>
            <a:pPr algn="just"/>
            <a:r>
              <a:rPr lang="en-US" sz="2400" dirty="0">
                <a:latin typeface="Times New Roman" pitchFamily="18" charset="0"/>
                <a:cs typeface="Times New Roman" pitchFamily="18" charset="0"/>
              </a:rPr>
              <a:t>used as a preprocessing step.</a:t>
            </a:r>
          </a:p>
          <a:p>
            <a:pPr algn="just"/>
            <a:r>
              <a:rPr lang="en-US" sz="2400" dirty="0">
                <a:latin typeface="Times New Roman" pitchFamily="18" charset="0"/>
                <a:cs typeface="Times New Roman" pitchFamily="18" charset="0"/>
              </a:rPr>
              <a:t>the selection of features is independent of any machine learning algorithms.</a:t>
            </a:r>
          </a:p>
          <a:p>
            <a:pPr algn="just"/>
            <a:r>
              <a:rPr lang="en-US" sz="2400" dirty="0">
                <a:latin typeface="Times New Roman" pitchFamily="18" charset="0"/>
                <a:cs typeface="Times New Roman" pitchFamily="18" charset="0"/>
              </a:rPr>
              <a:t>features are selected on the basis of their scores in various statistical tests for their correlation with the outcome variable.</a:t>
            </a:r>
          </a:p>
          <a:p>
            <a:endParaRPr lang="en-US" sz="2400" dirty="0">
              <a:latin typeface="Times New Roman" pitchFamily="18" charset="0"/>
              <a:cs typeface="Times New Roman" pitchFamily="18" charset="0"/>
            </a:endParaRPr>
          </a:p>
        </p:txBody>
      </p:sp>
      <p:sp>
        <p:nvSpPr>
          <p:cNvPr id="4" name="AutoShape 2" descr="https://www.analyticsvidhya.com/wp-content/uploads/2016/11/FS1.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Table 4"/>
          <p:cNvGraphicFramePr>
            <a:graphicFrameLocks noGrp="1"/>
          </p:cNvGraphicFramePr>
          <p:nvPr>
            <p:extLst>
              <p:ext uri="{D42A27DB-BD31-4B8C-83A1-F6EECF244321}">
                <p14:modId xmlns:p14="http://schemas.microsoft.com/office/powerpoint/2010/main" val="527537840"/>
              </p:ext>
            </p:extLst>
          </p:nvPr>
        </p:nvGraphicFramePr>
        <p:xfrm>
          <a:off x="1295400" y="3886200"/>
          <a:ext cx="6858000" cy="2194560"/>
        </p:xfrm>
        <a:graphic>
          <a:graphicData uri="http://schemas.openxmlformats.org/drawingml/2006/table">
            <a:tbl>
              <a:tblPr firstRow="1" bandRow="1">
                <a:tableStyleId>{5940675A-B579-460E-94D1-54222C63F5DA}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70840">
                <a:tc rowSpan="2">
                  <a:txBody>
                    <a:bodyPr/>
                    <a:lstStyle/>
                    <a:p>
                      <a:pPr algn="ctr"/>
                      <a:endParaRPr lang="en-US" sz="2000" b="1" dirty="0">
                        <a:latin typeface="Times New Roman" pitchFamily="18" charset="0"/>
                        <a:cs typeface="Times New Roman" pitchFamily="18" charset="0"/>
                      </a:endParaRPr>
                    </a:p>
                  </a:txBody>
                  <a:tcPr>
                    <a:lnL w="12700" cmpd="sng">
                      <a:noFill/>
                    </a:lnL>
                    <a:lnR w="12700" cmpd="sng">
                      <a:noFill/>
                    </a:lnR>
                    <a:lnT w="12700" cmpd="sng">
                      <a:noFill/>
                    </a:lnT>
                  </a:tcPr>
                </a:tc>
                <a:tc>
                  <a:txBody>
                    <a:bodyPr/>
                    <a:lstStyle/>
                    <a:p>
                      <a:pPr algn="ctr"/>
                      <a:endParaRPr lang="en-US" sz="2000" b="1" dirty="0">
                        <a:latin typeface="Times New Roman" pitchFamily="18" charset="0"/>
                        <a:cs typeface="Times New Roman" pitchFamily="18" charset="0"/>
                      </a:endParaRPr>
                    </a:p>
                  </a:txBody>
                  <a:tcPr>
                    <a:lnL w="12700" cmpd="sng">
                      <a:noFill/>
                    </a:lnL>
                    <a:lnT w="12700" cmpd="sng">
                      <a:noFill/>
                    </a:lnT>
                  </a:tcPr>
                </a:tc>
                <a:tc gridSpan="2">
                  <a:txBody>
                    <a:bodyPr/>
                    <a:lstStyle/>
                    <a:p>
                      <a:pPr algn="ctr"/>
                      <a:r>
                        <a:rPr lang="en-US" sz="2000" b="1" dirty="0">
                          <a:solidFill>
                            <a:srgbClr val="FF0000"/>
                          </a:solidFill>
                          <a:latin typeface="Times New Roman" pitchFamily="18" charset="0"/>
                          <a:cs typeface="Times New Roman" pitchFamily="18" charset="0"/>
                        </a:rPr>
                        <a:t>Feature</a:t>
                      </a:r>
                    </a:p>
                  </a:txBody>
                  <a:tcPr>
                    <a:solidFill>
                      <a:schemeClr val="accent5">
                        <a:lumMod val="20000"/>
                        <a:lumOff val="80000"/>
                      </a:schemeClr>
                    </a:solidFill>
                  </a:tcPr>
                </a:tc>
                <a:tc hMerge="1">
                  <a:txBody>
                    <a:bodyPr/>
                    <a:lstStyle/>
                    <a:p>
                      <a:endParaRPr lang="en-US"/>
                    </a:p>
                  </a:txBody>
                  <a:tcPr/>
                </a:tc>
                <a:extLst>
                  <a:ext uri="{0D108BD9-81ED-4DB2-BD59-A6C34878D82A}">
                    <a16:rowId xmlns:a16="http://schemas.microsoft.com/office/drawing/2014/main" val="10000"/>
                  </a:ext>
                </a:extLst>
              </a:tr>
              <a:tr h="370840">
                <a:tc vMerge="1">
                  <a:txBody>
                    <a:bodyPr/>
                    <a:lstStyle/>
                    <a:p>
                      <a:endParaRPr lang="en-US"/>
                    </a:p>
                  </a:txBody>
                  <a:tcPr/>
                </a:tc>
                <a:tc>
                  <a:txBody>
                    <a:bodyPr/>
                    <a:lstStyle/>
                    <a:p>
                      <a:pPr algn="ctr"/>
                      <a:endParaRPr lang="en-US" sz="2000" b="1" dirty="0">
                        <a:latin typeface="Times New Roman" pitchFamily="18" charset="0"/>
                        <a:cs typeface="Times New Roman" pitchFamily="18" charset="0"/>
                      </a:endParaRPr>
                    </a:p>
                  </a:txBody>
                  <a:tcPr>
                    <a:solidFill>
                      <a:schemeClr val="accent5">
                        <a:lumMod val="20000"/>
                        <a:lumOff val="80000"/>
                      </a:schemeClr>
                    </a:solidFill>
                  </a:tcPr>
                </a:tc>
                <a:tc>
                  <a:txBody>
                    <a:bodyPr/>
                    <a:lstStyle/>
                    <a:p>
                      <a:pPr algn="ctr"/>
                      <a:r>
                        <a:rPr lang="en-US" sz="2000" b="1" dirty="0">
                          <a:solidFill>
                            <a:schemeClr val="tx1"/>
                          </a:solidFill>
                          <a:latin typeface="Times New Roman" pitchFamily="18" charset="0"/>
                          <a:cs typeface="Times New Roman" pitchFamily="18" charset="0"/>
                        </a:rPr>
                        <a:t>Categorical</a:t>
                      </a:r>
                    </a:p>
                  </a:txBody>
                  <a:tcPr>
                    <a:solidFill>
                      <a:schemeClr val="accent5">
                        <a:lumMod val="20000"/>
                        <a:lumOff val="80000"/>
                      </a:schemeClr>
                    </a:solidFill>
                  </a:tcPr>
                </a:tc>
                <a:tc>
                  <a:txBody>
                    <a:bodyPr/>
                    <a:lstStyle/>
                    <a:p>
                      <a:pPr algn="ctr"/>
                      <a:r>
                        <a:rPr lang="en-US" sz="2000" b="1" dirty="0">
                          <a:latin typeface="Times New Roman" pitchFamily="18" charset="0"/>
                          <a:cs typeface="Times New Roman" pitchFamily="18" charset="0"/>
                        </a:rPr>
                        <a:t>Continuous</a:t>
                      </a:r>
                    </a:p>
                  </a:txBody>
                  <a:tcPr>
                    <a:solidFill>
                      <a:schemeClr val="accent5">
                        <a:lumMod val="20000"/>
                        <a:lumOff val="80000"/>
                      </a:schemeClr>
                    </a:solidFill>
                  </a:tcPr>
                </a:tc>
                <a:extLst>
                  <a:ext uri="{0D108BD9-81ED-4DB2-BD59-A6C34878D82A}">
                    <a16:rowId xmlns:a16="http://schemas.microsoft.com/office/drawing/2014/main" val="10001"/>
                  </a:ext>
                </a:extLst>
              </a:tr>
              <a:tr h="370840">
                <a:tc rowSpan="2">
                  <a:txBody>
                    <a:bodyPr/>
                    <a:lstStyle/>
                    <a:p>
                      <a:pPr algn="ctr"/>
                      <a:endParaRPr lang="en-US" sz="2000" dirty="0">
                        <a:latin typeface="Times New Roman" pitchFamily="18" charset="0"/>
                        <a:cs typeface="Times New Roman" pitchFamily="18" charset="0"/>
                      </a:endParaRPr>
                    </a:p>
                    <a:p>
                      <a:pPr algn="ctr"/>
                      <a:r>
                        <a:rPr lang="en-US" sz="2000" b="1" dirty="0">
                          <a:solidFill>
                            <a:srgbClr val="FF0000"/>
                          </a:solidFill>
                          <a:latin typeface="Times New Roman" pitchFamily="18" charset="0"/>
                          <a:cs typeface="Times New Roman" pitchFamily="18" charset="0"/>
                        </a:rPr>
                        <a:t>Response</a:t>
                      </a:r>
                    </a:p>
                  </a:txBody>
                  <a:tcP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itchFamily="18" charset="0"/>
                          <a:cs typeface="Times New Roman" pitchFamily="18" charset="0"/>
                        </a:rPr>
                        <a:t>Categorical</a:t>
                      </a:r>
                    </a:p>
                    <a:p>
                      <a:pPr algn="ctr"/>
                      <a:endParaRPr lang="en-US" sz="2000" b="1" dirty="0">
                        <a:latin typeface="Times New Roman" pitchFamily="18" charset="0"/>
                        <a:cs typeface="Times New Roman" pitchFamily="18" charset="0"/>
                      </a:endParaRPr>
                    </a:p>
                  </a:txBody>
                  <a:tcPr>
                    <a:solidFill>
                      <a:schemeClr val="accent5">
                        <a:lumMod val="20000"/>
                        <a:lumOff val="80000"/>
                      </a:schemeClr>
                    </a:solidFill>
                  </a:tcPr>
                </a:tc>
                <a:tc>
                  <a:txBody>
                    <a:bodyPr/>
                    <a:lstStyle/>
                    <a:p>
                      <a:pPr algn="ctr"/>
                      <a:r>
                        <a:rPr lang="en-US" sz="2000" dirty="0">
                          <a:latin typeface="Times New Roman" pitchFamily="18" charset="0"/>
                          <a:cs typeface="Times New Roman" pitchFamily="18" charset="0"/>
                        </a:rPr>
                        <a:t>Chi-Square</a:t>
                      </a:r>
                      <a:endParaRPr lang="en-US" sz="2000" b="1" dirty="0">
                        <a:latin typeface="Times New Roman" pitchFamily="18" charset="0"/>
                        <a:cs typeface="Times New Roman" pitchFamily="18" charset="0"/>
                      </a:endParaRPr>
                    </a:p>
                  </a:txBody>
                  <a:tcPr>
                    <a:solidFill>
                      <a:schemeClr val="accent5">
                        <a:lumMod val="20000"/>
                        <a:lumOff val="80000"/>
                      </a:schemeClr>
                    </a:solidFill>
                  </a:tcPr>
                </a:tc>
                <a:tc>
                  <a:txBody>
                    <a:bodyPr/>
                    <a:lstStyle/>
                    <a:p>
                      <a:pPr algn="ctr"/>
                      <a:r>
                        <a:rPr lang="en-US" sz="2000" dirty="0" err="1">
                          <a:latin typeface="Times New Roman" pitchFamily="18" charset="0"/>
                          <a:cs typeface="Times New Roman" pitchFamily="18" charset="0"/>
                        </a:rPr>
                        <a:t>Anova</a:t>
                      </a:r>
                      <a:endParaRPr lang="en-US" sz="2000" b="1" dirty="0">
                        <a:latin typeface="Times New Roman" pitchFamily="18" charset="0"/>
                        <a:cs typeface="Times New Roman" pitchFamily="18" charset="0"/>
                      </a:endParaRPr>
                    </a:p>
                  </a:txBody>
                  <a:tcPr>
                    <a:solidFill>
                      <a:schemeClr val="accent5">
                        <a:lumMod val="20000"/>
                        <a:lumOff val="80000"/>
                      </a:schemeClr>
                    </a:solidFill>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itchFamily="18" charset="0"/>
                          <a:cs typeface="Times New Roman" pitchFamily="18" charset="0"/>
                        </a:rPr>
                        <a:t>Continuous</a:t>
                      </a:r>
                    </a:p>
                    <a:p>
                      <a:pPr algn="ctr"/>
                      <a:endParaRPr lang="en-US" sz="2000" b="1" dirty="0">
                        <a:latin typeface="Times New Roman" pitchFamily="18" charset="0"/>
                        <a:cs typeface="Times New Roman" pitchFamily="18" charset="0"/>
                      </a:endParaRPr>
                    </a:p>
                  </a:txBody>
                  <a:tcPr>
                    <a:solidFill>
                      <a:schemeClr val="accent5">
                        <a:lumMod val="20000"/>
                        <a:lumOff val="80000"/>
                      </a:schemeClr>
                    </a:solidFill>
                  </a:tcPr>
                </a:tc>
                <a:tc>
                  <a:txBody>
                    <a:bodyPr/>
                    <a:lstStyle/>
                    <a:p>
                      <a:pPr algn="ctr"/>
                      <a:r>
                        <a:rPr lang="en-US" sz="2000" dirty="0">
                          <a:latin typeface="Times New Roman" pitchFamily="18" charset="0"/>
                          <a:cs typeface="Times New Roman" pitchFamily="18" charset="0"/>
                        </a:rPr>
                        <a:t>LDA</a:t>
                      </a:r>
                      <a:endParaRPr lang="en-US" sz="2000" b="1" dirty="0">
                        <a:latin typeface="Times New Roman" pitchFamily="18" charset="0"/>
                        <a:cs typeface="Times New Roman" pitchFamily="18" charset="0"/>
                      </a:endParaRPr>
                    </a:p>
                  </a:txBody>
                  <a:tcPr>
                    <a:solidFill>
                      <a:schemeClr val="accent5">
                        <a:lumMod val="20000"/>
                        <a:lumOff val="80000"/>
                      </a:schemeClr>
                    </a:solidFill>
                  </a:tcPr>
                </a:tc>
                <a:tc>
                  <a:txBody>
                    <a:bodyPr/>
                    <a:lstStyle/>
                    <a:p>
                      <a:pPr algn="ctr"/>
                      <a:r>
                        <a:rPr lang="en-US" sz="2000" dirty="0">
                          <a:latin typeface="Times New Roman" pitchFamily="18" charset="0"/>
                          <a:cs typeface="Times New Roman" pitchFamily="18" charset="0"/>
                        </a:rPr>
                        <a:t>Pearson Correlation</a:t>
                      </a:r>
                      <a:endParaRPr lang="en-US" sz="2000" b="1" dirty="0">
                        <a:latin typeface="Times New Roman" pitchFamily="18" charset="0"/>
                        <a:cs typeface="Times New Roman" pitchFamily="18" charset="0"/>
                      </a:endParaRPr>
                    </a:p>
                  </a:txBody>
                  <a:tcPr>
                    <a:solidFill>
                      <a:schemeClr val="accent5">
                        <a:lumMod val="20000"/>
                        <a:lumOff val="8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471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r>
              <a:rPr lang="en-US" sz="2000" b="1" dirty="0">
                <a:latin typeface="Times New Roman" pitchFamily="18" charset="0"/>
                <a:cs typeface="Times New Roman" pitchFamily="18" charset="0"/>
              </a:rPr>
              <a:t>LDA:</a:t>
            </a:r>
            <a:r>
              <a:rPr lang="en-US" sz="2000" dirty="0">
                <a:latin typeface="Times New Roman" pitchFamily="18" charset="0"/>
                <a:cs typeface="Times New Roman" pitchFamily="18" charset="0"/>
              </a:rPr>
              <a:t> Linear discriminant analysis is used to find a linear combination of features that characterizes or separates two or more classes (or levels) of a categorical variable.</a:t>
            </a:r>
          </a:p>
          <a:p>
            <a:pPr algn="just"/>
            <a:r>
              <a:rPr lang="en-US" sz="2000" b="1" dirty="0">
                <a:latin typeface="Times New Roman" pitchFamily="18" charset="0"/>
                <a:cs typeface="Times New Roman" pitchFamily="18" charset="0"/>
              </a:rPr>
              <a:t>ANOVA:</a:t>
            </a:r>
            <a:r>
              <a:rPr lang="en-US" sz="2000" dirty="0">
                <a:latin typeface="Times New Roman" pitchFamily="18" charset="0"/>
                <a:cs typeface="Times New Roman" pitchFamily="18" charset="0"/>
              </a:rPr>
              <a:t> ANOVA stands for Analysis of variance. It is similar to LDA except for the fact that it is operated using one or more categorical independent features and one continuous dependent feature. It provides a statistical test of whether the means of several groups are equal or not.</a:t>
            </a:r>
          </a:p>
          <a:p>
            <a:pPr algn="just"/>
            <a:r>
              <a:rPr lang="en-US" sz="2000" b="1" dirty="0">
                <a:latin typeface="Times New Roman" pitchFamily="18" charset="0"/>
                <a:cs typeface="Times New Roman" pitchFamily="18" charset="0"/>
              </a:rPr>
              <a:t>Chi-Square:</a:t>
            </a:r>
            <a:r>
              <a:rPr lang="en-US" sz="2000" dirty="0">
                <a:latin typeface="Times New Roman" pitchFamily="18" charset="0"/>
                <a:cs typeface="Times New Roman" pitchFamily="18" charset="0"/>
              </a:rPr>
              <a:t> It is a dependency test which helps us to determine either there is any kind of dependence among the variables under observation or not.</a:t>
            </a:r>
          </a:p>
          <a:p>
            <a:pPr algn="just"/>
            <a:r>
              <a:rPr lang="en-US" sz="2000" b="1" dirty="0">
                <a:latin typeface="Times New Roman" pitchFamily="18" charset="0"/>
                <a:cs typeface="Times New Roman" pitchFamily="18" charset="0"/>
              </a:rPr>
              <a:t>Pearson’s Correlation:</a:t>
            </a:r>
            <a:r>
              <a:rPr lang="en-US" sz="2000" dirty="0">
                <a:latin typeface="Times New Roman" pitchFamily="18" charset="0"/>
                <a:cs typeface="Times New Roman" pitchFamily="18" charset="0"/>
              </a:rPr>
              <a:t> It is used as a measure for quantifying linear dependence between two continuous variables X and Y. Its value varies from -1 to +1</a:t>
            </a:r>
            <a:r>
              <a:rPr lang="en-US" sz="200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714778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Wrapper Method</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work on the basic principles of </a:t>
            </a:r>
            <a:r>
              <a:rPr lang="en-US" sz="2400" dirty="0" err="1">
                <a:latin typeface="Times New Roman" pitchFamily="18" charset="0"/>
                <a:cs typeface="Times New Roman" pitchFamily="18" charset="0"/>
              </a:rPr>
              <a:t>Combinatorics</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the learning algorithm (classifier) itself is used to perform the Feature Selection and select the top features.</a:t>
            </a:r>
          </a:p>
          <a:p>
            <a:r>
              <a:rPr lang="en-US" sz="2400" dirty="0">
                <a:latin typeface="Times New Roman" pitchFamily="18" charset="0"/>
                <a:cs typeface="Times New Roman" pitchFamily="18" charset="0"/>
              </a:rPr>
              <a:t>Examples :</a:t>
            </a:r>
          </a:p>
          <a:p>
            <a:pPr lvl="1"/>
            <a:r>
              <a:rPr lang="en-US" sz="2400" dirty="0">
                <a:latin typeface="Times New Roman" pitchFamily="18" charset="0"/>
                <a:cs typeface="Times New Roman" pitchFamily="18" charset="0"/>
              </a:rPr>
              <a:t>forward feature selection</a:t>
            </a:r>
          </a:p>
          <a:p>
            <a:pPr lvl="1"/>
            <a:r>
              <a:rPr lang="en-US" sz="2400" dirty="0">
                <a:latin typeface="Times New Roman" pitchFamily="18" charset="0"/>
                <a:cs typeface="Times New Roman" pitchFamily="18" charset="0"/>
              </a:rPr>
              <a:t>backward feature elimination</a:t>
            </a:r>
          </a:p>
          <a:p>
            <a:pPr lvl="1"/>
            <a:r>
              <a:rPr lang="en-US" sz="2400" dirty="0">
                <a:latin typeface="Times New Roman" pitchFamily="18" charset="0"/>
                <a:cs typeface="Times New Roman" pitchFamily="18" charset="0"/>
              </a:rPr>
              <a:t>recursive feature elimination</a:t>
            </a:r>
          </a:p>
        </p:txBody>
      </p:sp>
    </p:spTree>
    <p:extLst>
      <p:ext uri="{BB962C8B-B14F-4D97-AF65-F5344CB8AC3E}">
        <p14:creationId xmlns:p14="http://schemas.microsoft.com/office/powerpoint/2010/main" val="1258522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r>
              <a:rPr lang="en-US" sz="2200" b="1" dirty="0">
                <a:latin typeface="Times New Roman" pitchFamily="18" charset="0"/>
                <a:cs typeface="Times New Roman" pitchFamily="18" charset="0"/>
              </a:rPr>
              <a:t>Forward Selection:</a:t>
            </a:r>
            <a:r>
              <a:rPr lang="en-US" sz="2200" dirty="0">
                <a:latin typeface="Times New Roman" pitchFamily="18" charset="0"/>
                <a:cs typeface="Times New Roman" pitchFamily="18" charset="0"/>
              </a:rPr>
              <a:t> Forward selection is an iterative method in which we start with having no feature in the model. In each iteration, we keep adding the feature which best improves our model till an addition of a new variable does not improve the performance of the model.</a:t>
            </a:r>
          </a:p>
          <a:p>
            <a:pPr algn="just"/>
            <a:r>
              <a:rPr lang="en-US" sz="2200" b="1" dirty="0">
                <a:latin typeface="Times New Roman" pitchFamily="18" charset="0"/>
                <a:cs typeface="Times New Roman" pitchFamily="18" charset="0"/>
              </a:rPr>
              <a:t>Backward Elimination:</a:t>
            </a:r>
            <a:r>
              <a:rPr lang="en-US" sz="2200" dirty="0">
                <a:latin typeface="Times New Roman" pitchFamily="18" charset="0"/>
                <a:cs typeface="Times New Roman" pitchFamily="18" charset="0"/>
              </a:rPr>
              <a:t> In backward elimination, we start with all the features and removes the least significant feature at each iteration which improves the performance of the model. We repeat this until no improvement is observed on removal of features.</a:t>
            </a:r>
          </a:p>
          <a:p>
            <a:pPr algn="just"/>
            <a:r>
              <a:rPr lang="en-US" sz="2200" b="1" dirty="0">
                <a:latin typeface="Times New Roman" pitchFamily="18" charset="0"/>
                <a:cs typeface="Times New Roman" pitchFamily="18" charset="0"/>
              </a:rPr>
              <a:t>Recursive Feature elimination:</a:t>
            </a:r>
            <a:r>
              <a:rPr lang="en-US" sz="2200" dirty="0">
                <a:latin typeface="Times New Roman" pitchFamily="18" charset="0"/>
                <a:cs typeface="Times New Roman" pitchFamily="18" charset="0"/>
              </a:rPr>
              <a:t> It is a greedy optimization algorithm which aims to find the best performing feature subset. It repeatedly creates models and keeps aside the best or the worst performing feature at each iteration. It constructs the next model with the left features until all the features are exhausted. It then ranks the features based on the order of their elimination.</a:t>
            </a:r>
          </a:p>
          <a:p>
            <a:pPr algn="just"/>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617577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Embedded Methods</a:t>
            </a:r>
          </a:p>
        </p:txBody>
      </p:sp>
      <p:sp>
        <p:nvSpPr>
          <p:cNvPr id="3" name="Content Placeholder 2"/>
          <p:cNvSpPr>
            <a:spLocks noGrp="1"/>
          </p:cNvSpPr>
          <p:nvPr>
            <p:ph idx="1"/>
          </p:nvPr>
        </p:nvSpPr>
        <p:spPr>
          <a:xfrm>
            <a:off x="457200" y="1219200"/>
            <a:ext cx="8229600" cy="5105400"/>
          </a:xfrm>
        </p:spPr>
        <p:txBody>
          <a:bodyPr>
            <a:noAutofit/>
          </a:bodyPr>
          <a:lstStyle/>
          <a:p>
            <a:r>
              <a:rPr lang="en-US" sz="2400" dirty="0">
                <a:latin typeface="Times New Roman" pitchFamily="18" charset="0"/>
                <a:cs typeface="Times New Roman" pitchFamily="18" charset="0"/>
              </a:rPr>
              <a:t>combine the qualities of filter and wrapper methods.</a:t>
            </a:r>
          </a:p>
          <a:p>
            <a:pPr algn="just"/>
            <a:r>
              <a:rPr lang="en-US" sz="2400" dirty="0">
                <a:latin typeface="Times New Roman" pitchFamily="18" charset="0"/>
                <a:cs typeface="Times New Roman" pitchFamily="18" charset="0"/>
              </a:rPr>
              <a:t>dynamic Feature Selection Methods.</a:t>
            </a:r>
          </a:p>
          <a:p>
            <a:pPr algn="just"/>
            <a:r>
              <a:rPr lang="en-US" sz="2400" dirty="0">
                <a:latin typeface="Times New Roman" pitchFamily="18" charset="0"/>
                <a:cs typeface="Times New Roman" pitchFamily="18" charset="0"/>
              </a:rPr>
              <a:t>Based on the inferences that we draw from the previous model, we decide to add or remove features from your subset. The problem is essentially reduced to a search problem.</a:t>
            </a:r>
          </a:p>
          <a:p>
            <a:pPr marL="0" indent="0" fontAlgn="base">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537830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endParaRPr lang="en-US" dirty="0"/>
          </a:p>
          <a:p>
            <a:endParaRPr lang="en-US" dirty="0"/>
          </a:p>
          <a:p>
            <a:endParaRPr lang="en-US" dirty="0"/>
          </a:p>
          <a:p>
            <a:endParaRPr lang="en-US" dirty="0"/>
          </a:p>
          <a:p>
            <a:pPr marL="0" indent="0">
              <a:buNone/>
            </a:pPr>
            <a:r>
              <a:rPr lang="en-US" dirty="0"/>
              <a:t>			</a:t>
            </a:r>
            <a:r>
              <a:rPr lang="en-US" sz="4800" dirty="0">
                <a:latin typeface="Times New Roman" pitchFamily="18" charset="0"/>
                <a:cs typeface="Times New Roman" pitchFamily="18" charset="0"/>
              </a:rPr>
              <a:t>Thank You !</a:t>
            </a:r>
          </a:p>
        </p:txBody>
      </p:sp>
    </p:spTree>
    <p:extLst>
      <p:ext uri="{BB962C8B-B14F-4D97-AF65-F5344CB8AC3E}">
        <p14:creationId xmlns:p14="http://schemas.microsoft.com/office/powerpoint/2010/main" val="199880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717</TotalTime>
  <Words>625</Words>
  <Application>Microsoft Office PowerPoint</Application>
  <PresentationFormat>On-screen Show (4:3)</PresentationFormat>
  <Paragraphs>61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Feature Selection</vt:lpstr>
      <vt:lpstr>Feature Selection</vt:lpstr>
      <vt:lpstr>Curse of Dimensionality</vt:lpstr>
      <vt:lpstr>Feature Selection Steps</vt:lpstr>
      <vt:lpstr>Feature Selection Methods</vt:lpstr>
      <vt:lpstr> Filter Methods </vt:lpstr>
      <vt:lpstr>PowerPoint Presentation</vt:lpstr>
      <vt:lpstr>Wrapper Method</vt:lpstr>
      <vt:lpstr>PowerPoint Presentation</vt:lpstr>
      <vt:lpstr>Embedded Methods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dc:title>
  <dc:creator>JD</dc:creator>
  <cp:lastModifiedBy>Bosubabu Sambana</cp:lastModifiedBy>
  <cp:revision>40</cp:revision>
  <dcterms:created xsi:type="dcterms:W3CDTF">2018-02-19T13:29:20Z</dcterms:created>
  <dcterms:modified xsi:type="dcterms:W3CDTF">2026-08-10T05:01:01Z</dcterms:modified>
</cp:coreProperties>
</file>