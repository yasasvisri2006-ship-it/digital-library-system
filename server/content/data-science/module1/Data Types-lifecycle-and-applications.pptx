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Alice"/>
      <p:regular r:id="rId17"/>
    </p:embeddedFont>
    <p:embeddedFont>
      <p:font typeface="Lora"/>
      <p:regular r:id="rId18"/>
    </p:embeddedFont>
    <p:embeddedFont>
      <p:font typeface="Lora Bold"/>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CFBF8"/>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slideLayout" Target="../slideLayouts/slideLayout8.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slideLayout" Target="../slideLayouts/slideLayout9.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svg"/><Relationship Id="rId12" Type="http://schemas.openxmlformats.org/officeDocument/2006/relationships/slideLayout" Target="../slideLayouts/slideLayout11.xml"/><Relationship Id="rId1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907232"/>
            <a:ext cx="4722763" cy="132896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233E32"/>
                </a:solidFill>
                <a:latin typeface="Alice" pitchFamily="34" charset="0"/>
                <a:ea typeface="Alice" pitchFamily="34" charset="-122"/>
                <a:cs typeface="Alice" pitchFamily="34" charset="-120"/>
              </a:rPr>
              <a:t>Introduction to Data Science: Data Types, Lifecycle, and Applications</a:t>
            </a:r>
            <a:endParaRPr lang="en-US" sz="2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847654" y="366936"/>
            <a:ext cx="1114797" cy="212824"/>
          </a:xfrm>
          <a:prstGeom prst="roundRect">
            <a:avLst>
              <a:gd name="adj" fmla="val 6745"/>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19389" y="425500"/>
            <a:ext cx="95622" cy="95622"/>
          </a:xfrm>
          <a:prstGeom prst="rect">
            <a:avLst/>
          </a:prstGeom>
        </p:spPr>
      </p:pic>
      <p:sp>
        <p:nvSpPr>
          <p:cNvPr id="5" name="Text 1"/>
          <p:cNvSpPr/>
          <p:nvPr/>
        </p:nvSpPr>
        <p:spPr>
          <a:xfrm>
            <a:off x="4062785" y="402803"/>
            <a:ext cx="1285131" cy="141089"/>
          </a:xfrm>
          <a:prstGeom prst="rect">
            <a:avLst/>
          </a:prstGeom>
          <a:noFill/>
          <a:ln/>
        </p:spPr>
        <p:txBody>
          <a:bodyPr wrap="none" lIns="0" tIns="0" rIns="0" bIns="0" rtlCol="0" anchor="t"/>
          <a:lstStyle/>
          <a:p>
            <a:pPr algn="l" indent="0" marL="0">
              <a:lnSpc>
                <a:spcPct val="123000"/>
              </a:lnSpc>
              <a:buNone/>
            </a:pPr>
            <a:r>
              <a:rPr lang="en-US" sz="750" dirty="0">
                <a:solidFill>
                  <a:srgbClr val="2C2821"/>
                </a:solidFill>
                <a:latin typeface="Lora" pitchFamily="34" charset="0"/>
                <a:ea typeface="Lora" pitchFamily="34" charset="-122"/>
                <a:cs typeface="Lora" pitchFamily="34" charset="-120"/>
              </a:rPr>
              <a:t>UNDERSTANDING</a:t>
            </a:r>
            <a:endParaRPr lang="en-US" sz="750" dirty="0"/>
          </a:p>
        </p:txBody>
      </p:sp>
      <p:sp>
        <p:nvSpPr>
          <p:cNvPr id="6" name="Text 2"/>
          <p:cNvSpPr/>
          <p:nvPr/>
        </p:nvSpPr>
        <p:spPr>
          <a:xfrm>
            <a:off x="3847654" y="620092"/>
            <a:ext cx="3447604" cy="373782"/>
          </a:xfrm>
          <a:prstGeom prst="rect">
            <a:avLst/>
          </a:prstGeom>
          <a:noFill/>
          <a:ln/>
        </p:spPr>
        <p:txBody>
          <a:bodyPr wrap="none" lIns="0" tIns="0" rIns="0" bIns="0" rtlCol="0" anchor="t"/>
          <a:lstStyle/>
          <a:p>
            <a:pPr algn="l" indent="0" marL="0">
              <a:lnSpc>
                <a:spcPct val="104000"/>
              </a:lnSpc>
              <a:buNone/>
            </a:pPr>
            <a:r>
              <a:rPr lang="en-US" sz="2350" dirty="0">
                <a:solidFill>
                  <a:srgbClr val="233E32"/>
                </a:solidFill>
                <a:latin typeface="Alice" pitchFamily="34" charset="0"/>
                <a:ea typeface="Alice" pitchFamily="34" charset="-122"/>
                <a:cs typeface="Alice" pitchFamily="34" charset="-120"/>
              </a:rPr>
              <a:t>What Is Data Science?</a:t>
            </a:r>
            <a:endParaRPr lang="en-US" sz="2350" dirty="0"/>
          </a:p>
        </p:txBody>
      </p:sp>
      <p:sp>
        <p:nvSpPr>
          <p:cNvPr id="7" name="Text 3"/>
          <p:cNvSpPr/>
          <p:nvPr/>
        </p:nvSpPr>
        <p:spPr>
          <a:xfrm>
            <a:off x="3847654" y="1145232"/>
            <a:ext cx="4877693" cy="52908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Data Science combines statistics, programming, and machine learning to extract valuable insights from data. It's the art and science of uncovering patterns and making sense of the vast amounts of information generated every second.</a:t>
            </a:r>
            <a:endParaRPr lang="en-US" sz="900" dirty="0"/>
          </a:p>
        </p:txBody>
      </p:sp>
      <p:sp>
        <p:nvSpPr>
          <p:cNvPr id="8" name="Shape 4"/>
          <p:cNvSpPr/>
          <p:nvPr/>
        </p:nvSpPr>
        <p:spPr>
          <a:xfrm>
            <a:off x="3847654" y="1787798"/>
            <a:ext cx="2388394" cy="1298972"/>
          </a:xfrm>
          <a:prstGeom prst="roundRect">
            <a:avLst>
              <a:gd name="adj" fmla="val 1381"/>
            </a:avLst>
          </a:prstGeom>
          <a:solidFill>
            <a:srgbClr val="F0EDE6"/>
          </a:solidFill>
          <a:ln/>
        </p:spPr>
      </p:sp>
      <p:sp>
        <p:nvSpPr>
          <p:cNvPr id="9" name="Shape 5"/>
          <p:cNvSpPr/>
          <p:nvPr/>
        </p:nvSpPr>
        <p:spPr>
          <a:xfrm>
            <a:off x="3967237" y="1907381"/>
            <a:ext cx="358825" cy="358825"/>
          </a:xfrm>
          <a:prstGeom prst="roundRect">
            <a:avLst>
              <a:gd name="adj" fmla="val 15925391"/>
            </a:avLst>
          </a:prstGeom>
          <a:solidFill>
            <a:srgbClr val="1B5F39"/>
          </a:solidFill>
          <a:ln/>
        </p:spPr>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65910" y="2006054"/>
            <a:ext cx="161479" cy="161479"/>
          </a:xfrm>
          <a:prstGeom prst="rect">
            <a:avLst/>
          </a:prstGeom>
        </p:spPr>
      </p:pic>
      <p:sp>
        <p:nvSpPr>
          <p:cNvPr id="11" name="Text 6"/>
          <p:cNvSpPr/>
          <p:nvPr/>
        </p:nvSpPr>
        <p:spPr>
          <a:xfrm>
            <a:off x="3967237" y="2367111"/>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Informed Decisions</a:t>
            </a:r>
            <a:endParaRPr lang="en-US" sz="1150" dirty="0"/>
          </a:p>
        </p:txBody>
      </p:sp>
      <p:sp>
        <p:nvSpPr>
          <p:cNvPr id="12" name="Text 7"/>
          <p:cNvSpPr/>
          <p:nvPr/>
        </p:nvSpPr>
        <p:spPr>
          <a:xfrm>
            <a:off x="3967237" y="2614464"/>
            <a:ext cx="2149227"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Empowers organizations to make data-driven choices.</a:t>
            </a:r>
            <a:endParaRPr lang="en-US" sz="900" dirty="0"/>
          </a:p>
        </p:txBody>
      </p:sp>
      <p:sp>
        <p:nvSpPr>
          <p:cNvPr id="13" name="Shape 8"/>
          <p:cNvSpPr/>
          <p:nvPr/>
        </p:nvSpPr>
        <p:spPr>
          <a:xfrm>
            <a:off x="6336953" y="1787798"/>
            <a:ext cx="2388394" cy="1298972"/>
          </a:xfrm>
          <a:prstGeom prst="roundRect">
            <a:avLst>
              <a:gd name="adj" fmla="val 1381"/>
            </a:avLst>
          </a:prstGeom>
          <a:solidFill>
            <a:srgbClr val="F0EDE6"/>
          </a:solidFill>
          <a:ln/>
        </p:spPr>
      </p:sp>
      <p:sp>
        <p:nvSpPr>
          <p:cNvPr id="14" name="Shape 9"/>
          <p:cNvSpPr/>
          <p:nvPr/>
        </p:nvSpPr>
        <p:spPr>
          <a:xfrm>
            <a:off x="6456536" y="1907381"/>
            <a:ext cx="358825" cy="358825"/>
          </a:xfrm>
          <a:prstGeom prst="roundRect">
            <a:avLst>
              <a:gd name="adj" fmla="val 15925391"/>
            </a:avLst>
          </a:prstGeom>
          <a:solidFill>
            <a:srgbClr val="1B5F39"/>
          </a:solidFill>
          <a:ln/>
        </p:spPr>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5209" y="2006054"/>
            <a:ext cx="161479" cy="161479"/>
          </a:xfrm>
          <a:prstGeom prst="rect">
            <a:avLst/>
          </a:prstGeom>
        </p:spPr>
      </p:pic>
      <p:sp>
        <p:nvSpPr>
          <p:cNvPr id="16" name="Text 10"/>
          <p:cNvSpPr/>
          <p:nvPr/>
        </p:nvSpPr>
        <p:spPr>
          <a:xfrm>
            <a:off x="6456536" y="2367111"/>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Predictive Power</a:t>
            </a:r>
            <a:endParaRPr lang="en-US" sz="1150" dirty="0"/>
          </a:p>
        </p:txBody>
      </p:sp>
      <p:sp>
        <p:nvSpPr>
          <p:cNvPr id="17" name="Text 11"/>
          <p:cNvSpPr/>
          <p:nvPr/>
        </p:nvSpPr>
        <p:spPr>
          <a:xfrm>
            <a:off x="6456536" y="2614464"/>
            <a:ext cx="2149227"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Forecasts future trends and potential outcomes.</a:t>
            </a:r>
            <a:endParaRPr lang="en-US" sz="900" dirty="0"/>
          </a:p>
        </p:txBody>
      </p:sp>
      <p:sp>
        <p:nvSpPr>
          <p:cNvPr id="18" name="Shape 12"/>
          <p:cNvSpPr/>
          <p:nvPr/>
        </p:nvSpPr>
        <p:spPr>
          <a:xfrm>
            <a:off x="3847654" y="3187675"/>
            <a:ext cx="4877693" cy="1122611"/>
          </a:xfrm>
          <a:prstGeom prst="roundRect">
            <a:avLst>
              <a:gd name="adj" fmla="val 1598"/>
            </a:avLst>
          </a:prstGeom>
          <a:solidFill>
            <a:srgbClr val="F0EDE6"/>
          </a:solidFill>
          <a:ln/>
        </p:spPr>
      </p:sp>
      <p:sp>
        <p:nvSpPr>
          <p:cNvPr id="19" name="Shape 13"/>
          <p:cNvSpPr/>
          <p:nvPr/>
        </p:nvSpPr>
        <p:spPr>
          <a:xfrm>
            <a:off x="3967237" y="3307259"/>
            <a:ext cx="358825" cy="358825"/>
          </a:xfrm>
          <a:prstGeom prst="roundRect">
            <a:avLst>
              <a:gd name="adj" fmla="val 15925391"/>
            </a:avLst>
          </a:prstGeom>
          <a:solidFill>
            <a:srgbClr val="1B5F39"/>
          </a:solidFill>
          <a:ln/>
        </p:spPr>
      </p:sp>
      <p:pic>
        <p:nvPicPr>
          <p:cNvPr id="2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65910" y="3405932"/>
            <a:ext cx="161479" cy="161479"/>
          </a:xfrm>
          <a:prstGeom prst="rect">
            <a:avLst/>
          </a:prstGeom>
        </p:spPr>
      </p:pic>
      <p:sp>
        <p:nvSpPr>
          <p:cNvPr id="21" name="Text 14"/>
          <p:cNvSpPr/>
          <p:nvPr/>
        </p:nvSpPr>
        <p:spPr>
          <a:xfrm>
            <a:off x="3967237" y="3766989"/>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Hidden Patterns</a:t>
            </a:r>
            <a:endParaRPr lang="en-US" sz="1150" dirty="0"/>
          </a:p>
        </p:txBody>
      </p:sp>
      <p:sp>
        <p:nvSpPr>
          <p:cNvPr id="22" name="Text 15"/>
          <p:cNvSpPr/>
          <p:nvPr/>
        </p:nvSpPr>
        <p:spPr>
          <a:xfrm>
            <a:off x="3967237" y="4014341"/>
            <a:ext cx="4638526" cy="176361"/>
          </a:xfrm>
          <a:prstGeom prst="rect">
            <a:avLst/>
          </a:prstGeom>
          <a:noFill/>
          <a:ln/>
        </p:spPr>
        <p:txBody>
          <a:bodyPr wrap="none" lIns="0" tIns="0" rIns="0" bIns="0" rtlCol="0" anchor="t"/>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Uncovers previously unseen relationships in data.</a:t>
            </a:r>
            <a:endParaRPr lang="en-US" sz="900" dirty="0"/>
          </a:p>
        </p:txBody>
      </p:sp>
      <p:sp>
        <p:nvSpPr>
          <p:cNvPr id="23" name="Text 16"/>
          <p:cNvSpPr/>
          <p:nvPr/>
        </p:nvSpPr>
        <p:spPr>
          <a:xfrm>
            <a:off x="3847654" y="4423767"/>
            <a:ext cx="4877693"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For example, Netflix masterfully uses data science to recommend shows and movies tailored to your individual viewing habits, enhancing user experience and engagement.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25119" y="425648"/>
            <a:ext cx="1241003" cy="266402"/>
          </a:xfrm>
          <a:prstGeom prst="roundRect">
            <a:avLst>
              <a:gd name="adj" fmla="val 6386"/>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10174" y="502146"/>
            <a:ext cx="113407" cy="113407"/>
          </a:xfrm>
          <a:prstGeom prst="rect">
            <a:avLst/>
          </a:prstGeom>
        </p:spPr>
      </p:pic>
      <p:sp>
        <p:nvSpPr>
          <p:cNvPr id="5" name="Text 1"/>
          <p:cNvSpPr/>
          <p:nvPr/>
        </p:nvSpPr>
        <p:spPr>
          <a:xfrm>
            <a:off x="4180284" y="468139"/>
            <a:ext cx="1357982" cy="181421"/>
          </a:xfrm>
          <a:prstGeom prst="rect">
            <a:avLst/>
          </a:prstGeom>
          <a:noFill/>
          <a:ln/>
        </p:spPr>
        <p:txBody>
          <a:bodyPr wrap="none" lIns="0" tIns="0" rIns="0" bIns="0" rtlCol="0" anchor="t"/>
          <a:lstStyle/>
          <a:p>
            <a:pPr algn="l" indent="0" marL="0">
              <a:lnSpc>
                <a:spcPct val="133000"/>
              </a:lnSpc>
              <a:buNone/>
            </a:pPr>
            <a:r>
              <a:rPr lang="en-US" sz="850" dirty="0">
                <a:solidFill>
                  <a:srgbClr val="2C2821"/>
                </a:solidFill>
                <a:latin typeface="Lora" pitchFamily="34" charset="0"/>
                <a:ea typeface="Lora" pitchFamily="34" charset="-122"/>
                <a:cs typeface="Lora" pitchFamily="34" charset="-120"/>
              </a:rPr>
              <a:t>GLOBAL IMPACT</a:t>
            </a:r>
            <a:endParaRPr lang="en-US" sz="850" dirty="0"/>
          </a:p>
        </p:txBody>
      </p:sp>
      <p:sp>
        <p:nvSpPr>
          <p:cNvPr id="6" name="Text 2"/>
          <p:cNvSpPr/>
          <p:nvPr/>
        </p:nvSpPr>
        <p:spPr>
          <a:xfrm>
            <a:off x="3925119" y="748754"/>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233E32"/>
                </a:solidFill>
                <a:latin typeface="Alice" pitchFamily="34" charset="0"/>
                <a:ea typeface="Alice" pitchFamily="34" charset="-122"/>
                <a:cs typeface="Alice" pitchFamily="34" charset="-120"/>
              </a:rPr>
              <a:t>Why Data Science Matters Today</a:t>
            </a:r>
            <a:endParaRPr lang="en-US" sz="2750" dirty="0"/>
          </a:p>
        </p:txBody>
      </p:sp>
      <p:sp>
        <p:nvSpPr>
          <p:cNvPr id="7" name="Text 3"/>
          <p:cNvSpPr/>
          <p:nvPr/>
        </p:nvSpPr>
        <p:spPr>
          <a:xfrm>
            <a:off x="3925119" y="1847329"/>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The digital world generates an unimaginable volume of information. With over 40 zettabytes of data globally—that's 40 trillion gigabytes—every interaction leaves a digital footprint.</a:t>
            </a:r>
            <a:endParaRPr lang="en-US" sz="1100" dirty="0"/>
          </a:p>
        </p:txBody>
      </p:sp>
      <p:sp>
        <p:nvSpPr>
          <p:cNvPr id="8" name="Shape 4"/>
          <p:cNvSpPr/>
          <p:nvPr/>
        </p:nvSpPr>
        <p:spPr>
          <a:xfrm>
            <a:off x="3925119" y="2762548"/>
            <a:ext cx="70842" cy="70842"/>
          </a:xfrm>
          <a:prstGeom prst="roundRect">
            <a:avLst>
              <a:gd name="adj" fmla="val 403362"/>
            </a:avLst>
          </a:prstGeom>
          <a:solidFill>
            <a:srgbClr val="1B5F39"/>
          </a:solidFill>
          <a:ln/>
        </p:spPr>
      </p:sp>
      <p:sp>
        <p:nvSpPr>
          <p:cNvPr id="9" name="Text 5"/>
          <p:cNvSpPr/>
          <p:nvPr/>
        </p:nvSpPr>
        <p:spPr>
          <a:xfrm>
            <a:off x="4137720" y="2687241"/>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Data Everywhere</a:t>
            </a:r>
            <a:endParaRPr lang="en-US" sz="1350" dirty="0"/>
          </a:p>
        </p:txBody>
      </p:sp>
      <p:sp>
        <p:nvSpPr>
          <p:cNvPr id="10" name="Text 6"/>
          <p:cNvSpPr/>
          <p:nvPr/>
        </p:nvSpPr>
        <p:spPr>
          <a:xfrm>
            <a:off x="4137720" y="2993752"/>
            <a:ext cx="451016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Every click, purchase, and social media post contributes to this massive data ocean.</a:t>
            </a:r>
            <a:endParaRPr lang="en-US" sz="1100" dirty="0"/>
          </a:p>
        </p:txBody>
      </p:sp>
      <p:sp>
        <p:nvSpPr>
          <p:cNvPr id="11" name="Shape 7"/>
          <p:cNvSpPr/>
          <p:nvPr/>
        </p:nvSpPr>
        <p:spPr>
          <a:xfrm>
            <a:off x="3925119" y="3806205"/>
            <a:ext cx="70842" cy="70842"/>
          </a:xfrm>
          <a:prstGeom prst="roundRect">
            <a:avLst>
              <a:gd name="adj" fmla="val 403362"/>
            </a:avLst>
          </a:prstGeom>
          <a:solidFill>
            <a:srgbClr val="1B5F39"/>
          </a:solidFill>
          <a:ln/>
        </p:spPr>
      </p:sp>
      <p:sp>
        <p:nvSpPr>
          <p:cNvPr id="12" name="Text 8"/>
          <p:cNvSpPr/>
          <p:nvPr/>
        </p:nvSpPr>
        <p:spPr>
          <a:xfrm>
            <a:off x="4137720" y="3730898"/>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From Chaos to Clarity</a:t>
            </a:r>
            <a:endParaRPr lang="en-US" sz="1350" dirty="0"/>
          </a:p>
        </p:txBody>
      </p:sp>
      <p:sp>
        <p:nvSpPr>
          <p:cNvPr id="13" name="Text 9"/>
          <p:cNvSpPr/>
          <p:nvPr/>
        </p:nvSpPr>
        <p:spPr>
          <a:xfrm>
            <a:off x="4137720" y="4037409"/>
            <a:ext cx="451016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Data science acts as the bridge, transforming raw, chaotic data into structured, actionable knowledge, driving progress across all sectors.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27336" y="314176"/>
            <a:ext cx="1245245" cy="187672"/>
          </a:xfrm>
          <a:prstGeom prst="roundRect">
            <a:avLst>
              <a:gd name="adj" fmla="val 6940"/>
            </a:avLst>
          </a:prstGeom>
          <a:solidFill>
            <a:srgbClr val="D7F4E4"/>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2448" y="364629"/>
            <a:ext cx="86767" cy="86767"/>
          </a:xfrm>
          <a:prstGeom prst="rect">
            <a:avLst/>
          </a:prstGeom>
        </p:spPr>
      </p:pic>
      <p:sp>
        <p:nvSpPr>
          <p:cNvPr id="4" name="Text 1"/>
          <p:cNvSpPr/>
          <p:nvPr/>
        </p:nvSpPr>
        <p:spPr>
          <a:xfrm>
            <a:off x="1022598" y="346695"/>
            <a:ext cx="1442070" cy="122634"/>
          </a:xfrm>
          <a:prstGeom prst="rect">
            <a:avLst/>
          </a:prstGeom>
          <a:noFill/>
          <a:ln/>
        </p:spPr>
        <p:txBody>
          <a:bodyPr wrap="none" lIns="0" tIns="0" rIns="0" bIns="0" rtlCol="0" anchor="t"/>
          <a:lstStyle/>
          <a:p>
            <a:pPr algn="l" indent="0" marL="0">
              <a:lnSpc>
                <a:spcPct val="118000"/>
              </a:lnSpc>
              <a:buNone/>
            </a:pPr>
            <a:r>
              <a:rPr lang="en-US" sz="650" dirty="0">
                <a:solidFill>
                  <a:srgbClr val="2C2821"/>
                </a:solidFill>
                <a:latin typeface="Lora" pitchFamily="34" charset="0"/>
                <a:ea typeface="Lora" pitchFamily="34" charset="-122"/>
                <a:cs typeface="Lora" pitchFamily="34" charset="-120"/>
              </a:rPr>
              <a:t>THE BUILDING BLOCKS</a:t>
            </a:r>
            <a:endParaRPr lang="en-US" sz="650" dirty="0"/>
          </a:p>
        </p:txBody>
      </p:sp>
      <p:sp>
        <p:nvSpPr>
          <p:cNvPr id="5" name="Text 2"/>
          <p:cNvSpPr/>
          <p:nvPr/>
        </p:nvSpPr>
        <p:spPr>
          <a:xfrm>
            <a:off x="827336" y="535037"/>
            <a:ext cx="4243164" cy="339179"/>
          </a:xfrm>
          <a:prstGeom prst="rect">
            <a:avLst/>
          </a:prstGeom>
          <a:noFill/>
          <a:ln/>
        </p:spPr>
        <p:txBody>
          <a:bodyPr wrap="none" lIns="0" tIns="0" rIns="0" bIns="0" rtlCol="0" anchor="t"/>
          <a:lstStyle/>
          <a:p>
            <a:pPr algn="l" indent="0" marL="0">
              <a:lnSpc>
                <a:spcPct val="104000"/>
              </a:lnSpc>
              <a:buNone/>
            </a:pPr>
            <a:r>
              <a:rPr lang="en-US" sz="2100" dirty="0">
                <a:solidFill>
                  <a:srgbClr val="233E32"/>
                </a:solidFill>
                <a:latin typeface="Alice" pitchFamily="34" charset="0"/>
                <a:ea typeface="Alice" pitchFamily="34" charset="-122"/>
                <a:cs typeface="Alice" pitchFamily="34" charset="-120"/>
              </a:rPr>
              <a:t>Key Data Types in Data Science</a:t>
            </a:r>
            <a:endParaRPr lang="en-US" sz="2100" dirty="0"/>
          </a:p>
        </p:txBody>
      </p:sp>
      <p:sp>
        <p:nvSpPr>
          <p:cNvPr id="6" name="Text 3"/>
          <p:cNvSpPr/>
          <p:nvPr/>
        </p:nvSpPr>
        <p:spPr>
          <a:xfrm>
            <a:off x="827336" y="998860"/>
            <a:ext cx="7946454" cy="153293"/>
          </a:xfrm>
          <a:prstGeom prst="rect">
            <a:avLst/>
          </a:prstGeom>
          <a:noFill/>
          <a:ln/>
        </p:spPr>
        <p:txBody>
          <a:bodyPr wrap="none" lIns="0" tIns="0" rIns="0" bIns="0" rtlCol="0" anchor="t"/>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Understanding the nature of data is fundamental. Data comes in various forms, each requiring different analytical approaches.</a:t>
            </a:r>
            <a:endParaRPr lang="en-US" sz="850" dirty="0"/>
          </a:p>
        </p:txBody>
      </p:sp>
      <p:sp>
        <p:nvSpPr>
          <p:cNvPr id="7" name="Text 4"/>
          <p:cNvSpPr/>
          <p:nvPr/>
        </p:nvSpPr>
        <p:spPr>
          <a:xfrm>
            <a:off x="827336" y="1328663"/>
            <a:ext cx="1916906" cy="169515"/>
          </a:xfrm>
          <a:prstGeom prst="rect">
            <a:avLst/>
          </a:prstGeom>
          <a:noFill/>
          <a:ln/>
        </p:spPr>
        <p:txBody>
          <a:bodyPr wrap="none" lIns="0" tIns="0" rIns="0" bIns="0" rtlCol="0" anchor="t"/>
          <a:lstStyle/>
          <a:p>
            <a:pPr algn="l" indent="0" marL="0">
              <a:lnSpc>
                <a:spcPct val="104000"/>
              </a:lnSpc>
              <a:buNone/>
            </a:pPr>
            <a:r>
              <a:rPr lang="en-US" sz="1050" dirty="0">
                <a:solidFill>
                  <a:srgbClr val="233E32"/>
                </a:solidFill>
                <a:latin typeface="Alice" pitchFamily="34" charset="0"/>
                <a:ea typeface="Alice" pitchFamily="34" charset="-122"/>
                <a:cs typeface="Alice" pitchFamily="34" charset="-120"/>
              </a:rPr>
              <a:t>Categorical (Qualitative)</a:t>
            </a:r>
            <a:endParaRPr lang="en-US" sz="1050" dirty="0"/>
          </a:p>
        </p:txBody>
      </p:sp>
      <p:sp>
        <p:nvSpPr>
          <p:cNvPr id="8" name="Text 5"/>
          <p:cNvSpPr/>
          <p:nvPr/>
        </p:nvSpPr>
        <p:spPr>
          <a:xfrm>
            <a:off x="827336" y="1581224"/>
            <a:ext cx="3612207"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Represents categories or labels. It's about grouping observations based on shared characteristics.</a:t>
            </a:r>
            <a:endParaRPr lang="en-US" sz="850" dirty="0"/>
          </a:p>
        </p:txBody>
      </p:sp>
      <p:sp>
        <p:nvSpPr>
          <p:cNvPr id="9" name="Text 6"/>
          <p:cNvSpPr/>
          <p:nvPr/>
        </p:nvSpPr>
        <p:spPr>
          <a:xfrm>
            <a:off x="827336" y="1962596"/>
            <a:ext cx="3612207" cy="517922"/>
          </a:xfrm>
          <a:prstGeom prst="rect">
            <a:avLst/>
          </a:prstGeom>
          <a:noFill/>
          <a:ln/>
        </p:spPr>
        <p:txBody>
          <a:bodyPr wrap="square" lIns="0" tIns="0" rIns="0" bIns="0" rtlCol="0" anchor="t">
            <a:normAutofit/>
          </a:bodyPr>
          <a:lstStyle/>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Gender (Male, Female, Non-binary)</a:t>
            </a:r>
            <a:endParaRPr lang="en-US" sz="850" dirty="0"/>
          </a:p>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Colors (Red, Blue, Green)</a:t>
            </a:r>
            <a:endParaRPr lang="en-US" sz="850" dirty="0"/>
          </a:p>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Product Types (Electronics, Apparel, Books)</a:t>
            </a:r>
            <a:endParaRPr lang="en-US" sz="850" dirty="0"/>
          </a:p>
        </p:txBody>
      </p:sp>
      <p:sp>
        <p:nvSpPr>
          <p:cNvPr id="10" name="Text 7"/>
          <p:cNvSpPr/>
          <p:nvPr/>
        </p:nvSpPr>
        <p:spPr>
          <a:xfrm>
            <a:off x="4709071" y="1328663"/>
            <a:ext cx="1961108" cy="169515"/>
          </a:xfrm>
          <a:prstGeom prst="rect">
            <a:avLst/>
          </a:prstGeom>
          <a:noFill/>
          <a:ln/>
        </p:spPr>
        <p:txBody>
          <a:bodyPr wrap="none" lIns="0" tIns="0" rIns="0" bIns="0" rtlCol="0" anchor="t"/>
          <a:lstStyle/>
          <a:p>
            <a:pPr algn="l" indent="0" marL="0">
              <a:lnSpc>
                <a:spcPct val="104000"/>
              </a:lnSpc>
              <a:buNone/>
            </a:pPr>
            <a:r>
              <a:rPr lang="en-US" sz="1050" dirty="0">
                <a:solidFill>
                  <a:srgbClr val="233E32"/>
                </a:solidFill>
                <a:latin typeface="Alice" pitchFamily="34" charset="0"/>
                <a:ea typeface="Alice" pitchFamily="34" charset="-122"/>
                <a:cs typeface="Alice" pitchFamily="34" charset="-120"/>
              </a:rPr>
              <a:t>Numerical (Quantitative)</a:t>
            </a:r>
            <a:endParaRPr lang="en-US" sz="1050" dirty="0"/>
          </a:p>
        </p:txBody>
      </p:sp>
      <p:sp>
        <p:nvSpPr>
          <p:cNvPr id="11" name="Text 8"/>
          <p:cNvSpPr/>
          <p:nvPr/>
        </p:nvSpPr>
        <p:spPr>
          <a:xfrm>
            <a:off x="4709071" y="1581224"/>
            <a:ext cx="3612207"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Consists of measurable numbers, allowing for mathematical operations and statistical analysis.</a:t>
            </a:r>
            <a:endParaRPr lang="en-US" sz="850" dirty="0"/>
          </a:p>
        </p:txBody>
      </p:sp>
      <p:sp>
        <p:nvSpPr>
          <p:cNvPr id="12" name="Text 9"/>
          <p:cNvSpPr/>
          <p:nvPr/>
        </p:nvSpPr>
        <p:spPr>
          <a:xfrm>
            <a:off x="4709071" y="1962596"/>
            <a:ext cx="3612207" cy="517922"/>
          </a:xfrm>
          <a:prstGeom prst="rect">
            <a:avLst/>
          </a:prstGeom>
          <a:noFill/>
          <a:ln/>
        </p:spPr>
        <p:txBody>
          <a:bodyPr wrap="square" lIns="0" tIns="0" rIns="0" bIns="0" rtlCol="0" anchor="t">
            <a:normAutofit/>
          </a:bodyPr>
          <a:lstStyle/>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Height (e.g., 175 cm)</a:t>
            </a:r>
            <a:endParaRPr lang="en-US" sz="850" dirty="0"/>
          </a:p>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Temperature (e.g., 25°C)</a:t>
            </a:r>
            <a:endParaRPr lang="en-US" sz="850" dirty="0"/>
          </a:p>
          <a:p>
            <a:pPr algn="l" marL="342900" indent="-342900">
              <a:lnSpc>
                <a:spcPct val="118000"/>
              </a:lnSpc>
              <a:buSzPct val="100000"/>
              <a:buChar char="•"/>
            </a:pPr>
            <a:r>
              <a:rPr lang="en-US" sz="850" dirty="0">
                <a:solidFill>
                  <a:srgbClr val="2C2821"/>
                </a:solidFill>
                <a:latin typeface="Lora" pitchFamily="34" charset="0"/>
                <a:ea typeface="Lora" pitchFamily="34" charset="-122"/>
                <a:cs typeface="Lora" pitchFamily="34" charset="-120"/>
              </a:rPr>
              <a:t>Sales Figures (e.g., $1500)</a:t>
            </a:r>
            <a:endParaRPr lang="en-US" sz="850" dirty="0"/>
          </a:p>
        </p:txBody>
      </p:sp>
      <p:sp>
        <p:nvSpPr>
          <p:cNvPr id="13" name="Shape 10"/>
          <p:cNvSpPr/>
          <p:nvPr/>
        </p:nvSpPr>
        <p:spPr>
          <a:xfrm>
            <a:off x="827336" y="2603004"/>
            <a:ext cx="3703067" cy="1071637"/>
          </a:xfrm>
          <a:prstGeom prst="roundRect">
            <a:avLst>
              <a:gd name="adj" fmla="val 1519"/>
            </a:avLst>
          </a:prstGeom>
          <a:solidFill>
            <a:srgbClr val="FCFBF8"/>
          </a:solidFill>
          <a:ln w="14288">
            <a:solidFill>
              <a:srgbClr val="D6D3CC"/>
            </a:solidFill>
            <a:prstDash val="solid"/>
          </a:ln>
        </p:spPr>
      </p:sp>
      <p:sp>
        <p:nvSpPr>
          <p:cNvPr id="14" name="Shape 11"/>
          <p:cNvSpPr/>
          <p:nvPr/>
        </p:nvSpPr>
        <p:spPr>
          <a:xfrm>
            <a:off x="841623" y="2617291"/>
            <a:ext cx="3674492" cy="325562"/>
          </a:xfrm>
          <a:prstGeom prst="rect">
            <a:avLst/>
          </a:prstGeom>
          <a:solidFill>
            <a:srgbClr val="F0EDE6"/>
          </a:solidFill>
          <a:ln/>
        </p:spPr>
      </p:sp>
      <p:sp>
        <p:nvSpPr>
          <p:cNvPr id="15" name="Text 12"/>
          <p:cNvSpPr/>
          <p:nvPr/>
        </p:nvSpPr>
        <p:spPr>
          <a:xfrm>
            <a:off x="2597497" y="2678311"/>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2C2821"/>
                </a:solidFill>
                <a:latin typeface="Alice" pitchFamily="34" charset="0"/>
                <a:ea typeface="Alice" pitchFamily="34" charset="-122"/>
                <a:cs typeface="Alice" pitchFamily="34" charset="-120"/>
              </a:rPr>
              <a:t>1</a:t>
            </a:r>
            <a:endParaRPr lang="en-US" sz="1250" dirty="0"/>
          </a:p>
        </p:txBody>
      </p:sp>
      <p:sp>
        <p:nvSpPr>
          <p:cNvPr id="16" name="Text 13"/>
          <p:cNvSpPr/>
          <p:nvPr/>
        </p:nvSpPr>
        <p:spPr>
          <a:xfrm>
            <a:off x="950119" y="3025899"/>
            <a:ext cx="1356717" cy="169515"/>
          </a:xfrm>
          <a:prstGeom prst="rect">
            <a:avLst/>
          </a:prstGeom>
          <a:noFill/>
          <a:ln/>
        </p:spPr>
        <p:txBody>
          <a:bodyPr wrap="none" lIns="0" tIns="0" rIns="0" bIns="0" rtlCol="0" anchor="t"/>
          <a:lstStyle/>
          <a:p>
            <a:pPr algn="l" indent="0" marL="0">
              <a:lnSpc>
                <a:spcPct val="104000"/>
              </a:lnSpc>
              <a:buNone/>
            </a:pPr>
            <a:r>
              <a:rPr lang="en-US" sz="1050" dirty="0">
                <a:solidFill>
                  <a:srgbClr val="2C2821"/>
                </a:solidFill>
                <a:latin typeface="Alice" pitchFamily="34" charset="0"/>
                <a:ea typeface="Alice" pitchFamily="34" charset="-122"/>
                <a:cs typeface="Alice" pitchFamily="34" charset="-120"/>
              </a:rPr>
              <a:t>Ordinal</a:t>
            </a:r>
            <a:endParaRPr lang="en-US" sz="1050" dirty="0"/>
          </a:p>
        </p:txBody>
      </p:sp>
      <p:sp>
        <p:nvSpPr>
          <p:cNvPr id="17" name="Text 14"/>
          <p:cNvSpPr/>
          <p:nvPr/>
        </p:nvSpPr>
        <p:spPr>
          <a:xfrm>
            <a:off x="950119" y="3245272"/>
            <a:ext cx="3457501"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Ranked categories, where order matters (e.g., movie ratings: 1-5 stars).</a:t>
            </a:r>
            <a:endParaRPr lang="en-US" sz="850" dirty="0"/>
          </a:p>
        </p:txBody>
      </p:sp>
      <p:sp>
        <p:nvSpPr>
          <p:cNvPr id="18" name="Shape 15"/>
          <p:cNvSpPr/>
          <p:nvPr/>
        </p:nvSpPr>
        <p:spPr>
          <a:xfrm>
            <a:off x="4613449" y="2603004"/>
            <a:ext cx="3703141" cy="1071637"/>
          </a:xfrm>
          <a:prstGeom prst="roundRect">
            <a:avLst>
              <a:gd name="adj" fmla="val 1519"/>
            </a:avLst>
          </a:prstGeom>
          <a:solidFill>
            <a:srgbClr val="FCFBF8"/>
          </a:solidFill>
          <a:ln w="14288">
            <a:solidFill>
              <a:srgbClr val="D6D3CC"/>
            </a:solidFill>
            <a:prstDash val="solid"/>
          </a:ln>
        </p:spPr>
      </p:sp>
      <p:sp>
        <p:nvSpPr>
          <p:cNvPr id="19" name="Shape 16"/>
          <p:cNvSpPr/>
          <p:nvPr/>
        </p:nvSpPr>
        <p:spPr>
          <a:xfrm>
            <a:off x="4627736" y="2617291"/>
            <a:ext cx="3674566" cy="325562"/>
          </a:xfrm>
          <a:prstGeom prst="rect">
            <a:avLst/>
          </a:prstGeom>
          <a:solidFill>
            <a:srgbClr val="F0EDE6"/>
          </a:solidFill>
          <a:ln/>
        </p:spPr>
      </p:sp>
      <p:sp>
        <p:nvSpPr>
          <p:cNvPr id="20" name="Text 17"/>
          <p:cNvSpPr/>
          <p:nvPr/>
        </p:nvSpPr>
        <p:spPr>
          <a:xfrm>
            <a:off x="6383610" y="2678311"/>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2C2821"/>
                </a:solidFill>
                <a:latin typeface="Alice" pitchFamily="34" charset="0"/>
                <a:ea typeface="Alice" pitchFamily="34" charset="-122"/>
                <a:cs typeface="Alice" pitchFamily="34" charset="-120"/>
              </a:rPr>
              <a:t>2</a:t>
            </a:r>
            <a:endParaRPr lang="en-US" sz="1250" dirty="0"/>
          </a:p>
        </p:txBody>
      </p:sp>
      <p:sp>
        <p:nvSpPr>
          <p:cNvPr id="21" name="Text 18"/>
          <p:cNvSpPr/>
          <p:nvPr/>
        </p:nvSpPr>
        <p:spPr>
          <a:xfrm>
            <a:off x="4736232" y="3025899"/>
            <a:ext cx="1356717" cy="169515"/>
          </a:xfrm>
          <a:prstGeom prst="rect">
            <a:avLst/>
          </a:prstGeom>
          <a:noFill/>
          <a:ln/>
        </p:spPr>
        <p:txBody>
          <a:bodyPr wrap="none" lIns="0" tIns="0" rIns="0" bIns="0" rtlCol="0" anchor="t"/>
          <a:lstStyle/>
          <a:p>
            <a:pPr algn="l" indent="0" marL="0">
              <a:lnSpc>
                <a:spcPct val="104000"/>
              </a:lnSpc>
              <a:buNone/>
            </a:pPr>
            <a:r>
              <a:rPr lang="en-US" sz="1050" dirty="0">
                <a:solidFill>
                  <a:srgbClr val="2C2821"/>
                </a:solidFill>
                <a:latin typeface="Alice" pitchFamily="34" charset="0"/>
                <a:ea typeface="Alice" pitchFamily="34" charset="-122"/>
                <a:cs typeface="Alice" pitchFamily="34" charset="-120"/>
              </a:rPr>
              <a:t>Nominal</a:t>
            </a:r>
            <a:endParaRPr lang="en-US" sz="1050" dirty="0"/>
          </a:p>
        </p:txBody>
      </p:sp>
      <p:sp>
        <p:nvSpPr>
          <p:cNvPr id="22" name="Text 19"/>
          <p:cNvSpPr/>
          <p:nvPr/>
        </p:nvSpPr>
        <p:spPr>
          <a:xfrm>
            <a:off x="4736232" y="3245272"/>
            <a:ext cx="3457575"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Unordered categories, with no inherent ranking (e.g., hair color: blonde, brown, black).</a:t>
            </a:r>
            <a:endParaRPr lang="en-US" sz="850" dirty="0"/>
          </a:p>
        </p:txBody>
      </p:sp>
      <p:sp>
        <p:nvSpPr>
          <p:cNvPr id="23" name="Shape 20"/>
          <p:cNvSpPr/>
          <p:nvPr/>
        </p:nvSpPr>
        <p:spPr>
          <a:xfrm>
            <a:off x="827336" y="3757687"/>
            <a:ext cx="3703067" cy="1071637"/>
          </a:xfrm>
          <a:prstGeom prst="roundRect">
            <a:avLst>
              <a:gd name="adj" fmla="val 1519"/>
            </a:avLst>
          </a:prstGeom>
          <a:solidFill>
            <a:srgbClr val="FCFBF8"/>
          </a:solidFill>
          <a:ln w="14288">
            <a:solidFill>
              <a:srgbClr val="D6D3CC"/>
            </a:solidFill>
            <a:prstDash val="solid"/>
          </a:ln>
        </p:spPr>
      </p:sp>
      <p:sp>
        <p:nvSpPr>
          <p:cNvPr id="24" name="Shape 21"/>
          <p:cNvSpPr/>
          <p:nvPr/>
        </p:nvSpPr>
        <p:spPr>
          <a:xfrm>
            <a:off x="841623" y="3771974"/>
            <a:ext cx="3674492" cy="325562"/>
          </a:xfrm>
          <a:prstGeom prst="rect">
            <a:avLst/>
          </a:prstGeom>
          <a:solidFill>
            <a:srgbClr val="F0EDE6"/>
          </a:solidFill>
          <a:ln/>
        </p:spPr>
      </p:sp>
      <p:sp>
        <p:nvSpPr>
          <p:cNvPr id="25" name="Text 22"/>
          <p:cNvSpPr/>
          <p:nvPr/>
        </p:nvSpPr>
        <p:spPr>
          <a:xfrm>
            <a:off x="2597497" y="3832994"/>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2C2821"/>
                </a:solidFill>
                <a:latin typeface="Alice" pitchFamily="34" charset="0"/>
                <a:ea typeface="Alice" pitchFamily="34" charset="-122"/>
                <a:cs typeface="Alice" pitchFamily="34" charset="-120"/>
              </a:rPr>
              <a:t>3</a:t>
            </a:r>
            <a:endParaRPr lang="en-US" sz="1250" dirty="0"/>
          </a:p>
        </p:txBody>
      </p:sp>
      <p:sp>
        <p:nvSpPr>
          <p:cNvPr id="26" name="Text 23"/>
          <p:cNvSpPr/>
          <p:nvPr/>
        </p:nvSpPr>
        <p:spPr>
          <a:xfrm>
            <a:off x="950119" y="4180582"/>
            <a:ext cx="1356717" cy="169515"/>
          </a:xfrm>
          <a:prstGeom prst="rect">
            <a:avLst/>
          </a:prstGeom>
          <a:noFill/>
          <a:ln/>
        </p:spPr>
        <p:txBody>
          <a:bodyPr wrap="none" lIns="0" tIns="0" rIns="0" bIns="0" rtlCol="0" anchor="t"/>
          <a:lstStyle/>
          <a:p>
            <a:pPr algn="l" indent="0" marL="0">
              <a:lnSpc>
                <a:spcPct val="104000"/>
              </a:lnSpc>
              <a:buNone/>
            </a:pPr>
            <a:r>
              <a:rPr lang="en-US" sz="1050" dirty="0">
                <a:solidFill>
                  <a:srgbClr val="2C2821"/>
                </a:solidFill>
                <a:latin typeface="Alice" pitchFamily="34" charset="0"/>
                <a:ea typeface="Alice" pitchFamily="34" charset="-122"/>
                <a:cs typeface="Alice" pitchFamily="34" charset="-120"/>
              </a:rPr>
              <a:t>Discrete</a:t>
            </a:r>
            <a:endParaRPr lang="en-US" sz="1050" dirty="0"/>
          </a:p>
        </p:txBody>
      </p:sp>
      <p:sp>
        <p:nvSpPr>
          <p:cNvPr id="27" name="Text 24"/>
          <p:cNvSpPr/>
          <p:nvPr/>
        </p:nvSpPr>
        <p:spPr>
          <a:xfrm>
            <a:off x="950119" y="4399955"/>
            <a:ext cx="3457501"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Countable numbers, typically integers (e.g., number of students in a class).</a:t>
            </a:r>
            <a:endParaRPr lang="en-US" sz="850" dirty="0"/>
          </a:p>
        </p:txBody>
      </p:sp>
      <p:sp>
        <p:nvSpPr>
          <p:cNvPr id="28" name="Shape 25"/>
          <p:cNvSpPr/>
          <p:nvPr/>
        </p:nvSpPr>
        <p:spPr>
          <a:xfrm>
            <a:off x="4613449" y="3757687"/>
            <a:ext cx="3703141" cy="1071637"/>
          </a:xfrm>
          <a:prstGeom prst="roundRect">
            <a:avLst>
              <a:gd name="adj" fmla="val 1519"/>
            </a:avLst>
          </a:prstGeom>
          <a:solidFill>
            <a:srgbClr val="FCFBF8"/>
          </a:solidFill>
          <a:ln w="14288">
            <a:solidFill>
              <a:srgbClr val="D6D3CC"/>
            </a:solidFill>
            <a:prstDash val="solid"/>
          </a:ln>
        </p:spPr>
      </p:sp>
      <p:sp>
        <p:nvSpPr>
          <p:cNvPr id="29" name="Shape 26"/>
          <p:cNvSpPr/>
          <p:nvPr/>
        </p:nvSpPr>
        <p:spPr>
          <a:xfrm>
            <a:off x="4627736" y="3771974"/>
            <a:ext cx="3674566" cy="325562"/>
          </a:xfrm>
          <a:prstGeom prst="rect">
            <a:avLst/>
          </a:prstGeom>
          <a:solidFill>
            <a:srgbClr val="F0EDE6"/>
          </a:solidFill>
          <a:ln/>
        </p:spPr>
      </p:sp>
      <p:sp>
        <p:nvSpPr>
          <p:cNvPr id="30" name="Text 27"/>
          <p:cNvSpPr/>
          <p:nvPr/>
        </p:nvSpPr>
        <p:spPr>
          <a:xfrm>
            <a:off x="6383610" y="3832994"/>
            <a:ext cx="162744" cy="203448"/>
          </a:xfrm>
          <a:prstGeom prst="rect">
            <a:avLst/>
          </a:prstGeom>
          <a:noFill/>
          <a:ln/>
        </p:spPr>
        <p:txBody>
          <a:bodyPr wrap="none" lIns="0" tIns="0" rIns="0" bIns="0" rtlCol="0" anchor="ctr"/>
          <a:lstStyle/>
          <a:p>
            <a:pPr algn="ctr" indent="0" marL="0">
              <a:lnSpc>
                <a:spcPct val="100000"/>
              </a:lnSpc>
              <a:buNone/>
            </a:pPr>
            <a:r>
              <a:rPr lang="en-US" sz="1250" dirty="0">
                <a:solidFill>
                  <a:srgbClr val="2C2821"/>
                </a:solidFill>
                <a:latin typeface="Alice" pitchFamily="34" charset="0"/>
                <a:ea typeface="Alice" pitchFamily="34" charset="-122"/>
                <a:cs typeface="Alice" pitchFamily="34" charset="-120"/>
              </a:rPr>
              <a:t>4</a:t>
            </a:r>
            <a:endParaRPr lang="en-US" sz="1250" dirty="0"/>
          </a:p>
        </p:txBody>
      </p:sp>
      <p:sp>
        <p:nvSpPr>
          <p:cNvPr id="31" name="Text 28"/>
          <p:cNvSpPr/>
          <p:nvPr/>
        </p:nvSpPr>
        <p:spPr>
          <a:xfrm>
            <a:off x="4736232" y="4180582"/>
            <a:ext cx="1356717" cy="169515"/>
          </a:xfrm>
          <a:prstGeom prst="rect">
            <a:avLst/>
          </a:prstGeom>
          <a:noFill/>
          <a:ln/>
        </p:spPr>
        <p:txBody>
          <a:bodyPr wrap="none" lIns="0" tIns="0" rIns="0" bIns="0" rtlCol="0" anchor="t"/>
          <a:lstStyle/>
          <a:p>
            <a:pPr algn="l" indent="0" marL="0">
              <a:lnSpc>
                <a:spcPct val="104000"/>
              </a:lnSpc>
              <a:buNone/>
            </a:pPr>
            <a:r>
              <a:rPr lang="en-US" sz="1050" dirty="0">
                <a:solidFill>
                  <a:srgbClr val="2C2821"/>
                </a:solidFill>
                <a:latin typeface="Alice" pitchFamily="34" charset="0"/>
                <a:ea typeface="Alice" pitchFamily="34" charset="-122"/>
                <a:cs typeface="Alice" pitchFamily="34" charset="-120"/>
              </a:rPr>
              <a:t>Continuous</a:t>
            </a:r>
            <a:endParaRPr lang="en-US" sz="1050" dirty="0"/>
          </a:p>
        </p:txBody>
      </p:sp>
      <p:sp>
        <p:nvSpPr>
          <p:cNvPr id="32" name="Text 29"/>
          <p:cNvSpPr/>
          <p:nvPr/>
        </p:nvSpPr>
        <p:spPr>
          <a:xfrm>
            <a:off x="4736232" y="4399955"/>
            <a:ext cx="3457575"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2C2821"/>
                </a:solidFill>
                <a:latin typeface="Lora" pitchFamily="34" charset="0"/>
                <a:ea typeface="Lora" pitchFamily="34" charset="-122"/>
                <a:cs typeface="Lora" pitchFamily="34" charset="-120"/>
              </a:rPr>
              <a:t>Measurable values that can take any value within a range (e.g., weight, temperature).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72901" y="531837"/>
            <a:ext cx="1065312" cy="249882"/>
          </a:xfrm>
          <a:prstGeom prst="roundRect">
            <a:avLst>
              <a:gd name="adj" fmla="val 6489"/>
            </a:avLst>
          </a:prstGeom>
          <a:solidFill>
            <a:srgbClr val="D7F4E4"/>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3938" y="602754"/>
            <a:ext cx="108049" cy="108049"/>
          </a:xfrm>
          <a:prstGeom prst="rect">
            <a:avLst/>
          </a:prstGeom>
        </p:spPr>
      </p:pic>
      <p:sp>
        <p:nvSpPr>
          <p:cNvPr id="4" name="Text 1"/>
          <p:cNvSpPr/>
          <p:nvPr/>
        </p:nvSpPr>
        <p:spPr>
          <a:xfrm>
            <a:off x="716012" y="572319"/>
            <a:ext cx="1198364" cy="168920"/>
          </a:xfrm>
          <a:prstGeom prst="rect">
            <a:avLst/>
          </a:prstGeom>
          <a:noFill/>
          <a:ln/>
        </p:spPr>
        <p:txBody>
          <a:bodyPr wrap="none" lIns="0" tIns="0" rIns="0" bIns="0" rtlCol="0" anchor="t"/>
          <a:lstStyle/>
          <a:p>
            <a:pPr algn="l" indent="0" marL="0">
              <a:lnSpc>
                <a:spcPct val="130000"/>
              </a:lnSpc>
              <a:buNone/>
            </a:pPr>
            <a:r>
              <a:rPr lang="en-US" sz="850" dirty="0">
                <a:solidFill>
                  <a:srgbClr val="2C2821"/>
                </a:solidFill>
                <a:latin typeface="Lora" pitchFamily="34" charset="0"/>
                <a:ea typeface="Lora" pitchFamily="34" charset="-122"/>
                <a:cs typeface="Lora" pitchFamily="34" charset="-120"/>
              </a:rPr>
              <a:t>THE JOURNEY</a:t>
            </a:r>
            <a:endParaRPr lang="en-US" sz="850" dirty="0"/>
          </a:p>
        </p:txBody>
      </p:sp>
      <p:sp>
        <p:nvSpPr>
          <p:cNvPr id="5" name="Text 2"/>
          <p:cNvSpPr/>
          <p:nvPr/>
        </p:nvSpPr>
        <p:spPr>
          <a:xfrm>
            <a:off x="472901" y="833214"/>
            <a:ext cx="8592294" cy="422300"/>
          </a:xfrm>
          <a:prstGeom prst="rect">
            <a:avLst/>
          </a:prstGeom>
          <a:noFill/>
          <a:ln/>
        </p:spPr>
        <p:txBody>
          <a:bodyPr wrap="none" lIns="0" tIns="0" rIns="0" bIns="0" rtlCol="0" anchor="t"/>
          <a:lstStyle/>
          <a:p>
            <a:pPr algn="l" indent="0" marL="0">
              <a:lnSpc>
                <a:spcPct val="104000"/>
              </a:lnSpc>
              <a:buNone/>
            </a:pPr>
            <a:r>
              <a:rPr lang="en-US" sz="2650" dirty="0">
                <a:solidFill>
                  <a:srgbClr val="233E32"/>
                </a:solidFill>
                <a:latin typeface="Alice" pitchFamily="34" charset="0"/>
                <a:ea typeface="Alice" pitchFamily="34" charset="-122"/>
                <a:cs typeface="Alice" pitchFamily="34" charset="-120"/>
              </a:rPr>
              <a:t>The Data Science Lifecycle: From Raw Data to Insights</a:t>
            </a:r>
            <a:endParaRPr lang="en-US" sz="2650" dirty="0"/>
          </a:p>
        </p:txBody>
      </p:sp>
      <p:sp>
        <p:nvSpPr>
          <p:cNvPr id="6" name="Text 3"/>
          <p:cNvSpPr/>
          <p:nvPr/>
        </p:nvSpPr>
        <p:spPr>
          <a:xfrm>
            <a:off x="472901" y="1448693"/>
            <a:ext cx="8198197"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The data science journey is a structured process that transforms raw data into actionable intelligence, driving value and innovation.</a:t>
            </a:r>
            <a:endParaRPr lang="en-US" sz="10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901" y="2032695"/>
            <a:ext cx="135062" cy="135062"/>
          </a:xfrm>
          <a:prstGeom prst="rect">
            <a:avLst/>
          </a:prstGeom>
        </p:spPr>
      </p:pic>
      <p:sp>
        <p:nvSpPr>
          <p:cNvPr id="8" name="Shape 4"/>
          <p:cNvSpPr/>
          <p:nvPr/>
        </p:nvSpPr>
        <p:spPr>
          <a:xfrm>
            <a:off x="472901" y="2226320"/>
            <a:ext cx="2646908" cy="19050"/>
          </a:xfrm>
          <a:prstGeom prst="rect">
            <a:avLst/>
          </a:prstGeom>
          <a:solidFill>
            <a:srgbClr val="1B5F39"/>
          </a:solidFill>
          <a:ln/>
        </p:spPr>
      </p:sp>
      <p:sp>
        <p:nvSpPr>
          <p:cNvPr id="9" name="Text 5"/>
          <p:cNvSpPr/>
          <p:nvPr/>
        </p:nvSpPr>
        <p:spPr>
          <a:xfrm>
            <a:off x="472901" y="2331913"/>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2C2821"/>
                </a:solidFill>
                <a:latin typeface="Alice" pitchFamily="34" charset="0"/>
                <a:ea typeface="Alice" pitchFamily="34" charset="-122"/>
                <a:cs typeface="Alice" pitchFamily="34" charset="-120"/>
              </a:rPr>
              <a:t>Define the Problem</a:t>
            </a:r>
            <a:endParaRPr lang="en-US" sz="1300" dirty="0"/>
          </a:p>
        </p:txBody>
      </p:sp>
      <p:sp>
        <p:nvSpPr>
          <p:cNvPr id="10" name="Text 6"/>
          <p:cNvSpPr/>
          <p:nvPr/>
        </p:nvSpPr>
        <p:spPr>
          <a:xfrm>
            <a:off x="472901" y="2620268"/>
            <a:ext cx="2646908" cy="63333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Clearly understand the business challenge and formulate specific questions.</a:t>
            </a:r>
            <a:endParaRPr lang="en-US" sz="10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8546" y="2032695"/>
            <a:ext cx="135062" cy="135062"/>
          </a:xfrm>
          <a:prstGeom prst="rect">
            <a:avLst/>
          </a:prstGeom>
        </p:spPr>
      </p:pic>
      <p:sp>
        <p:nvSpPr>
          <p:cNvPr id="12" name="Shape 7"/>
          <p:cNvSpPr/>
          <p:nvPr/>
        </p:nvSpPr>
        <p:spPr>
          <a:xfrm>
            <a:off x="3248546" y="2226320"/>
            <a:ext cx="2646908" cy="19050"/>
          </a:xfrm>
          <a:prstGeom prst="rect">
            <a:avLst/>
          </a:prstGeom>
          <a:solidFill>
            <a:srgbClr val="1B5F39"/>
          </a:solidFill>
          <a:ln/>
        </p:spPr>
      </p:sp>
      <p:sp>
        <p:nvSpPr>
          <p:cNvPr id="13" name="Text 8"/>
          <p:cNvSpPr/>
          <p:nvPr/>
        </p:nvSpPr>
        <p:spPr>
          <a:xfrm>
            <a:off x="3248546" y="2331913"/>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2C2821"/>
                </a:solidFill>
                <a:latin typeface="Alice" pitchFamily="34" charset="0"/>
                <a:ea typeface="Alice" pitchFamily="34" charset="-122"/>
                <a:cs typeface="Alice" pitchFamily="34" charset="-120"/>
              </a:rPr>
              <a:t>Collect Data</a:t>
            </a:r>
            <a:endParaRPr lang="en-US" sz="1300" dirty="0"/>
          </a:p>
        </p:txBody>
      </p:sp>
      <p:sp>
        <p:nvSpPr>
          <p:cNvPr id="14" name="Text 9"/>
          <p:cNvSpPr/>
          <p:nvPr/>
        </p:nvSpPr>
        <p:spPr>
          <a:xfrm>
            <a:off x="3248546" y="2620268"/>
            <a:ext cx="2646908"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Gather relevant data from diverse sources like databases, web logs, and IoT sensors.</a:t>
            </a:r>
            <a:endParaRPr lang="en-US" sz="10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24190" y="2032695"/>
            <a:ext cx="135062" cy="135062"/>
          </a:xfrm>
          <a:prstGeom prst="rect">
            <a:avLst/>
          </a:prstGeom>
        </p:spPr>
      </p:pic>
      <p:sp>
        <p:nvSpPr>
          <p:cNvPr id="16" name="Shape 10"/>
          <p:cNvSpPr/>
          <p:nvPr/>
        </p:nvSpPr>
        <p:spPr>
          <a:xfrm>
            <a:off x="6024190" y="2226320"/>
            <a:ext cx="2646908" cy="19050"/>
          </a:xfrm>
          <a:prstGeom prst="rect">
            <a:avLst/>
          </a:prstGeom>
          <a:solidFill>
            <a:srgbClr val="1B5F39"/>
          </a:solidFill>
          <a:ln/>
        </p:spPr>
      </p:sp>
      <p:sp>
        <p:nvSpPr>
          <p:cNvPr id="17" name="Text 11"/>
          <p:cNvSpPr/>
          <p:nvPr/>
        </p:nvSpPr>
        <p:spPr>
          <a:xfrm>
            <a:off x="6024190" y="2331913"/>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2C2821"/>
                </a:solidFill>
                <a:latin typeface="Alice" pitchFamily="34" charset="0"/>
                <a:ea typeface="Alice" pitchFamily="34" charset="-122"/>
                <a:cs typeface="Alice" pitchFamily="34" charset="-120"/>
              </a:rPr>
              <a:t>Clean &amp; Prepare</a:t>
            </a:r>
            <a:endParaRPr lang="en-US" sz="1300" dirty="0"/>
          </a:p>
        </p:txBody>
      </p:sp>
      <p:sp>
        <p:nvSpPr>
          <p:cNvPr id="18" name="Text 12"/>
          <p:cNvSpPr/>
          <p:nvPr/>
        </p:nvSpPr>
        <p:spPr>
          <a:xfrm>
            <a:off x="6024190" y="2620268"/>
            <a:ext cx="2646908" cy="63333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Ensure data quality by removing errors, handling missing values, and normalizing formats.</a:t>
            </a:r>
            <a:endParaRPr lang="en-US" sz="10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2901" y="3500512"/>
            <a:ext cx="135062" cy="135062"/>
          </a:xfrm>
          <a:prstGeom prst="rect">
            <a:avLst/>
          </a:prstGeom>
        </p:spPr>
      </p:pic>
      <p:sp>
        <p:nvSpPr>
          <p:cNvPr id="20" name="Shape 13"/>
          <p:cNvSpPr/>
          <p:nvPr/>
        </p:nvSpPr>
        <p:spPr>
          <a:xfrm>
            <a:off x="472901" y="3694137"/>
            <a:ext cx="4034730" cy="19050"/>
          </a:xfrm>
          <a:prstGeom prst="rect">
            <a:avLst/>
          </a:prstGeom>
          <a:solidFill>
            <a:srgbClr val="1B5F39"/>
          </a:solidFill>
          <a:ln/>
        </p:spPr>
      </p:sp>
      <p:sp>
        <p:nvSpPr>
          <p:cNvPr id="21" name="Text 14"/>
          <p:cNvSpPr/>
          <p:nvPr/>
        </p:nvSpPr>
        <p:spPr>
          <a:xfrm>
            <a:off x="472901" y="3799731"/>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2C2821"/>
                </a:solidFill>
                <a:latin typeface="Alice" pitchFamily="34" charset="0"/>
                <a:ea typeface="Alice" pitchFamily="34" charset="-122"/>
                <a:cs typeface="Alice" pitchFamily="34" charset="-120"/>
              </a:rPr>
              <a:t>Analyze &amp; Model</a:t>
            </a:r>
            <a:endParaRPr lang="en-US" sz="1300" dirty="0"/>
          </a:p>
        </p:txBody>
      </p:sp>
      <p:sp>
        <p:nvSpPr>
          <p:cNvPr id="22" name="Text 15"/>
          <p:cNvSpPr/>
          <p:nvPr/>
        </p:nvSpPr>
        <p:spPr>
          <a:xfrm>
            <a:off x="472901" y="4088085"/>
            <a:ext cx="403473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Apply statistical techniques and machine learning algorithms to uncover patterns and build predictive models.</a:t>
            </a:r>
            <a:endParaRPr lang="en-US" sz="105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36368" y="3500512"/>
            <a:ext cx="135062" cy="135062"/>
          </a:xfrm>
          <a:prstGeom prst="rect">
            <a:avLst/>
          </a:prstGeom>
        </p:spPr>
      </p:pic>
      <p:sp>
        <p:nvSpPr>
          <p:cNvPr id="24" name="Shape 16"/>
          <p:cNvSpPr/>
          <p:nvPr/>
        </p:nvSpPr>
        <p:spPr>
          <a:xfrm>
            <a:off x="4636368" y="3694137"/>
            <a:ext cx="4034730" cy="19050"/>
          </a:xfrm>
          <a:prstGeom prst="rect">
            <a:avLst/>
          </a:prstGeom>
          <a:solidFill>
            <a:srgbClr val="1B5F39"/>
          </a:solidFill>
          <a:ln/>
        </p:spPr>
      </p:sp>
      <p:sp>
        <p:nvSpPr>
          <p:cNvPr id="25" name="Text 17"/>
          <p:cNvSpPr/>
          <p:nvPr/>
        </p:nvSpPr>
        <p:spPr>
          <a:xfrm>
            <a:off x="4636368" y="3799731"/>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2C2821"/>
                </a:solidFill>
                <a:latin typeface="Alice" pitchFamily="34" charset="0"/>
                <a:ea typeface="Alice" pitchFamily="34" charset="-122"/>
                <a:cs typeface="Alice" pitchFamily="34" charset="-120"/>
              </a:rPr>
              <a:t>Communicate Results</a:t>
            </a:r>
            <a:endParaRPr lang="en-US" sz="1300" dirty="0"/>
          </a:p>
        </p:txBody>
      </p:sp>
      <p:sp>
        <p:nvSpPr>
          <p:cNvPr id="26" name="Text 18"/>
          <p:cNvSpPr/>
          <p:nvPr/>
        </p:nvSpPr>
        <p:spPr>
          <a:xfrm>
            <a:off x="4636368" y="4088085"/>
            <a:ext cx="403473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C2821"/>
                </a:solidFill>
                <a:latin typeface="Lora" pitchFamily="34" charset="0"/>
                <a:ea typeface="Lora" pitchFamily="34" charset="-122"/>
                <a:cs typeface="Lora" pitchFamily="34" charset="-120"/>
              </a:rPr>
              <a:t>Translate complex findings into clear, concise insights for effective decision-making.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863132" y="353318"/>
            <a:ext cx="1321519" cy="223317"/>
          </a:xfrm>
          <a:prstGeom prst="roundRect">
            <a:avLst>
              <a:gd name="adj" fmla="val 6666"/>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37546" y="415379"/>
            <a:ext cx="99194" cy="99194"/>
          </a:xfrm>
          <a:prstGeom prst="rect">
            <a:avLst/>
          </a:prstGeom>
        </p:spPr>
      </p:pic>
      <p:sp>
        <p:nvSpPr>
          <p:cNvPr id="5" name="Text 1"/>
          <p:cNvSpPr/>
          <p:nvPr/>
        </p:nvSpPr>
        <p:spPr>
          <a:xfrm>
            <a:off x="4086299" y="390525"/>
            <a:ext cx="1481137" cy="148903"/>
          </a:xfrm>
          <a:prstGeom prst="rect">
            <a:avLst/>
          </a:prstGeom>
          <a:noFill/>
          <a:ln/>
        </p:spPr>
        <p:txBody>
          <a:bodyPr wrap="none" lIns="0" tIns="0" rIns="0" bIns="0" rtlCol="0" anchor="t"/>
          <a:lstStyle/>
          <a:p>
            <a:pPr algn="l" indent="0" marL="0">
              <a:lnSpc>
                <a:spcPct val="125000"/>
              </a:lnSpc>
              <a:buNone/>
            </a:pPr>
            <a:r>
              <a:rPr lang="en-US" sz="750" dirty="0">
                <a:solidFill>
                  <a:srgbClr val="2C2821"/>
                </a:solidFill>
                <a:latin typeface="Lora" pitchFamily="34" charset="0"/>
                <a:ea typeface="Lora" pitchFamily="34" charset="-122"/>
                <a:cs typeface="Lora" pitchFamily="34" charset="-120"/>
              </a:rPr>
              <a:t>THE ESSENTIAL STEP</a:t>
            </a:r>
            <a:endParaRPr lang="en-US" sz="750" dirty="0"/>
          </a:p>
        </p:txBody>
      </p:sp>
      <p:sp>
        <p:nvSpPr>
          <p:cNvPr id="6" name="Text 2"/>
          <p:cNvSpPr/>
          <p:nvPr/>
        </p:nvSpPr>
        <p:spPr>
          <a:xfrm>
            <a:off x="3863132" y="620018"/>
            <a:ext cx="4944442"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Data Cleaning: The Unsung Hero</a:t>
            </a:r>
            <a:endParaRPr lang="en-US" sz="2400" dirty="0"/>
          </a:p>
        </p:txBody>
      </p:sp>
      <p:sp>
        <p:nvSpPr>
          <p:cNvPr id="7" name="Text 3"/>
          <p:cNvSpPr/>
          <p:nvPr/>
        </p:nvSpPr>
        <p:spPr>
          <a:xfrm>
            <a:off x="3863132" y="1170310"/>
            <a:ext cx="4846737" cy="558105"/>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C2821"/>
                </a:solidFill>
                <a:latin typeface="Lora" pitchFamily="34" charset="0"/>
                <a:ea typeface="Lora" pitchFamily="34" charset="-122"/>
                <a:cs typeface="Lora" pitchFamily="34" charset="-120"/>
              </a:rPr>
              <a:t>Data cleaning, though often overlooked, is a critical phase in the data science lifecycle. It ensures that the insights derived are based on accurate and reliable information.</a:t>
            </a:r>
            <a:endParaRPr lang="en-US" sz="950" dirty="0"/>
          </a:p>
        </p:txBody>
      </p:sp>
      <p:sp>
        <p:nvSpPr>
          <p:cNvPr id="8" name="Shape 4"/>
          <p:cNvSpPr/>
          <p:nvPr/>
        </p:nvSpPr>
        <p:spPr>
          <a:xfrm>
            <a:off x="3863132" y="1850454"/>
            <a:ext cx="4846737" cy="907554"/>
          </a:xfrm>
          <a:prstGeom prst="roundRect">
            <a:avLst>
              <a:gd name="adj" fmla="val 7557"/>
            </a:avLst>
          </a:prstGeom>
          <a:solidFill>
            <a:srgbClr val="FCFBF8"/>
          </a:solidFill>
          <a:ln w="14288">
            <a:solidFill>
              <a:srgbClr val="D6D3CC"/>
            </a:solidFill>
            <a:prstDash val="solid"/>
          </a:ln>
        </p:spPr>
      </p:sp>
      <p:sp>
        <p:nvSpPr>
          <p:cNvPr id="9" name="Shape 5"/>
          <p:cNvSpPr/>
          <p:nvPr/>
        </p:nvSpPr>
        <p:spPr>
          <a:xfrm>
            <a:off x="3848844" y="1850454"/>
            <a:ext cx="57150" cy="907554"/>
          </a:xfrm>
          <a:prstGeom prst="roundRect">
            <a:avLst>
              <a:gd name="adj" fmla="val 32558"/>
            </a:avLst>
          </a:prstGeom>
          <a:solidFill>
            <a:srgbClr val="1B5F39"/>
          </a:solidFill>
          <a:ln/>
        </p:spPr>
      </p:sp>
      <p:sp>
        <p:nvSpPr>
          <p:cNvPr id="10" name="Text 6"/>
          <p:cNvSpPr/>
          <p:nvPr/>
        </p:nvSpPr>
        <p:spPr>
          <a:xfrm>
            <a:off x="4044255" y="198871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Standardizing Data</a:t>
            </a:r>
            <a:endParaRPr lang="en-US" sz="1200" dirty="0"/>
          </a:p>
        </p:txBody>
      </p:sp>
      <p:sp>
        <p:nvSpPr>
          <p:cNvPr id="11" name="Text 7"/>
          <p:cNvSpPr/>
          <p:nvPr/>
        </p:nvSpPr>
        <p:spPr>
          <a:xfrm>
            <a:off x="4044255" y="2247677"/>
            <a:ext cx="4527352"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C2821"/>
                </a:solidFill>
                <a:latin typeface="Lora" pitchFamily="34" charset="0"/>
                <a:ea typeface="Lora" pitchFamily="34" charset="-122"/>
                <a:cs typeface="Lora" pitchFamily="34" charset="-120"/>
              </a:rPr>
              <a:t>Normalizing varying data formats, such as converting all height measurements to meters (e.g., 140 cm becomes 1.4 m, 1.8 m remains 1.8 m).</a:t>
            </a:r>
            <a:endParaRPr lang="en-US" sz="950" dirty="0"/>
          </a:p>
        </p:txBody>
      </p:sp>
      <p:sp>
        <p:nvSpPr>
          <p:cNvPr id="12" name="Shape 8"/>
          <p:cNvSpPr/>
          <p:nvPr/>
        </p:nvSpPr>
        <p:spPr>
          <a:xfrm>
            <a:off x="3863132" y="2866504"/>
            <a:ext cx="4846737" cy="907554"/>
          </a:xfrm>
          <a:prstGeom prst="roundRect">
            <a:avLst>
              <a:gd name="adj" fmla="val 7557"/>
            </a:avLst>
          </a:prstGeom>
          <a:solidFill>
            <a:srgbClr val="FCFBF8"/>
          </a:solidFill>
          <a:ln w="14288">
            <a:solidFill>
              <a:srgbClr val="D6D3CC"/>
            </a:solidFill>
            <a:prstDash val="solid"/>
          </a:ln>
        </p:spPr>
      </p:sp>
      <p:sp>
        <p:nvSpPr>
          <p:cNvPr id="13" name="Shape 9"/>
          <p:cNvSpPr/>
          <p:nvPr/>
        </p:nvSpPr>
        <p:spPr>
          <a:xfrm>
            <a:off x="3848844" y="2866504"/>
            <a:ext cx="57150" cy="907554"/>
          </a:xfrm>
          <a:prstGeom prst="roundRect">
            <a:avLst>
              <a:gd name="adj" fmla="val 32558"/>
            </a:avLst>
          </a:prstGeom>
          <a:solidFill>
            <a:srgbClr val="1B5F39"/>
          </a:solidFill>
          <a:ln/>
        </p:spPr>
      </p:sp>
      <p:sp>
        <p:nvSpPr>
          <p:cNvPr id="14" name="Text 10"/>
          <p:cNvSpPr/>
          <p:nvPr/>
        </p:nvSpPr>
        <p:spPr>
          <a:xfrm>
            <a:off x="4044255" y="3004765"/>
            <a:ext cx="1826940"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Addressing Missing Values</a:t>
            </a:r>
            <a:endParaRPr lang="en-US" sz="1200" dirty="0"/>
          </a:p>
        </p:txBody>
      </p:sp>
      <p:sp>
        <p:nvSpPr>
          <p:cNvPr id="15" name="Text 11"/>
          <p:cNvSpPr/>
          <p:nvPr/>
        </p:nvSpPr>
        <p:spPr>
          <a:xfrm>
            <a:off x="4044255" y="3263726"/>
            <a:ext cx="4527352"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C2821"/>
                </a:solidFill>
                <a:latin typeface="Lora" pitchFamily="34" charset="0"/>
                <a:ea typeface="Lora" pitchFamily="34" charset="-122"/>
                <a:cs typeface="Lora" pitchFamily="34" charset="-120"/>
              </a:rPr>
              <a:t>Strategically filling in gaps by replacing missing entries with averages, medians, or more sophisticated estimates based on other data points.</a:t>
            </a:r>
            <a:endParaRPr lang="en-US" sz="950" dirty="0"/>
          </a:p>
        </p:txBody>
      </p:sp>
      <p:sp>
        <p:nvSpPr>
          <p:cNvPr id="16" name="Shape 12"/>
          <p:cNvSpPr/>
          <p:nvPr/>
        </p:nvSpPr>
        <p:spPr>
          <a:xfrm>
            <a:off x="3863132" y="3882554"/>
            <a:ext cx="4846737" cy="907554"/>
          </a:xfrm>
          <a:prstGeom prst="roundRect">
            <a:avLst>
              <a:gd name="adj" fmla="val 7557"/>
            </a:avLst>
          </a:prstGeom>
          <a:solidFill>
            <a:srgbClr val="FCFBF8"/>
          </a:solidFill>
          <a:ln w="14288">
            <a:solidFill>
              <a:srgbClr val="D6D3CC"/>
            </a:solidFill>
            <a:prstDash val="solid"/>
          </a:ln>
        </p:spPr>
      </p:sp>
      <p:sp>
        <p:nvSpPr>
          <p:cNvPr id="17" name="Shape 13"/>
          <p:cNvSpPr/>
          <p:nvPr/>
        </p:nvSpPr>
        <p:spPr>
          <a:xfrm>
            <a:off x="3848844" y="3882554"/>
            <a:ext cx="57150" cy="907554"/>
          </a:xfrm>
          <a:prstGeom prst="roundRect">
            <a:avLst>
              <a:gd name="adj" fmla="val 32558"/>
            </a:avLst>
          </a:prstGeom>
          <a:solidFill>
            <a:srgbClr val="1B5F39"/>
          </a:solidFill>
          <a:ln/>
        </p:spPr>
      </p:sp>
      <p:sp>
        <p:nvSpPr>
          <p:cNvPr id="18" name="Text 14"/>
          <p:cNvSpPr/>
          <p:nvPr/>
        </p:nvSpPr>
        <p:spPr>
          <a:xfrm>
            <a:off x="4044255" y="4020815"/>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Impact on Models</a:t>
            </a:r>
            <a:endParaRPr lang="en-US" sz="1200" dirty="0"/>
          </a:p>
        </p:txBody>
      </p:sp>
      <p:sp>
        <p:nvSpPr>
          <p:cNvPr id="19" name="Text 15"/>
          <p:cNvSpPr/>
          <p:nvPr/>
        </p:nvSpPr>
        <p:spPr>
          <a:xfrm>
            <a:off x="4044255" y="4279776"/>
            <a:ext cx="4527352"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2C2821"/>
                </a:solidFill>
                <a:latin typeface="Lora" pitchFamily="34" charset="0"/>
                <a:ea typeface="Lora" pitchFamily="34" charset="-122"/>
                <a:cs typeface="Lora" pitchFamily="34" charset="-120"/>
              </a:rPr>
              <a:t>Thorough data cleaning prevents biases and inaccuracies, leading to more robust and trustworthy analytical models.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647105"/>
            <a:ext cx="1387525" cy="266402"/>
          </a:xfrm>
          <a:prstGeom prst="roundRect">
            <a:avLst>
              <a:gd name="adj" fmla="val 6386"/>
            </a:avLst>
          </a:prstGeom>
          <a:solidFill>
            <a:srgbClr val="D7F4E4"/>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1174" y="723602"/>
            <a:ext cx="113407" cy="113407"/>
          </a:xfrm>
          <a:prstGeom prst="rect">
            <a:avLst/>
          </a:prstGeom>
        </p:spPr>
      </p:pic>
      <p:sp>
        <p:nvSpPr>
          <p:cNvPr id="4" name="Text 1"/>
          <p:cNvSpPr/>
          <p:nvPr/>
        </p:nvSpPr>
        <p:spPr>
          <a:xfrm>
            <a:off x="751284" y="689595"/>
            <a:ext cx="1504504" cy="181421"/>
          </a:xfrm>
          <a:prstGeom prst="rect">
            <a:avLst/>
          </a:prstGeom>
          <a:noFill/>
          <a:ln/>
        </p:spPr>
        <p:txBody>
          <a:bodyPr wrap="none" lIns="0" tIns="0" rIns="0" bIns="0" rtlCol="0" anchor="t"/>
          <a:lstStyle/>
          <a:p>
            <a:pPr algn="l" indent="0" marL="0">
              <a:lnSpc>
                <a:spcPct val="133000"/>
              </a:lnSpc>
              <a:buNone/>
            </a:pPr>
            <a:r>
              <a:rPr lang="en-US" sz="850" dirty="0">
                <a:solidFill>
                  <a:srgbClr val="2C2821"/>
                </a:solidFill>
                <a:latin typeface="Lora" pitchFamily="34" charset="0"/>
                <a:ea typeface="Lora" pitchFamily="34" charset="-122"/>
                <a:cs typeface="Lora" pitchFamily="34" charset="-120"/>
              </a:rPr>
              <a:t>IMPACT IN ACTION</a:t>
            </a:r>
            <a:endParaRPr lang="en-US" sz="850" dirty="0"/>
          </a:p>
        </p:txBody>
      </p:sp>
      <p:sp>
        <p:nvSpPr>
          <p:cNvPr id="5" name="Text 2"/>
          <p:cNvSpPr/>
          <p:nvPr/>
        </p:nvSpPr>
        <p:spPr>
          <a:xfrm>
            <a:off x="496119" y="970211"/>
            <a:ext cx="6762676" cy="442987"/>
          </a:xfrm>
          <a:prstGeom prst="rect">
            <a:avLst/>
          </a:prstGeom>
          <a:noFill/>
          <a:ln/>
        </p:spPr>
        <p:txBody>
          <a:bodyPr wrap="none" lIns="0" tIns="0" rIns="0" bIns="0" rtlCol="0" anchor="t"/>
          <a:lstStyle/>
          <a:p>
            <a:pPr algn="l" indent="0" marL="0">
              <a:lnSpc>
                <a:spcPct val="104000"/>
              </a:lnSpc>
              <a:buNone/>
            </a:pPr>
            <a:r>
              <a:rPr lang="en-US" sz="2750" dirty="0">
                <a:solidFill>
                  <a:srgbClr val="233E32"/>
                </a:solidFill>
                <a:latin typeface="Alice" pitchFamily="34" charset="0"/>
                <a:ea typeface="Alice" pitchFamily="34" charset="-122"/>
                <a:cs typeface="Alice" pitchFamily="34" charset="-120"/>
              </a:rPr>
              <a:t>Real-World Applications of Data Science</a:t>
            </a:r>
            <a:endParaRPr lang="en-US" sz="2750" dirty="0"/>
          </a:p>
        </p:txBody>
      </p:sp>
      <p:sp>
        <p:nvSpPr>
          <p:cNvPr id="6" name="Text 3"/>
          <p:cNvSpPr/>
          <p:nvPr/>
        </p:nvSpPr>
        <p:spPr>
          <a:xfrm>
            <a:off x="496119" y="1625798"/>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Data science is not just theoretical; it's actively transforming industries and improving lives across the globe.</a:t>
            </a:r>
            <a:endParaRPr lang="en-US" sz="11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012082"/>
            <a:ext cx="354360" cy="354360"/>
          </a:xfrm>
          <a:prstGeom prst="rect">
            <a:avLst/>
          </a:prstGeom>
        </p:spPr>
      </p:pic>
      <p:sp>
        <p:nvSpPr>
          <p:cNvPr id="8" name="Text 4"/>
          <p:cNvSpPr/>
          <p:nvPr/>
        </p:nvSpPr>
        <p:spPr>
          <a:xfrm>
            <a:off x="1027658" y="2012082"/>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Healthcare</a:t>
            </a:r>
            <a:endParaRPr lang="en-US" sz="1350" dirty="0"/>
          </a:p>
        </p:txBody>
      </p:sp>
      <p:sp>
        <p:nvSpPr>
          <p:cNvPr id="9" name="Text 5"/>
          <p:cNvSpPr/>
          <p:nvPr/>
        </p:nvSpPr>
        <p:spPr>
          <a:xfrm>
            <a:off x="1027658" y="2318593"/>
            <a:ext cx="345571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Predicting disease outbreaks, personalizing treatment plans, and accelerating drug discovery.</a:t>
            </a:r>
            <a:endParaRPr lang="en-US" sz="11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60553" y="2012082"/>
            <a:ext cx="354360" cy="354360"/>
          </a:xfrm>
          <a:prstGeom prst="rect">
            <a:avLst/>
          </a:prstGeom>
        </p:spPr>
      </p:pic>
      <p:sp>
        <p:nvSpPr>
          <p:cNvPr id="11" name="Text 6"/>
          <p:cNvSpPr/>
          <p:nvPr/>
        </p:nvSpPr>
        <p:spPr>
          <a:xfrm>
            <a:off x="5192092" y="2012082"/>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Finance</a:t>
            </a:r>
            <a:endParaRPr lang="en-US" sz="1350" dirty="0"/>
          </a:p>
        </p:txBody>
      </p:sp>
      <p:sp>
        <p:nvSpPr>
          <p:cNvPr id="12" name="Text 7"/>
          <p:cNvSpPr/>
          <p:nvPr/>
        </p:nvSpPr>
        <p:spPr>
          <a:xfrm>
            <a:off x="5192092" y="2318593"/>
            <a:ext cx="3455789"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Detecting fraudulent transactions, forecasting market trends, and optimizing investment strategies.</a:t>
            </a:r>
            <a:endParaRPr lang="en-US" sz="11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3282553"/>
            <a:ext cx="354360" cy="354360"/>
          </a:xfrm>
          <a:prstGeom prst="rect">
            <a:avLst/>
          </a:prstGeom>
        </p:spPr>
      </p:pic>
      <p:sp>
        <p:nvSpPr>
          <p:cNvPr id="14" name="Text 8"/>
          <p:cNvSpPr/>
          <p:nvPr/>
        </p:nvSpPr>
        <p:spPr>
          <a:xfrm>
            <a:off x="1027658" y="3282553"/>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Transportation</a:t>
            </a:r>
            <a:endParaRPr lang="en-US" sz="1350" dirty="0"/>
          </a:p>
        </p:txBody>
      </p:sp>
      <p:sp>
        <p:nvSpPr>
          <p:cNvPr id="15" name="Text 9"/>
          <p:cNvSpPr/>
          <p:nvPr/>
        </p:nvSpPr>
        <p:spPr>
          <a:xfrm>
            <a:off x="1027658" y="3589065"/>
            <a:ext cx="345571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Optimizing logistics, managing traffic flow, and enabling the development of autonomous vehicles.</a:t>
            </a:r>
            <a:endParaRPr lang="en-US" sz="11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60553" y="3282553"/>
            <a:ext cx="354360" cy="354360"/>
          </a:xfrm>
          <a:prstGeom prst="rect">
            <a:avLst/>
          </a:prstGeom>
        </p:spPr>
      </p:pic>
      <p:sp>
        <p:nvSpPr>
          <p:cNvPr id="17" name="Text 10"/>
          <p:cNvSpPr/>
          <p:nvPr/>
        </p:nvSpPr>
        <p:spPr>
          <a:xfrm>
            <a:off x="5192092" y="3282553"/>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E-commerce</a:t>
            </a:r>
            <a:endParaRPr lang="en-US" sz="1350" dirty="0"/>
          </a:p>
        </p:txBody>
      </p:sp>
      <p:sp>
        <p:nvSpPr>
          <p:cNvPr id="18" name="Text 11"/>
          <p:cNvSpPr/>
          <p:nvPr/>
        </p:nvSpPr>
        <p:spPr>
          <a:xfrm>
            <a:off x="5192092" y="3589065"/>
            <a:ext cx="3455789"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Delivering personalized product recommendations (e.g., Amazon's "Frequently Bought Together" feature), optimizing pricing, and enhancing customer experience.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495202"/>
          </a:xfrm>
          <a:prstGeom prst="rect">
            <a:avLst/>
          </a:prstGeom>
        </p:spPr>
      </p:pic>
      <p:sp>
        <p:nvSpPr>
          <p:cNvPr id="3" name="Shape 0"/>
          <p:cNvSpPr/>
          <p:nvPr/>
        </p:nvSpPr>
        <p:spPr>
          <a:xfrm>
            <a:off x="445219" y="1907902"/>
            <a:ext cx="1391915" cy="212824"/>
          </a:xfrm>
          <a:prstGeom prst="roundRect">
            <a:avLst>
              <a:gd name="adj" fmla="val 6745"/>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6954" y="1966466"/>
            <a:ext cx="95622" cy="95622"/>
          </a:xfrm>
          <a:prstGeom prst="rect">
            <a:avLst/>
          </a:prstGeom>
        </p:spPr>
      </p:pic>
      <p:sp>
        <p:nvSpPr>
          <p:cNvPr id="5" name="Text 1"/>
          <p:cNvSpPr/>
          <p:nvPr/>
        </p:nvSpPr>
        <p:spPr>
          <a:xfrm>
            <a:off x="660350" y="1943770"/>
            <a:ext cx="1562249" cy="141089"/>
          </a:xfrm>
          <a:prstGeom prst="rect">
            <a:avLst/>
          </a:prstGeom>
          <a:noFill/>
          <a:ln/>
        </p:spPr>
        <p:txBody>
          <a:bodyPr wrap="none" lIns="0" tIns="0" rIns="0" bIns="0" rtlCol="0" anchor="t"/>
          <a:lstStyle/>
          <a:p>
            <a:pPr algn="l" indent="0" marL="0">
              <a:lnSpc>
                <a:spcPct val="123000"/>
              </a:lnSpc>
              <a:buNone/>
            </a:pPr>
            <a:r>
              <a:rPr lang="en-US" sz="750" dirty="0">
                <a:solidFill>
                  <a:srgbClr val="2C2821"/>
                </a:solidFill>
                <a:latin typeface="Lora" pitchFamily="34" charset="0"/>
                <a:ea typeface="Lora" pitchFamily="34" charset="-122"/>
                <a:cs typeface="Lora" pitchFamily="34" charset="-120"/>
              </a:rPr>
              <a:t>AUTONOMOUS FUTURE</a:t>
            </a:r>
            <a:endParaRPr lang="en-US" sz="750" dirty="0"/>
          </a:p>
        </p:txBody>
      </p:sp>
      <p:sp>
        <p:nvSpPr>
          <p:cNvPr id="6" name="Text 2"/>
          <p:cNvSpPr/>
          <p:nvPr/>
        </p:nvSpPr>
        <p:spPr>
          <a:xfrm>
            <a:off x="445219" y="2161059"/>
            <a:ext cx="4098429" cy="373782"/>
          </a:xfrm>
          <a:prstGeom prst="rect">
            <a:avLst/>
          </a:prstGeom>
          <a:noFill/>
          <a:ln/>
        </p:spPr>
        <p:txBody>
          <a:bodyPr wrap="none" lIns="0" tIns="0" rIns="0" bIns="0" rtlCol="0" anchor="t"/>
          <a:lstStyle/>
          <a:p>
            <a:pPr algn="l" indent="0" marL="0">
              <a:lnSpc>
                <a:spcPct val="104000"/>
              </a:lnSpc>
              <a:buNone/>
            </a:pPr>
            <a:r>
              <a:rPr lang="en-US" sz="2350" dirty="0">
                <a:solidFill>
                  <a:srgbClr val="233E32"/>
                </a:solidFill>
                <a:latin typeface="Alice" pitchFamily="34" charset="0"/>
                <a:ea typeface="Alice" pitchFamily="34" charset="-122"/>
                <a:cs typeface="Alice" pitchFamily="34" charset="-120"/>
              </a:rPr>
              <a:t>Case Study: Driverless Cars</a:t>
            </a:r>
            <a:endParaRPr lang="en-US" sz="2350" dirty="0"/>
          </a:p>
        </p:txBody>
      </p:sp>
      <p:sp>
        <p:nvSpPr>
          <p:cNvPr id="7" name="Text 3"/>
          <p:cNvSpPr/>
          <p:nvPr/>
        </p:nvSpPr>
        <p:spPr>
          <a:xfrm>
            <a:off x="445219" y="2686199"/>
            <a:ext cx="8698781" cy="176361"/>
          </a:xfrm>
          <a:prstGeom prst="rect">
            <a:avLst/>
          </a:prstGeom>
          <a:noFill/>
          <a:ln/>
        </p:spPr>
        <p:txBody>
          <a:bodyPr wrap="none" lIns="0" tIns="0" rIns="0" bIns="0" rtlCol="0" anchor="t"/>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Autonomous vehicles stand as a prime example of data science in action, integrating complex data streams to achieve safe and efficient navigation.</a:t>
            </a:r>
            <a:endParaRPr lang="en-US" sz="9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0017" y="2979688"/>
            <a:ext cx="179412" cy="179412"/>
          </a:xfrm>
          <a:prstGeom prst="rect">
            <a:avLst/>
          </a:prstGeom>
        </p:spPr>
      </p:pic>
      <p:sp>
        <p:nvSpPr>
          <p:cNvPr id="9" name="Text 4"/>
          <p:cNvSpPr/>
          <p:nvPr/>
        </p:nvSpPr>
        <p:spPr>
          <a:xfrm>
            <a:off x="833884" y="2976042"/>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Sensor Fusion</a:t>
            </a:r>
            <a:endParaRPr lang="en-US" sz="1150" dirty="0"/>
          </a:p>
        </p:txBody>
      </p:sp>
      <p:sp>
        <p:nvSpPr>
          <p:cNvPr id="10" name="Text 5"/>
          <p:cNvSpPr/>
          <p:nvPr/>
        </p:nvSpPr>
        <p:spPr>
          <a:xfrm>
            <a:off x="833884" y="3223394"/>
            <a:ext cx="3675013"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Utilize an array of sensors (LiDAR, radar, cameras) to collect real-time environmental data.</a:t>
            </a:r>
            <a:endParaRPr lang="en-US" sz="9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79826" y="2979688"/>
            <a:ext cx="179412" cy="179412"/>
          </a:xfrm>
          <a:prstGeom prst="rect">
            <a:avLst/>
          </a:prstGeom>
        </p:spPr>
      </p:pic>
      <p:sp>
        <p:nvSpPr>
          <p:cNvPr id="12" name="Text 6"/>
          <p:cNvSpPr/>
          <p:nvPr/>
        </p:nvSpPr>
        <p:spPr>
          <a:xfrm>
            <a:off x="5023693" y="2976042"/>
            <a:ext cx="1595884"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Machine Learning Brain</a:t>
            </a:r>
            <a:endParaRPr lang="en-US" sz="1150" dirty="0"/>
          </a:p>
        </p:txBody>
      </p:sp>
      <p:sp>
        <p:nvSpPr>
          <p:cNvPr id="13" name="Text 7"/>
          <p:cNvSpPr/>
          <p:nvPr/>
        </p:nvSpPr>
        <p:spPr>
          <a:xfrm>
            <a:off x="5023693" y="3223394"/>
            <a:ext cx="3675013" cy="52908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Machine learning algorithms process this data to perceive surroundings, predict movements, and make instantaneous driving decisions.</a:t>
            </a:r>
            <a:endParaRPr lang="en-US" sz="90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017" y="3957935"/>
            <a:ext cx="179412" cy="179412"/>
          </a:xfrm>
          <a:prstGeom prst="rect">
            <a:avLst/>
          </a:prstGeom>
        </p:spPr>
      </p:pic>
      <p:sp>
        <p:nvSpPr>
          <p:cNvPr id="15" name="Text 8"/>
          <p:cNvSpPr/>
          <p:nvPr/>
        </p:nvSpPr>
        <p:spPr>
          <a:xfrm>
            <a:off x="833884" y="3954289"/>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Dynamic Adaptation</a:t>
            </a:r>
            <a:endParaRPr lang="en-US" sz="1150" dirty="0"/>
          </a:p>
        </p:txBody>
      </p:sp>
      <p:sp>
        <p:nvSpPr>
          <p:cNvPr id="16" name="Text 9"/>
          <p:cNvSpPr/>
          <p:nvPr/>
        </p:nvSpPr>
        <p:spPr>
          <a:xfrm>
            <a:off x="833884" y="4201641"/>
            <a:ext cx="3675013"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Continuously analyze speed limits, traffic patterns, and road conditions, adapting navigation in real-time.</a:t>
            </a:r>
            <a:endParaRPr lang="en-US" sz="900" dirty="0"/>
          </a:p>
        </p:txBody>
      </p:sp>
      <p:pic>
        <p:nvPicPr>
          <p:cNvPr id="1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79826" y="3957935"/>
            <a:ext cx="179412" cy="179412"/>
          </a:xfrm>
          <a:prstGeom prst="rect">
            <a:avLst/>
          </a:prstGeom>
        </p:spPr>
      </p:pic>
      <p:sp>
        <p:nvSpPr>
          <p:cNvPr id="18" name="Text 10"/>
          <p:cNvSpPr/>
          <p:nvPr/>
        </p:nvSpPr>
        <p:spPr>
          <a:xfrm>
            <a:off x="5023693" y="3954289"/>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Key Benefits</a:t>
            </a:r>
            <a:endParaRPr lang="en-US" sz="1150" dirty="0"/>
          </a:p>
        </p:txBody>
      </p:sp>
      <p:sp>
        <p:nvSpPr>
          <p:cNvPr id="19" name="Text 11"/>
          <p:cNvSpPr/>
          <p:nvPr/>
        </p:nvSpPr>
        <p:spPr>
          <a:xfrm>
            <a:off x="5023693" y="4201641"/>
            <a:ext cx="3675013" cy="529084"/>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2C2821"/>
                </a:solidFill>
                <a:latin typeface="Lora" pitchFamily="34" charset="0"/>
                <a:ea typeface="Lora" pitchFamily="34" charset="-122"/>
                <a:cs typeface="Lora" pitchFamily="34" charset="-120"/>
              </a:rPr>
              <a:t>The integration of data science aims to significantly reduce accidents, alleviate traffic congestion, and enhance overall transportation efficiency.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496119" y="391939"/>
            <a:ext cx="1106388" cy="266402"/>
          </a:xfrm>
          <a:prstGeom prst="roundRect">
            <a:avLst>
              <a:gd name="adj" fmla="val 6386"/>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174" y="468437"/>
            <a:ext cx="113407" cy="113407"/>
          </a:xfrm>
          <a:prstGeom prst="rect">
            <a:avLst/>
          </a:prstGeom>
        </p:spPr>
      </p:pic>
      <p:sp>
        <p:nvSpPr>
          <p:cNvPr id="5" name="Text 1"/>
          <p:cNvSpPr/>
          <p:nvPr/>
        </p:nvSpPr>
        <p:spPr>
          <a:xfrm>
            <a:off x="751284" y="434429"/>
            <a:ext cx="1223367" cy="181421"/>
          </a:xfrm>
          <a:prstGeom prst="rect">
            <a:avLst/>
          </a:prstGeom>
          <a:noFill/>
          <a:ln/>
        </p:spPr>
        <p:txBody>
          <a:bodyPr wrap="none" lIns="0" tIns="0" rIns="0" bIns="0" rtlCol="0" anchor="t"/>
          <a:lstStyle/>
          <a:p>
            <a:pPr algn="l" indent="0" marL="0">
              <a:lnSpc>
                <a:spcPct val="133000"/>
              </a:lnSpc>
              <a:buNone/>
            </a:pPr>
            <a:r>
              <a:rPr lang="en-US" sz="850" dirty="0">
                <a:solidFill>
                  <a:srgbClr val="2C2821"/>
                </a:solidFill>
                <a:latin typeface="Lora" pitchFamily="34" charset="0"/>
                <a:ea typeface="Lora" pitchFamily="34" charset="-122"/>
                <a:cs typeface="Lora" pitchFamily="34" charset="-120"/>
              </a:rPr>
              <a:t>THE TOOLKIT</a:t>
            </a:r>
            <a:endParaRPr lang="en-US" sz="850" dirty="0"/>
          </a:p>
        </p:txBody>
      </p:sp>
      <p:sp>
        <p:nvSpPr>
          <p:cNvPr id="6" name="Text 2"/>
          <p:cNvSpPr/>
          <p:nvPr/>
        </p:nvSpPr>
        <p:spPr>
          <a:xfrm>
            <a:off x="496119" y="715045"/>
            <a:ext cx="4614937" cy="442987"/>
          </a:xfrm>
          <a:prstGeom prst="rect">
            <a:avLst/>
          </a:prstGeom>
          <a:noFill/>
          <a:ln/>
        </p:spPr>
        <p:txBody>
          <a:bodyPr wrap="none" lIns="0" tIns="0" rIns="0" bIns="0" rtlCol="0" anchor="t"/>
          <a:lstStyle/>
          <a:p>
            <a:pPr algn="l" indent="0" marL="0">
              <a:lnSpc>
                <a:spcPct val="104000"/>
              </a:lnSpc>
              <a:buNone/>
            </a:pPr>
            <a:r>
              <a:rPr lang="en-US" sz="2750" dirty="0">
                <a:solidFill>
                  <a:srgbClr val="233E32"/>
                </a:solidFill>
                <a:latin typeface="Alice" pitchFamily="34" charset="0"/>
                <a:ea typeface="Alice" pitchFamily="34" charset="-122"/>
                <a:cs typeface="Alice" pitchFamily="34" charset="-120"/>
              </a:rPr>
              <a:t>Skills Behind Data Science</a:t>
            </a:r>
            <a:endParaRPr lang="en-US" sz="2750" dirty="0"/>
          </a:p>
        </p:txBody>
      </p:sp>
      <p:sp>
        <p:nvSpPr>
          <p:cNvPr id="7" name="Text 3"/>
          <p:cNvSpPr/>
          <p:nvPr/>
        </p:nvSpPr>
        <p:spPr>
          <a:xfrm>
            <a:off x="496119" y="1370633"/>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A successful data scientist possesses a diverse skill set, blending technical prowess with critical thinking and strong communication.</a:t>
            </a:r>
            <a:endParaRPr lang="en-US" sz="1100" dirty="0"/>
          </a:p>
        </p:txBody>
      </p:sp>
      <p:sp>
        <p:nvSpPr>
          <p:cNvPr id="8" name="Shape 4"/>
          <p:cNvSpPr/>
          <p:nvPr/>
        </p:nvSpPr>
        <p:spPr>
          <a:xfrm>
            <a:off x="496119" y="1983730"/>
            <a:ext cx="4722763" cy="2767757"/>
          </a:xfrm>
          <a:prstGeom prst="roundRect">
            <a:avLst>
              <a:gd name="adj" fmla="val 768"/>
            </a:avLst>
          </a:prstGeom>
          <a:solidFill>
            <a:srgbClr val="F0EDE6"/>
          </a:solidFill>
          <a:ln/>
        </p:spPr>
      </p:sp>
      <p:sp>
        <p:nvSpPr>
          <p:cNvPr id="9" name="Shape 5"/>
          <p:cNvSpPr/>
          <p:nvPr/>
        </p:nvSpPr>
        <p:spPr>
          <a:xfrm>
            <a:off x="496119" y="1983730"/>
            <a:ext cx="2361381" cy="1724099"/>
          </a:xfrm>
          <a:prstGeom prst="roundRect">
            <a:avLst>
              <a:gd name="adj" fmla="val 1233"/>
            </a:avLst>
          </a:prstGeom>
          <a:solidFill>
            <a:srgbClr val="F0EDE6"/>
          </a:solidFill>
          <a:ln/>
        </p:spPr>
      </p:sp>
      <p:sp>
        <p:nvSpPr>
          <p:cNvPr id="10" name="Text 6"/>
          <p:cNvSpPr/>
          <p:nvPr/>
        </p:nvSpPr>
        <p:spPr>
          <a:xfrm>
            <a:off x="637877" y="2125489"/>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Technical Proficiency</a:t>
            </a:r>
            <a:endParaRPr lang="en-US" sz="1350" dirty="0"/>
          </a:p>
        </p:txBody>
      </p:sp>
      <p:sp>
        <p:nvSpPr>
          <p:cNvPr id="11" name="Text 7"/>
          <p:cNvSpPr/>
          <p:nvPr/>
        </p:nvSpPr>
        <p:spPr>
          <a:xfrm>
            <a:off x="637877" y="2432000"/>
            <a:ext cx="2077864"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Deep expertise in statistics, probability, programming (Python, R, SQL), and database management.</a:t>
            </a:r>
            <a:endParaRPr lang="en-US" sz="1100" dirty="0"/>
          </a:p>
        </p:txBody>
      </p:sp>
      <p:sp>
        <p:nvSpPr>
          <p:cNvPr id="12" name="Shape 8"/>
          <p:cNvSpPr/>
          <p:nvPr/>
        </p:nvSpPr>
        <p:spPr>
          <a:xfrm>
            <a:off x="2857500" y="1983730"/>
            <a:ext cx="2361381" cy="1724099"/>
          </a:xfrm>
          <a:prstGeom prst="rect">
            <a:avLst/>
          </a:prstGeom>
          <a:solidFill>
            <a:srgbClr val="F0EDE6"/>
          </a:solidFill>
          <a:ln/>
        </p:spPr>
      </p:sp>
      <p:sp>
        <p:nvSpPr>
          <p:cNvPr id="13" name="Shape 9"/>
          <p:cNvSpPr/>
          <p:nvPr/>
        </p:nvSpPr>
        <p:spPr>
          <a:xfrm>
            <a:off x="2857500" y="1983730"/>
            <a:ext cx="19050" cy="1724099"/>
          </a:xfrm>
          <a:prstGeom prst="roundRect">
            <a:avLst>
              <a:gd name="adj" fmla="val 111628"/>
            </a:avLst>
          </a:prstGeom>
          <a:solidFill>
            <a:srgbClr val="D6D3CC"/>
          </a:solidFill>
          <a:ln/>
        </p:spPr>
      </p:sp>
      <p:sp>
        <p:nvSpPr>
          <p:cNvPr id="14" name="Text 10"/>
          <p:cNvSpPr/>
          <p:nvPr/>
        </p:nvSpPr>
        <p:spPr>
          <a:xfrm>
            <a:off x="2999259" y="2125489"/>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Analytical Mindset</a:t>
            </a:r>
            <a:endParaRPr lang="en-US" sz="1350" dirty="0"/>
          </a:p>
        </p:txBody>
      </p:sp>
      <p:sp>
        <p:nvSpPr>
          <p:cNvPr id="15" name="Text 11"/>
          <p:cNvSpPr/>
          <p:nvPr/>
        </p:nvSpPr>
        <p:spPr>
          <a:xfrm>
            <a:off x="2999259" y="2432000"/>
            <a:ext cx="2077864"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The ability to formulate insightful questions and translate complex data into clear, actionable business value.</a:t>
            </a:r>
            <a:endParaRPr lang="en-US" sz="1100" dirty="0"/>
          </a:p>
        </p:txBody>
      </p:sp>
      <p:sp>
        <p:nvSpPr>
          <p:cNvPr id="16" name="Shape 12"/>
          <p:cNvSpPr/>
          <p:nvPr/>
        </p:nvSpPr>
        <p:spPr>
          <a:xfrm>
            <a:off x="496119" y="3707829"/>
            <a:ext cx="4722763" cy="1043657"/>
          </a:xfrm>
          <a:prstGeom prst="rect">
            <a:avLst/>
          </a:prstGeom>
          <a:solidFill>
            <a:srgbClr val="F0EDE6"/>
          </a:solidFill>
          <a:ln/>
        </p:spPr>
      </p:sp>
      <p:sp>
        <p:nvSpPr>
          <p:cNvPr id="17" name="Shape 13"/>
          <p:cNvSpPr/>
          <p:nvPr/>
        </p:nvSpPr>
        <p:spPr>
          <a:xfrm>
            <a:off x="496119" y="3707829"/>
            <a:ext cx="4722763" cy="19050"/>
          </a:xfrm>
          <a:prstGeom prst="roundRect">
            <a:avLst>
              <a:gd name="adj" fmla="val 111628"/>
            </a:avLst>
          </a:prstGeom>
          <a:solidFill>
            <a:srgbClr val="D6D3CC"/>
          </a:solidFill>
          <a:ln/>
        </p:spPr>
      </p:sp>
      <p:sp>
        <p:nvSpPr>
          <p:cNvPr id="18" name="Text 14"/>
          <p:cNvSpPr/>
          <p:nvPr/>
        </p:nvSpPr>
        <p:spPr>
          <a:xfrm>
            <a:off x="637877" y="3849588"/>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2C2821"/>
                </a:solidFill>
                <a:latin typeface="Alice" pitchFamily="34" charset="0"/>
                <a:ea typeface="Alice" pitchFamily="34" charset="-122"/>
                <a:cs typeface="Alice" pitchFamily="34" charset="-120"/>
              </a:rPr>
              <a:t>Continuous Learning</a:t>
            </a:r>
            <a:endParaRPr lang="en-US" sz="1350" dirty="0"/>
          </a:p>
        </p:txBody>
      </p:sp>
      <p:sp>
        <p:nvSpPr>
          <p:cNvPr id="19" name="Text 15"/>
          <p:cNvSpPr/>
          <p:nvPr/>
        </p:nvSpPr>
        <p:spPr>
          <a:xfrm>
            <a:off x="637877" y="4156100"/>
            <a:ext cx="443924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C2821"/>
                </a:solidFill>
                <a:latin typeface="Lora" pitchFamily="34" charset="0"/>
                <a:ea typeface="Lora" pitchFamily="34" charset="-122"/>
                <a:cs typeface="Lora" pitchFamily="34" charset="-120"/>
              </a:rPr>
              <a:t>Staying abreast of the rapidly evolving landscape of data science tools, techniques, and technologies.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333375" y="264096"/>
            <a:ext cx="1147093" cy="159023"/>
          </a:xfrm>
          <a:prstGeom prst="roundRect">
            <a:avLst>
              <a:gd name="adj" fmla="val 7188"/>
            </a:avLst>
          </a:prstGeom>
          <a:solidFill>
            <a:srgbClr val="D7F4E4"/>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0525" y="305470"/>
            <a:ext cx="76200" cy="76200"/>
          </a:xfrm>
          <a:prstGeom prst="rect">
            <a:avLst/>
          </a:prstGeom>
        </p:spPr>
      </p:pic>
      <p:sp>
        <p:nvSpPr>
          <p:cNvPr id="5" name="Text 1"/>
          <p:cNvSpPr/>
          <p:nvPr/>
        </p:nvSpPr>
        <p:spPr>
          <a:xfrm>
            <a:off x="504825" y="292671"/>
            <a:ext cx="1375693" cy="101873"/>
          </a:xfrm>
          <a:prstGeom prst="rect">
            <a:avLst/>
          </a:prstGeom>
          <a:noFill/>
          <a:ln/>
        </p:spPr>
        <p:txBody>
          <a:bodyPr wrap="none" lIns="0" tIns="0" rIns="0" bIns="0" rtlCol="0" anchor="t"/>
          <a:lstStyle/>
          <a:p>
            <a:pPr algn="l" indent="0" marL="0">
              <a:lnSpc>
                <a:spcPct val="111000"/>
              </a:lnSpc>
              <a:buNone/>
            </a:pPr>
            <a:r>
              <a:rPr lang="en-US" sz="600" dirty="0">
                <a:solidFill>
                  <a:srgbClr val="2C2821"/>
                </a:solidFill>
                <a:latin typeface="Lora" pitchFamily="34" charset="0"/>
                <a:ea typeface="Lora" pitchFamily="34" charset="-122"/>
                <a:cs typeface="Lora" pitchFamily="34" charset="-120"/>
              </a:rPr>
              <a:t>LAUNCH YOUR JOURNEY</a:t>
            </a:r>
            <a:endParaRPr lang="en-US" sz="600" dirty="0"/>
          </a:p>
        </p:txBody>
      </p:sp>
      <p:sp>
        <p:nvSpPr>
          <p:cNvPr id="6" name="Text 2"/>
          <p:cNvSpPr/>
          <p:nvPr/>
        </p:nvSpPr>
        <p:spPr>
          <a:xfrm>
            <a:off x="333375" y="448717"/>
            <a:ext cx="5048250" cy="595313"/>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233E32"/>
                </a:solidFill>
                <a:latin typeface="Alice" pitchFamily="34" charset="0"/>
                <a:ea typeface="Alice" pitchFamily="34" charset="-122"/>
                <a:cs typeface="Alice" pitchFamily="34" charset="-120"/>
              </a:rPr>
              <a:t>The Future of Data Science: Your Journey Starts Here</a:t>
            </a:r>
            <a:endParaRPr lang="en-US" sz="1850" dirty="0"/>
          </a:p>
        </p:txBody>
      </p:sp>
      <p:sp>
        <p:nvSpPr>
          <p:cNvPr id="7" name="Text 3"/>
          <p:cNvSpPr/>
          <p:nvPr/>
        </p:nvSpPr>
        <p:spPr>
          <a:xfrm>
            <a:off x="333375" y="1140023"/>
            <a:ext cx="5048250" cy="254794"/>
          </a:xfrm>
          <a:prstGeom prst="rect">
            <a:avLst/>
          </a:prstGeom>
          <a:noFill/>
          <a:ln/>
        </p:spPr>
        <p:txBody>
          <a:bodyPr wrap="square" lIns="0" tIns="0" rIns="0" bIns="0" rtlCol="0" anchor="t">
            <a:normAutofit/>
          </a:bodyPr>
          <a:lstStyle/>
          <a:p>
            <a:pPr algn="l" indent="0" marL="0">
              <a:lnSpc>
                <a:spcPct val="111000"/>
              </a:lnSpc>
              <a:buNone/>
            </a:pPr>
            <a:r>
              <a:rPr lang="en-US" sz="750" dirty="0">
                <a:solidFill>
                  <a:srgbClr val="2C2821"/>
                </a:solidFill>
                <a:latin typeface="Lora" pitchFamily="34" charset="0"/>
                <a:ea typeface="Lora" pitchFamily="34" charset="-122"/>
                <a:cs typeface="Lora" pitchFamily="34" charset="-120"/>
              </a:rPr>
              <a:t>Data science is not merely a trend; it's a fundamental shift, reshaping every industry and creating a wealth of new career opportunities.</a:t>
            </a:r>
            <a:endParaRPr lang="en-US" sz="750" dirty="0"/>
          </a:p>
        </p:txBody>
      </p:sp>
      <p:sp>
        <p:nvSpPr>
          <p:cNvPr id="8" name="Shape 4"/>
          <p:cNvSpPr/>
          <p:nvPr/>
        </p:nvSpPr>
        <p:spPr>
          <a:xfrm>
            <a:off x="333375" y="1609651"/>
            <a:ext cx="5048250" cy="662285"/>
          </a:xfrm>
          <a:prstGeom prst="roundRect">
            <a:avLst>
              <a:gd name="adj" fmla="val 10355"/>
            </a:avLst>
          </a:prstGeom>
          <a:solidFill>
            <a:srgbClr val="FCFBF8"/>
          </a:solidFill>
          <a:ln w="14288">
            <a:solidFill>
              <a:srgbClr val="D6D3CC"/>
            </a:solidFill>
            <a:prstDash val="solid"/>
          </a:ln>
        </p:spPr>
      </p:sp>
      <p:sp>
        <p:nvSpPr>
          <p:cNvPr id="9" name="Shape 5"/>
          <p:cNvSpPr/>
          <p:nvPr/>
        </p:nvSpPr>
        <p:spPr>
          <a:xfrm>
            <a:off x="333375" y="1595363"/>
            <a:ext cx="5048250" cy="57150"/>
          </a:xfrm>
          <a:prstGeom prst="roundRect">
            <a:avLst>
              <a:gd name="adj" fmla="val 25000"/>
            </a:avLst>
          </a:prstGeom>
          <a:solidFill>
            <a:srgbClr val="1B5F39"/>
          </a:solidFill>
          <a:ln/>
        </p:spPr>
      </p:sp>
      <p:sp>
        <p:nvSpPr>
          <p:cNvPr id="10" name="Shape 6"/>
          <p:cNvSpPr/>
          <p:nvPr/>
        </p:nvSpPr>
        <p:spPr>
          <a:xfrm>
            <a:off x="2714625" y="1466776"/>
            <a:ext cx="285750" cy="285750"/>
          </a:xfrm>
          <a:prstGeom prst="roundRect">
            <a:avLst>
              <a:gd name="adj" fmla="val 200000"/>
            </a:avLst>
          </a:prstGeom>
          <a:solidFill>
            <a:srgbClr val="1B5F39"/>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0350" y="1552501"/>
            <a:ext cx="114300" cy="114300"/>
          </a:xfrm>
          <a:prstGeom prst="rect">
            <a:avLst/>
          </a:prstGeom>
        </p:spPr>
      </p:pic>
      <p:sp>
        <p:nvSpPr>
          <p:cNvPr id="12" name="Text 7"/>
          <p:cNvSpPr/>
          <p:nvPr/>
        </p:nvSpPr>
        <p:spPr>
          <a:xfrm>
            <a:off x="442913" y="1847776"/>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2C2821"/>
                </a:solidFill>
                <a:latin typeface="Alice" pitchFamily="34" charset="0"/>
                <a:ea typeface="Alice" pitchFamily="34" charset="-122"/>
                <a:cs typeface="Alice" pitchFamily="34" charset="-120"/>
              </a:rPr>
              <a:t>Foundation First</a:t>
            </a:r>
            <a:endParaRPr lang="en-US" sz="900" dirty="0"/>
          </a:p>
        </p:txBody>
      </p:sp>
      <p:sp>
        <p:nvSpPr>
          <p:cNvPr id="13" name="Text 8"/>
          <p:cNvSpPr/>
          <p:nvPr/>
        </p:nvSpPr>
        <p:spPr>
          <a:xfrm>
            <a:off x="442913" y="2035001"/>
            <a:ext cx="4829175" cy="127397"/>
          </a:xfrm>
          <a:prstGeom prst="rect">
            <a:avLst/>
          </a:prstGeom>
          <a:noFill/>
          <a:ln/>
        </p:spPr>
        <p:txBody>
          <a:bodyPr wrap="none" lIns="0" tIns="0" rIns="0" bIns="0" rtlCol="0" anchor="t"/>
          <a:lstStyle/>
          <a:p>
            <a:pPr algn="l" indent="0" marL="0">
              <a:lnSpc>
                <a:spcPct val="111000"/>
              </a:lnSpc>
              <a:buNone/>
            </a:pPr>
            <a:r>
              <a:rPr lang="en-US" sz="750" dirty="0">
                <a:solidFill>
                  <a:srgbClr val="2C2821"/>
                </a:solidFill>
                <a:latin typeface="Lora" pitchFamily="34" charset="0"/>
                <a:ea typeface="Lora" pitchFamily="34" charset="-122"/>
                <a:cs typeface="Lora" pitchFamily="34" charset="-120"/>
              </a:rPr>
              <a:t>A solid understanding of data types and the data lifecycle forms your essential groundwork.</a:t>
            </a:r>
            <a:endParaRPr lang="en-US" sz="750" dirty="0"/>
          </a:p>
        </p:txBody>
      </p:sp>
      <p:sp>
        <p:nvSpPr>
          <p:cNvPr id="14" name="Shape 9"/>
          <p:cNvSpPr/>
          <p:nvPr/>
        </p:nvSpPr>
        <p:spPr>
          <a:xfrm>
            <a:off x="333375" y="2478807"/>
            <a:ext cx="5048250" cy="662285"/>
          </a:xfrm>
          <a:prstGeom prst="roundRect">
            <a:avLst>
              <a:gd name="adj" fmla="val 10355"/>
            </a:avLst>
          </a:prstGeom>
          <a:solidFill>
            <a:srgbClr val="FCFBF8"/>
          </a:solidFill>
          <a:ln w="14288">
            <a:solidFill>
              <a:srgbClr val="D6D3CC"/>
            </a:solidFill>
            <a:prstDash val="solid"/>
          </a:ln>
        </p:spPr>
      </p:sp>
      <p:sp>
        <p:nvSpPr>
          <p:cNvPr id="15" name="Shape 10"/>
          <p:cNvSpPr/>
          <p:nvPr/>
        </p:nvSpPr>
        <p:spPr>
          <a:xfrm>
            <a:off x="333375" y="2464519"/>
            <a:ext cx="5048250" cy="57150"/>
          </a:xfrm>
          <a:prstGeom prst="roundRect">
            <a:avLst>
              <a:gd name="adj" fmla="val 25000"/>
            </a:avLst>
          </a:prstGeom>
          <a:solidFill>
            <a:srgbClr val="1B5F39"/>
          </a:solidFill>
          <a:ln/>
        </p:spPr>
      </p:sp>
      <p:sp>
        <p:nvSpPr>
          <p:cNvPr id="16" name="Shape 11"/>
          <p:cNvSpPr/>
          <p:nvPr/>
        </p:nvSpPr>
        <p:spPr>
          <a:xfrm>
            <a:off x="2714625" y="2335932"/>
            <a:ext cx="285750" cy="285750"/>
          </a:xfrm>
          <a:prstGeom prst="roundRect">
            <a:avLst>
              <a:gd name="adj" fmla="val 200000"/>
            </a:avLst>
          </a:prstGeom>
          <a:solidFill>
            <a:srgbClr val="1B5F39"/>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00350" y="2421657"/>
            <a:ext cx="114300" cy="114300"/>
          </a:xfrm>
          <a:prstGeom prst="rect">
            <a:avLst/>
          </a:prstGeom>
        </p:spPr>
      </p:pic>
      <p:sp>
        <p:nvSpPr>
          <p:cNvPr id="18" name="Text 12"/>
          <p:cNvSpPr/>
          <p:nvPr/>
        </p:nvSpPr>
        <p:spPr>
          <a:xfrm>
            <a:off x="442913" y="2716932"/>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2C2821"/>
                </a:solidFill>
                <a:latin typeface="Alice" pitchFamily="34" charset="0"/>
                <a:ea typeface="Alice" pitchFamily="34" charset="-122"/>
                <a:cs typeface="Alice" pitchFamily="34" charset="-120"/>
              </a:rPr>
              <a:t>Embrace Curiosity</a:t>
            </a:r>
            <a:endParaRPr lang="en-US" sz="900" dirty="0"/>
          </a:p>
        </p:txBody>
      </p:sp>
      <p:sp>
        <p:nvSpPr>
          <p:cNvPr id="19" name="Text 13"/>
          <p:cNvSpPr/>
          <p:nvPr/>
        </p:nvSpPr>
        <p:spPr>
          <a:xfrm>
            <a:off x="442913" y="2904158"/>
            <a:ext cx="4829175" cy="127397"/>
          </a:xfrm>
          <a:prstGeom prst="rect">
            <a:avLst/>
          </a:prstGeom>
          <a:noFill/>
          <a:ln/>
        </p:spPr>
        <p:txBody>
          <a:bodyPr wrap="none" lIns="0" tIns="0" rIns="0" bIns="0" rtlCol="0" anchor="t"/>
          <a:lstStyle/>
          <a:p>
            <a:pPr algn="l" indent="0" marL="0">
              <a:lnSpc>
                <a:spcPct val="111000"/>
              </a:lnSpc>
              <a:buNone/>
            </a:pPr>
            <a:r>
              <a:rPr lang="en-US" sz="750" dirty="0">
                <a:solidFill>
                  <a:srgbClr val="2C2821"/>
                </a:solidFill>
                <a:latin typeface="Lora" pitchFamily="34" charset="0"/>
                <a:ea typeface="Lora" pitchFamily="34" charset="-122"/>
                <a:cs typeface="Lora" pitchFamily="34" charset="-120"/>
              </a:rPr>
              <a:t>Cultivate a curious mindset, constantly seeking to uncover insights and solve problems.</a:t>
            </a:r>
            <a:endParaRPr lang="en-US" sz="750" dirty="0"/>
          </a:p>
        </p:txBody>
      </p:sp>
      <p:sp>
        <p:nvSpPr>
          <p:cNvPr id="20" name="Shape 14"/>
          <p:cNvSpPr/>
          <p:nvPr/>
        </p:nvSpPr>
        <p:spPr>
          <a:xfrm>
            <a:off x="333375" y="3347963"/>
            <a:ext cx="5048250" cy="662285"/>
          </a:xfrm>
          <a:prstGeom prst="roundRect">
            <a:avLst>
              <a:gd name="adj" fmla="val 10355"/>
            </a:avLst>
          </a:prstGeom>
          <a:solidFill>
            <a:srgbClr val="FCFBF8"/>
          </a:solidFill>
          <a:ln w="14288">
            <a:solidFill>
              <a:srgbClr val="D6D3CC"/>
            </a:solidFill>
            <a:prstDash val="solid"/>
          </a:ln>
        </p:spPr>
      </p:sp>
      <p:sp>
        <p:nvSpPr>
          <p:cNvPr id="21" name="Shape 15"/>
          <p:cNvSpPr/>
          <p:nvPr/>
        </p:nvSpPr>
        <p:spPr>
          <a:xfrm>
            <a:off x="333375" y="3333676"/>
            <a:ext cx="5048250" cy="57150"/>
          </a:xfrm>
          <a:prstGeom prst="roundRect">
            <a:avLst>
              <a:gd name="adj" fmla="val 25000"/>
            </a:avLst>
          </a:prstGeom>
          <a:solidFill>
            <a:srgbClr val="1B5F39"/>
          </a:solidFill>
          <a:ln/>
        </p:spPr>
      </p:sp>
      <p:sp>
        <p:nvSpPr>
          <p:cNvPr id="22" name="Shape 16"/>
          <p:cNvSpPr/>
          <p:nvPr/>
        </p:nvSpPr>
        <p:spPr>
          <a:xfrm>
            <a:off x="2714625" y="3205088"/>
            <a:ext cx="285750" cy="285750"/>
          </a:xfrm>
          <a:prstGeom prst="roundRect">
            <a:avLst>
              <a:gd name="adj" fmla="val 200000"/>
            </a:avLst>
          </a:prstGeom>
          <a:solidFill>
            <a:srgbClr val="1B5F39"/>
          </a:solidFill>
          <a:ln/>
        </p:spPr>
      </p:sp>
      <p:pic>
        <p:nvPicPr>
          <p:cNvPr id="2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00350" y="3290813"/>
            <a:ext cx="114300" cy="114300"/>
          </a:xfrm>
          <a:prstGeom prst="rect">
            <a:avLst/>
          </a:prstGeom>
        </p:spPr>
      </p:pic>
      <p:sp>
        <p:nvSpPr>
          <p:cNvPr id="24" name="Text 17"/>
          <p:cNvSpPr/>
          <p:nvPr/>
        </p:nvSpPr>
        <p:spPr>
          <a:xfrm>
            <a:off x="442913" y="3586088"/>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2C2821"/>
                </a:solidFill>
                <a:latin typeface="Alice" pitchFamily="34" charset="0"/>
                <a:ea typeface="Alice" pitchFamily="34" charset="-122"/>
                <a:cs typeface="Alice" pitchFamily="34" charset="-120"/>
              </a:rPr>
              <a:t>Hands-on Practice</a:t>
            </a:r>
            <a:endParaRPr lang="en-US" sz="900" dirty="0"/>
          </a:p>
        </p:txBody>
      </p:sp>
      <p:sp>
        <p:nvSpPr>
          <p:cNvPr id="25" name="Text 18"/>
          <p:cNvSpPr/>
          <p:nvPr/>
        </p:nvSpPr>
        <p:spPr>
          <a:xfrm>
            <a:off x="442913" y="3773314"/>
            <a:ext cx="4829175" cy="127397"/>
          </a:xfrm>
          <a:prstGeom prst="rect">
            <a:avLst/>
          </a:prstGeom>
          <a:noFill/>
          <a:ln/>
        </p:spPr>
        <p:txBody>
          <a:bodyPr wrap="none" lIns="0" tIns="0" rIns="0" bIns="0" rtlCol="0" anchor="t"/>
          <a:lstStyle/>
          <a:p>
            <a:pPr algn="l" indent="0" marL="0">
              <a:lnSpc>
                <a:spcPct val="111000"/>
              </a:lnSpc>
              <a:buNone/>
            </a:pPr>
            <a:r>
              <a:rPr lang="en-US" sz="750" dirty="0">
                <a:solidFill>
                  <a:srgbClr val="2C2821"/>
                </a:solidFill>
                <a:latin typeface="Lora" pitchFamily="34" charset="0"/>
                <a:ea typeface="Lora" pitchFamily="34" charset="-122"/>
                <a:cs typeface="Lora" pitchFamily="34" charset="-120"/>
              </a:rPr>
              <a:t>Engage in practical projects to apply your knowledge and build a robust portfolio.</a:t>
            </a:r>
            <a:endParaRPr lang="en-US" sz="750" dirty="0"/>
          </a:p>
        </p:txBody>
      </p:sp>
      <p:sp>
        <p:nvSpPr>
          <p:cNvPr id="26" name="Shape 19"/>
          <p:cNvSpPr/>
          <p:nvPr/>
        </p:nvSpPr>
        <p:spPr>
          <a:xfrm>
            <a:off x="333375" y="4217119"/>
            <a:ext cx="5048250" cy="662285"/>
          </a:xfrm>
          <a:prstGeom prst="roundRect">
            <a:avLst>
              <a:gd name="adj" fmla="val 10355"/>
            </a:avLst>
          </a:prstGeom>
          <a:solidFill>
            <a:srgbClr val="FCFBF8"/>
          </a:solidFill>
          <a:ln w="14288">
            <a:solidFill>
              <a:srgbClr val="D6D3CC"/>
            </a:solidFill>
            <a:prstDash val="solid"/>
          </a:ln>
        </p:spPr>
      </p:sp>
      <p:sp>
        <p:nvSpPr>
          <p:cNvPr id="27" name="Shape 20"/>
          <p:cNvSpPr/>
          <p:nvPr/>
        </p:nvSpPr>
        <p:spPr>
          <a:xfrm>
            <a:off x="333375" y="4202832"/>
            <a:ext cx="5048250" cy="57150"/>
          </a:xfrm>
          <a:prstGeom prst="roundRect">
            <a:avLst>
              <a:gd name="adj" fmla="val 25000"/>
            </a:avLst>
          </a:prstGeom>
          <a:solidFill>
            <a:srgbClr val="1B5F39"/>
          </a:solidFill>
          <a:ln/>
        </p:spPr>
      </p:sp>
      <p:sp>
        <p:nvSpPr>
          <p:cNvPr id="28" name="Shape 21"/>
          <p:cNvSpPr/>
          <p:nvPr/>
        </p:nvSpPr>
        <p:spPr>
          <a:xfrm>
            <a:off x="2714625" y="4074244"/>
            <a:ext cx="285750" cy="285750"/>
          </a:xfrm>
          <a:prstGeom prst="roundRect">
            <a:avLst>
              <a:gd name="adj" fmla="val 200000"/>
            </a:avLst>
          </a:prstGeom>
          <a:solidFill>
            <a:srgbClr val="1B5F39"/>
          </a:solidFill>
          <a:ln/>
        </p:spPr>
      </p:sp>
      <p:pic>
        <p:nvPicPr>
          <p:cNvPr id="2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00350" y="4159969"/>
            <a:ext cx="114300" cy="114300"/>
          </a:xfrm>
          <a:prstGeom prst="rect">
            <a:avLst/>
          </a:prstGeom>
        </p:spPr>
      </p:pic>
      <p:sp>
        <p:nvSpPr>
          <p:cNvPr id="30" name="Text 22"/>
          <p:cNvSpPr/>
          <p:nvPr/>
        </p:nvSpPr>
        <p:spPr>
          <a:xfrm>
            <a:off x="442913" y="4455244"/>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2C2821"/>
                </a:solidFill>
                <a:latin typeface="Alice" pitchFamily="34" charset="0"/>
                <a:ea typeface="Alice" pitchFamily="34" charset="-122"/>
                <a:cs typeface="Alice" pitchFamily="34" charset="-120"/>
              </a:rPr>
              <a:t>Unlock Potential</a:t>
            </a:r>
            <a:endParaRPr lang="en-US" sz="900" dirty="0"/>
          </a:p>
        </p:txBody>
      </p:sp>
      <p:sp>
        <p:nvSpPr>
          <p:cNvPr id="31" name="Text 23"/>
          <p:cNvSpPr/>
          <p:nvPr/>
        </p:nvSpPr>
        <p:spPr>
          <a:xfrm>
            <a:off x="442913" y="4642470"/>
            <a:ext cx="4829175" cy="127397"/>
          </a:xfrm>
          <a:prstGeom prst="rect">
            <a:avLst/>
          </a:prstGeom>
          <a:noFill/>
          <a:ln/>
        </p:spPr>
        <p:txBody>
          <a:bodyPr wrap="none" lIns="0" tIns="0" rIns="0" bIns="0" rtlCol="0" anchor="t"/>
          <a:lstStyle/>
          <a:p>
            <a:pPr algn="l" indent="0" marL="0">
              <a:lnSpc>
                <a:spcPct val="111000"/>
              </a:lnSpc>
              <a:buNone/>
            </a:pPr>
            <a:r>
              <a:rPr lang="en-US" sz="750" dirty="0">
                <a:solidFill>
                  <a:srgbClr val="2C2821"/>
                </a:solidFill>
                <a:latin typeface="Lora" pitchFamily="34" charset="0"/>
                <a:ea typeface="Lora" pitchFamily="34" charset="-122"/>
                <a:cs typeface="Lora" pitchFamily="34" charset="-120"/>
              </a:rPr>
              <a:t>Harness the transformative power of data to drive innovation and make a meaningful impact.</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2026-05-23T06:16:10Z</dcterms:created>
  <dcterms:modified xsi:type="dcterms:W3CDTF">2026-05-23T06:16:10Z</dcterms:modified>
</cp:coreProperties>
</file>