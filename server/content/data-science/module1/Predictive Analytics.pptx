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182" autoAdjust="0"/>
  </p:normalViewPr>
  <p:slideViewPr>
    <p:cSldViewPr showGuides="1">
      <p:cViewPr varScale="1">
        <p:scale>
          <a:sx n="91" d="100"/>
          <a:sy n="91" d="100"/>
        </p:scale>
        <p:origin x="370" y="77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8/5/2026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8/5/2026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0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8/5/2026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businessanalytics.techtarget.com/feature/Predictive-analytics-tools-point-way-to-better-business-decisions" TargetMode="External"/><Relationship Id="rId2" Type="http://schemas.openxmlformats.org/officeDocument/2006/relationships/hyperlink" Target="https://hbr.org/video/5299994733001/the-refresher-regression-analysi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1426343"/>
          </a:xfrm>
        </p:spPr>
        <p:txBody>
          <a:bodyPr/>
          <a:lstStyle/>
          <a:p>
            <a:r>
              <a:rPr lang="en-US" dirty="0"/>
              <a:t>Predictive Analytics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Predictive Analytics-Introduction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t">
              <a:buNone/>
            </a:pPr>
            <a:endParaRPr lang="en-IN" dirty="0"/>
          </a:p>
          <a:p>
            <a:pPr marL="0" indent="0" fontAlgn="t">
              <a:buNone/>
            </a:pPr>
            <a:r>
              <a:rPr lang="en-IN" dirty="0"/>
              <a:t>Predictive analytics is a form of advanced analytics that uses both new and historical data to forecast activity, behaviour and trends.</a:t>
            </a:r>
          </a:p>
        </p:txBody>
      </p:sp>
    </p:spTree>
    <p:extLst>
      <p:ext uri="{BB962C8B-B14F-4D97-AF65-F5344CB8AC3E}">
        <p14:creationId xmlns:p14="http://schemas.microsoft.com/office/powerpoint/2010/main" val="299532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How it works?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780" y="1556792"/>
            <a:ext cx="5553167" cy="4470400"/>
          </a:xfrm>
        </p:spPr>
        <p:txBody>
          <a:bodyPr/>
          <a:lstStyle/>
          <a:p>
            <a:r>
              <a:rPr lang="en-US" dirty="0"/>
              <a:t>Uses many techniques from data mining, statistics, machine learning &amp; artificial intelligence to analyze current data to make predictions about future.</a:t>
            </a:r>
          </a:p>
          <a:p>
            <a:r>
              <a:rPr lang="en-US" dirty="0"/>
              <a:t>The patterns found in historical and transactional data can be used to identify risks and opportunities for future.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154" y="1268760"/>
            <a:ext cx="5921073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9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Predictive Analytics Process: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491" y="1701800"/>
            <a:ext cx="7729043" cy="4470400"/>
          </a:xfrm>
        </p:spPr>
      </p:pic>
    </p:spTree>
    <p:extLst>
      <p:ext uri="{BB962C8B-B14F-4D97-AF65-F5344CB8AC3E}">
        <p14:creationId xmlns:p14="http://schemas.microsoft.com/office/powerpoint/2010/main" val="60329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844" y="31504"/>
            <a:ext cx="10157354" cy="996528"/>
          </a:xfrm>
        </p:spPr>
        <p:txBody>
          <a:bodyPr>
            <a:normAutofit/>
          </a:bodyPr>
          <a:lstStyle/>
          <a:p>
            <a:r>
              <a:rPr lang="en-US" sz="4000" u="sng" dirty="0"/>
              <a:t>Predictive Analytics Process: (Contd.)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844" y="1268760"/>
            <a:ext cx="10157354" cy="5040560"/>
          </a:xfrm>
        </p:spPr>
        <p:txBody>
          <a:bodyPr>
            <a:normAutofit/>
          </a:bodyPr>
          <a:lstStyle/>
          <a:p>
            <a:r>
              <a:rPr lang="en-US" b="1" dirty="0"/>
              <a:t>Define Project:</a:t>
            </a:r>
          </a:p>
          <a:p>
            <a:pPr marL="0" indent="0">
              <a:buNone/>
            </a:pPr>
            <a:r>
              <a:rPr lang="en-US" sz="1400" dirty="0"/>
              <a:t>Define the project outcomes, deliverables, scoping of the effort, business objectives, identify the data sets which are going to be used.</a:t>
            </a:r>
          </a:p>
          <a:p>
            <a:r>
              <a:rPr lang="en-US" b="1" dirty="0"/>
              <a:t>Data Collection:</a:t>
            </a:r>
          </a:p>
          <a:p>
            <a:pPr marL="0" indent="0">
              <a:buNone/>
            </a:pPr>
            <a:r>
              <a:rPr lang="en-US" sz="1400" dirty="0"/>
              <a:t>Data mining for predictive analytics prepares data from multiple sources  for analytics. This provides a complete view of customer interactions.</a:t>
            </a:r>
          </a:p>
          <a:p>
            <a:r>
              <a:rPr lang="en-US" b="1" dirty="0"/>
              <a:t>Data analysis:</a:t>
            </a:r>
          </a:p>
          <a:p>
            <a:pPr marL="0" indent="0">
              <a:buNone/>
            </a:pPr>
            <a:r>
              <a:rPr lang="en-US" sz="1400" dirty="0"/>
              <a:t>Data analysis is the process of inspecting ,cleaning, transforming, and modelling data with the objective of  discoverable  useful information, arriving at conclusions.</a:t>
            </a:r>
          </a:p>
          <a:p>
            <a:r>
              <a:rPr lang="en-US" b="1" dirty="0"/>
              <a:t>Statistics:</a:t>
            </a:r>
          </a:p>
          <a:p>
            <a:pPr marL="0" indent="0">
              <a:buNone/>
            </a:pPr>
            <a:r>
              <a:rPr lang="en-US" sz="1400" dirty="0"/>
              <a:t>Statistical Analysis enables to validate the assumptions, hypothesis and test them with using standard statistical models.</a:t>
            </a:r>
          </a:p>
        </p:txBody>
      </p:sp>
    </p:spTree>
    <p:extLst>
      <p:ext uri="{BB962C8B-B14F-4D97-AF65-F5344CB8AC3E}">
        <p14:creationId xmlns:p14="http://schemas.microsoft.com/office/powerpoint/2010/main" val="162719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/>
              <a:t>Predictive Analytics Process: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309" y="1772816"/>
            <a:ext cx="10157354" cy="4470400"/>
          </a:xfrm>
        </p:spPr>
        <p:txBody>
          <a:bodyPr>
            <a:normAutofit/>
          </a:bodyPr>
          <a:lstStyle/>
          <a:p>
            <a:r>
              <a:rPr lang="en-US" b="1" dirty="0"/>
              <a:t>Modelling:</a:t>
            </a:r>
          </a:p>
          <a:p>
            <a:pPr marL="0" indent="0">
              <a:buNone/>
            </a:pPr>
            <a:r>
              <a:rPr lang="en-US" sz="1400" dirty="0"/>
              <a:t>Predictive modelling provides the ability  to automatically create accurate predictive models about future.</a:t>
            </a:r>
          </a:p>
          <a:p>
            <a:r>
              <a:rPr lang="en-US" b="1" dirty="0"/>
              <a:t>Deployment:</a:t>
            </a:r>
          </a:p>
          <a:p>
            <a:pPr marL="0" indent="0">
              <a:buNone/>
            </a:pPr>
            <a:r>
              <a:rPr lang="en-US" sz="1400" dirty="0"/>
              <a:t>Predictive model deployment provides the option  to deploy the analytical results in to the everyday decision making process to get  results.</a:t>
            </a:r>
          </a:p>
          <a:p>
            <a:r>
              <a:rPr lang="en-US" b="1" dirty="0"/>
              <a:t>Model Monitoring:</a:t>
            </a:r>
          </a:p>
          <a:p>
            <a:pPr marL="0" indent="0">
              <a:buNone/>
            </a:pPr>
            <a:r>
              <a:rPr lang="en-US" sz="1400" dirty="0"/>
              <a:t>Models are monitored and managed to review the model performance  to endure that  it is  providing the results expected.</a:t>
            </a:r>
          </a:p>
        </p:txBody>
      </p:sp>
    </p:spTree>
    <p:extLst>
      <p:ext uri="{BB962C8B-B14F-4D97-AF65-F5344CB8AC3E}">
        <p14:creationId xmlns:p14="http://schemas.microsoft.com/office/powerpoint/2010/main" val="39790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Predictive Analytics</a:t>
            </a:r>
            <a:r>
              <a:rPr lang="en-US" u="sng" dirty="0">
                <a:sym typeface="Wingdings" panose="05000000000000000000" pitchFamily="2" charset="2"/>
              </a:rPr>
              <a:t>: (Applications)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Customer Relationship Management</a:t>
            </a:r>
          </a:p>
          <a:p>
            <a:r>
              <a:rPr lang="en-US" dirty="0"/>
              <a:t>Health care</a:t>
            </a:r>
          </a:p>
          <a:p>
            <a:r>
              <a:rPr lang="en-US" dirty="0"/>
              <a:t>Collection Analytics</a:t>
            </a:r>
          </a:p>
          <a:p>
            <a:r>
              <a:rPr lang="en-US" dirty="0"/>
              <a:t>Cross sell</a:t>
            </a:r>
          </a:p>
          <a:p>
            <a:r>
              <a:rPr lang="en-US" dirty="0"/>
              <a:t>Fraud detection</a:t>
            </a:r>
          </a:p>
          <a:p>
            <a:r>
              <a:rPr lang="en-US" dirty="0"/>
              <a:t>Risk management</a:t>
            </a:r>
          </a:p>
          <a:p>
            <a:r>
              <a:rPr lang="en-US" dirty="0"/>
              <a:t>Direct Marketing</a:t>
            </a:r>
          </a:p>
          <a:p>
            <a:r>
              <a:rPr lang="en-US" dirty="0"/>
              <a:t>Underwriting</a:t>
            </a:r>
          </a:p>
        </p:txBody>
      </p:sp>
    </p:spTree>
    <p:extLst>
      <p:ext uri="{BB962C8B-B14F-4D97-AF65-F5344CB8AC3E}">
        <p14:creationId xmlns:p14="http://schemas.microsoft.com/office/powerpoint/2010/main" val="97722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60512"/>
          </a:xfrm>
        </p:spPr>
        <p:txBody>
          <a:bodyPr/>
          <a:lstStyle/>
          <a:p>
            <a:r>
              <a:rPr lang="en-US" u="sng" dirty="0"/>
              <a:t>Predictive Analytics</a:t>
            </a:r>
            <a:r>
              <a:rPr lang="en-US" u="sng" dirty="0">
                <a:sym typeface="Wingdings" panose="05000000000000000000" pitchFamily="2" charset="2"/>
              </a:rPr>
              <a:t>: (Applications)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44" y="863364"/>
            <a:ext cx="9721080" cy="6191905"/>
          </a:xfrm>
        </p:spPr>
      </p:pic>
    </p:spTree>
    <p:extLst>
      <p:ext uri="{BB962C8B-B14F-4D97-AF65-F5344CB8AC3E}">
        <p14:creationId xmlns:p14="http://schemas.microsoft.com/office/powerpoint/2010/main" val="160389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u="sng" dirty="0"/>
              <a:t>Predictive analytics techniques that typically are applied:</a:t>
            </a:r>
            <a:endParaRPr lang="en-US" sz="28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Descriptive: </a:t>
            </a:r>
            <a:r>
              <a:rPr lang="en-IN" dirty="0"/>
              <a:t>This technique summarizes what has happened in the past and attempts to analyse and characterize it.</a:t>
            </a:r>
          </a:p>
          <a:p>
            <a:r>
              <a:rPr lang="en-IN" b="1" dirty="0"/>
              <a:t>Correlation.</a:t>
            </a:r>
            <a:r>
              <a:rPr lang="en-IN" dirty="0"/>
              <a:t> Users can do correlation analysis to identify relationships and dependencies between different data variables to predict how they'll affect one another going forward.</a:t>
            </a:r>
          </a:p>
          <a:p>
            <a:r>
              <a:rPr lang="en-IN" b="1" dirty="0"/>
              <a:t>Segmentation.</a:t>
            </a:r>
            <a:r>
              <a:rPr lang="en-IN" dirty="0"/>
              <a:t> This technique is a way to </a:t>
            </a:r>
            <a:r>
              <a:rPr lang="en-IN" dirty="0" err="1"/>
              <a:t>analyze</a:t>
            </a:r>
            <a:r>
              <a:rPr lang="en-IN" dirty="0"/>
              <a:t> a large collection of entity data, such as a customer database, and organize it into smaller groups.</a:t>
            </a:r>
          </a:p>
        </p:txBody>
      </p:sp>
    </p:spTree>
    <p:extLst>
      <p:ext uri="{BB962C8B-B14F-4D97-AF65-F5344CB8AC3E}">
        <p14:creationId xmlns:p14="http://schemas.microsoft.com/office/powerpoint/2010/main" val="311167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u="sng" dirty="0"/>
              <a:t>Predictive analytics techniques that typically are applied: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Regression.</a:t>
            </a:r>
            <a:r>
              <a:rPr lang="en-IN" dirty="0"/>
              <a:t> This technique is designed to identify meaningful relationships among data variables, specifically </a:t>
            </a:r>
            <a:r>
              <a:rPr lang="en-IN" dirty="0">
                <a:hlinkClick r:id="rId2"/>
              </a:rPr>
              <a:t>looking at the connections</a:t>
            </a:r>
            <a:r>
              <a:rPr lang="en-IN" dirty="0"/>
              <a:t> between a dependent variable and other factors that may or may not affect it.</a:t>
            </a:r>
          </a:p>
          <a:p>
            <a:r>
              <a:rPr lang="en-IN" b="1" dirty="0"/>
              <a:t>Association.</a:t>
            </a:r>
            <a:r>
              <a:rPr lang="en-IN" dirty="0"/>
              <a:t> One more technique for highlighting relationships between data elements </a:t>
            </a:r>
            <a:r>
              <a:rPr lang="en-IN" dirty="0">
                <a:hlinkClick r:id="rId3"/>
              </a:rPr>
              <a:t>for predictive purposes</a:t>
            </a:r>
            <a:r>
              <a:rPr lang="en-IN" dirty="0"/>
              <a:t> is to look for ones that demonstrate affinity.</a:t>
            </a:r>
          </a:p>
          <a:p>
            <a:r>
              <a:rPr lang="en-IN" b="1" dirty="0"/>
              <a:t>Classification.</a:t>
            </a:r>
            <a:r>
              <a:rPr lang="en-IN" dirty="0"/>
              <a:t> Another means of separating different entities in a data set into related groups is to map them into predefined categories based on relevant characteristics or behaviours.</a:t>
            </a:r>
          </a:p>
          <a:p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4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0156" y="2708920"/>
            <a:ext cx="4608512" cy="1397000"/>
          </a:xfrm>
        </p:spPr>
        <p:txBody>
          <a:bodyPr/>
          <a:lstStyle/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7514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3165</TotalTime>
  <Words>468</Words>
  <Application>Microsoft Office PowerPoint</Application>
  <PresentationFormat>Custom</PresentationFormat>
  <Paragraphs>45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</vt:lpstr>
      <vt:lpstr>Class open house presentation</vt:lpstr>
      <vt:lpstr>Predictive Analytics</vt:lpstr>
      <vt:lpstr>Predictive Analytics-Introduction</vt:lpstr>
      <vt:lpstr>How it works? </vt:lpstr>
      <vt:lpstr>Predictive Analytics Process:</vt:lpstr>
      <vt:lpstr>Predictive Analytics Process: (Contd.)</vt:lpstr>
      <vt:lpstr>Predictive Analytics Process: (Contd.)</vt:lpstr>
      <vt:lpstr>Predictive Analytics: (Applications)</vt:lpstr>
      <vt:lpstr>Predictive Analytics: (Applications)</vt:lpstr>
      <vt:lpstr>Predictive analytics techniques that typically are applied:</vt:lpstr>
      <vt:lpstr>Predictive analytics techniques that typically are applied: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Analytics</dc:title>
  <dc:creator>Trisha Biswas</dc:creator>
  <cp:lastModifiedBy>Bosubabu Sambana</cp:lastModifiedBy>
  <cp:revision>14</cp:revision>
  <dcterms:created xsi:type="dcterms:W3CDTF">2018-02-09T16:09:02Z</dcterms:created>
  <dcterms:modified xsi:type="dcterms:W3CDTF">2026-08-05T09:41:28Z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