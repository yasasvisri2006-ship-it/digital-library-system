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3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30.png"/><Relationship Id="rId7" Type="http://schemas.openxmlformats.org/officeDocument/2006/relationships/image" Target="../media/image44.png"/><Relationship Id="rId12" Type="http://schemas.openxmlformats.org/officeDocument/2006/relationships/image" Target="../media/image4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svg"/><Relationship Id="rId4" Type="http://schemas.openxmlformats.org/officeDocument/2006/relationships/image" Target="../media/image31.svg"/><Relationship Id="rId9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rot="-156245">
            <a:off x="2398988" y="3336255"/>
            <a:ext cx="14079494" cy="3302281"/>
          </a:xfrm>
          <a:custGeom>
            <a:avLst/>
            <a:gdLst/>
            <a:ahLst/>
            <a:cxnLst/>
            <a:rect l="l" t="t" r="r" b="b"/>
            <a:pathLst>
              <a:path w="14079494" h="3302281">
                <a:moveTo>
                  <a:pt x="0" y="0"/>
                </a:moveTo>
                <a:lnTo>
                  <a:pt x="14079494" y="0"/>
                </a:lnTo>
                <a:lnTo>
                  <a:pt x="14079494" y="3302281"/>
                </a:lnTo>
                <a:lnTo>
                  <a:pt x="0" y="33022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 rot="-234792">
            <a:off x="3166008" y="4019570"/>
            <a:ext cx="12951557" cy="2498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3"/>
              </a:lnSpc>
            </a:pPr>
            <a:r>
              <a:rPr lang="en-US" sz="7706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SKILLS NEEDED TO BECOME A </a:t>
            </a:r>
          </a:p>
          <a:p>
            <a:pPr algn="ctr">
              <a:lnSpc>
                <a:spcPts val="6221"/>
              </a:lnSpc>
            </a:pPr>
            <a:r>
              <a:rPr lang="en-US" sz="7406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DATA SCIENTIST</a:t>
            </a:r>
          </a:p>
        </p:txBody>
      </p:sp>
      <p:sp>
        <p:nvSpPr>
          <p:cNvPr id="5" name="Freeform 5"/>
          <p:cNvSpPr/>
          <p:nvPr/>
        </p:nvSpPr>
        <p:spPr>
          <a:xfrm rot="-1441925">
            <a:off x="-548609" y="7030605"/>
            <a:ext cx="3047020" cy="2803258"/>
          </a:xfrm>
          <a:custGeom>
            <a:avLst/>
            <a:gdLst/>
            <a:ahLst/>
            <a:cxnLst/>
            <a:rect l="l" t="t" r="r" b="b"/>
            <a:pathLst>
              <a:path w="3047020" h="2803258">
                <a:moveTo>
                  <a:pt x="0" y="0"/>
                </a:moveTo>
                <a:lnTo>
                  <a:pt x="3047020" y="0"/>
                </a:lnTo>
                <a:lnTo>
                  <a:pt x="3047020" y="2803258"/>
                </a:lnTo>
                <a:lnTo>
                  <a:pt x="0" y="2803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140602">
            <a:off x="1349665" y="2579965"/>
            <a:ext cx="2807974" cy="2916248"/>
          </a:xfrm>
          <a:custGeom>
            <a:avLst/>
            <a:gdLst/>
            <a:ahLst/>
            <a:cxnLst/>
            <a:rect l="l" t="t" r="r" b="b"/>
            <a:pathLst>
              <a:path w="2807974" h="2916248">
                <a:moveTo>
                  <a:pt x="0" y="0"/>
                </a:moveTo>
                <a:lnTo>
                  <a:pt x="2807974" y="0"/>
                </a:lnTo>
                <a:lnTo>
                  <a:pt x="2807974" y="2916248"/>
                </a:lnTo>
                <a:lnTo>
                  <a:pt x="0" y="29162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280170">
            <a:off x="14699952" y="4493478"/>
            <a:ext cx="2860059" cy="3681968"/>
          </a:xfrm>
          <a:custGeom>
            <a:avLst/>
            <a:gdLst/>
            <a:ahLst/>
            <a:cxnLst/>
            <a:rect l="l" t="t" r="r" b="b"/>
            <a:pathLst>
              <a:path w="2860059" h="3681968">
                <a:moveTo>
                  <a:pt x="0" y="0"/>
                </a:moveTo>
                <a:lnTo>
                  <a:pt x="2860060" y="0"/>
                </a:lnTo>
                <a:lnTo>
                  <a:pt x="2860060" y="3681968"/>
                </a:lnTo>
                <a:lnTo>
                  <a:pt x="0" y="36819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2342060">
            <a:off x="5899223" y="2663237"/>
            <a:ext cx="7466927" cy="6421557"/>
          </a:xfrm>
          <a:custGeom>
            <a:avLst/>
            <a:gdLst/>
            <a:ahLst/>
            <a:cxnLst/>
            <a:rect l="l" t="t" r="r" b="b"/>
            <a:pathLst>
              <a:path w="7466927" h="6421557">
                <a:moveTo>
                  <a:pt x="0" y="0"/>
                </a:moveTo>
                <a:lnTo>
                  <a:pt x="7466927" y="0"/>
                </a:lnTo>
                <a:lnTo>
                  <a:pt x="7466927" y="6421557"/>
                </a:lnTo>
                <a:lnTo>
                  <a:pt x="0" y="64215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2841445" y="195686"/>
            <a:ext cx="8330138" cy="1666028"/>
          </a:xfrm>
          <a:custGeom>
            <a:avLst/>
            <a:gdLst/>
            <a:ahLst/>
            <a:cxnLst/>
            <a:rect l="l" t="t" r="r" b="b"/>
            <a:pathLst>
              <a:path w="8330138" h="1666028">
                <a:moveTo>
                  <a:pt x="8330138" y="0"/>
                </a:moveTo>
                <a:lnTo>
                  <a:pt x="0" y="0"/>
                </a:lnTo>
                <a:lnTo>
                  <a:pt x="0" y="1666028"/>
                </a:lnTo>
                <a:lnTo>
                  <a:pt x="8330138" y="1666028"/>
                </a:lnTo>
                <a:lnTo>
                  <a:pt x="833013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9558336" y="297180"/>
            <a:ext cx="7315200" cy="1463040"/>
          </a:xfrm>
          <a:custGeom>
            <a:avLst/>
            <a:gdLst/>
            <a:ahLst/>
            <a:cxnLst/>
            <a:rect l="l" t="t" r="r" b="b"/>
            <a:pathLst>
              <a:path w="7315200" h="1463040">
                <a:moveTo>
                  <a:pt x="7315200" y="0"/>
                </a:moveTo>
                <a:lnTo>
                  <a:pt x="0" y="0"/>
                </a:lnTo>
                <a:lnTo>
                  <a:pt x="0" y="1463040"/>
                </a:lnTo>
                <a:lnTo>
                  <a:pt x="7315200" y="146304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466528" y="660388"/>
            <a:ext cx="13407009" cy="784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2"/>
              </a:lnSpc>
            </a:pPr>
            <a:r>
              <a:rPr lang="en-US" sz="5501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INTRODUCTION TO DATA SCIENCE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08235" y="2232231"/>
            <a:ext cx="10606498" cy="7747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5872" lvl="1" indent="-427936" algn="l">
              <a:lnSpc>
                <a:spcPts val="4360"/>
              </a:lnSpc>
              <a:buFont typeface="Arial"/>
              <a:buChar char="•"/>
            </a:pPr>
            <a:r>
              <a:rPr lang="en-US" sz="3964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WHAT IS DATA SCIENCE?</a:t>
            </a:r>
          </a:p>
          <a:p>
            <a:pPr algn="l">
              <a:lnSpc>
                <a:spcPts val="4360"/>
              </a:lnSpc>
            </a:pPr>
            <a:endParaRPr lang="en-US" sz="3964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  <a:p>
            <a:pPr algn="l">
              <a:lnSpc>
                <a:spcPts val="4360"/>
              </a:lnSpc>
            </a:pPr>
            <a:r>
              <a:rPr lang="en-US" sz="3964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A multidisciplinary field that combines statistics, computer science, and domain knowledge to extract insights from data.</a:t>
            </a:r>
          </a:p>
          <a:p>
            <a:pPr algn="l">
              <a:lnSpc>
                <a:spcPts val="4360"/>
              </a:lnSpc>
            </a:pPr>
            <a:endParaRPr lang="en-US" sz="3964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  <a:p>
            <a:pPr marL="855872" lvl="1" indent="-427936" algn="l">
              <a:lnSpc>
                <a:spcPts val="4360"/>
              </a:lnSpc>
              <a:buFont typeface="Arial"/>
              <a:buChar char="•"/>
            </a:pPr>
            <a:r>
              <a:rPr lang="en-US" sz="3964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Importance of Data Science:</a:t>
            </a:r>
          </a:p>
          <a:p>
            <a:pPr algn="l">
              <a:lnSpc>
                <a:spcPts val="4360"/>
              </a:lnSpc>
            </a:pPr>
            <a:endParaRPr lang="en-US" sz="3964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  <a:p>
            <a:pPr marL="855872" lvl="1" indent="-427936" algn="l">
              <a:lnSpc>
                <a:spcPts val="4360"/>
              </a:lnSpc>
              <a:buFont typeface="Arial"/>
              <a:buChar char="•"/>
            </a:pPr>
            <a:r>
              <a:rPr lang="en-US" sz="3964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Driving decisions with data.</a:t>
            </a:r>
          </a:p>
          <a:p>
            <a:pPr algn="l">
              <a:lnSpc>
                <a:spcPts val="4360"/>
              </a:lnSpc>
            </a:pPr>
            <a:endParaRPr lang="en-US" sz="3964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  <a:p>
            <a:pPr marL="855872" lvl="1" indent="-427936" algn="l">
              <a:lnSpc>
                <a:spcPts val="4360"/>
              </a:lnSpc>
              <a:buFont typeface="Arial"/>
              <a:buChar char="•"/>
            </a:pPr>
            <a:r>
              <a:rPr lang="en-US" sz="3964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Powering innovation in industries like healthcare, finance, and technology.</a:t>
            </a:r>
          </a:p>
          <a:p>
            <a:pPr algn="l">
              <a:lnSpc>
                <a:spcPts val="78"/>
              </a:lnSpc>
            </a:pPr>
            <a:endParaRPr lang="en-US" sz="3964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sp>
        <p:nvSpPr>
          <p:cNvPr id="7" name="Freeform 7"/>
          <p:cNvSpPr/>
          <p:nvPr/>
        </p:nvSpPr>
        <p:spPr>
          <a:xfrm rot="1393184">
            <a:off x="14398988" y="3890747"/>
            <a:ext cx="3292370" cy="3703074"/>
          </a:xfrm>
          <a:custGeom>
            <a:avLst/>
            <a:gdLst/>
            <a:ahLst/>
            <a:cxnLst/>
            <a:rect l="l" t="t" r="r" b="b"/>
            <a:pathLst>
              <a:path w="3292370" h="3703074">
                <a:moveTo>
                  <a:pt x="0" y="0"/>
                </a:moveTo>
                <a:lnTo>
                  <a:pt x="3292369" y="0"/>
                </a:lnTo>
                <a:lnTo>
                  <a:pt x="3292369" y="3703075"/>
                </a:lnTo>
                <a:lnTo>
                  <a:pt x="0" y="37030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405259" y="9521585"/>
            <a:ext cx="2289328" cy="457866"/>
          </a:xfrm>
          <a:custGeom>
            <a:avLst/>
            <a:gdLst/>
            <a:ahLst/>
            <a:cxnLst/>
            <a:rect l="l" t="t" r="r" b="b"/>
            <a:pathLst>
              <a:path w="2289328" h="457866">
                <a:moveTo>
                  <a:pt x="0" y="0"/>
                </a:moveTo>
                <a:lnTo>
                  <a:pt x="2289328" y="0"/>
                </a:lnTo>
                <a:lnTo>
                  <a:pt x="2289328" y="457866"/>
                </a:lnTo>
                <a:lnTo>
                  <a:pt x="0" y="4578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2566234" y="289732"/>
            <a:ext cx="9273407" cy="2798883"/>
          </a:xfrm>
          <a:custGeom>
            <a:avLst/>
            <a:gdLst/>
            <a:ahLst/>
            <a:cxnLst/>
            <a:rect l="l" t="t" r="r" b="b"/>
            <a:pathLst>
              <a:path w="9273407" h="2798883">
                <a:moveTo>
                  <a:pt x="0" y="2798883"/>
                </a:moveTo>
                <a:lnTo>
                  <a:pt x="9273407" y="2798883"/>
                </a:lnTo>
                <a:lnTo>
                  <a:pt x="9273407" y="0"/>
                </a:lnTo>
                <a:lnTo>
                  <a:pt x="0" y="0"/>
                </a:lnTo>
                <a:lnTo>
                  <a:pt x="0" y="279888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82565" y="3088615"/>
            <a:ext cx="273633" cy="2388858"/>
          </a:xfrm>
          <a:custGeom>
            <a:avLst/>
            <a:gdLst/>
            <a:ahLst/>
            <a:cxnLst/>
            <a:rect l="l" t="t" r="r" b="b"/>
            <a:pathLst>
              <a:path w="273633" h="2388858">
                <a:moveTo>
                  <a:pt x="0" y="0"/>
                </a:moveTo>
                <a:lnTo>
                  <a:pt x="273633" y="0"/>
                </a:lnTo>
                <a:lnTo>
                  <a:pt x="273633" y="2388858"/>
                </a:lnTo>
                <a:lnTo>
                  <a:pt x="0" y="2388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7695071" y="7304785"/>
            <a:ext cx="295770" cy="2582121"/>
          </a:xfrm>
          <a:custGeom>
            <a:avLst/>
            <a:gdLst/>
            <a:ahLst/>
            <a:cxnLst/>
            <a:rect l="l" t="t" r="r" b="b"/>
            <a:pathLst>
              <a:path w="295770" h="2582121">
                <a:moveTo>
                  <a:pt x="295770" y="0"/>
                </a:moveTo>
                <a:lnTo>
                  <a:pt x="0" y="0"/>
                </a:lnTo>
                <a:lnTo>
                  <a:pt x="0" y="2582121"/>
                </a:lnTo>
                <a:lnTo>
                  <a:pt x="295770" y="2582121"/>
                </a:lnTo>
                <a:lnTo>
                  <a:pt x="29577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655452" y="967910"/>
            <a:ext cx="7572048" cy="1594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14"/>
              </a:lnSpc>
            </a:pPr>
            <a:r>
              <a:rPr lang="en-US" sz="6436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CORE TECHNICAL SKILLS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8479" y="3590672"/>
            <a:ext cx="17529521" cy="5667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6"/>
              </a:lnSpc>
            </a:pPr>
            <a:r>
              <a:rPr lang="en-US" sz="4551" dirty="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PROGRAMMING LANGUAGES:</a:t>
            </a:r>
          </a:p>
          <a:p>
            <a:pPr marL="982603" lvl="1" indent="-491302" algn="l">
              <a:lnSpc>
                <a:spcPts val="5006"/>
              </a:lnSpc>
              <a:buFont typeface="Arial"/>
              <a:buChar char="•"/>
            </a:pPr>
            <a:r>
              <a:rPr lang="en-US" sz="4551" dirty="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Python: Data manipulation, analysis, and visualization.</a:t>
            </a:r>
          </a:p>
          <a:p>
            <a:pPr marL="982603" lvl="1" indent="-491302" algn="l">
              <a:lnSpc>
                <a:spcPts val="5006"/>
              </a:lnSpc>
              <a:buFont typeface="Arial"/>
              <a:buChar char="•"/>
            </a:pPr>
            <a:r>
              <a:rPr lang="en-US" sz="4551" dirty="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R: Statistical analysis and modeling.</a:t>
            </a:r>
          </a:p>
          <a:p>
            <a:pPr algn="l">
              <a:lnSpc>
                <a:spcPts val="5006"/>
              </a:lnSpc>
            </a:pPr>
            <a:endParaRPr lang="en-US" sz="4551" dirty="0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  <a:p>
            <a:pPr algn="l">
              <a:lnSpc>
                <a:spcPts val="5006"/>
              </a:lnSpc>
            </a:pPr>
            <a:r>
              <a:rPr lang="en-US" sz="4551" dirty="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Data Wrangling &amp; Manipulation Tools:</a:t>
            </a:r>
          </a:p>
          <a:p>
            <a:pPr marL="982603" lvl="1" indent="-491302" algn="l">
              <a:lnSpc>
                <a:spcPts val="5006"/>
              </a:lnSpc>
              <a:buFont typeface="Arial"/>
              <a:buChar char="•"/>
            </a:pPr>
            <a:r>
              <a:rPr lang="en-US" sz="4551" dirty="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SQL: Managing and querying databases.</a:t>
            </a:r>
          </a:p>
          <a:p>
            <a:pPr marL="982603" lvl="1" indent="-491302" algn="l">
              <a:lnSpc>
                <a:spcPts val="5006"/>
              </a:lnSpc>
              <a:buFont typeface="Arial"/>
              <a:buChar char="•"/>
            </a:pPr>
            <a:r>
              <a:rPr lang="en-US" sz="4551" dirty="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Pandas &amp; </a:t>
            </a:r>
            <a:r>
              <a:rPr lang="en-US" sz="4551" dirty="0" err="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NumPy</a:t>
            </a:r>
            <a:r>
              <a:rPr lang="en-US" sz="4551" dirty="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: Data preprocessing in Python.</a:t>
            </a:r>
          </a:p>
          <a:p>
            <a:pPr algn="l">
              <a:lnSpc>
                <a:spcPts val="5006"/>
              </a:lnSpc>
              <a:spcBef>
                <a:spcPct val="0"/>
              </a:spcBef>
            </a:pPr>
            <a:endParaRPr lang="en-US" sz="4551" dirty="0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3379581" y="103908"/>
            <a:ext cx="11803514" cy="2768461"/>
          </a:xfrm>
          <a:custGeom>
            <a:avLst/>
            <a:gdLst/>
            <a:ahLst/>
            <a:cxnLst/>
            <a:rect l="l" t="t" r="r" b="b"/>
            <a:pathLst>
              <a:path w="11803514" h="2768461">
                <a:moveTo>
                  <a:pt x="11803514" y="0"/>
                </a:moveTo>
                <a:lnTo>
                  <a:pt x="0" y="0"/>
                </a:lnTo>
                <a:lnTo>
                  <a:pt x="0" y="2768461"/>
                </a:lnTo>
                <a:lnTo>
                  <a:pt x="11803514" y="2768461"/>
                </a:lnTo>
                <a:lnTo>
                  <a:pt x="1180351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956191" y="374855"/>
            <a:ext cx="10888318" cy="216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3"/>
              </a:lnSpc>
            </a:pPr>
            <a:r>
              <a:rPr lang="en-US" sz="5157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STATISTICAL </a:t>
            </a:r>
          </a:p>
          <a:p>
            <a:pPr algn="ctr">
              <a:lnSpc>
                <a:spcPts val="5673"/>
              </a:lnSpc>
            </a:pPr>
            <a:r>
              <a:rPr lang="en-US" sz="5157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AND </a:t>
            </a:r>
          </a:p>
          <a:p>
            <a:pPr algn="ctr">
              <a:lnSpc>
                <a:spcPts val="5673"/>
              </a:lnSpc>
            </a:pPr>
            <a:r>
              <a:rPr lang="en-US" sz="5157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ANALYTICAL SKILLS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09394" y="2904657"/>
            <a:ext cx="17224042" cy="7792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09"/>
              </a:lnSpc>
            </a:pPr>
            <a:r>
              <a:rPr lang="en-US" sz="5310" spc="-159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Understanding of Statistics:</a:t>
            </a:r>
          </a:p>
          <a:p>
            <a:pPr marL="1146620" lvl="1" indent="-573310" algn="l">
              <a:lnSpc>
                <a:spcPts val="8709"/>
              </a:lnSpc>
              <a:buFont typeface="Arial"/>
              <a:buChar char="•"/>
            </a:pPr>
            <a:r>
              <a:rPr lang="en-US" sz="5310" spc="-159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Descriptive statistics, probability, hypothesis testing.</a:t>
            </a:r>
          </a:p>
          <a:p>
            <a:pPr algn="l">
              <a:lnSpc>
                <a:spcPts val="8709"/>
              </a:lnSpc>
            </a:pPr>
            <a:r>
              <a:rPr lang="en-US" sz="5310" spc="-159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Analytical Mindset:</a:t>
            </a:r>
          </a:p>
          <a:p>
            <a:pPr marL="1146620" lvl="1" indent="-573310" algn="l">
              <a:lnSpc>
                <a:spcPts val="8709"/>
              </a:lnSpc>
              <a:buFont typeface="Arial"/>
              <a:buChar char="•"/>
            </a:pPr>
            <a:r>
              <a:rPr lang="en-US" sz="5310" spc="-159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Drawing actionable insights from data trends.</a:t>
            </a:r>
          </a:p>
          <a:p>
            <a:pPr algn="l">
              <a:lnSpc>
                <a:spcPts val="8709"/>
              </a:lnSpc>
            </a:pPr>
            <a:r>
              <a:rPr lang="en-US" sz="5310" spc="-159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Tools:</a:t>
            </a:r>
          </a:p>
          <a:p>
            <a:pPr marL="1146620" lvl="1" indent="-573310" algn="l">
              <a:lnSpc>
                <a:spcPts val="8709"/>
              </a:lnSpc>
              <a:buFont typeface="Arial"/>
              <a:buChar char="•"/>
            </a:pPr>
            <a:r>
              <a:rPr lang="en-US" sz="5310" spc="-159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Excel, SPSS, SAS.</a:t>
            </a:r>
          </a:p>
          <a:p>
            <a:pPr algn="l">
              <a:lnSpc>
                <a:spcPts val="8709"/>
              </a:lnSpc>
            </a:pPr>
            <a:endParaRPr lang="en-US" sz="5310" spc="-159">
              <a:solidFill>
                <a:srgbClr val="FFFFFF"/>
              </a:solidFill>
              <a:latin typeface="More Sugar Thin"/>
              <a:ea typeface="More Sugar Thin"/>
              <a:cs typeface="More Sugar Thin"/>
              <a:sym typeface="More Sugar Thi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rot="801493">
            <a:off x="1869036" y="887013"/>
            <a:ext cx="4982890" cy="2853837"/>
          </a:xfrm>
          <a:custGeom>
            <a:avLst/>
            <a:gdLst/>
            <a:ahLst/>
            <a:cxnLst/>
            <a:rect l="l" t="t" r="r" b="b"/>
            <a:pathLst>
              <a:path w="4982890" h="2853837">
                <a:moveTo>
                  <a:pt x="0" y="0"/>
                </a:moveTo>
                <a:lnTo>
                  <a:pt x="4982890" y="0"/>
                </a:lnTo>
                <a:lnTo>
                  <a:pt x="4982890" y="2853837"/>
                </a:lnTo>
                <a:lnTo>
                  <a:pt x="0" y="2853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801493">
            <a:off x="2309334" y="2444"/>
            <a:ext cx="4982890" cy="2853837"/>
          </a:xfrm>
          <a:custGeom>
            <a:avLst/>
            <a:gdLst/>
            <a:ahLst/>
            <a:cxnLst/>
            <a:rect l="l" t="t" r="r" b="b"/>
            <a:pathLst>
              <a:path w="4982890" h="2853837">
                <a:moveTo>
                  <a:pt x="0" y="0"/>
                </a:moveTo>
                <a:lnTo>
                  <a:pt x="4982890" y="0"/>
                </a:lnTo>
                <a:lnTo>
                  <a:pt x="4982890" y="2853837"/>
                </a:lnTo>
                <a:lnTo>
                  <a:pt x="0" y="2853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801493">
            <a:off x="5555033" y="869251"/>
            <a:ext cx="4982890" cy="2853837"/>
          </a:xfrm>
          <a:custGeom>
            <a:avLst/>
            <a:gdLst/>
            <a:ahLst/>
            <a:cxnLst/>
            <a:rect l="l" t="t" r="r" b="b"/>
            <a:pathLst>
              <a:path w="4982890" h="2853837">
                <a:moveTo>
                  <a:pt x="0" y="0"/>
                </a:moveTo>
                <a:lnTo>
                  <a:pt x="4982891" y="0"/>
                </a:lnTo>
                <a:lnTo>
                  <a:pt x="4982891" y="2853837"/>
                </a:lnTo>
                <a:lnTo>
                  <a:pt x="0" y="2853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01493">
            <a:off x="5879123" y="2444"/>
            <a:ext cx="4982890" cy="2853837"/>
          </a:xfrm>
          <a:custGeom>
            <a:avLst/>
            <a:gdLst/>
            <a:ahLst/>
            <a:cxnLst/>
            <a:rect l="l" t="t" r="r" b="b"/>
            <a:pathLst>
              <a:path w="4982890" h="2853837">
                <a:moveTo>
                  <a:pt x="0" y="0"/>
                </a:moveTo>
                <a:lnTo>
                  <a:pt x="4982890" y="0"/>
                </a:lnTo>
                <a:lnTo>
                  <a:pt x="4982890" y="2853837"/>
                </a:lnTo>
                <a:lnTo>
                  <a:pt x="0" y="2853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780016" y="1095875"/>
            <a:ext cx="8020175" cy="1718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18"/>
              </a:lnSpc>
            </a:pPr>
            <a:r>
              <a:rPr lang="en-US" sz="6489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MACHINE LEARNING SKILLS</a:t>
            </a:r>
          </a:p>
        </p:txBody>
      </p:sp>
      <p:sp>
        <p:nvSpPr>
          <p:cNvPr id="8" name="Freeform 8"/>
          <p:cNvSpPr/>
          <p:nvPr/>
        </p:nvSpPr>
        <p:spPr>
          <a:xfrm>
            <a:off x="14635873" y="202652"/>
            <a:ext cx="3652127" cy="4222559"/>
          </a:xfrm>
          <a:custGeom>
            <a:avLst/>
            <a:gdLst/>
            <a:ahLst/>
            <a:cxnLst/>
            <a:rect l="l" t="t" r="r" b="b"/>
            <a:pathLst>
              <a:path w="3652127" h="4222559">
                <a:moveTo>
                  <a:pt x="0" y="0"/>
                </a:moveTo>
                <a:lnTo>
                  <a:pt x="3652127" y="0"/>
                </a:lnTo>
                <a:lnTo>
                  <a:pt x="3652127" y="4222559"/>
                </a:lnTo>
                <a:lnTo>
                  <a:pt x="0" y="42225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78969" y="2814339"/>
            <a:ext cx="377229" cy="3516537"/>
          </a:xfrm>
          <a:custGeom>
            <a:avLst/>
            <a:gdLst/>
            <a:ahLst/>
            <a:cxnLst/>
            <a:rect l="l" t="t" r="r" b="b"/>
            <a:pathLst>
              <a:path w="377229" h="3516537">
                <a:moveTo>
                  <a:pt x="377229" y="0"/>
                </a:moveTo>
                <a:lnTo>
                  <a:pt x="0" y="0"/>
                </a:lnTo>
                <a:lnTo>
                  <a:pt x="0" y="3516538"/>
                </a:lnTo>
                <a:lnTo>
                  <a:pt x="377229" y="3516538"/>
                </a:lnTo>
                <a:lnTo>
                  <a:pt x="377229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3833100"/>
            <a:ext cx="17539025" cy="7030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6"/>
              </a:lnSpc>
            </a:pPr>
            <a:r>
              <a:rPr lang="en-US" sz="4597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KEY CONCEPTS:</a:t>
            </a:r>
          </a:p>
          <a:p>
            <a:pPr marL="992518" lvl="1" indent="-496259" algn="l">
              <a:lnSpc>
                <a:spcPts val="5056"/>
              </a:lnSpc>
              <a:buFont typeface="Arial"/>
              <a:buChar char="•"/>
            </a:pPr>
            <a:r>
              <a:rPr lang="en-US" sz="4597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Supervised and unsupervised learning.</a:t>
            </a:r>
          </a:p>
          <a:p>
            <a:pPr marL="992518" lvl="1" indent="-496259" algn="l">
              <a:lnSpc>
                <a:spcPts val="5056"/>
              </a:lnSpc>
              <a:buFont typeface="Arial"/>
              <a:buChar char="•"/>
            </a:pPr>
            <a:r>
              <a:rPr lang="en-US" sz="4597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Feature engineering and model evaluation.</a:t>
            </a:r>
          </a:p>
          <a:p>
            <a:pPr algn="l">
              <a:lnSpc>
                <a:spcPts val="5056"/>
              </a:lnSpc>
            </a:pPr>
            <a:endParaRPr lang="en-US" sz="4597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  <a:p>
            <a:pPr algn="l">
              <a:lnSpc>
                <a:spcPts val="5056"/>
              </a:lnSpc>
            </a:pPr>
            <a:r>
              <a:rPr lang="en-US" sz="4597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Tools &amp; Frameworks:</a:t>
            </a:r>
          </a:p>
          <a:p>
            <a:pPr marL="992518" lvl="1" indent="-496259" algn="l">
              <a:lnSpc>
                <a:spcPts val="5056"/>
              </a:lnSpc>
              <a:buFont typeface="Arial"/>
              <a:buChar char="•"/>
            </a:pPr>
            <a:r>
              <a:rPr lang="en-US" sz="4597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Scikit-learn, TensorFlow, PyTorch.</a:t>
            </a:r>
          </a:p>
          <a:p>
            <a:pPr algn="l">
              <a:lnSpc>
                <a:spcPts val="5056"/>
              </a:lnSpc>
            </a:pPr>
            <a:endParaRPr lang="en-US" sz="4597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  <a:p>
            <a:pPr algn="l">
              <a:lnSpc>
                <a:spcPts val="5056"/>
              </a:lnSpc>
            </a:pPr>
            <a:r>
              <a:rPr lang="en-US" sz="4597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Practical Application:</a:t>
            </a:r>
          </a:p>
          <a:p>
            <a:pPr marL="992518" lvl="1" indent="-496259" algn="l">
              <a:lnSpc>
                <a:spcPts val="5056"/>
              </a:lnSpc>
              <a:buFont typeface="Arial"/>
              <a:buChar char="•"/>
            </a:pPr>
            <a:r>
              <a:rPr lang="en-US" sz="4597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Building predictive models to solve business problems.</a:t>
            </a:r>
          </a:p>
          <a:p>
            <a:pPr algn="l">
              <a:lnSpc>
                <a:spcPts val="5056"/>
              </a:lnSpc>
              <a:spcBef>
                <a:spcPct val="0"/>
              </a:spcBef>
            </a:pPr>
            <a:endParaRPr lang="en-US" sz="4597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2402461" y="318253"/>
            <a:ext cx="8413862" cy="1973433"/>
          </a:xfrm>
          <a:custGeom>
            <a:avLst/>
            <a:gdLst/>
            <a:ahLst/>
            <a:cxnLst/>
            <a:rect l="l" t="t" r="r" b="b"/>
            <a:pathLst>
              <a:path w="8413862" h="1973433">
                <a:moveTo>
                  <a:pt x="8413862" y="0"/>
                </a:moveTo>
                <a:lnTo>
                  <a:pt x="0" y="0"/>
                </a:lnTo>
                <a:lnTo>
                  <a:pt x="0" y="1973433"/>
                </a:lnTo>
                <a:lnTo>
                  <a:pt x="8413862" y="1973433"/>
                </a:lnTo>
                <a:lnTo>
                  <a:pt x="841386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668553" y="5052218"/>
            <a:ext cx="2198272" cy="2329493"/>
          </a:xfrm>
          <a:custGeom>
            <a:avLst/>
            <a:gdLst/>
            <a:ahLst/>
            <a:cxnLst/>
            <a:rect l="l" t="t" r="r" b="b"/>
            <a:pathLst>
              <a:path w="2198272" h="2329493">
                <a:moveTo>
                  <a:pt x="0" y="0"/>
                </a:moveTo>
                <a:lnTo>
                  <a:pt x="2198272" y="0"/>
                </a:lnTo>
                <a:lnTo>
                  <a:pt x="2198272" y="2329493"/>
                </a:lnTo>
                <a:lnTo>
                  <a:pt x="0" y="23294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104059" y="698335"/>
            <a:ext cx="7712264" cy="1251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6"/>
              </a:lnSpc>
            </a:pPr>
            <a:r>
              <a:rPr lang="en-US" sz="4414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 DATA VISUALIZATION AND COMMUNICATION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3858" y="3133454"/>
            <a:ext cx="17394142" cy="5749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6"/>
              </a:lnSpc>
            </a:pPr>
            <a:r>
              <a:rPr lang="en-US" sz="417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IMPORTANCE OF VISUALIZATION:</a:t>
            </a:r>
          </a:p>
          <a:p>
            <a:pPr marL="902120" lvl="1" indent="-451060" algn="l">
              <a:lnSpc>
                <a:spcPts val="4596"/>
              </a:lnSpc>
              <a:buFont typeface="Arial"/>
              <a:buChar char="•"/>
            </a:pPr>
            <a:r>
              <a:rPr lang="en-US" sz="417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Transforming raw data into understandable insights.</a:t>
            </a:r>
          </a:p>
          <a:p>
            <a:pPr algn="l">
              <a:lnSpc>
                <a:spcPts val="4596"/>
              </a:lnSpc>
            </a:pPr>
            <a:endParaRPr lang="en-US" sz="4178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  <a:p>
            <a:pPr algn="l">
              <a:lnSpc>
                <a:spcPts val="4596"/>
              </a:lnSpc>
            </a:pPr>
            <a:r>
              <a:rPr lang="en-US" sz="417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Popular Tools:</a:t>
            </a:r>
          </a:p>
          <a:p>
            <a:pPr marL="902120" lvl="1" indent="-451060" algn="l">
              <a:lnSpc>
                <a:spcPts val="4596"/>
              </a:lnSpc>
              <a:buFont typeface="Arial"/>
              <a:buChar char="•"/>
            </a:pPr>
            <a:r>
              <a:rPr lang="en-US" sz="417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Tableau, Power BI, Matplotlib, Seaborn.</a:t>
            </a:r>
          </a:p>
          <a:p>
            <a:pPr algn="l">
              <a:lnSpc>
                <a:spcPts val="4596"/>
              </a:lnSpc>
            </a:pPr>
            <a:endParaRPr lang="en-US" sz="4178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  <a:p>
            <a:pPr algn="l">
              <a:lnSpc>
                <a:spcPts val="4596"/>
              </a:lnSpc>
            </a:pPr>
            <a:r>
              <a:rPr lang="en-US" sz="417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Soft Skills:</a:t>
            </a:r>
          </a:p>
          <a:p>
            <a:pPr marL="902120" lvl="1" indent="-451060" algn="l">
              <a:lnSpc>
                <a:spcPts val="4596"/>
              </a:lnSpc>
              <a:buFont typeface="Arial"/>
              <a:buChar char="•"/>
            </a:pPr>
            <a:r>
              <a:rPr lang="en-US" sz="417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Presenting insights effectively to stakeholders.</a:t>
            </a:r>
          </a:p>
          <a:p>
            <a:pPr algn="l">
              <a:lnSpc>
                <a:spcPts val="4596"/>
              </a:lnSpc>
            </a:pPr>
            <a:endParaRPr lang="en-US" sz="4178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3200400" y="170827"/>
            <a:ext cx="7315200" cy="1715747"/>
          </a:xfrm>
          <a:custGeom>
            <a:avLst/>
            <a:gdLst/>
            <a:ahLst/>
            <a:cxnLst/>
            <a:rect l="l" t="t" r="r" b="b"/>
            <a:pathLst>
              <a:path w="7315200" h="1715747">
                <a:moveTo>
                  <a:pt x="7315200" y="0"/>
                </a:moveTo>
                <a:lnTo>
                  <a:pt x="0" y="0"/>
                </a:lnTo>
                <a:lnTo>
                  <a:pt x="0" y="1715746"/>
                </a:lnTo>
                <a:lnTo>
                  <a:pt x="7315200" y="1715746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7178142" y="219829"/>
            <a:ext cx="7315200" cy="1715747"/>
          </a:xfrm>
          <a:custGeom>
            <a:avLst/>
            <a:gdLst/>
            <a:ahLst/>
            <a:cxnLst/>
            <a:rect l="l" t="t" r="r" b="b"/>
            <a:pathLst>
              <a:path w="7315200" h="1715747">
                <a:moveTo>
                  <a:pt x="7315200" y="0"/>
                </a:moveTo>
                <a:lnTo>
                  <a:pt x="0" y="0"/>
                </a:lnTo>
                <a:lnTo>
                  <a:pt x="0" y="1715747"/>
                </a:lnTo>
                <a:lnTo>
                  <a:pt x="7315200" y="171574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581422" y="2720871"/>
            <a:ext cx="4232234" cy="6190767"/>
          </a:xfrm>
          <a:custGeom>
            <a:avLst/>
            <a:gdLst/>
            <a:ahLst/>
            <a:cxnLst/>
            <a:rect l="l" t="t" r="r" b="b"/>
            <a:pathLst>
              <a:path w="4232234" h="6190767">
                <a:moveTo>
                  <a:pt x="0" y="0"/>
                </a:moveTo>
                <a:lnTo>
                  <a:pt x="4232234" y="0"/>
                </a:lnTo>
                <a:lnTo>
                  <a:pt x="4232234" y="6190767"/>
                </a:lnTo>
                <a:lnTo>
                  <a:pt x="0" y="61907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104907" y="358208"/>
            <a:ext cx="10078187" cy="1486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5302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BIG DATA AND CLOUD COMPUTING SKILLS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7567" y="2245408"/>
            <a:ext cx="11760867" cy="8974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622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BIG DATA TOOLS:</a:t>
            </a:r>
          </a:p>
          <a:p>
            <a:pPr marL="997993" lvl="1" indent="-498996" algn="l">
              <a:lnSpc>
                <a:spcPts val="5084"/>
              </a:lnSpc>
              <a:buFont typeface="Arial"/>
              <a:buChar char="•"/>
            </a:pPr>
            <a:r>
              <a:rPr lang="en-US" sz="4622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Hadoop, Spark for processing massive datasets.</a:t>
            </a:r>
          </a:p>
          <a:p>
            <a:pPr algn="l">
              <a:lnSpc>
                <a:spcPts val="5084"/>
              </a:lnSpc>
            </a:pPr>
            <a:endParaRPr lang="en-US" sz="4622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  <a:p>
            <a:pPr algn="l">
              <a:lnSpc>
                <a:spcPts val="5084"/>
              </a:lnSpc>
            </a:pPr>
            <a:r>
              <a:rPr lang="en-US" sz="4622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CLOUD PLATFORMS:</a:t>
            </a:r>
          </a:p>
          <a:p>
            <a:pPr marL="997993" lvl="1" indent="-498996" algn="l">
              <a:lnSpc>
                <a:spcPts val="5084"/>
              </a:lnSpc>
              <a:buFont typeface="Arial"/>
              <a:buChar char="•"/>
            </a:pPr>
            <a:r>
              <a:rPr lang="en-US" sz="4622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AWS, AZURE, GOOGLE CLOUD FOR SCALABLE STORAGE AND COMPUTING.</a:t>
            </a:r>
          </a:p>
          <a:p>
            <a:pPr algn="l">
              <a:lnSpc>
                <a:spcPts val="5084"/>
              </a:lnSpc>
            </a:pPr>
            <a:endParaRPr lang="en-US" sz="4622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  <a:p>
            <a:pPr algn="l">
              <a:lnSpc>
                <a:spcPts val="5084"/>
              </a:lnSpc>
            </a:pPr>
            <a:r>
              <a:rPr lang="en-US" sz="4622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RELEVANCE:</a:t>
            </a:r>
          </a:p>
          <a:p>
            <a:pPr marL="997993" lvl="1" indent="-498996" algn="l">
              <a:lnSpc>
                <a:spcPts val="5084"/>
              </a:lnSpc>
              <a:buFont typeface="Arial"/>
              <a:buChar char="•"/>
            </a:pPr>
            <a:r>
              <a:rPr lang="en-US" sz="4622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MANAGING LARGE-SCALE DATA INFRASTRUCTURE.</a:t>
            </a:r>
          </a:p>
          <a:p>
            <a:pPr algn="l">
              <a:lnSpc>
                <a:spcPts val="5084"/>
              </a:lnSpc>
            </a:pPr>
            <a:endParaRPr lang="en-US" sz="4622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  <a:p>
            <a:pPr algn="l">
              <a:lnSpc>
                <a:spcPts val="5084"/>
              </a:lnSpc>
              <a:spcBef>
                <a:spcPct val="0"/>
              </a:spcBef>
            </a:pPr>
            <a:endParaRPr lang="en-US" sz="4622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767540" y="4148147"/>
            <a:ext cx="4520460" cy="3504361"/>
          </a:xfrm>
          <a:custGeom>
            <a:avLst/>
            <a:gdLst/>
            <a:ahLst/>
            <a:cxnLst/>
            <a:rect l="l" t="t" r="r" b="b"/>
            <a:pathLst>
              <a:path w="4520460" h="3504361">
                <a:moveTo>
                  <a:pt x="0" y="0"/>
                </a:moveTo>
                <a:lnTo>
                  <a:pt x="4520460" y="0"/>
                </a:lnTo>
                <a:lnTo>
                  <a:pt x="4520460" y="3504361"/>
                </a:lnTo>
                <a:lnTo>
                  <a:pt x="0" y="35043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2197086" y="424680"/>
            <a:ext cx="9124322" cy="2140068"/>
          </a:xfrm>
          <a:custGeom>
            <a:avLst/>
            <a:gdLst/>
            <a:ahLst/>
            <a:cxnLst/>
            <a:rect l="l" t="t" r="r" b="b"/>
            <a:pathLst>
              <a:path w="9124322" h="2140068">
                <a:moveTo>
                  <a:pt x="9124322" y="0"/>
                </a:moveTo>
                <a:lnTo>
                  <a:pt x="0" y="0"/>
                </a:lnTo>
                <a:lnTo>
                  <a:pt x="0" y="2140069"/>
                </a:lnTo>
                <a:lnTo>
                  <a:pt x="9124322" y="2140069"/>
                </a:lnTo>
                <a:lnTo>
                  <a:pt x="912432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2871336" y="860303"/>
            <a:ext cx="5409711" cy="1268823"/>
          </a:xfrm>
          <a:custGeom>
            <a:avLst/>
            <a:gdLst/>
            <a:ahLst/>
            <a:cxnLst/>
            <a:rect l="l" t="t" r="r" b="b"/>
            <a:pathLst>
              <a:path w="5409711" h="1268823">
                <a:moveTo>
                  <a:pt x="5409711" y="0"/>
                </a:moveTo>
                <a:lnTo>
                  <a:pt x="0" y="0"/>
                </a:lnTo>
                <a:lnTo>
                  <a:pt x="0" y="1268823"/>
                </a:lnTo>
                <a:lnTo>
                  <a:pt x="5409711" y="1268823"/>
                </a:lnTo>
                <a:lnTo>
                  <a:pt x="540971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457185" y="526160"/>
            <a:ext cx="8101603" cy="1984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44"/>
              </a:lnSpc>
            </a:pPr>
            <a:r>
              <a:rPr lang="en-US" sz="4767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PROBLEM-SOLVING </a:t>
            </a:r>
          </a:p>
          <a:p>
            <a:pPr algn="ctr">
              <a:lnSpc>
                <a:spcPts val="5244"/>
              </a:lnSpc>
            </a:pPr>
            <a:r>
              <a:rPr lang="en-US" sz="4767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AND </a:t>
            </a:r>
          </a:p>
          <a:p>
            <a:pPr algn="ctr">
              <a:lnSpc>
                <a:spcPts val="5244"/>
              </a:lnSpc>
            </a:pPr>
            <a:r>
              <a:rPr lang="en-US" sz="4767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DOMAIN EXPERTISE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5669" y="2985961"/>
            <a:ext cx="13519747" cy="7562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3"/>
              </a:lnSpc>
            </a:pPr>
            <a:r>
              <a:rPr lang="en-US" sz="4503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CRITICAL THINKING:</a:t>
            </a:r>
          </a:p>
          <a:p>
            <a:pPr marL="972259" lvl="1" indent="-486130" algn="l">
              <a:lnSpc>
                <a:spcPts val="4953"/>
              </a:lnSpc>
              <a:buFont typeface="Arial"/>
              <a:buChar char="•"/>
            </a:pPr>
            <a:r>
              <a:rPr lang="en-US" sz="4503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Solving complex business challenges through data.</a:t>
            </a:r>
          </a:p>
          <a:p>
            <a:pPr algn="l">
              <a:lnSpc>
                <a:spcPts val="4953"/>
              </a:lnSpc>
            </a:pPr>
            <a:endParaRPr lang="en-US" sz="4503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  <a:p>
            <a:pPr algn="l">
              <a:lnSpc>
                <a:spcPts val="4953"/>
              </a:lnSpc>
            </a:pPr>
            <a:r>
              <a:rPr lang="en-US" sz="4503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Domain Knowledge:</a:t>
            </a:r>
          </a:p>
          <a:p>
            <a:pPr marL="972259" lvl="1" indent="-486130" algn="l">
              <a:lnSpc>
                <a:spcPts val="4953"/>
              </a:lnSpc>
              <a:buFont typeface="Arial"/>
              <a:buChar char="•"/>
            </a:pPr>
            <a:r>
              <a:rPr lang="en-US" sz="4503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Understanding the industry you're working in (e.g., healthcare, finance).</a:t>
            </a:r>
          </a:p>
          <a:p>
            <a:pPr algn="l">
              <a:lnSpc>
                <a:spcPts val="4953"/>
              </a:lnSpc>
            </a:pPr>
            <a:endParaRPr lang="en-US" sz="4503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  <a:p>
            <a:pPr algn="l">
              <a:lnSpc>
                <a:spcPts val="4953"/>
              </a:lnSpc>
            </a:pPr>
            <a:r>
              <a:rPr lang="en-US" sz="4503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Real-World Application:</a:t>
            </a:r>
          </a:p>
          <a:p>
            <a:pPr marL="972259" lvl="1" indent="-486130" algn="l">
              <a:lnSpc>
                <a:spcPts val="4953"/>
              </a:lnSpc>
              <a:buFont typeface="Arial"/>
              <a:buChar char="•"/>
            </a:pPr>
            <a:r>
              <a:rPr lang="en-US" sz="4503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Collaborating with teams to create impact.</a:t>
            </a:r>
          </a:p>
          <a:p>
            <a:pPr algn="l">
              <a:lnSpc>
                <a:spcPts val="4953"/>
              </a:lnSpc>
              <a:spcBef>
                <a:spcPct val="0"/>
              </a:spcBef>
            </a:pPr>
            <a:endParaRPr lang="en-US" sz="4503">
              <a:solidFill>
                <a:srgbClr val="FFFFFF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3802222" y="521182"/>
            <a:ext cx="5966165" cy="1399337"/>
          </a:xfrm>
          <a:custGeom>
            <a:avLst/>
            <a:gdLst/>
            <a:ahLst/>
            <a:cxnLst/>
            <a:rect l="l" t="t" r="r" b="b"/>
            <a:pathLst>
              <a:path w="5966165" h="1399337">
                <a:moveTo>
                  <a:pt x="5966165" y="0"/>
                </a:moveTo>
                <a:lnTo>
                  <a:pt x="0" y="0"/>
                </a:lnTo>
                <a:lnTo>
                  <a:pt x="0" y="1399337"/>
                </a:lnTo>
                <a:lnTo>
                  <a:pt x="5966165" y="1399337"/>
                </a:lnTo>
                <a:lnTo>
                  <a:pt x="596616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7353039" y="521182"/>
            <a:ext cx="5966165" cy="1399337"/>
          </a:xfrm>
          <a:custGeom>
            <a:avLst/>
            <a:gdLst/>
            <a:ahLst/>
            <a:cxnLst/>
            <a:rect l="l" t="t" r="r" b="b"/>
            <a:pathLst>
              <a:path w="5966165" h="1399337">
                <a:moveTo>
                  <a:pt x="5966165" y="0"/>
                </a:moveTo>
                <a:lnTo>
                  <a:pt x="0" y="0"/>
                </a:lnTo>
                <a:lnTo>
                  <a:pt x="0" y="1399337"/>
                </a:lnTo>
                <a:lnTo>
                  <a:pt x="5966165" y="1399337"/>
                </a:lnTo>
                <a:lnTo>
                  <a:pt x="596616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22700" y="3953359"/>
            <a:ext cx="715571" cy="3896675"/>
          </a:xfrm>
          <a:custGeom>
            <a:avLst/>
            <a:gdLst/>
            <a:ahLst/>
            <a:cxnLst/>
            <a:rect l="l" t="t" r="r" b="b"/>
            <a:pathLst>
              <a:path w="715571" h="3896675">
                <a:moveTo>
                  <a:pt x="0" y="0"/>
                </a:moveTo>
                <a:lnTo>
                  <a:pt x="715571" y="0"/>
                </a:lnTo>
                <a:lnTo>
                  <a:pt x="715571" y="3896675"/>
                </a:lnTo>
                <a:lnTo>
                  <a:pt x="0" y="38966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7215839" y="4698794"/>
            <a:ext cx="715571" cy="3896675"/>
          </a:xfrm>
          <a:custGeom>
            <a:avLst/>
            <a:gdLst/>
            <a:ahLst/>
            <a:cxnLst/>
            <a:rect l="l" t="t" r="r" b="b"/>
            <a:pathLst>
              <a:path w="715571" h="3896675">
                <a:moveTo>
                  <a:pt x="715572" y="0"/>
                </a:moveTo>
                <a:lnTo>
                  <a:pt x="0" y="0"/>
                </a:lnTo>
                <a:lnTo>
                  <a:pt x="0" y="3896675"/>
                </a:lnTo>
                <a:lnTo>
                  <a:pt x="715572" y="3896675"/>
                </a:lnTo>
                <a:lnTo>
                  <a:pt x="71557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658580" y="853938"/>
            <a:ext cx="8219615" cy="1066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7505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52501" y="3623431"/>
            <a:ext cx="15149013" cy="4972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7"/>
              </a:lnSpc>
            </a:pPr>
            <a:r>
              <a:rPr lang="en-US" sz="445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DATA SCIENCE DEMANDS A MIX OF TECHNICAL SKILLS, ANALYTICAL THINKING, AND EFFECTIVE COMMUNICATION. BY MASTERING KEY AREAS LIKE PROGRAMMING, STATISTICS, AND MACHINE LEARNING, YOU CAN TACKLE COMPLEX PROBLEMS AND MAKE DATA-DRIVEN DECISIONS. KEEP LEARNING AND GAINING EXPERIENCE TO EXCEL IN THIS DYNAMIC FIELD!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rot="-156245">
            <a:off x="2911064" y="3652043"/>
            <a:ext cx="11667627" cy="2736589"/>
          </a:xfrm>
          <a:custGeom>
            <a:avLst/>
            <a:gdLst/>
            <a:ahLst/>
            <a:cxnLst/>
            <a:rect l="l" t="t" r="r" b="b"/>
            <a:pathLst>
              <a:path w="11667627" h="2736589">
                <a:moveTo>
                  <a:pt x="0" y="0"/>
                </a:moveTo>
                <a:lnTo>
                  <a:pt x="11667627" y="0"/>
                </a:lnTo>
                <a:lnTo>
                  <a:pt x="11667627" y="2736589"/>
                </a:lnTo>
                <a:lnTo>
                  <a:pt x="0" y="27365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 rot="-234792">
            <a:off x="3246169" y="4611499"/>
            <a:ext cx="11020820" cy="1159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95"/>
              </a:lnSpc>
            </a:pPr>
            <a:r>
              <a:rPr lang="en-US" sz="9875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 rot="10697411">
            <a:off x="-202019" y="7939331"/>
            <a:ext cx="3387936" cy="2297637"/>
          </a:xfrm>
          <a:custGeom>
            <a:avLst/>
            <a:gdLst/>
            <a:ahLst/>
            <a:cxnLst/>
            <a:rect l="l" t="t" r="r" b="b"/>
            <a:pathLst>
              <a:path w="3387936" h="2297637">
                <a:moveTo>
                  <a:pt x="0" y="0"/>
                </a:moveTo>
                <a:lnTo>
                  <a:pt x="3387936" y="0"/>
                </a:lnTo>
                <a:lnTo>
                  <a:pt x="3387936" y="2297637"/>
                </a:lnTo>
                <a:lnTo>
                  <a:pt x="0" y="22976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829267">
            <a:off x="14886951" y="6990238"/>
            <a:ext cx="4249420" cy="2881879"/>
          </a:xfrm>
          <a:custGeom>
            <a:avLst/>
            <a:gdLst/>
            <a:ahLst/>
            <a:cxnLst/>
            <a:rect l="l" t="t" r="r" b="b"/>
            <a:pathLst>
              <a:path w="4249420" h="2881879">
                <a:moveTo>
                  <a:pt x="0" y="0"/>
                </a:moveTo>
                <a:lnTo>
                  <a:pt x="4249420" y="0"/>
                </a:lnTo>
                <a:lnTo>
                  <a:pt x="4249420" y="2881879"/>
                </a:lnTo>
                <a:lnTo>
                  <a:pt x="0" y="28818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391118">
            <a:off x="13765446" y="-1798463"/>
            <a:ext cx="4496513" cy="4657405"/>
          </a:xfrm>
          <a:custGeom>
            <a:avLst/>
            <a:gdLst/>
            <a:ahLst/>
            <a:cxnLst/>
            <a:rect l="l" t="t" r="r" b="b"/>
            <a:pathLst>
              <a:path w="4496513" h="4657405">
                <a:moveTo>
                  <a:pt x="0" y="0"/>
                </a:moveTo>
                <a:lnTo>
                  <a:pt x="4496513" y="0"/>
                </a:lnTo>
                <a:lnTo>
                  <a:pt x="4496513" y="4657404"/>
                </a:lnTo>
                <a:lnTo>
                  <a:pt x="0" y="46574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97523">
            <a:off x="11149669" y="1996812"/>
            <a:ext cx="1885747" cy="1296022"/>
          </a:xfrm>
          <a:custGeom>
            <a:avLst/>
            <a:gdLst/>
            <a:ahLst/>
            <a:cxnLst/>
            <a:rect l="l" t="t" r="r" b="b"/>
            <a:pathLst>
              <a:path w="1885747" h="1296022">
                <a:moveTo>
                  <a:pt x="0" y="0"/>
                </a:moveTo>
                <a:lnTo>
                  <a:pt x="1885747" y="0"/>
                </a:lnTo>
                <a:lnTo>
                  <a:pt x="1885747" y="1296022"/>
                </a:lnTo>
                <a:lnTo>
                  <a:pt x="0" y="12960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347</Words>
  <Application>Microsoft Office PowerPoint</Application>
  <PresentationFormat>Custom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More Sugar</vt:lpstr>
      <vt:lpstr>More Sugar Thin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 Needed to Become a Data Scientist</dc:title>
  <dc:creator>Admin</dc:creator>
  <cp:lastModifiedBy>Bosubabu Sambana</cp:lastModifiedBy>
  <cp:revision>5</cp:revision>
  <dcterms:created xsi:type="dcterms:W3CDTF">2006-08-16T00:00:00Z</dcterms:created>
  <dcterms:modified xsi:type="dcterms:W3CDTF">2026-07-15T04:32:35Z</dcterms:modified>
  <dc:identifier>DAGcQIdCECk</dc:identifier>
  <cp:contentStatus/>
</cp:coreProperties>
</file>