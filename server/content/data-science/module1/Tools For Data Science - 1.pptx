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225" y="394215"/>
            <a:ext cx="58146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1427" y="164591"/>
            <a:ext cx="7657987" cy="803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294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drewconway.com/zia/2013/3/26/the-data-science-venn-diagra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dnuggets.com/2014/05/guide-to-data-science-cheat-sheet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csrc.nist.gov/publications/nistpubs/800-145/SP800-145.pdf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://csrc.nist.gov/publications/nistpubs/800-145/SP800-145.pdf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s.com/en_us/insights/big-data/what-is-big-data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bmbigdatahub.com/infographic/four-vs-big-data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hadoop.apache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mahout.apache.org/" TargetMode="External"/><Relationship Id="rId3" Type="http://schemas.openxmlformats.org/officeDocument/2006/relationships/hyperlink" Target="http://avro.apache.org/" TargetMode="External"/><Relationship Id="rId7" Type="http://schemas.openxmlformats.org/officeDocument/2006/relationships/hyperlink" Target="http://hive.apache.org/" TargetMode="External"/><Relationship Id="rId12" Type="http://schemas.openxmlformats.org/officeDocument/2006/relationships/hyperlink" Target="http://zookeeper.apache.org/" TargetMode="External"/><Relationship Id="rId2" Type="http://schemas.openxmlformats.org/officeDocument/2006/relationships/hyperlink" Target="http://incubator.apache.org/ambari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base.apache.org/" TargetMode="External"/><Relationship Id="rId11" Type="http://schemas.openxmlformats.org/officeDocument/2006/relationships/hyperlink" Target="http://tez.incubator.apache.org/" TargetMode="External"/><Relationship Id="rId5" Type="http://schemas.openxmlformats.org/officeDocument/2006/relationships/hyperlink" Target="http://incubator.apache.org/chukwa/" TargetMode="External"/><Relationship Id="rId10" Type="http://schemas.openxmlformats.org/officeDocument/2006/relationships/hyperlink" Target="http://spark.incubator.apache.org/" TargetMode="External"/><Relationship Id="rId4" Type="http://schemas.openxmlformats.org/officeDocument/2006/relationships/hyperlink" Target="http://cassandra.apache.org/" TargetMode="External"/><Relationship Id="rId9" Type="http://schemas.openxmlformats.org/officeDocument/2006/relationships/hyperlink" Target="http://pig.apache.or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yahoo.com/hadoop/tutorial/module1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yahoo.com/hadoop/tutorial/module2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omdev.com/2010/12/interview-questions-hadoop-mapreduce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datastax.com/nosql-databases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-project.org/about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cran.r-project.org/bin/windows/base/" TargetMode="Externa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www.rstudio.com/products/rstudio/download/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hyperlink" Target="http://www.tableausoftware.com/new-features/r-integration" TargetMode="External"/><Relationship Id="rId7" Type="http://schemas.openxmlformats.org/officeDocument/2006/relationships/hyperlink" Target="http://blogs.sas.com/jmp/index.php?/archives/298-JMP-Into-R!.html" TargetMode="External"/><Relationship Id="rId2" Type="http://schemas.openxmlformats.org/officeDocument/2006/relationships/hyperlink" Target="https://rforanalytics.wordpress.com/useful-links-for-r/using-r-from-other-softwar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apid-i.com/content/view/202/206/lang%2Cen/#r" TargetMode="External"/><Relationship Id="rId5" Type="http://schemas.openxmlformats.org/officeDocument/2006/relationships/hyperlink" Target="http://www.oracle.com/technetwork/database/database-technologies/r/r-enterprise/overview/index.html" TargetMode="External"/><Relationship Id="rId4" Type="http://schemas.openxmlformats.org/officeDocument/2006/relationships/hyperlink" Target="http://qliksolutions.ru/qlikview/add-ons/r-connector-eng/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hyperlink" Target="http://www.sas.com/technologies/analytics/statistics/iml/index.html" TargetMode="External"/><Relationship Id="rId7" Type="http://schemas.openxmlformats.org/officeDocument/2006/relationships/hyperlink" Target="http://spotfire.tibco.com/discover-spotfire/what-does-spotfire-do/predictive-analytics/tibco-enterprise-runtime-for-r-terr" TargetMode="External"/><Relationship Id="rId2" Type="http://schemas.openxmlformats.org/officeDocument/2006/relationships/hyperlink" Target="https://rforanalytics.wordpress.com/useful-links-for-r/using-r-from-other-softwar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14.software.ibm.com/webapp/iwm/web/signup.do?source=ibm-analytics&amp;S_PKG=ov18855&amp;S_TACT=M161003W&amp;dynform=127&amp;lang=en_US" TargetMode="External"/><Relationship Id="rId5" Type="http://schemas.openxmlformats.org/officeDocument/2006/relationships/hyperlink" Target="http://cran.r-project.org/web/packages/RWeka/index.html" TargetMode="External"/><Relationship Id="rId4" Type="http://schemas.openxmlformats.org/officeDocument/2006/relationships/hyperlink" Target="http://developer.teradata.com/applications/articles/in-database-analytics-with-teradata-r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jpg"/><Relationship Id="rId4" Type="http://schemas.openxmlformats.org/officeDocument/2006/relationships/hyperlink" Target="http://www.sas.com/en_in/software/university-edition/download-software.html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ython.org/about/success/" TargetMode="External"/><Relationship Id="rId3" Type="http://schemas.openxmlformats.org/officeDocument/2006/relationships/hyperlink" Target="https://en.wikipedia.org/wiki/High-level_programming_language" TargetMode="External"/><Relationship Id="rId7" Type="http://schemas.openxmlformats.org/officeDocument/2006/relationships/hyperlink" Target="https://en.wikipedia.org/wiki/Java_(programming_language)" TargetMode="External"/><Relationship Id="rId2" Type="http://schemas.openxmlformats.org/officeDocument/2006/relationships/hyperlink" Target="https://en.wikipedia.org/wiki/General-purpose_programming_langu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%2B%2B" TargetMode="External"/><Relationship Id="rId5" Type="http://schemas.openxmlformats.org/officeDocument/2006/relationships/hyperlink" Target="https://en.wikipedia.org/wiki/Lines_of_code" TargetMode="External"/><Relationship Id="rId4" Type="http://schemas.openxmlformats.org/officeDocument/2006/relationships/hyperlink" Target="https://en.wikipedia.org/wiki/Readability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Object_(computer_science)" TargetMode="External"/><Relationship Id="rId13" Type="http://schemas.openxmlformats.org/officeDocument/2006/relationships/hyperlink" Target="https://en.wikipedia.org/wiki/Computer_science" TargetMode="External"/><Relationship Id="rId18" Type="http://schemas.openxmlformats.org/officeDocument/2006/relationships/hyperlink" Target="https://en.wikipedia.org/wiki/Machine_code" TargetMode="External"/><Relationship Id="rId3" Type="http://schemas.openxmlformats.org/officeDocument/2006/relationships/hyperlink" Target="https://en.wikipedia.org/wiki/Variable_(computer_science)" TargetMode="External"/><Relationship Id="rId7" Type="http://schemas.openxmlformats.org/officeDocument/2006/relationships/hyperlink" Target="https://en.wikipedia.org/wiki/Programming_paradigm" TargetMode="External"/><Relationship Id="rId12" Type="http://schemas.openxmlformats.org/officeDocument/2006/relationships/hyperlink" Target="https://en.wikipedia.org/wiki/Method_(computer_science)" TargetMode="External"/><Relationship Id="rId17" Type="http://schemas.openxmlformats.org/officeDocument/2006/relationships/hyperlink" Target="https://en.wikipedia.org/wiki/Assembly_language" TargetMode="External"/><Relationship Id="rId2" Type="http://schemas.openxmlformats.org/officeDocument/2006/relationships/hyperlink" Target="https://en.wikipedia.org/wiki/Computer_program" TargetMode="External"/><Relationship Id="rId16" Type="http://schemas.openxmlformats.org/officeDocument/2006/relationships/hyperlink" Target="https://en.wikipedia.org/wiki/Compil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odular_programming" TargetMode="External"/><Relationship Id="rId11" Type="http://schemas.openxmlformats.org/officeDocument/2006/relationships/hyperlink" Target="https://en.wikipedia.org/wiki/Field_(computer_science)" TargetMode="External"/><Relationship Id="rId5" Type="http://schemas.openxmlformats.org/officeDocument/2006/relationships/hyperlink" Target="https://en.wikipedia.org/wiki/Function_(computer_science)" TargetMode="External"/><Relationship Id="rId15" Type="http://schemas.openxmlformats.org/officeDocument/2006/relationships/hyperlink" Target="https://en.wikipedia.org/wiki/Run_time_(program_lifecycle_phase)" TargetMode="External"/><Relationship Id="rId10" Type="http://schemas.openxmlformats.org/officeDocument/2006/relationships/hyperlink" Target="https://en.wikipedia.org/wiki/Data" TargetMode="External"/><Relationship Id="rId4" Type="http://schemas.openxmlformats.org/officeDocument/2006/relationships/hyperlink" Target="https://en.wikipedia.org/wiki/Expression_(computer_science)" TargetMode="External"/><Relationship Id="rId9" Type="http://schemas.openxmlformats.org/officeDocument/2006/relationships/hyperlink" Target="https://en.wikipedia.org/wiki/Data_structure" TargetMode="External"/><Relationship Id="rId14" Type="http://schemas.openxmlformats.org/officeDocument/2006/relationships/hyperlink" Target="https://en.wikipedia.org/wiki/High-level_programming_language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hyperlink" Target="http://introcs.cs.princeton.edu/java/11cheatsheet/" TargetMode="Externa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://www.linuxstall.com/linux-command-line-tips-that-every-linux-user-should-know/" TargetMode="Externa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hyperlink" Target="http://www.codeproject.com/Articles/33052/Visual-Representation-of-SQL-Joins" TargetMode="Externa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hyperlink" Target="http://hortonworks.com/wp-content/uploads/downloads/2013/08/Hortonworks.CheatSheet.SQLtoHive.pdf" TargetMode="Externa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hyperlink" Target="http://www.astro.up.pt/~sousasag/Python_For_Astronomers/Python_qr.pdf" TargetMode="Externa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hyperlink" Target="https://s3.amazonaws.com/quandl-static-content/Documents/Quandl%2B-%2BPandas%2C%2BSciPy%2C%2BNumPy%2BCheat%2BSheet.pdf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hyperlink" Target="http://cran.r-project.org/doc/contrib/Short-refcard.pdf" TargetMode="Externa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hyperlink" Target="https://github.com/michiard/CLOUDS-LAB/blob/master/C-S.md" TargetMode="Externa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git.or.cz/" TargetMode="Externa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uxstall.com/linux-command-line-tips-that-every-linux-user-should-know/" TargetMode="External"/><Relationship Id="rId3" Type="http://schemas.openxmlformats.org/officeDocument/2006/relationships/hyperlink" Target="https://github.com/michiard/CLOUDS-LAB/blob/master/C-S.md" TargetMode="External"/><Relationship Id="rId7" Type="http://schemas.openxmlformats.org/officeDocument/2006/relationships/hyperlink" Target="http://introcs.cs.princeton.edu/java/11cheatsheet/" TargetMode="External"/><Relationship Id="rId2" Type="http://schemas.openxmlformats.org/officeDocument/2006/relationships/hyperlink" Target="http://www.slideshare.net/Mathias-Herberts/hadoop-pig-syntax-car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stro.up.pt/~sousasag/Python_For_Astronomers/Python_qr.pdf" TargetMode="External"/><Relationship Id="rId5" Type="http://schemas.openxmlformats.org/officeDocument/2006/relationships/hyperlink" Target="https://s3.amazonaws.com/quandl-static-content/Documents/Quandl%2B-%2BPandas%2C%2BSciPy%2C%2BNumPy%2BCheat%2BSheet.pdf" TargetMode="External"/><Relationship Id="rId10" Type="http://schemas.openxmlformats.org/officeDocument/2006/relationships/hyperlink" Target="http://overapi.com/static/cs/git-cheat-sheet.pdf" TargetMode="External"/><Relationship Id="rId4" Type="http://schemas.openxmlformats.org/officeDocument/2006/relationships/hyperlink" Target="http://cran.r-project.org/doc/contrib/Short-refcard.pdf" TargetMode="External"/><Relationship Id="rId9" Type="http://schemas.openxmlformats.org/officeDocument/2006/relationships/hyperlink" Target="http://www.codeproject.com/Articles/33052/Visual-Representation-of-SQL-Joins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-project.org/about.html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hyperlink" Target="http://python-history.blogspot.in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hyperlink" Target="http://www.sas.com/en_in/home.html" TargetMode="Externa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://spark.apache.org/" TargetMode="Externa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mahout.apache.org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mahout.apache.org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Distance" TargetMode="External"/><Relationship Id="rId3" Type="http://schemas.openxmlformats.org/officeDocument/2006/relationships/hyperlink" Target="http://en.wikipedia.org/wiki/Supervised_learning#cite_note-1" TargetMode="External"/><Relationship Id="rId7" Type="http://schemas.openxmlformats.org/officeDocument/2006/relationships/hyperlink" Target="http://en.wikipedia.org/wiki/Cluster_analysis" TargetMode="External"/><Relationship Id="rId2" Type="http://schemas.openxmlformats.org/officeDocument/2006/relationships/hyperlink" Target="http://en.wikipedia.org/wiki/Machine_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Unsupervised_learning" TargetMode="External"/><Relationship Id="rId5" Type="http://schemas.openxmlformats.org/officeDocument/2006/relationships/hyperlink" Target="http://en.wikipedia.org/wiki/Supervised_learning" TargetMode="External"/><Relationship Id="rId4" Type="http://schemas.openxmlformats.org/officeDocument/2006/relationships/hyperlink" Target="http://en.wikipedia.org/wiki/Training_set" TargetMode="External"/><Relationship Id="rId9" Type="http://schemas.openxmlformats.org/officeDocument/2006/relationships/hyperlink" Target="http://en.wikipedia.org/wiki/Vector_space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cran.r-project.org/web/views/MachineLearning.html" TargetMode="External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hyperlink" Target="http://scikit-learn.org/stable/" TargetMode="Externa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Email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hyperlink" Target="http://axon.cs.byu.edu/Dan/678/miscellaneous/SVM.example.pdf" TargetMode="Externa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ssociation_rule_learning#cite_note-mining-2" TargetMode="External"/><Relationship Id="rId7" Type="http://schemas.openxmlformats.org/officeDocument/2006/relationships/image" Target="../media/image73.png"/><Relationship Id="rId2" Type="http://schemas.openxmlformats.org/officeDocument/2006/relationships/hyperlink" Target="http://en.wikipedia.org/wiki/Association_rule_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orange.biolab.si/docs/latest/reference/rst/Orange.associate/" TargetMode="External"/><Relationship Id="rId5" Type="http://schemas.openxmlformats.org/officeDocument/2006/relationships/hyperlink" Target="http://en.wikipedia.org/wiki/Sequence_mining" TargetMode="External"/><Relationship Id="rId4" Type="http://schemas.openxmlformats.org/officeDocument/2006/relationships/hyperlink" Target="http://en.wikipedia.org/wiki/Point-of-sale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olostate.edu/%7Eanderson/cs545/Lectures/week6day2/week6day2.pdf" TargetMode="External"/><Relationship Id="rId2" Type="http://schemas.openxmlformats.org/officeDocument/2006/relationships/hyperlink" Target="http://econometricsense.blogspot.in/2011/11/gradient-descent-in-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hyperlink" Target="https://spin.atomicobject.com/2014/06/24/gradient-descent-linear-regression/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hyperlink" Target="http://select.cs.cmu.edu/class/10701-F09/recitations/recitation4_decision_tree.pdf" TargetMode="Externa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hyperlink" Target="http://www.ise.bgu.ac.il/faculty/liorr/hbchap9.pdf" TargetMode="Externa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.berkeley.edu/~breiman/RandomForests/cc_home.htm#intro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kparuchuri.com/blog/build-your-own-bagging-function-in-r/" TargetMode="Externa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hyperlink" Target="https://github.com/dmlc/xgboost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dmlc.ml/rstats/2016/03/10/xgboost.html" TargetMode="External"/><Relationship Id="rId4" Type="http://schemas.openxmlformats.org/officeDocument/2006/relationships/hyperlink" Target="http://xgboost.readthedocs.io/en/latest/model.html" TargetMode="Externa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hyperlink" Target="https://blog.kissmetrics.com/how-to-calculate-lifetime-value/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hyperlink" Target="https://blog.kissmetrics.com/how-to-calculate-lifetime-value/" TargetMode="Externa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hyperlink" Target="https://blog.kissmetrics.com/how-to-calculate-lifetime-value/" TargetMode="Externa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hyperlink" Target="https://blog.kissmetrics.com/how-to-calculate-lifetime-value/" TargetMode="Externa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hyperlink" Target="http://www.kaushik.net/avinash/analytics-tip-calculate-ltv-customer-lifetime-value/" TargetMode="Externa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ushik.net/avinash/avinash_ltv.zip" TargetMode="External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Customer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9.jp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551" y="1091184"/>
            <a:ext cx="7475855" cy="16084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774189" marR="5080" indent="-1762125">
              <a:lnSpc>
                <a:spcPts val="6220"/>
              </a:lnSpc>
              <a:spcBef>
                <a:spcPts val="225"/>
              </a:spcBef>
            </a:pPr>
            <a:r>
              <a:rPr sz="5200" b="0" dirty="0">
                <a:latin typeface="Arial"/>
                <a:cs typeface="Arial"/>
              </a:rPr>
              <a:t>Tools</a:t>
            </a:r>
            <a:r>
              <a:rPr sz="5200" b="0" spc="-10" dirty="0">
                <a:latin typeface="Arial"/>
                <a:cs typeface="Arial"/>
              </a:rPr>
              <a:t> </a:t>
            </a:r>
            <a:r>
              <a:rPr sz="5200" b="0" dirty="0">
                <a:latin typeface="Arial"/>
                <a:cs typeface="Arial"/>
              </a:rPr>
              <a:t>and</a:t>
            </a:r>
            <a:r>
              <a:rPr sz="5200" b="0" spc="-15" dirty="0">
                <a:latin typeface="Arial"/>
                <a:cs typeface="Arial"/>
              </a:rPr>
              <a:t> </a:t>
            </a:r>
            <a:r>
              <a:rPr sz="5200" b="0" dirty="0">
                <a:latin typeface="Arial"/>
                <a:cs typeface="Arial"/>
              </a:rPr>
              <a:t>Techniques</a:t>
            </a:r>
            <a:r>
              <a:rPr sz="5200" b="0" spc="-5" dirty="0">
                <a:latin typeface="Arial"/>
                <a:cs typeface="Arial"/>
              </a:rPr>
              <a:t> </a:t>
            </a:r>
            <a:r>
              <a:rPr sz="5200" b="0" spc="-25" dirty="0">
                <a:latin typeface="Arial"/>
                <a:cs typeface="Arial"/>
              </a:rPr>
              <a:t>for </a:t>
            </a:r>
            <a:r>
              <a:rPr sz="5200" b="0" dirty="0">
                <a:latin typeface="Arial"/>
                <a:cs typeface="Arial"/>
              </a:rPr>
              <a:t>Data</a:t>
            </a:r>
            <a:r>
              <a:rPr sz="5200" b="0" spc="-25" dirty="0">
                <a:latin typeface="Arial"/>
                <a:cs typeface="Arial"/>
              </a:rPr>
              <a:t> </a:t>
            </a:r>
            <a:r>
              <a:rPr sz="5200" b="0" spc="-10" dirty="0">
                <a:latin typeface="Arial"/>
                <a:cs typeface="Arial"/>
              </a:rPr>
              <a:t>Science</a:t>
            </a:r>
            <a:endParaRPr sz="5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Introduction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257934"/>
            <a:ext cx="527558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dirty="0">
                <a:latin typeface="Arial"/>
                <a:cs typeface="Arial"/>
              </a:rPr>
              <a:t>Definition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Data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Science </a:t>
            </a:r>
            <a:r>
              <a:rPr sz="3000" dirty="0">
                <a:latin typeface="Arial"/>
                <a:cs typeface="Arial"/>
              </a:rPr>
              <a:t>Cloud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Computing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Big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Data </a:t>
            </a:r>
            <a:r>
              <a:rPr sz="3000" dirty="0">
                <a:latin typeface="Arial"/>
                <a:cs typeface="Arial"/>
              </a:rPr>
              <a:t>Tools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Data</a:t>
            </a:r>
            <a:r>
              <a:rPr sz="3000" spc="-10" dirty="0">
                <a:latin typeface="Arial"/>
                <a:cs typeface="Arial"/>
              </a:rPr>
              <a:t> Science </a:t>
            </a:r>
            <a:r>
              <a:rPr sz="3000" dirty="0">
                <a:latin typeface="Arial"/>
                <a:cs typeface="Arial"/>
              </a:rPr>
              <a:t>Techniques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Data</a:t>
            </a:r>
            <a:r>
              <a:rPr sz="3000" spc="-10" dirty="0">
                <a:latin typeface="Arial"/>
                <a:cs typeface="Arial"/>
              </a:rPr>
              <a:t> Science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Definition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Science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99" y="1310987"/>
            <a:ext cx="3670874" cy="34553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-40" dirty="0"/>
              <a:t> </a:t>
            </a:r>
            <a:r>
              <a:rPr spc="-50"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278"/>
            <a:ext cx="5490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Hacking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Programming)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+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Maths/Statistics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+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Domain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Knowledge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225" y="4686554"/>
            <a:ext cx="4693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http://drewconway.com/zia/2013/3/26/the-data-science-venn-</a:t>
            </a:r>
            <a:r>
              <a:rPr sz="12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7000" y="1620200"/>
            <a:ext cx="3560874" cy="3416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Scientist</a:t>
            </a:r>
            <a:r>
              <a:rPr spc="-25" dirty="0"/>
              <a:t> </a:t>
            </a:r>
            <a:r>
              <a:rPr spc="-50"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2925" y="1378755"/>
            <a:ext cx="7979409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2400" b="1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scientist</a:t>
            </a:r>
            <a:r>
              <a:rPr sz="2400" b="1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is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simply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analyst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living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in</a:t>
            </a:r>
            <a:r>
              <a:rPr sz="2400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45454"/>
                </a:solidFill>
                <a:latin typeface="Arial"/>
                <a:cs typeface="Arial"/>
              </a:rPr>
              <a:t>california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Scientist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2925" y="1378755"/>
            <a:ext cx="5946140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2400" b="1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scientist</a:t>
            </a:r>
            <a:r>
              <a:rPr sz="2400" b="1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is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simply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person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who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545454"/>
                </a:solidFill>
                <a:latin typeface="Arial"/>
                <a:cs typeface="Arial"/>
              </a:rPr>
              <a:t>can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925" y="2255055"/>
            <a:ext cx="3540125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26285"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write</a:t>
            </a:r>
            <a:r>
              <a:rPr sz="2400" b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545454"/>
                </a:solidFill>
                <a:latin typeface="Arial"/>
                <a:cs typeface="Arial"/>
              </a:rPr>
              <a:t>code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925" y="2693205"/>
            <a:ext cx="5098415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26285"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understand</a:t>
            </a:r>
            <a:r>
              <a:rPr sz="2400" b="1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45454"/>
                </a:solidFill>
                <a:latin typeface="Arial"/>
                <a:cs typeface="Arial"/>
              </a:rPr>
              <a:t>statistics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925" y="3131355"/>
            <a:ext cx="5657215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26285"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derive</a:t>
            </a:r>
            <a:r>
              <a:rPr sz="2400" b="1" spc="-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insights</a:t>
            </a:r>
            <a:r>
              <a:rPr sz="2400" b="1" spc="-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from</a:t>
            </a:r>
            <a:r>
              <a:rPr sz="2400" b="1" spc="-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Oh</a:t>
            </a:r>
            <a:r>
              <a:rPr spc="-30" dirty="0"/>
              <a:t> </a:t>
            </a:r>
            <a:r>
              <a:rPr dirty="0"/>
              <a:t>really,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Scientist</a:t>
            </a:r>
            <a:r>
              <a:rPr spc="-20" dirty="0"/>
              <a:t> </a:t>
            </a:r>
            <a:r>
              <a:rPr spc="-50" dirty="0"/>
              <a:t>?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1200150"/>
            <a:ext cx="8229600" cy="3726179"/>
          </a:xfrm>
          <a:custGeom>
            <a:avLst/>
            <a:gdLst/>
            <a:ahLst/>
            <a:cxnLst/>
            <a:rect l="l" t="t" r="r" b="b"/>
            <a:pathLst>
              <a:path w="8229600" h="3726179">
                <a:moveTo>
                  <a:pt x="0" y="0"/>
                </a:moveTo>
                <a:lnTo>
                  <a:pt x="8229599" y="0"/>
                </a:lnTo>
                <a:lnTo>
                  <a:pt x="8229599" y="3725699"/>
                </a:lnTo>
                <a:lnTo>
                  <a:pt x="0" y="3725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E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2925" y="1378755"/>
            <a:ext cx="5946140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2400" b="1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scientist</a:t>
            </a:r>
            <a:r>
              <a:rPr sz="2400" b="1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is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simply</a:t>
            </a:r>
            <a:r>
              <a:rPr sz="240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person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5454"/>
                </a:solidFill>
                <a:latin typeface="Arial"/>
                <a:cs typeface="Arial"/>
              </a:rPr>
              <a:t>who</a:t>
            </a:r>
            <a:r>
              <a:rPr sz="2400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545454"/>
                </a:solidFill>
                <a:latin typeface="Arial"/>
                <a:cs typeface="Arial"/>
              </a:rPr>
              <a:t>can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925" y="1816905"/>
            <a:ext cx="2465070" cy="330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52729">
              <a:lnSpc>
                <a:spcPts val="2600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write</a:t>
            </a:r>
            <a:r>
              <a:rPr sz="24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code</a:t>
            </a:r>
            <a:r>
              <a:rPr sz="2400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=</a:t>
            </a:r>
            <a:r>
              <a:rPr sz="2400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545454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7369" y="1966456"/>
            <a:ext cx="3180080" cy="1809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R,Python,Java,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SQL,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Hadoop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(Pig,HQL,MR)</a:t>
            </a:r>
            <a:r>
              <a:rPr sz="1100" b="1" spc="125" dirty="0">
                <a:solidFill>
                  <a:srgbClr val="545454"/>
                </a:solidFill>
                <a:latin typeface="Arial"/>
                <a:cs typeface="Arial"/>
              </a:rPr>
              <a:t>  </a:t>
            </a:r>
            <a:r>
              <a:rPr sz="1100" b="1" spc="-25" dirty="0">
                <a:solidFill>
                  <a:srgbClr val="545454"/>
                </a:solidFill>
                <a:latin typeface="Arial"/>
                <a:cs typeface="Arial"/>
              </a:rPr>
              <a:t>etc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925" y="2255055"/>
            <a:ext cx="2616835" cy="3136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R="83185" algn="r">
              <a:lnSpc>
                <a:spcPts val="246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=</a:t>
            </a:r>
            <a:r>
              <a:rPr sz="2400" b="1" spc="-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545454"/>
                </a:solidFill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9621" y="2393019"/>
            <a:ext cx="3836670" cy="1752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1200" b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storage,</a:t>
            </a:r>
            <a:r>
              <a:rPr sz="1200" b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querying,</a:t>
            </a:r>
            <a:r>
              <a:rPr sz="1200" b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summarization,</a:t>
            </a:r>
            <a:r>
              <a:rPr sz="1200" b="1" spc="2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visualization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925" y="2693205"/>
            <a:ext cx="5306695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857375">
              <a:lnSpc>
                <a:spcPts val="2655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=</a:t>
            </a:r>
            <a:r>
              <a:rPr sz="2400" b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how</a:t>
            </a:r>
            <a:r>
              <a:rPr sz="2400" b="1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efficiently,</a:t>
            </a:r>
            <a:r>
              <a:rPr sz="1100" b="1" spc="3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and</a:t>
            </a:r>
            <a:r>
              <a:rPr sz="1100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in</a:t>
            </a:r>
            <a:r>
              <a:rPr sz="1100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time</a:t>
            </a:r>
            <a:r>
              <a:rPr sz="1100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(fast</a:t>
            </a:r>
            <a:r>
              <a:rPr sz="1100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results?)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925" y="3131362"/>
            <a:ext cx="3213735" cy="350520"/>
          </a:xfrm>
          <a:custGeom>
            <a:avLst/>
            <a:gdLst/>
            <a:ahLst/>
            <a:cxnLst/>
            <a:rect l="l" t="t" r="r" b="b"/>
            <a:pathLst>
              <a:path w="3213735" h="350520">
                <a:moveTo>
                  <a:pt x="3213443" y="0"/>
                </a:moveTo>
                <a:lnTo>
                  <a:pt x="1900491" y="0"/>
                </a:lnTo>
                <a:lnTo>
                  <a:pt x="1900491" y="149555"/>
                </a:lnTo>
                <a:lnTo>
                  <a:pt x="0" y="149555"/>
                </a:lnTo>
                <a:lnTo>
                  <a:pt x="0" y="310083"/>
                </a:lnTo>
                <a:lnTo>
                  <a:pt x="1900491" y="310083"/>
                </a:lnTo>
                <a:lnTo>
                  <a:pt x="1900491" y="350494"/>
                </a:lnTo>
                <a:lnTo>
                  <a:pt x="3213443" y="350494"/>
                </a:lnTo>
                <a:lnTo>
                  <a:pt x="32134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43417" y="3131355"/>
            <a:ext cx="1313180" cy="330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2600"/>
              </a:lnSpc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=</a:t>
            </a:r>
            <a:r>
              <a:rPr sz="2400" b="1" spc="-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45454"/>
                </a:solidFill>
                <a:latin typeface="Arial"/>
                <a:cs typeface="Arial"/>
              </a:rPr>
              <a:t>where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56379" y="3280906"/>
            <a:ext cx="2125980" cy="160655"/>
          </a:xfrm>
          <a:custGeom>
            <a:avLst/>
            <a:gdLst/>
            <a:ahLst/>
            <a:cxnLst/>
            <a:rect l="l" t="t" r="r" b="b"/>
            <a:pathLst>
              <a:path w="2125979" h="160654">
                <a:moveTo>
                  <a:pt x="2125776" y="160527"/>
                </a:moveTo>
                <a:lnTo>
                  <a:pt x="0" y="160527"/>
                </a:lnTo>
                <a:lnTo>
                  <a:pt x="0" y="0"/>
                </a:lnTo>
                <a:lnTo>
                  <a:pt x="2125776" y="0"/>
                </a:lnTo>
                <a:lnTo>
                  <a:pt x="2125776" y="160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2925" y="3280906"/>
            <a:ext cx="533971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3100">
              <a:lnSpc>
                <a:spcPts val="1215"/>
              </a:lnSpc>
            </a:pP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on</a:t>
            </a:r>
            <a:r>
              <a:rPr sz="1100" b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databases,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on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cloud,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servers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2925" y="3569505"/>
            <a:ext cx="965835" cy="330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ts val="2600"/>
              </a:lnSpc>
            </a:pPr>
            <a:r>
              <a:rPr sz="2400" b="1" spc="-25" dirty="0">
                <a:solidFill>
                  <a:srgbClr val="545454"/>
                </a:solidFill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08224" y="3719056"/>
            <a:ext cx="838200" cy="160655"/>
          </a:xfrm>
          <a:custGeom>
            <a:avLst/>
            <a:gdLst/>
            <a:ahLst/>
            <a:cxnLst/>
            <a:rect l="l" t="t" r="r" b="b"/>
            <a:pathLst>
              <a:path w="838200" h="160654">
                <a:moveTo>
                  <a:pt x="837672" y="160527"/>
                </a:moveTo>
                <a:lnTo>
                  <a:pt x="0" y="160527"/>
                </a:lnTo>
                <a:lnTo>
                  <a:pt x="0" y="0"/>
                </a:lnTo>
                <a:lnTo>
                  <a:pt x="837672" y="0"/>
                </a:lnTo>
                <a:lnTo>
                  <a:pt x="837672" y="160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08224" y="3693033"/>
            <a:ext cx="7727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understand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45897" y="3569505"/>
            <a:ext cx="1185545" cy="350520"/>
          </a:xfrm>
          <a:custGeom>
            <a:avLst/>
            <a:gdLst/>
            <a:ahLst/>
            <a:cxnLst/>
            <a:rect l="l" t="t" r="r" b="b"/>
            <a:pathLst>
              <a:path w="1185545" h="350520">
                <a:moveTo>
                  <a:pt x="1185118" y="350490"/>
                </a:moveTo>
                <a:lnTo>
                  <a:pt x="0" y="350490"/>
                </a:lnTo>
                <a:lnTo>
                  <a:pt x="0" y="0"/>
                </a:lnTo>
                <a:lnTo>
                  <a:pt x="1185118" y="0"/>
                </a:lnTo>
                <a:lnTo>
                  <a:pt x="1185118" y="3504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45897" y="3569505"/>
            <a:ext cx="1185545" cy="330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spc="-10" dirty="0">
                <a:solidFill>
                  <a:srgbClr val="545454"/>
                </a:solidFill>
                <a:latin typeface="Arial"/>
                <a:cs typeface="Arial"/>
              </a:rPr>
              <a:t>enough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31015" y="3719056"/>
            <a:ext cx="605790" cy="160655"/>
          </a:xfrm>
          <a:custGeom>
            <a:avLst/>
            <a:gdLst/>
            <a:ahLst/>
            <a:cxnLst/>
            <a:rect l="l" t="t" r="r" b="b"/>
            <a:pathLst>
              <a:path w="605789" h="160654">
                <a:moveTo>
                  <a:pt x="605232" y="160527"/>
                </a:moveTo>
                <a:lnTo>
                  <a:pt x="0" y="160527"/>
                </a:lnTo>
                <a:lnTo>
                  <a:pt x="0" y="0"/>
                </a:lnTo>
                <a:lnTo>
                  <a:pt x="605232" y="0"/>
                </a:lnTo>
                <a:lnTo>
                  <a:pt x="605232" y="160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31015" y="3693033"/>
            <a:ext cx="6184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statistics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2925" y="4157206"/>
            <a:ext cx="387985" cy="160655"/>
          </a:xfrm>
          <a:custGeom>
            <a:avLst/>
            <a:gdLst/>
            <a:ahLst/>
            <a:cxnLst/>
            <a:rect l="l" t="t" r="r" b="b"/>
            <a:pathLst>
              <a:path w="387984" h="160654">
                <a:moveTo>
                  <a:pt x="387855" y="160527"/>
                </a:moveTo>
                <a:lnTo>
                  <a:pt x="0" y="160527"/>
                </a:lnTo>
                <a:lnTo>
                  <a:pt x="0" y="0"/>
                </a:lnTo>
                <a:lnTo>
                  <a:pt x="387855" y="0"/>
                </a:lnTo>
                <a:lnTo>
                  <a:pt x="387855" y="160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0780" y="4007655"/>
            <a:ext cx="288290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b="1" spc="-25" dirty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18465" y="4157206"/>
            <a:ext cx="1614170" cy="160655"/>
          </a:xfrm>
          <a:custGeom>
            <a:avLst/>
            <a:gdLst/>
            <a:ahLst/>
            <a:cxnLst/>
            <a:rect l="l" t="t" r="r" b="b"/>
            <a:pathLst>
              <a:path w="1614170" h="160654">
                <a:moveTo>
                  <a:pt x="1613656" y="160527"/>
                </a:moveTo>
                <a:lnTo>
                  <a:pt x="0" y="160527"/>
                </a:lnTo>
                <a:lnTo>
                  <a:pt x="0" y="0"/>
                </a:lnTo>
                <a:lnTo>
                  <a:pt x="1613656" y="0"/>
                </a:lnTo>
                <a:lnTo>
                  <a:pt x="1613656" y="160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2925" y="4157206"/>
            <a:ext cx="2289810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3655" algn="r">
              <a:lnSpc>
                <a:spcPts val="1215"/>
              </a:lnSpc>
            </a:pPr>
            <a:r>
              <a:rPr sz="1100" b="1" spc="-10" dirty="0">
                <a:solidFill>
                  <a:srgbClr val="545454"/>
                </a:solidFill>
                <a:latin typeface="Arial"/>
                <a:cs typeface="Arial"/>
              </a:rPr>
              <a:t>derive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32122" y="4007655"/>
            <a:ext cx="1253490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b="1" spc="-10" dirty="0">
                <a:solidFill>
                  <a:srgbClr val="545454"/>
                </a:solidFill>
                <a:latin typeface="Arial"/>
                <a:cs typeface="Arial"/>
              </a:rPr>
              <a:t>insights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85255" y="4157206"/>
            <a:ext cx="648970" cy="2012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from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2925" y="4445805"/>
            <a:ext cx="3201670" cy="350520"/>
          </a:xfrm>
          <a:custGeom>
            <a:avLst/>
            <a:gdLst/>
            <a:ahLst/>
            <a:cxnLst/>
            <a:rect l="l" t="t" r="r" b="b"/>
            <a:pathLst>
              <a:path w="3201670" h="350520">
                <a:moveTo>
                  <a:pt x="3201292" y="350490"/>
                </a:moveTo>
                <a:lnTo>
                  <a:pt x="0" y="350490"/>
                </a:lnTo>
                <a:lnTo>
                  <a:pt x="0" y="0"/>
                </a:lnTo>
                <a:lnTo>
                  <a:pt x="3201292" y="0"/>
                </a:lnTo>
                <a:lnTo>
                  <a:pt x="3201292" y="3504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52373" y="4404233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545454"/>
                </a:solidFill>
                <a:latin typeface="Arial"/>
                <a:cs typeface="Arial"/>
              </a:rPr>
              <a:t>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44214" y="4445812"/>
            <a:ext cx="2127250" cy="350520"/>
          </a:xfrm>
          <a:custGeom>
            <a:avLst/>
            <a:gdLst/>
            <a:ahLst/>
            <a:cxnLst/>
            <a:rect l="l" t="t" r="r" b="b"/>
            <a:pathLst>
              <a:path w="2127250" h="350520">
                <a:moveTo>
                  <a:pt x="2127046" y="0"/>
                </a:moveTo>
                <a:lnTo>
                  <a:pt x="636384" y="0"/>
                </a:lnTo>
                <a:lnTo>
                  <a:pt x="636384" y="149555"/>
                </a:lnTo>
                <a:lnTo>
                  <a:pt x="0" y="149555"/>
                </a:lnTo>
                <a:lnTo>
                  <a:pt x="0" y="310083"/>
                </a:lnTo>
                <a:lnTo>
                  <a:pt x="636384" y="310083"/>
                </a:lnTo>
                <a:lnTo>
                  <a:pt x="636384" y="350494"/>
                </a:lnTo>
                <a:lnTo>
                  <a:pt x="2127046" y="350494"/>
                </a:lnTo>
                <a:lnTo>
                  <a:pt x="21270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320715" y="4404233"/>
            <a:ext cx="3562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45454"/>
                </a:solidFill>
                <a:latin typeface="Arial"/>
                <a:cs typeface="Arial"/>
              </a:rPr>
              <a:t>business</a:t>
            </a:r>
            <a:r>
              <a:rPr sz="2400" b="1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can</a:t>
            </a:r>
            <a:r>
              <a:rPr sz="11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45454"/>
                </a:solidFill>
                <a:latin typeface="Arial"/>
                <a:cs typeface="Arial"/>
              </a:rPr>
              <a:t>make</a:t>
            </a:r>
            <a:r>
              <a:rPr sz="1100" b="1" spc="3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45454"/>
                </a:solidFill>
                <a:latin typeface="Arial"/>
                <a:cs typeface="Arial"/>
              </a:rPr>
              <a:t>decisions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Cheat</a:t>
            </a:r>
            <a:r>
              <a:rPr spc="-30" dirty="0"/>
              <a:t> </a:t>
            </a:r>
            <a:r>
              <a:rPr dirty="0"/>
              <a:t>Sheets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Scientists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269873"/>
            <a:ext cx="7966709" cy="22161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http://www.kdnuggets.com/2014/05/guide-to-data-science-cheat-sheets.html</a:t>
            </a:r>
            <a:endParaRPr sz="1400">
              <a:latin typeface="Arial"/>
              <a:cs typeface="Arial"/>
            </a:endParaRPr>
          </a:p>
          <a:p>
            <a:pPr marL="12700" marR="233045">
              <a:lnSpc>
                <a:spcPts val="1650"/>
              </a:lnSpc>
              <a:spcBef>
                <a:spcPts val="65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scientist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simply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person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write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code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few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languages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(primarily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Python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SQL)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querying,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manipulation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aggregation,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visualization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enough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statistical </a:t>
            </a:r>
            <a:r>
              <a:rPr sz="1400" dirty="0">
                <a:latin typeface="Arial"/>
                <a:cs typeface="Arial"/>
              </a:rPr>
              <a:t>knowledge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give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back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actionable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insights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business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making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decisions.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Since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rather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practical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definition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scientist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reinforced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accompanying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words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 </a:t>
            </a:r>
            <a:r>
              <a:rPr sz="1400" dirty="0">
                <a:latin typeface="Arial"/>
                <a:cs typeface="Arial"/>
              </a:rPr>
              <a:t>job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website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“data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scientists”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ergo,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tools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primary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languages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data </a:t>
            </a:r>
            <a:r>
              <a:rPr sz="1400" dirty="0">
                <a:latin typeface="Arial"/>
                <a:cs typeface="Arial"/>
              </a:rPr>
              <a:t>science-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Python,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SQL.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cheat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sheet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reference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compilation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mostly</a:t>
            </a:r>
            <a:r>
              <a:rPr sz="1400" spc="-20" dirty="0">
                <a:latin typeface="Arial"/>
                <a:cs typeface="Arial"/>
              </a:rPr>
              <a:t> used </a:t>
            </a:r>
            <a:r>
              <a:rPr sz="1400" dirty="0">
                <a:latin typeface="Arial"/>
                <a:cs typeface="Arial"/>
              </a:rPr>
              <a:t>commands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help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language’s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syntax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faster</a:t>
            </a:r>
            <a:r>
              <a:rPr sz="1400" spc="-10" dirty="0">
                <a:latin typeface="Arial"/>
                <a:cs typeface="Arial"/>
              </a:rPr>
              <a:t> rate.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B7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3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1200150"/>
            <a:ext cx="8229600" cy="3726179"/>
          </a:xfrm>
          <a:custGeom>
            <a:avLst/>
            <a:gdLst/>
            <a:ahLst/>
            <a:cxnLst/>
            <a:rect l="l" t="t" r="r" b="b"/>
            <a:pathLst>
              <a:path w="8229600" h="3726179">
                <a:moveTo>
                  <a:pt x="8229599" y="3725699"/>
                </a:moveTo>
                <a:lnTo>
                  <a:pt x="0" y="3725699"/>
                </a:lnTo>
                <a:lnTo>
                  <a:pt x="0" y="0"/>
                </a:lnTo>
                <a:lnTo>
                  <a:pt x="8229599" y="0"/>
                </a:lnTo>
                <a:lnTo>
                  <a:pt x="8229599" y="3725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2400" y="1235201"/>
            <a:ext cx="7888605" cy="42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5080" indent="-345440">
              <a:lnSpc>
                <a:spcPct val="119300"/>
              </a:lnSpc>
              <a:spcBef>
                <a:spcPts val="100"/>
              </a:spcBef>
              <a:tabLst>
                <a:tab pos="357505" algn="l"/>
              </a:tabLst>
            </a:pP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1.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	the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practice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using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network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remote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servers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hosted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Internet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store,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manage,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process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data,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rather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than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local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server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or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personal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computer.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25" y="4467986"/>
            <a:ext cx="400240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http://csrc.nist.gov/publications/nistpubs/800-145/SP800-145.pdf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0624" y="1576200"/>
            <a:ext cx="3696174" cy="33496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B7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Cloud</a:t>
            </a:r>
            <a:r>
              <a:rPr spc="-13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Computing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1200150"/>
            <a:ext cx="8229600" cy="3726179"/>
          </a:xfrm>
          <a:custGeom>
            <a:avLst/>
            <a:gdLst/>
            <a:ahLst/>
            <a:cxnLst/>
            <a:rect l="l" t="t" r="r" b="b"/>
            <a:pathLst>
              <a:path w="8229600" h="3726179">
                <a:moveTo>
                  <a:pt x="8229599" y="3725699"/>
                </a:moveTo>
                <a:lnTo>
                  <a:pt x="0" y="3725699"/>
                </a:lnTo>
                <a:lnTo>
                  <a:pt x="0" y="0"/>
                </a:lnTo>
                <a:lnTo>
                  <a:pt x="8229599" y="0"/>
                </a:lnTo>
                <a:lnTo>
                  <a:pt x="8229599" y="3725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2400" y="1235201"/>
            <a:ext cx="7888605" cy="42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5080" indent="-345440">
              <a:lnSpc>
                <a:spcPct val="119300"/>
              </a:lnSpc>
              <a:spcBef>
                <a:spcPts val="100"/>
              </a:spcBef>
              <a:tabLst>
                <a:tab pos="357505" algn="l"/>
              </a:tabLst>
            </a:pP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1.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	the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practice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using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network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remote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servers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hosted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Internet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store,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manage,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process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data,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rather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than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local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server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or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personal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computer.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25" y="4467986"/>
            <a:ext cx="400240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http://csrc.nist.gov/publications/nistpubs/800-145/SP800-145.pdf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775" y="1810299"/>
            <a:ext cx="5905499" cy="2724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B7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Cloud</a:t>
            </a:r>
            <a:r>
              <a:rPr spc="-13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Computing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5874" y="1200150"/>
            <a:ext cx="5670301" cy="3886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Introduction</a:t>
            </a:r>
            <a:r>
              <a:rPr sz="2800" b="0" spc="-6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to</a:t>
            </a:r>
            <a:r>
              <a:rPr sz="2800" b="0" spc="-6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Big</a:t>
            </a:r>
            <a:r>
              <a:rPr sz="2800" b="0" spc="-60" dirty="0">
                <a:latin typeface="Arial"/>
                <a:cs typeface="Arial"/>
              </a:rPr>
              <a:t> </a:t>
            </a:r>
            <a:r>
              <a:rPr sz="2800" b="0" spc="-20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/>
              <a:t>extremely</a:t>
            </a:r>
            <a:r>
              <a:rPr spc="-20" dirty="0"/>
              <a:t> </a:t>
            </a:r>
            <a:r>
              <a:rPr dirty="0"/>
              <a:t>large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sets</a:t>
            </a:r>
            <a:r>
              <a:rPr spc="-1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may</a:t>
            </a:r>
            <a:r>
              <a:rPr spc="-2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analysed</a:t>
            </a:r>
            <a:r>
              <a:rPr spc="-15" dirty="0"/>
              <a:t> </a:t>
            </a:r>
            <a:r>
              <a:rPr dirty="0"/>
              <a:t>computationally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reveal</a:t>
            </a:r>
            <a:r>
              <a:rPr spc="-15" dirty="0"/>
              <a:t> </a:t>
            </a:r>
            <a:r>
              <a:rPr spc="-10" dirty="0"/>
              <a:t>patterns, </a:t>
            </a:r>
            <a:r>
              <a:rPr dirty="0"/>
              <a:t>trends,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associations,</a:t>
            </a:r>
            <a:r>
              <a:rPr spc="-25" dirty="0"/>
              <a:t> </a:t>
            </a:r>
            <a:r>
              <a:rPr dirty="0"/>
              <a:t>especially</a:t>
            </a:r>
            <a:r>
              <a:rPr spc="-25" dirty="0"/>
              <a:t> </a:t>
            </a:r>
            <a:r>
              <a:rPr dirty="0"/>
              <a:t>relating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human</a:t>
            </a:r>
            <a:r>
              <a:rPr spc="-25" dirty="0"/>
              <a:t> </a:t>
            </a:r>
            <a:r>
              <a:rPr dirty="0"/>
              <a:t>behaviour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interactions.</a:t>
            </a:r>
          </a:p>
          <a:p>
            <a:pPr marL="12700" marR="334645">
              <a:lnSpc>
                <a:spcPct val="114599"/>
              </a:lnSpc>
              <a:spcBef>
                <a:spcPts val="1575"/>
              </a:spcBef>
            </a:pPr>
            <a:r>
              <a:rPr dirty="0"/>
              <a:t>Big</a:t>
            </a:r>
            <a:r>
              <a:rPr spc="-3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term</a:t>
            </a:r>
            <a:r>
              <a:rPr spc="-1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describes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large</a:t>
            </a:r>
            <a:r>
              <a:rPr spc="-15" dirty="0"/>
              <a:t> </a:t>
            </a:r>
            <a:r>
              <a:rPr dirty="0"/>
              <a:t>volume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both</a:t>
            </a:r>
            <a:r>
              <a:rPr spc="-15" dirty="0"/>
              <a:t> </a:t>
            </a:r>
            <a:r>
              <a:rPr dirty="0"/>
              <a:t>structured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unstructured</a:t>
            </a:r>
            <a:r>
              <a:rPr spc="-2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inundates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day-to-day</a:t>
            </a:r>
            <a:r>
              <a:rPr spc="-15" dirty="0"/>
              <a:t> </a:t>
            </a:r>
            <a:r>
              <a:rPr dirty="0"/>
              <a:t>basis.</a:t>
            </a:r>
            <a:r>
              <a:rPr spc="-15" dirty="0"/>
              <a:t> </a:t>
            </a:r>
            <a:r>
              <a:rPr dirty="0"/>
              <a:t>But</a:t>
            </a:r>
            <a:r>
              <a:rPr spc="-15" dirty="0"/>
              <a:t> </a:t>
            </a:r>
            <a:r>
              <a:rPr dirty="0"/>
              <a:t>it’s</a:t>
            </a:r>
            <a:r>
              <a:rPr spc="-15" dirty="0"/>
              <a:t> </a:t>
            </a:r>
            <a:r>
              <a:rPr dirty="0"/>
              <a:t>not</a:t>
            </a:r>
            <a:r>
              <a:rPr spc="-10" dirty="0"/>
              <a:t> </a:t>
            </a:r>
            <a:r>
              <a:rPr spc="-25" dirty="0"/>
              <a:t>the </a:t>
            </a:r>
            <a:r>
              <a:rPr dirty="0"/>
              <a:t>amount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that’s</a:t>
            </a:r>
            <a:r>
              <a:rPr spc="-15" dirty="0"/>
              <a:t> </a:t>
            </a:r>
            <a:r>
              <a:rPr dirty="0"/>
              <a:t>important.</a:t>
            </a:r>
            <a:r>
              <a:rPr spc="-20" dirty="0"/>
              <a:t> </a:t>
            </a:r>
            <a:r>
              <a:rPr dirty="0"/>
              <a:t>It’s</a:t>
            </a:r>
            <a:r>
              <a:rPr spc="-15" dirty="0"/>
              <a:t> </a:t>
            </a: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organizations</a:t>
            </a:r>
            <a:r>
              <a:rPr spc="-15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20" dirty="0"/>
              <a:t>that </a:t>
            </a:r>
            <a:r>
              <a:rPr dirty="0"/>
              <a:t>matters.</a:t>
            </a:r>
            <a:r>
              <a:rPr spc="-30" dirty="0"/>
              <a:t> </a:t>
            </a:r>
            <a:r>
              <a:rPr dirty="0"/>
              <a:t>Big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analyzed</a:t>
            </a:r>
            <a:r>
              <a:rPr spc="-1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insights</a:t>
            </a:r>
            <a:r>
              <a:rPr spc="-15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lead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better</a:t>
            </a:r>
            <a:r>
              <a:rPr spc="-15" dirty="0"/>
              <a:t> </a:t>
            </a:r>
            <a:r>
              <a:rPr dirty="0"/>
              <a:t>decisions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strategic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5" dirty="0"/>
              <a:t> </a:t>
            </a:r>
            <a:r>
              <a:rPr spc="-10" dirty="0"/>
              <a:t>moves.</a:t>
            </a: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http://www.sas.com/en_us/insights/big-data/what-is-big-data.html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The</a:t>
            </a:r>
            <a:r>
              <a:rPr sz="2800" b="0" spc="-5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Three</a:t>
            </a:r>
            <a:r>
              <a:rPr sz="2800" b="0" spc="-5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Vs</a:t>
            </a:r>
            <a:r>
              <a:rPr sz="2800" b="0" spc="-5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of</a:t>
            </a:r>
            <a:r>
              <a:rPr sz="2800" b="0" spc="-5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Big</a:t>
            </a:r>
            <a:r>
              <a:rPr sz="2800" b="0" spc="-55" dirty="0">
                <a:latin typeface="Arial"/>
                <a:cs typeface="Arial"/>
              </a:rPr>
              <a:t> </a:t>
            </a:r>
            <a:r>
              <a:rPr sz="2800" b="0" spc="-20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9911"/>
            <a:ext cx="8117840" cy="215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industry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Doug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Laney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articulated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now-mainstream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definition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three</a:t>
            </a:r>
            <a:r>
              <a:rPr sz="1100" spc="-25" dirty="0">
                <a:latin typeface="Arial"/>
                <a:cs typeface="Arial"/>
              </a:rPr>
              <a:t> Vs: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26034">
              <a:lnSpc>
                <a:spcPct val="113599"/>
              </a:lnSpc>
            </a:pPr>
            <a:r>
              <a:rPr sz="1100" b="1" dirty="0">
                <a:latin typeface="Arial"/>
                <a:cs typeface="Arial"/>
              </a:rPr>
              <a:t>Volume.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Organizations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collect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variety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including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business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transactions,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social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media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from </a:t>
            </a:r>
            <a:r>
              <a:rPr sz="1100" dirty="0">
                <a:latin typeface="Arial"/>
                <a:cs typeface="Arial"/>
              </a:rPr>
              <a:t>sensor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machine-to-</a:t>
            </a:r>
            <a:r>
              <a:rPr sz="1100" dirty="0">
                <a:latin typeface="Arial"/>
                <a:cs typeface="Arial"/>
              </a:rPr>
              <a:t>machine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past,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would’ve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technologies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(such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have </a:t>
            </a:r>
            <a:r>
              <a:rPr sz="1100" dirty="0">
                <a:latin typeface="Arial"/>
                <a:cs typeface="Arial"/>
              </a:rPr>
              <a:t>eased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burden.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222250">
              <a:lnSpc>
                <a:spcPct val="113599"/>
              </a:lnSpc>
            </a:pPr>
            <a:r>
              <a:rPr sz="1100" b="1" dirty="0">
                <a:latin typeface="Arial"/>
                <a:cs typeface="Arial"/>
              </a:rPr>
              <a:t>Velocity.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unprecedented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dealt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manner.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RFID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tags,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smart </a:t>
            </a:r>
            <a:r>
              <a:rPr sz="1100" dirty="0">
                <a:latin typeface="Arial"/>
                <a:cs typeface="Arial"/>
              </a:rPr>
              <a:t>metering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driving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torrents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near-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time.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3599"/>
              </a:lnSpc>
            </a:pPr>
            <a:r>
              <a:rPr sz="1100" b="1" dirty="0">
                <a:latin typeface="Arial"/>
                <a:cs typeface="Arial"/>
              </a:rPr>
              <a:t>Variety.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structured,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numeric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traditional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unstructured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documents, </a:t>
            </a:r>
            <a:r>
              <a:rPr sz="1100" dirty="0">
                <a:latin typeface="Arial"/>
                <a:cs typeface="Arial"/>
              </a:rPr>
              <a:t>email,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video,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audio,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ticker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financial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transactions.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425" y="550210"/>
            <a:ext cx="233172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dirty="0">
                <a:latin typeface="Arial"/>
                <a:cs typeface="Arial"/>
              </a:rPr>
              <a:t>Big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Facts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55"/>
            <a:ext cx="9144000" cy="5140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875" y="820137"/>
            <a:ext cx="36741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http://www.ibmbigdatahub.com/infographic/four-vs-big-</a:t>
            </a:r>
            <a:r>
              <a:rPr sz="11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data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Understanding</a:t>
            </a:r>
            <a:r>
              <a:rPr sz="2800" b="0" spc="-12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Hadoop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97051"/>
            <a:ext cx="8333105" cy="2730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265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Apache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software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framework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allows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across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clusters</a:t>
            </a:r>
            <a:r>
              <a:rPr sz="1100" spc="-25" dirty="0">
                <a:latin typeface="Arial"/>
                <a:cs typeface="Arial"/>
              </a:rPr>
              <a:t> of </a:t>
            </a:r>
            <a:r>
              <a:rPr sz="1100" dirty="0">
                <a:latin typeface="Arial"/>
                <a:cs typeface="Arial"/>
              </a:rPr>
              <a:t>computers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programming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models.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scale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thousands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offering </a:t>
            </a:r>
            <a:r>
              <a:rPr sz="1100" dirty="0">
                <a:latin typeface="Arial"/>
                <a:cs typeface="Arial"/>
              </a:rPr>
              <a:t>local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storage.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hardware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deliver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high-availability,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itself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detect</a:t>
            </a:r>
            <a:r>
              <a:rPr sz="1100" spc="-25" dirty="0">
                <a:latin typeface="Arial"/>
                <a:cs typeface="Arial"/>
              </a:rPr>
              <a:t> and </a:t>
            </a:r>
            <a:r>
              <a:rPr sz="1100" dirty="0">
                <a:latin typeface="Arial"/>
                <a:cs typeface="Arial"/>
              </a:rPr>
              <a:t>handle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failures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application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layer,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delivering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highly-available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service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computers,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dirty="0">
                <a:latin typeface="Arial"/>
                <a:cs typeface="Arial"/>
              </a:rPr>
              <a:t>prone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failures.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project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modules: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Hadoop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Common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common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utilities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modules.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Font typeface="Arial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Hadoop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Distributed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File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System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(HDFS™)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provides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high-</a:t>
            </a:r>
            <a:r>
              <a:rPr sz="1100" dirty="0">
                <a:latin typeface="Arial"/>
                <a:cs typeface="Arial"/>
              </a:rPr>
              <a:t>throughput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application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Font typeface="Arial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Hadoop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YARN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framework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scheduling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resource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management.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Font typeface="Arial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Hadoop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MapReduce</a:t>
            </a:r>
            <a:r>
              <a:rPr sz="1100" spc="-10" dirty="0">
                <a:latin typeface="Arial"/>
                <a:cs typeface="Arial"/>
              </a:rPr>
              <a:t>: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YARN-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parallel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sets.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http://hadoop.apache.org/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Understanding</a:t>
            </a:r>
            <a:r>
              <a:rPr sz="2800" b="0" spc="-12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Hadoop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005" y="1197051"/>
            <a:ext cx="8167370" cy="36449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280"/>
              </a:spcBef>
              <a:buChar char="●"/>
              <a:tabLst>
                <a:tab pos="325120" algn="l"/>
              </a:tabLst>
            </a:pP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Hadoop-</a:t>
            </a:r>
            <a:r>
              <a:rPr sz="1100" dirty="0">
                <a:latin typeface="Arial"/>
                <a:cs typeface="Arial"/>
              </a:rPr>
              <a:t>related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projects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Apache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include:</a:t>
            </a:r>
            <a:endParaRPr sz="1100">
              <a:latin typeface="Arial"/>
              <a:cs typeface="Arial"/>
            </a:endParaRPr>
          </a:p>
          <a:p>
            <a:pPr marL="325120" marR="168275" indent="-313055">
              <a:lnSpc>
                <a:spcPct val="113599"/>
              </a:lnSpc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Ambari™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20" dirty="0">
                <a:latin typeface="Arial"/>
                <a:cs typeface="Arial"/>
              </a:rPr>
              <a:t>web-</a:t>
            </a:r>
            <a:r>
              <a:rPr sz="1100" u="none" dirty="0">
                <a:latin typeface="Arial"/>
                <a:cs typeface="Arial"/>
              </a:rPr>
              <a:t>based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tool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provisioning,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managing,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monitoring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Apache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Hadoop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clusters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which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includes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support</a:t>
            </a:r>
            <a:r>
              <a:rPr sz="1100" u="none" spc="-25" dirty="0">
                <a:latin typeface="Arial"/>
                <a:cs typeface="Arial"/>
              </a:rPr>
              <a:t> for </a:t>
            </a:r>
            <a:r>
              <a:rPr sz="1100" u="none" dirty="0">
                <a:latin typeface="Arial"/>
                <a:cs typeface="Arial"/>
              </a:rPr>
              <a:t>Hadoop</a:t>
            </a:r>
            <a:r>
              <a:rPr sz="1100" u="none" spc="-5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HDFS,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Hadoop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MapReduce,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Hive,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HCatalog,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HBase,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ZooKeeper,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Oozie,</a:t>
            </a:r>
            <a:r>
              <a:rPr sz="1100" u="none" spc="-5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Pig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Sqoop.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Ambari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also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provides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spc="-50" dirty="0">
                <a:latin typeface="Arial"/>
                <a:cs typeface="Arial"/>
              </a:rPr>
              <a:t>a </a:t>
            </a:r>
            <a:r>
              <a:rPr sz="1100" u="none" spc="-10" dirty="0">
                <a:latin typeface="Arial"/>
                <a:cs typeface="Arial"/>
              </a:rPr>
              <a:t>dashboard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viewing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cluster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health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such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as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heatmaps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ability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to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view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MapReduce,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Pig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Hive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applications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visually alongwith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features</a:t>
            </a:r>
            <a:r>
              <a:rPr sz="1100" u="none" spc="-1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to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diagnose </a:t>
            </a:r>
            <a:r>
              <a:rPr sz="1100" u="none" dirty="0">
                <a:latin typeface="Arial"/>
                <a:cs typeface="Arial"/>
              </a:rPr>
              <a:t>their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performance</a:t>
            </a:r>
            <a:r>
              <a:rPr sz="1100" u="none" spc="-1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characteristics</a:t>
            </a:r>
            <a:r>
              <a:rPr sz="1100" u="none" spc="-1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in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1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user-friendly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manner.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Avro™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serialization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system.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Cassandra™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scalable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multi-master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database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with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no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single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points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of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failure.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Chukwa™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collection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system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managing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large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distributed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systems.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HBase™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scalable,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distributed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database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that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supports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structured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storage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large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tables.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Hive™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warehouse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infrastructure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that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provides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summarization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hoc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querying.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Mahout™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Scalable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machine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learning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mining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library.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Pig™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high-</a:t>
            </a:r>
            <a:r>
              <a:rPr sz="1100" u="none" dirty="0">
                <a:latin typeface="Arial"/>
                <a:cs typeface="Arial"/>
              </a:rPr>
              <a:t>level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data-</a:t>
            </a:r>
            <a:r>
              <a:rPr sz="1100" u="none" dirty="0">
                <a:latin typeface="Arial"/>
                <a:cs typeface="Arial"/>
              </a:rPr>
              <a:t>flow</a:t>
            </a:r>
            <a:r>
              <a:rPr sz="1100" u="none" spc="-10" dirty="0">
                <a:latin typeface="Arial"/>
                <a:cs typeface="Arial"/>
              </a:rPr>
              <a:t> language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execution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framework</a:t>
            </a:r>
            <a:r>
              <a:rPr sz="1100" u="none" spc="-1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parallel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computation.</a:t>
            </a:r>
            <a:endParaRPr sz="1100">
              <a:latin typeface="Arial"/>
              <a:cs typeface="Arial"/>
            </a:endParaRPr>
          </a:p>
          <a:p>
            <a:pPr marL="325120" marR="197485" indent="-313055">
              <a:lnSpc>
                <a:spcPct val="113599"/>
              </a:lnSpc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10"/>
              </a:rPr>
              <a:t>Spark™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fast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general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compute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engine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Hadoop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data.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Spark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provides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simple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expressive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programming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model </a:t>
            </a:r>
            <a:r>
              <a:rPr sz="1100" u="none" dirty="0">
                <a:latin typeface="Arial"/>
                <a:cs typeface="Arial"/>
              </a:rPr>
              <a:t>that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supports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wide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range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of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applications,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including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ETL,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machine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learning,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stream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processing,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graph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computation.</a:t>
            </a:r>
            <a:endParaRPr sz="1100">
              <a:latin typeface="Arial"/>
              <a:cs typeface="Arial"/>
            </a:endParaRPr>
          </a:p>
          <a:p>
            <a:pPr marL="325120" marR="5080" indent="-313055">
              <a:lnSpc>
                <a:spcPct val="113599"/>
              </a:lnSpc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11"/>
              </a:rPr>
              <a:t>Tez™</a:t>
            </a:r>
            <a:r>
              <a:rPr sz="1100" u="none" dirty="0">
                <a:latin typeface="Arial"/>
                <a:cs typeface="Arial"/>
              </a:rPr>
              <a:t>: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generalized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data-</a:t>
            </a:r>
            <a:r>
              <a:rPr sz="1100" u="none" dirty="0">
                <a:latin typeface="Arial"/>
                <a:cs typeface="Arial"/>
              </a:rPr>
              <a:t>flow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programming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framework,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built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on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Hadoop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YARN,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which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provides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powerful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flexible</a:t>
            </a:r>
            <a:r>
              <a:rPr sz="1100" u="none" spc="-3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engine </a:t>
            </a:r>
            <a:r>
              <a:rPr sz="1100" u="none" dirty="0">
                <a:latin typeface="Arial"/>
                <a:cs typeface="Arial"/>
              </a:rPr>
              <a:t>to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execute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arbitrary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DAG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of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tasks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to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process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both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batch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interactive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use-</a:t>
            </a:r>
            <a:r>
              <a:rPr sz="1100" u="none" dirty="0">
                <a:latin typeface="Arial"/>
                <a:cs typeface="Arial"/>
              </a:rPr>
              <a:t>cases.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Tez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is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being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adopted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by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Hive™, </a:t>
            </a:r>
            <a:r>
              <a:rPr sz="1100" u="none" dirty="0">
                <a:latin typeface="Arial"/>
                <a:cs typeface="Arial"/>
              </a:rPr>
              <a:t>Pig™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other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frameworks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in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the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Hadoop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ecosystem,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also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by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other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commercial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software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(e.g.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ETL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tools),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to</a:t>
            </a:r>
            <a:r>
              <a:rPr sz="1100" u="none" spc="-2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replace </a:t>
            </a:r>
            <a:r>
              <a:rPr sz="1100" u="none" dirty="0">
                <a:latin typeface="Arial"/>
                <a:cs typeface="Arial"/>
              </a:rPr>
              <a:t>Hadoop™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MapReduce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as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the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underlying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execution</a:t>
            </a:r>
            <a:r>
              <a:rPr sz="1100" u="none" spc="-15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engine.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"/>
              <a:buChar char="●"/>
              <a:tabLst>
                <a:tab pos="325120" algn="l"/>
              </a:tabLst>
            </a:pPr>
            <a:r>
              <a:rPr sz="1100" b="1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12"/>
              </a:rPr>
              <a:t>ZooKeeper™</a:t>
            </a:r>
            <a:r>
              <a:rPr sz="1100" u="none" spc="-10" dirty="0">
                <a:latin typeface="Arial"/>
                <a:cs typeface="Arial"/>
              </a:rPr>
              <a:t>: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high-</a:t>
            </a:r>
            <a:r>
              <a:rPr sz="1100" u="none" dirty="0">
                <a:latin typeface="Arial"/>
                <a:cs typeface="Arial"/>
              </a:rPr>
              <a:t>performance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coordination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service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distributed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applications.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Why</a:t>
            </a:r>
            <a:r>
              <a:rPr sz="2800" b="0" spc="-5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Learn</a:t>
            </a:r>
            <a:r>
              <a:rPr sz="2800" b="0" spc="-5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Hadoop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97369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Hadoop,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however,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specifically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designed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flat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scalability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curve.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Hadoop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program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written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functioning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nodes,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little--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any--work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required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program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much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larger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amount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hardware.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625801"/>
            <a:ext cx="8164830" cy="18351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100" b="1" dirty="0">
                <a:latin typeface="Arial"/>
                <a:cs typeface="Arial"/>
              </a:rPr>
              <a:t>MapReduce: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Isolated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Processes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3599"/>
              </a:lnSpc>
              <a:spcBef>
                <a:spcPts val="225"/>
              </a:spcBef>
            </a:pPr>
            <a:r>
              <a:rPr sz="1100" dirty="0">
                <a:latin typeface="Arial"/>
                <a:cs typeface="Arial"/>
              </a:rPr>
              <a:t>Hadoop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limits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amount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communication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performed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individual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record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isolation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another.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sounds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major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limitation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whole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framework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reliable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198120" algn="just">
              <a:lnSpc>
                <a:spcPct val="113599"/>
              </a:lnSpc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nodes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loaded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Distributed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System </a:t>
            </a:r>
            <a:r>
              <a:rPr sz="1100" dirty="0">
                <a:latin typeface="Arial"/>
                <a:cs typeface="Arial"/>
              </a:rPr>
              <a:t>(HDFS)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split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chunks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managed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different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nodes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addition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chunk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replicated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across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several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machine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failure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unavailable.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https://developer.yahoo.com/hadoop/tutorial/module1.html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80025"/>
            <a:ext cx="992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spc="-20" dirty="0">
                <a:latin typeface="Arial"/>
                <a:cs typeface="Arial"/>
              </a:rPr>
              <a:t>HDFS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97051"/>
            <a:ext cx="833374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HDFS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Distributed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amounts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(terabytes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0" dirty="0">
                <a:latin typeface="Arial"/>
                <a:cs typeface="Arial"/>
              </a:rPr>
              <a:t> even </a:t>
            </a:r>
            <a:r>
              <a:rPr sz="1100" dirty="0">
                <a:latin typeface="Arial"/>
                <a:cs typeface="Arial"/>
              </a:rPr>
              <a:t>petabytes),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provide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high-</a:t>
            </a:r>
            <a:r>
              <a:rPr sz="1100" dirty="0">
                <a:latin typeface="Arial"/>
                <a:cs typeface="Arial"/>
              </a:rPr>
              <a:t>throughput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information.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redundant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fashion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across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ensure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their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durability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failure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availability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parallel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applications.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378152"/>
            <a:ext cx="837374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HDFS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block-</a:t>
            </a:r>
            <a:r>
              <a:rPr sz="1100" dirty="0">
                <a:latin typeface="Arial"/>
                <a:cs typeface="Arial"/>
              </a:rPr>
              <a:t>structured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system: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individual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broken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blocks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fixed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blocks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across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25" dirty="0">
                <a:latin typeface="Arial"/>
                <a:cs typeface="Arial"/>
              </a:rPr>
              <a:t> of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storage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capacity.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Individual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referred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DataNodes</a:t>
            </a:r>
            <a:r>
              <a:rPr sz="1100" spc="-10" dirty="0">
                <a:latin typeface="Arial"/>
                <a:cs typeface="Arial"/>
              </a:rPr>
              <a:t>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made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several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blocks,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necessarily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target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hold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block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chosen </a:t>
            </a:r>
            <a:r>
              <a:rPr sz="1100" dirty="0">
                <a:latin typeface="Arial"/>
                <a:cs typeface="Arial"/>
              </a:rPr>
              <a:t>randomly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block-by-</a:t>
            </a:r>
            <a:r>
              <a:rPr sz="1100" dirty="0">
                <a:latin typeface="Arial"/>
                <a:cs typeface="Arial"/>
              </a:rPr>
              <a:t>block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basis.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cooperation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sizes</a:t>
            </a:r>
            <a:r>
              <a:rPr sz="1100" spc="-25" dirty="0">
                <a:latin typeface="Arial"/>
                <a:cs typeface="Arial"/>
              </a:rPr>
              <a:t> far </a:t>
            </a:r>
            <a:r>
              <a:rPr sz="1100" dirty="0">
                <a:latin typeface="Arial"/>
                <a:cs typeface="Arial"/>
              </a:rPr>
              <a:t>larger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single-machine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DFS;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individual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hard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drive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could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hold.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963111"/>
            <a:ext cx="36201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https://developer.yahoo.com/hadoop/tutorial/module2.html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20" dirty="0">
                <a:latin typeface="Arial"/>
                <a:cs typeface="Arial"/>
              </a:rPr>
              <a:t>HDFS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3125" y="211875"/>
            <a:ext cx="5686675" cy="47561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Five</a:t>
            </a:r>
            <a:r>
              <a:rPr sz="2800" b="0" spc="-8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Daemons</a:t>
            </a:r>
            <a:r>
              <a:rPr sz="2800" b="0" spc="-7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of</a:t>
            </a:r>
            <a:r>
              <a:rPr sz="2800" b="0" spc="-8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Hadoop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97051"/>
            <a:ext cx="8352155" cy="377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7795">
              <a:lnSpc>
                <a:spcPct val="113599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NameNode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Master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node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responsible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meta-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directories.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25" dirty="0">
                <a:latin typeface="Arial"/>
                <a:cs typeface="Arial"/>
              </a:rPr>
              <a:t> as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blocks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those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blocks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cluster.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185420" indent="38100">
              <a:lnSpc>
                <a:spcPct val="113599"/>
              </a:lnSpc>
            </a:pPr>
            <a:r>
              <a:rPr sz="1100" dirty="0">
                <a:latin typeface="Arial"/>
                <a:cs typeface="Arial"/>
              </a:rPr>
              <a:t>Secondary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NameNode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periodically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merges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changes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NameNode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edit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doesn’t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It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keeps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copy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image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failure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NameNode.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DataNode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HDFS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3599"/>
              </a:lnSpc>
            </a:pPr>
            <a:r>
              <a:rPr sz="1100" b="1" spc="-10" dirty="0">
                <a:latin typeface="Arial"/>
                <a:cs typeface="Arial"/>
              </a:rPr>
              <a:t>JobTracker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-JobTracker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daemon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service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submitting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tracking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MapReduce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Hadoop.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Tracker </a:t>
            </a:r>
            <a:r>
              <a:rPr sz="1100" dirty="0">
                <a:latin typeface="Arial"/>
                <a:cs typeface="Arial"/>
              </a:rPr>
              <a:t>process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cluster.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144145" indent="38735">
              <a:lnSpc>
                <a:spcPct val="113599"/>
              </a:lnSpc>
            </a:pPr>
            <a:r>
              <a:rPr sz="1100" b="1" spc="-10" dirty="0">
                <a:latin typeface="Arial"/>
                <a:cs typeface="Arial"/>
              </a:rPr>
              <a:t>TaskTracker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TaskTracker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slave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daemon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accepts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(Map,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Reduce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Shuffle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operations)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JobTracker.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Tracker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hadoop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node.</a:t>
            </a:r>
            <a:endParaRPr sz="1100">
              <a:latin typeface="Arial"/>
              <a:cs typeface="Arial"/>
            </a:endParaRPr>
          </a:p>
          <a:p>
            <a:pPr marL="12700" marR="2256155">
              <a:lnSpc>
                <a:spcPct val="238600"/>
              </a:lnSpc>
            </a:pPr>
            <a:r>
              <a:rPr sz="1100" b="1" dirty="0">
                <a:latin typeface="Arial"/>
                <a:cs typeface="Arial"/>
              </a:rPr>
              <a:t>Following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Daemons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run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Master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nodes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NameNode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Secondary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NameNode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JobTracker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- </a:t>
            </a:r>
            <a:r>
              <a:rPr sz="1100" b="1" dirty="0">
                <a:latin typeface="Arial"/>
                <a:cs typeface="Arial"/>
              </a:rPr>
              <a:t>Following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Daemons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run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each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Slave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nodes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DataNode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TaskTracker </a:t>
            </a:r>
            <a:r>
              <a:rPr sz="1100" b="1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http://www.fromdev.com/2010/12/interview-questions-hadoop-mapreduce.html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Big</a:t>
            </a:r>
            <a:r>
              <a:rPr sz="2800" b="0" spc="-9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Data:</a:t>
            </a:r>
            <a:r>
              <a:rPr sz="2800" b="0" spc="-9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Hadoop</a:t>
            </a:r>
            <a:r>
              <a:rPr sz="2800" b="0" spc="-9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Stack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650" y="1231900"/>
            <a:ext cx="6562724" cy="32575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NoSQL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65159" cy="222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NoSQL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(Not-only-SQL)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been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designed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store,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distribute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differ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relational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databases (RDBMS’s).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NoSQL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technology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originally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Internet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leaders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Facebook,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Google,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Amazon,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others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required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database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could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write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anywhere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world,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while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scaling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delivering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performance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across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massive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millions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users.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NoSQL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9911"/>
            <a:ext cx="2681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https://www.datastax.com/nosql-</a:t>
            </a: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databases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899" y="1507600"/>
            <a:ext cx="8567398" cy="35583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Basic</a:t>
            </a:r>
            <a:r>
              <a:rPr sz="2800" b="0" spc="-7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Statistics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25651"/>
            <a:ext cx="8359140" cy="3130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5925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Some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statistics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every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scientist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here.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assumes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rudimentary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knowledge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statistics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central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tendency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variation)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familiarity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terminology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statisticians.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100">
              <a:latin typeface="Arial"/>
              <a:cs typeface="Arial"/>
            </a:endParaRPr>
          </a:p>
          <a:p>
            <a:pPr marL="469900" marR="447040" indent="-313055">
              <a:lnSpc>
                <a:spcPct val="113599"/>
              </a:lnSpc>
              <a:buFont typeface="Arial"/>
              <a:buChar char="●"/>
              <a:tabLst>
                <a:tab pos="469900" algn="l"/>
              </a:tabLst>
            </a:pPr>
            <a:r>
              <a:rPr sz="1100" b="1" dirty="0">
                <a:latin typeface="Arial"/>
                <a:cs typeface="Arial"/>
              </a:rPr>
              <a:t>Random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Sampling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truly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random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sampling,the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representative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RAndom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sampling </a:t>
            </a:r>
            <a:r>
              <a:rPr sz="1100" dirty="0">
                <a:latin typeface="Arial"/>
                <a:cs typeface="Arial"/>
              </a:rPr>
              <a:t>remains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relevance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Cloud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"/>
              <a:buChar char="●"/>
            </a:pPr>
            <a:endParaRPr sz="1100">
              <a:latin typeface="Arial"/>
              <a:cs typeface="Arial"/>
            </a:endParaRPr>
          </a:p>
          <a:p>
            <a:pPr marL="469900" marR="139700" indent="-313055">
              <a:lnSpc>
                <a:spcPct val="113599"/>
              </a:lnSpc>
              <a:buFont typeface="Arial"/>
              <a:buChar char="●"/>
              <a:tabLst>
                <a:tab pos="469900" algn="l"/>
              </a:tabLst>
            </a:pPr>
            <a:r>
              <a:rPr sz="1100" b="1" dirty="0">
                <a:latin typeface="Arial"/>
                <a:cs typeface="Arial"/>
              </a:rPr>
              <a:t>Distributions-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scientist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distributions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normal,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Poisson,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Chi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determine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distribution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"/>
              <a:buChar char="●"/>
            </a:pPr>
            <a:endParaRPr sz="1100">
              <a:latin typeface="Arial"/>
              <a:cs typeface="Arial"/>
            </a:endParaRPr>
          </a:p>
          <a:p>
            <a:pPr marL="469900" marR="123825" indent="-313055">
              <a:lnSpc>
                <a:spcPct val="113599"/>
              </a:lnSpc>
              <a:buFont typeface="Arial"/>
              <a:buChar char="●"/>
              <a:tabLst>
                <a:tab pos="469900" algn="l"/>
              </a:tabLst>
            </a:pPr>
            <a:r>
              <a:rPr sz="1100" b="1" spc="-10" dirty="0">
                <a:latin typeface="Arial"/>
                <a:cs typeface="Arial"/>
              </a:rPr>
              <a:t>Hypothesis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Testing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Hypothesis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assumptions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statistically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regarding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central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tendency </a:t>
            </a:r>
            <a:r>
              <a:rPr sz="1100" dirty="0">
                <a:latin typeface="Arial"/>
                <a:cs typeface="Arial"/>
              </a:rPr>
              <a:t>(mean,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median)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variation.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good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easy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software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statistical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“test”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Rattle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GUI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"/>
              <a:buChar char="●"/>
            </a:pPr>
            <a:endParaRPr sz="1100">
              <a:latin typeface="Arial"/>
              <a:cs typeface="Arial"/>
            </a:endParaRPr>
          </a:p>
          <a:p>
            <a:pPr marL="469900" marR="5080" indent="-313055">
              <a:lnSpc>
                <a:spcPct val="113599"/>
              </a:lnSpc>
              <a:buFont typeface="Arial"/>
              <a:buChar char="●"/>
              <a:tabLst>
                <a:tab pos="469900" algn="l"/>
              </a:tabLst>
            </a:pPr>
            <a:r>
              <a:rPr sz="1100" b="1" dirty="0">
                <a:latin typeface="Arial"/>
                <a:cs typeface="Arial"/>
              </a:rPr>
              <a:t>Outliers-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Checking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outliers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good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way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scientist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anomalies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identify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quality.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box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plot </a:t>
            </a:r>
            <a:r>
              <a:rPr sz="1100" dirty="0">
                <a:latin typeface="Arial"/>
                <a:cs typeface="Arial"/>
              </a:rPr>
              <a:t>(exploratory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analysis)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outlierTest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package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Bonferroni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Outlier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statistical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spc="-10" dirty="0">
                <a:latin typeface="Arial"/>
                <a:cs typeface="Arial"/>
              </a:rPr>
              <a:t>maintained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outlier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detection.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Basic</a:t>
            </a:r>
            <a:r>
              <a:rPr sz="2800" b="0" spc="-7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Techniques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800936"/>
            <a:ext cx="8373109" cy="266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Some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techniques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scientist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listed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follows-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Arial"/>
              <a:cs typeface="Arial"/>
            </a:endParaRPr>
          </a:p>
          <a:p>
            <a:pPr marL="469900" marR="145415" indent="-313055">
              <a:lnSpc>
                <a:spcPct val="113599"/>
              </a:lnSpc>
              <a:buChar char="●"/>
              <a:tabLst>
                <a:tab pos="469900" algn="l"/>
              </a:tabLst>
            </a:pPr>
            <a:r>
              <a:rPr sz="1100" dirty="0">
                <a:latin typeface="Arial"/>
                <a:cs typeface="Arial"/>
              </a:rPr>
              <a:t>Text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analyzed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frequencies,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associations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corelation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predictive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purposes.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tm </a:t>
            </a:r>
            <a:r>
              <a:rPr sz="1100" spc="-10" dirty="0">
                <a:latin typeface="Arial"/>
                <a:cs typeface="Arial"/>
              </a:rPr>
              <a:t>package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greatly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helps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mining.</a:t>
            </a:r>
            <a:endParaRPr sz="1100">
              <a:latin typeface="Arial"/>
              <a:cs typeface="Arial"/>
            </a:endParaRPr>
          </a:p>
          <a:p>
            <a:pPr marL="469900" marR="5080" indent="-313055">
              <a:lnSpc>
                <a:spcPct val="113599"/>
              </a:lnSpc>
              <a:buChar char="●"/>
              <a:tabLst>
                <a:tab pos="469900" algn="l"/>
              </a:tabLst>
            </a:pPr>
            <a:r>
              <a:rPr sz="1100" dirty="0">
                <a:latin typeface="Arial"/>
                <a:cs typeface="Arial"/>
              </a:rPr>
              <a:t>Sentiment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Analysis-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sentiment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analysis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sentiment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lexicography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says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happy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latin typeface="Arial"/>
                <a:cs typeface="Arial"/>
              </a:rPr>
              <a:t>less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positive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delighted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positive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sad)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sentiment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scores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mined.</a:t>
            </a:r>
            <a:endParaRPr sz="1100">
              <a:latin typeface="Arial"/>
              <a:cs typeface="Arial"/>
            </a:endParaRPr>
          </a:p>
          <a:p>
            <a:pPr marL="469900" marR="206375" indent="-313055">
              <a:lnSpc>
                <a:spcPct val="113599"/>
              </a:lnSpc>
              <a:buChar char="●"/>
              <a:tabLst>
                <a:tab pos="469900" algn="l"/>
              </a:tabLst>
            </a:pPr>
            <a:r>
              <a:rPr sz="1100" dirty="0">
                <a:latin typeface="Arial"/>
                <a:cs typeface="Arial"/>
              </a:rPr>
              <a:t>Social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Analysis-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social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analysis,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direction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relationships,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quantum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messages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study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nodes,edges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graphs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insights..</a:t>
            </a:r>
            <a:endParaRPr sz="1100">
              <a:latin typeface="Arial"/>
              <a:cs typeface="Arial"/>
            </a:endParaRPr>
          </a:p>
          <a:p>
            <a:pPr marL="469900" marR="74295" indent="-313055">
              <a:lnSpc>
                <a:spcPct val="113599"/>
              </a:lnSpc>
              <a:buChar char="●"/>
              <a:tabLst>
                <a:tab pos="469900" algn="l"/>
              </a:tabLst>
            </a:pPr>
            <a:r>
              <a:rPr sz="1100" dirty="0">
                <a:latin typeface="Arial"/>
                <a:cs typeface="Arial"/>
              </a:rPr>
              <a:t>Time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Series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Forecasting-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said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regressive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regards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future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current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Technqiues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ARIMA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exponential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smoothing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packages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forecast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greatly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assist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time </a:t>
            </a:r>
            <a:r>
              <a:rPr sz="1100" dirty="0">
                <a:latin typeface="Arial"/>
                <a:cs typeface="Arial"/>
              </a:rPr>
              <a:t>series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forecasting.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Web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Analytics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Social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Media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Analytics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Machine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Data</a:t>
            </a:r>
            <a:r>
              <a:rPr sz="2800" b="0" spc="-11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Science</a:t>
            </a:r>
            <a:r>
              <a:rPr sz="2800" b="0" spc="-10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Tools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199" y="1176350"/>
            <a:ext cx="2642235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14"/>
              </a:spcBef>
              <a:buChar char="-"/>
              <a:tabLst>
                <a:tab pos="316865" algn="l"/>
              </a:tabLst>
            </a:pP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Tableau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Spark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Hadoop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(Pig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Hive)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SAS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SQL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Science</a:t>
            </a:r>
            <a:r>
              <a:rPr spc="-5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50" dirty="0"/>
              <a:t>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257934"/>
            <a:ext cx="332867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dirty="0">
                <a:latin typeface="Arial"/>
                <a:cs typeface="Arial"/>
              </a:rPr>
              <a:t>A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popular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language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Data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Science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4975" y="1322699"/>
            <a:ext cx="3553474" cy="36031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024" y="2497700"/>
            <a:ext cx="3191351" cy="25156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0" dirty="0"/>
              <a:t> 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125350"/>
            <a:ext cx="8075295" cy="37973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8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https://www.r-project.org/about.html</a:t>
            </a:r>
            <a:endParaRPr sz="1800">
              <a:latin typeface="Arial"/>
              <a:cs typeface="Arial"/>
            </a:endParaRPr>
          </a:p>
          <a:p>
            <a:pPr marL="12700" marR="258445">
              <a:lnSpc>
                <a:spcPct val="100699"/>
              </a:lnSpc>
              <a:spcBef>
                <a:spcPts val="600"/>
              </a:spcBef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integrated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suite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software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facilities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manipulation,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calculation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graphical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display.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includes</a:t>
            </a:r>
            <a:endParaRPr sz="18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5"/>
              </a:spcBef>
              <a:buSzPct val="61111"/>
              <a:buChar char="●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an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effective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handling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storage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facility,</a:t>
            </a:r>
            <a:endParaRPr sz="18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15"/>
              </a:spcBef>
              <a:buSzPct val="61111"/>
              <a:buChar char="●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suite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operators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calculations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arrays,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particular</a:t>
            </a:r>
            <a:r>
              <a:rPr sz="1800" spc="-10" dirty="0">
                <a:latin typeface="Arial"/>
                <a:cs typeface="Arial"/>
              </a:rPr>
              <a:t> matrices,</a:t>
            </a:r>
            <a:endParaRPr sz="1800">
              <a:latin typeface="Arial"/>
              <a:cs typeface="Arial"/>
            </a:endParaRPr>
          </a:p>
          <a:p>
            <a:pPr marL="469900" marR="766445" indent="-313055">
              <a:lnSpc>
                <a:spcPct val="114599"/>
              </a:lnSpc>
              <a:buSzPct val="61111"/>
              <a:buChar char="●"/>
              <a:tabLst>
                <a:tab pos="469900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large,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coherent,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integrated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collection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intermediate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tools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data </a:t>
            </a:r>
            <a:r>
              <a:rPr sz="1800" spc="-10" dirty="0">
                <a:latin typeface="Arial"/>
                <a:cs typeface="Arial"/>
              </a:rPr>
              <a:t>analysis,</a:t>
            </a:r>
            <a:endParaRPr sz="1800">
              <a:latin typeface="Arial"/>
              <a:cs typeface="Arial"/>
            </a:endParaRPr>
          </a:p>
          <a:p>
            <a:pPr marL="469900" marR="547370" indent="-313055">
              <a:lnSpc>
                <a:spcPct val="114599"/>
              </a:lnSpc>
              <a:buSzPct val="61111"/>
              <a:buChar char="●"/>
              <a:tabLst>
                <a:tab pos="469900" algn="l"/>
              </a:tabLst>
            </a:pPr>
            <a:r>
              <a:rPr sz="1800" dirty="0">
                <a:latin typeface="Arial"/>
                <a:cs typeface="Arial"/>
              </a:rPr>
              <a:t>graphical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facilities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analysis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display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either</a:t>
            </a:r>
            <a:r>
              <a:rPr sz="1800" spc="-10" dirty="0">
                <a:latin typeface="Arial"/>
                <a:cs typeface="Arial"/>
              </a:rPr>
              <a:t> on-</a:t>
            </a:r>
            <a:r>
              <a:rPr sz="1800" dirty="0">
                <a:latin typeface="Arial"/>
                <a:cs typeface="Arial"/>
              </a:rPr>
              <a:t>screen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on </a:t>
            </a:r>
            <a:r>
              <a:rPr sz="1800" dirty="0">
                <a:latin typeface="Arial"/>
                <a:cs typeface="Arial"/>
              </a:rPr>
              <a:t>hardcopy,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469900" marR="5080" indent="-313055">
              <a:lnSpc>
                <a:spcPct val="114599"/>
              </a:lnSpc>
              <a:buSzPct val="61111"/>
              <a:buChar char="●"/>
              <a:tabLst>
                <a:tab pos="469900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well-</a:t>
            </a:r>
            <a:r>
              <a:rPr sz="1800" dirty="0">
                <a:latin typeface="Arial"/>
                <a:cs typeface="Arial"/>
              </a:rPr>
              <a:t>developed,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simple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effective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programming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language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which </a:t>
            </a:r>
            <a:r>
              <a:rPr sz="1800" dirty="0">
                <a:latin typeface="Arial"/>
                <a:cs typeface="Arial"/>
              </a:rPr>
              <a:t>includes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conditionals,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loops,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user-</a:t>
            </a:r>
            <a:r>
              <a:rPr sz="1800" dirty="0">
                <a:latin typeface="Arial"/>
                <a:cs typeface="Arial"/>
              </a:rPr>
              <a:t>defined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recursive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functions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25" dirty="0">
                <a:latin typeface="Arial"/>
                <a:cs typeface="Arial"/>
              </a:rPr>
              <a:t> and </a:t>
            </a:r>
            <a:r>
              <a:rPr sz="1800" dirty="0">
                <a:latin typeface="Arial"/>
                <a:cs typeface="Arial"/>
              </a:rPr>
              <a:t>output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facilities.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Install</a:t>
            </a:r>
            <a:r>
              <a:rPr spc="-40" dirty="0"/>
              <a:t> </a:t>
            </a:r>
            <a:r>
              <a:rPr spc="-50" dirty="0"/>
              <a:t>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203455"/>
            <a:ext cx="4375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https://cran.r-project.org/bin/windows/base/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761027"/>
            <a:ext cx="9144000" cy="33824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Install</a:t>
            </a:r>
            <a:r>
              <a:rPr spc="-40" dirty="0"/>
              <a:t> </a:t>
            </a:r>
            <a:r>
              <a:rPr spc="-10" dirty="0"/>
              <a:t>RStudio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203455"/>
            <a:ext cx="523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https://www.rstudio.com/products/rstudio/download/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6500" y="1769874"/>
            <a:ext cx="5963976" cy="33736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Statistical</a:t>
            </a:r>
            <a:r>
              <a:rPr spc="-55" dirty="0"/>
              <a:t> </a:t>
            </a:r>
            <a:r>
              <a:rPr dirty="0"/>
              <a:t>Software</a:t>
            </a:r>
            <a:r>
              <a:rPr spc="-45" dirty="0"/>
              <a:t> </a:t>
            </a:r>
            <a:r>
              <a:rPr spc="-10" dirty="0"/>
              <a:t>Landscape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257934"/>
            <a:ext cx="2863215" cy="3759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-25" dirty="0">
                <a:latin typeface="Arial"/>
                <a:cs typeface="Arial"/>
              </a:rPr>
              <a:t>SAS</a:t>
            </a:r>
            <a:endParaRPr sz="3000">
              <a:latin typeface="Arial"/>
              <a:cs typeface="Arial"/>
            </a:endParaRPr>
          </a:p>
          <a:p>
            <a:pPr marL="12700" marR="5080">
              <a:lnSpc>
                <a:spcPts val="4200"/>
              </a:lnSpc>
              <a:spcBef>
                <a:spcPts val="240"/>
              </a:spcBef>
            </a:pPr>
            <a:r>
              <a:rPr sz="3000" dirty="0">
                <a:latin typeface="Arial"/>
                <a:cs typeface="Arial"/>
              </a:rPr>
              <a:t>Python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(Pandas) </a:t>
            </a:r>
            <a:r>
              <a:rPr sz="3000" dirty="0">
                <a:latin typeface="Arial"/>
                <a:cs typeface="Arial"/>
              </a:rPr>
              <a:t>IBM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SPSS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000" spc="-50" dirty="0">
                <a:latin typeface="Arial"/>
                <a:cs typeface="Arial"/>
              </a:rPr>
              <a:t>R</a:t>
            </a:r>
            <a:endParaRPr sz="3000">
              <a:latin typeface="Arial"/>
              <a:cs typeface="Arial"/>
            </a:endParaRPr>
          </a:p>
          <a:p>
            <a:pPr marL="12700" marR="1635125">
              <a:lnSpc>
                <a:spcPts val="4200"/>
              </a:lnSpc>
              <a:spcBef>
                <a:spcPts val="100"/>
              </a:spcBef>
            </a:pPr>
            <a:r>
              <a:rPr sz="3000" spc="-10" dirty="0">
                <a:latin typeface="Arial"/>
                <a:cs typeface="Arial"/>
              </a:rPr>
              <a:t>Julia Clojure Octave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350" y="1366835"/>
            <a:ext cx="133794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3355">
              <a:lnSpc>
                <a:spcPct val="116700"/>
              </a:lnSpc>
              <a:spcBef>
                <a:spcPts val="95"/>
              </a:spcBef>
            </a:pPr>
            <a:r>
              <a:rPr sz="3000" spc="-10" dirty="0">
                <a:latin typeface="Arial"/>
                <a:cs typeface="Arial"/>
              </a:rPr>
              <a:t>Matlab </a:t>
            </a:r>
            <a:r>
              <a:rPr sz="3000" spc="-25" dirty="0">
                <a:latin typeface="Arial"/>
                <a:cs typeface="Arial"/>
              </a:rPr>
              <a:t>JMP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latin typeface="Arial"/>
                <a:cs typeface="Arial"/>
              </a:rPr>
              <a:t>E</a:t>
            </a:r>
            <a:r>
              <a:rPr sz="3000" spc="-10" dirty="0">
                <a:latin typeface="Arial"/>
                <a:cs typeface="Arial"/>
              </a:rPr>
              <a:t> views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5000" y="3126150"/>
            <a:ext cx="2512799" cy="19085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45" dirty="0"/>
              <a:t> </a:t>
            </a:r>
            <a:r>
              <a:rPr dirty="0"/>
              <a:t>R</a:t>
            </a:r>
            <a:r>
              <a:rPr spc="-3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other</a:t>
            </a:r>
            <a:r>
              <a:rPr spc="-35" dirty="0"/>
              <a:t> </a:t>
            </a:r>
            <a:r>
              <a:rPr spc="-1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343786"/>
            <a:ext cx="6941184" cy="270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https://rforanalytics.wordpress.com/useful-links-for-r/using-r-from-other-software/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Tableau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3"/>
              </a:rPr>
              <a:t>http://www.tableausoftware.com/new-features/r-integration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Arial"/>
                <a:cs typeface="Arial"/>
              </a:rPr>
              <a:t>Qlik</a:t>
            </a:r>
            <a:r>
              <a:rPr sz="1100" spc="229" dirty="0">
                <a:latin typeface="Arial"/>
                <a:cs typeface="Arial"/>
              </a:rPr>
              <a:t>  </a:t>
            </a:r>
            <a:r>
              <a:rPr sz="1100" u="sng" spc="-1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4"/>
              </a:rPr>
              <a:t>http://qliksolutions.ru/qlikview/add-ons/r-connector-</a:t>
            </a:r>
            <a:r>
              <a:rPr sz="1100" u="sng" spc="-2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4"/>
              </a:rPr>
              <a:t>eng/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4350"/>
              </a:lnSpc>
              <a:spcBef>
                <a:spcPts val="400"/>
              </a:spcBef>
            </a:pPr>
            <a:r>
              <a:rPr sz="1100" dirty="0">
                <a:latin typeface="Arial"/>
                <a:cs typeface="Arial"/>
              </a:rPr>
              <a:t>Oracle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5"/>
              </a:rPr>
              <a:t>http://www.oracle.com/technetwork/database/database-technologies/r/r-enterprise/overview/index.html</a:t>
            </a:r>
            <a:r>
              <a:rPr sz="1100" u="none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Rapid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Miner</a:t>
            </a:r>
            <a:r>
              <a:rPr sz="1100" u="none" spc="-30" dirty="0">
                <a:latin typeface="Arial"/>
                <a:cs typeface="Arial"/>
              </a:rPr>
              <a:t> </a:t>
            </a:r>
            <a:r>
              <a:rPr sz="1100" u="sng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6"/>
              </a:rPr>
              <a:t>https://rapid-</a:t>
            </a:r>
            <a:r>
              <a:rPr sz="1100" u="sng" spc="-1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6"/>
              </a:rPr>
              <a:t>i.com/content/view/202/206/lang,en/#r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Arial"/>
                <a:cs typeface="Arial"/>
              </a:rPr>
              <a:t>JMP</a:t>
            </a:r>
            <a:r>
              <a:rPr sz="1100" spc="245" dirty="0">
                <a:latin typeface="Arial"/>
                <a:cs typeface="Arial"/>
              </a:rPr>
              <a:t>  </a:t>
            </a:r>
            <a:r>
              <a:rPr sz="1100" u="sng" spc="-1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7"/>
              </a:rPr>
              <a:t>http://blogs.sas.com/jmp/index.php?/archives/298-JMP-Into-R!.html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66703" y="1200150"/>
            <a:ext cx="2645354" cy="141673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45" dirty="0"/>
              <a:t> </a:t>
            </a:r>
            <a:r>
              <a:rPr dirty="0"/>
              <a:t>R</a:t>
            </a:r>
            <a:r>
              <a:rPr spc="-3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other</a:t>
            </a:r>
            <a:r>
              <a:rPr spc="-35" dirty="0"/>
              <a:t> </a:t>
            </a:r>
            <a:r>
              <a:rPr spc="-1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343786"/>
            <a:ext cx="8027670" cy="329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https://rforanalytics.wordpress.com/useful-links-for-r/using-r-from-other-software/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SAS/IML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3"/>
              </a:rPr>
              <a:t>http://www.sas.com/technologies/analytics/statistics/iml/index.html</a:t>
            </a:r>
            <a:endParaRPr sz="1100">
              <a:latin typeface="Arial"/>
              <a:cs typeface="Arial"/>
            </a:endParaRPr>
          </a:p>
          <a:p>
            <a:pPr marL="12700" marR="1977389">
              <a:lnSpc>
                <a:spcPct val="303000"/>
              </a:lnSpc>
              <a:spcBef>
                <a:spcPts val="350"/>
              </a:spcBef>
            </a:pPr>
            <a:r>
              <a:rPr sz="1100" dirty="0">
                <a:latin typeface="Arial"/>
                <a:cs typeface="Arial"/>
              </a:rPr>
              <a:t>Teradata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u="sng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4"/>
              </a:rPr>
              <a:t>http://developer.teradata.com/applications/articles/in-database-analytics-with-teradata-</a:t>
            </a:r>
            <a:r>
              <a:rPr sz="1100" u="sng" spc="-5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4"/>
              </a:rPr>
              <a:t>r</a:t>
            </a:r>
            <a:r>
              <a:rPr sz="1100" u="none" spc="-50" dirty="0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Pentaho</a:t>
            </a:r>
            <a:r>
              <a:rPr sz="1100" u="none" spc="260" dirty="0">
                <a:latin typeface="Arial"/>
                <a:cs typeface="Arial"/>
              </a:rPr>
              <a:t>  </a:t>
            </a:r>
            <a:r>
              <a:rPr sz="1100" u="sng" spc="-10" dirty="0">
                <a:solidFill>
                  <a:srgbClr val="9F9F9F"/>
                </a:solidFill>
                <a:uFill>
                  <a:solidFill>
                    <a:srgbClr val="9F9F9F"/>
                  </a:solidFill>
                </a:uFill>
                <a:latin typeface="Arial"/>
                <a:cs typeface="Arial"/>
                <a:hlinkClick r:id="rId5"/>
              </a:rPr>
              <a:t>http://bigdatatechworld.blogspot.in/2013/10/integration-of-rweka-with-pentaho-data.html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IBM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SPSS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64800"/>
              </a:lnSpc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https://www14.software.ibm.com/webapp/iwm/web/signup.do?source=ibm-analytics&amp;S_PKG=ov18855&amp;S_TACT=M161003W&amp;dy</a:t>
            </a:r>
            <a:r>
              <a:rPr sz="1100" u="none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nform=127&amp;lang=en_US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dirty="0">
                <a:latin typeface="Arial"/>
                <a:cs typeface="Arial"/>
              </a:rPr>
              <a:t>TIBCO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TERR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7"/>
              </a:rPr>
              <a:t>http://spotfire.tibco.com/discover-spotfire/what-does-spotfire-do/predictive-analytics/tibco-enterprise-runtime-for-r-</a:t>
            </a:r>
            <a:r>
              <a:rPr sz="11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7"/>
              </a:rPr>
              <a:t>terr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78525" y="1200150"/>
            <a:ext cx="2762925" cy="143437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40" dirty="0"/>
              <a:t> </a:t>
            </a:r>
            <a:r>
              <a:rPr dirty="0"/>
              <a:t>Advantages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262125"/>
            <a:ext cx="5931535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53280">
              <a:lnSpc>
                <a:spcPct val="1284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open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source </a:t>
            </a:r>
            <a:r>
              <a:rPr sz="1800" spc="-20" dirty="0">
                <a:latin typeface="Arial"/>
                <a:cs typeface="Arial"/>
              </a:rPr>
              <a:t>free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8499"/>
              </a:lnSpc>
            </a:pPr>
            <a:r>
              <a:rPr sz="1800" dirty="0">
                <a:latin typeface="Arial"/>
                <a:cs typeface="Arial"/>
              </a:rPr>
              <a:t>large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algorithms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packages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statistics flexible</a:t>
            </a:r>
            <a:endParaRPr sz="1800">
              <a:latin typeface="Arial"/>
              <a:cs typeface="Arial"/>
            </a:endParaRPr>
          </a:p>
          <a:p>
            <a:pPr marL="12700" marR="2760980">
              <a:lnSpc>
                <a:spcPct val="128499"/>
              </a:lnSpc>
            </a:pPr>
            <a:r>
              <a:rPr sz="1800" dirty="0">
                <a:latin typeface="Arial"/>
                <a:cs typeface="Arial"/>
              </a:rPr>
              <a:t>very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10" dirty="0">
                <a:latin typeface="Arial"/>
                <a:cs typeface="Arial"/>
              </a:rPr>
              <a:t> visualization </a:t>
            </a:r>
            <a:r>
              <a:rPr sz="1800" dirty="0">
                <a:latin typeface="Arial"/>
                <a:cs typeface="Arial"/>
              </a:rPr>
              <a:t>superb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community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800" dirty="0">
                <a:latin typeface="Arial"/>
                <a:cs typeface="Arial"/>
              </a:rPr>
              <a:t>rapidly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growing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dirty="0">
                <a:latin typeface="Arial"/>
                <a:cs typeface="Arial"/>
              </a:rPr>
              <a:t>can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other</a:t>
            </a:r>
            <a:r>
              <a:rPr sz="1800" spc="-10" dirty="0">
                <a:latin typeface="Arial"/>
                <a:cs typeface="Arial"/>
              </a:rPr>
              <a:t> software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5250" y="3138075"/>
            <a:ext cx="2512799" cy="19085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45" dirty="0"/>
              <a:t> </a:t>
            </a:r>
            <a:r>
              <a:rPr dirty="0"/>
              <a:t>Disadvantages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50"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262125"/>
            <a:ext cx="444563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48180">
              <a:lnSpc>
                <a:spcPct val="1284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memory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(RAM)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usage </a:t>
            </a:r>
            <a:r>
              <a:rPr sz="1800" dirty="0">
                <a:latin typeface="Arial"/>
                <a:cs typeface="Arial"/>
              </a:rPr>
              <a:t>steep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curve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8499"/>
              </a:lnSpc>
            </a:pPr>
            <a:r>
              <a:rPr sz="1800" dirty="0">
                <a:latin typeface="Arial"/>
                <a:cs typeface="Arial"/>
              </a:rPr>
              <a:t>some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departments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frown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source </a:t>
            </a:r>
            <a:r>
              <a:rPr sz="1800" dirty="0">
                <a:latin typeface="Arial"/>
                <a:cs typeface="Arial"/>
              </a:rPr>
              <a:t>verbose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documentation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800" dirty="0">
                <a:latin typeface="Arial"/>
                <a:cs typeface="Arial"/>
              </a:rPr>
              <a:t>tech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dirty="0">
                <a:latin typeface="Arial"/>
                <a:cs typeface="Arial"/>
              </a:rPr>
              <a:t>evolving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ecosystem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corporates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3150" y="3234900"/>
            <a:ext cx="2512799" cy="19085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Solutions</a:t>
            </a:r>
            <a:r>
              <a:rPr spc="-10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Disadvantages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50"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262125"/>
            <a:ext cx="250190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memory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(RAM)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usage </a:t>
            </a:r>
            <a:r>
              <a:rPr sz="1800" dirty="0">
                <a:latin typeface="Arial"/>
                <a:cs typeface="Arial"/>
              </a:rPr>
              <a:t>steep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curve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9686" y="1262125"/>
            <a:ext cx="462280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 indent="-24765">
              <a:lnSpc>
                <a:spcPct val="1284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specialized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packages,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database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computing </a:t>
            </a:r>
            <a:r>
              <a:rPr sz="1800" dirty="0">
                <a:latin typeface="Arial"/>
                <a:cs typeface="Arial"/>
              </a:rPr>
              <a:t>TRAINING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!!!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225" y="2045080"/>
            <a:ext cx="8046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81625" algn="l"/>
              </a:tabLst>
            </a:pPr>
            <a:r>
              <a:rPr sz="1800" dirty="0">
                <a:latin typeface="Arial"/>
                <a:cs typeface="Arial"/>
              </a:rPr>
              <a:t>some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departments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frown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source</a:t>
            </a:r>
            <a:r>
              <a:rPr sz="1800" dirty="0">
                <a:latin typeface="Arial"/>
                <a:cs typeface="Arial"/>
              </a:rPr>
              <a:t>	TRAINING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education!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225" y="2319401"/>
            <a:ext cx="240093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verbose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documentation </a:t>
            </a:r>
            <a:r>
              <a:rPr sz="1800" dirty="0">
                <a:latin typeface="Arial"/>
                <a:cs typeface="Arial"/>
              </a:rPr>
              <a:t>tech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2956" y="2319401"/>
            <a:ext cx="323024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284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CRAN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View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 Documentation </a:t>
            </a:r>
            <a:r>
              <a:rPr sz="1800" dirty="0">
                <a:latin typeface="Arial"/>
                <a:cs typeface="Arial"/>
              </a:rPr>
              <a:t>expanding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pool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resources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225" y="3102356"/>
            <a:ext cx="803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6220" algn="l"/>
              </a:tabLst>
            </a:pPr>
            <a:r>
              <a:rPr sz="1800" dirty="0">
                <a:latin typeface="Arial"/>
                <a:cs typeface="Arial"/>
              </a:rPr>
              <a:t>evolving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ecosystem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corporates</a:t>
            </a:r>
            <a:r>
              <a:rPr sz="1800" dirty="0">
                <a:latin typeface="Arial"/>
                <a:cs typeface="Arial"/>
              </a:rPr>
              <a:t>	getting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better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98374" y="1371500"/>
            <a:ext cx="563245" cy="682625"/>
            <a:chOff x="3198374" y="1371500"/>
            <a:chExt cx="563245" cy="682625"/>
          </a:xfrm>
        </p:grpSpPr>
        <p:sp>
          <p:nvSpPr>
            <p:cNvPr id="10" name="object 10"/>
            <p:cNvSpPr/>
            <p:nvPr/>
          </p:nvSpPr>
          <p:spPr>
            <a:xfrm>
              <a:off x="3207899" y="1381025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391349" y="304499"/>
                  </a:move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7899" y="1381025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0" y="76124"/>
                  </a:move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7899" y="1740025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391349" y="304499"/>
                  </a:move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7899" y="1740025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0" y="76124"/>
                  </a:move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198374" y="2409974"/>
            <a:ext cx="563245" cy="323850"/>
            <a:chOff x="3198374" y="2409974"/>
            <a:chExt cx="563245" cy="323850"/>
          </a:xfrm>
        </p:grpSpPr>
        <p:sp>
          <p:nvSpPr>
            <p:cNvPr id="15" name="object 15"/>
            <p:cNvSpPr/>
            <p:nvPr/>
          </p:nvSpPr>
          <p:spPr>
            <a:xfrm>
              <a:off x="3207899" y="2419499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391349" y="304499"/>
                  </a:move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07899" y="2419499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0" y="76124"/>
                  </a:move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198374" y="2796625"/>
            <a:ext cx="563245" cy="323850"/>
            <a:chOff x="3198374" y="2796625"/>
            <a:chExt cx="563245" cy="323850"/>
          </a:xfrm>
        </p:grpSpPr>
        <p:sp>
          <p:nvSpPr>
            <p:cNvPr id="18" name="object 18"/>
            <p:cNvSpPr/>
            <p:nvPr/>
          </p:nvSpPr>
          <p:spPr>
            <a:xfrm>
              <a:off x="3207899" y="2806150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391349" y="304499"/>
                  </a:move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7899" y="2806150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0" y="76124"/>
                  </a:move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243524" y="3101125"/>
            <a:ext cx="563245" cy="323850"/>
            <a:chOff x="5243524" y="3101125"/>
            <a:chExt cx="563245" cy="323850"/>
          </a:xfrm>
        </p:grpSpPr>
        <p:sp>
          <p:nvSpPr>
            <p:cNvPr id="21" name="object 21"/>
            <p:cNvSpPr/>
            <p:nvPr/>
          </p:nvSpPr>
          <p:spPr>
            <a:xfrm>
              <a:off x="5253049" y="3110650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391349" y="304499"/>
                  </a:move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53049" y="3110650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0" y="76124"/>
                  </a:move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243524" y="2035000"/>
            <a:ext cx="563245" cy="323850"/>
            <a:chOff x="5243524" y="2035000"/>
            <a:chExt cx="563245" cy="323850"/>
          </a:xfrm>
        </p:grpSpPr>
        <p:sp>
          <p:nvSpPr>
            <p:cNvPr id="24" name="object 24"/>
            <p:cNvSpPr/>
            <p:nvPr/>
          </p:nvSpPr>
          <p:spPr>
            <a:xfrm>
              <a:off x="5253049" y="2044525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391349" y="304499"/>
                  </a:move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53049" y="2044525"/>
              <a:ext cx="544195" cy="304800"/>
            </a:xfrm>
            <a:custGeom>
              <a:avLst/>
              <a:gdLst/>
              <a:ahLst/>
              <a:cxnLst/>
              <a:rect l="l" t="t" r="r" b="b"/>
              <a:pathLst>
                <a:path w="544195" h="304800">
                  <a:moveTo>
                    <a:pt x="0" y="76124"/>
                  </a:moveTo>
                  <a:lnTo>
                    <a:pt x="391349" y="76124"/>
                  </a:lnTo>
                  <a:lnTo>
                    <a:pt x="391349" y="0"/>
                  </a:lnTo>
                  <a:lnTo>
                    <a:pt x="543599" y="152249"/>
                  </a:lnTo>
                  <a:lnTo>
                    <a:pt x="391349" y="304499"/>
                  </a:lnTo>
                  <a:lnTo>
                    <a:pt x="391349" y="228374"/>
                  </a:lnTo>
                  <a:lnTo>
                    <a:pt x="0" y="228374"/>
                  </a:lnTo>
                  <a:lnTo>
                    <a:pt x="0" y="76124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8582" y="455560"/>
            <a:ext cx="2899216" cy="387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6403" y="1185164"/>
            <a:ext cx="156845" cy="352806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15"/>
              </a:spcBef>
            </a:pP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20"/>
              </a:spcBef>
            </a:pP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7582" y="1359044"/>
            <a:ext cx="557530" cy="243204"/>
          </a:xfrm>
          <a:custGeom>
            <a:avLst/>
            <a:gdLst/>
            <a:ahLst/>
            <a:cxnLst/>
            <a:rect l="l" t="t" r="r" b="b"/>
            <a:pathLst>
              <a:path w="557530" h="243205">
                <a:moveTo>
                  <a:pt x="143931" y="204638"/>
                </a:moveTo>
                <a:lnTo>
                  <a:pt x="72082" y="204638"/>
                </a:lnTo>
                <a:lnTo>
                  <a:pt x="77291" y="203944"/>
                </a:lnTo>
                <a:lnTo>
                  <a:pt x="86419" y="201166"/>
                </a:lnTo>
                <a:lnTo>
                  <a:pt x="90289" y="199181"/>
                </a:lnTo>
                <a:lnTo>
                  <a:pt x="93464" y="196601"/>
                </a:lnTo>
                <a:lnTo>
                  <a:pt x="96738" y="194022"/>
                </a:lnTo>
                <a:lnTo>
                  <a:pt x="99218" y="190896"/>
                </a:lnTo>
                <a:lnTo>
                  <a:pt x="101537" y="185811"/>
                </a:lnTo>
                <a:lnTo>
                  <a:pt x="102592" y="183455"/>
                </a:lnTo>
                <a:lnTo>
                  <a:pt x="103435" y="179288"/>
                </a:lnTo>
                <a:lnTo>
                  <a:pt x="103435" y="169366"/>
                </a:lnTo>
                <a:lnTo>
                  <a:pt x="101947" y="164802"/>
                </a:lnTo>
                <a:lnTo>
                  <a:pt x="98970" y="161032"/>
                </a:lnTo>
                <a:lnTo>
                  <a:pt x="96093" y="157162"/>
                </a:lnTo>
                <a:lnTo>
                  <a:pt x="92323" y="153739"/>
                </a:lnTo>
                <a:lnTo>
                  <a:pt x="87659" y="150762"/>
                </a:lnTo>
                <a:lnTo>
                  <a:pt x="83095" y="147786"/>
                </a:lnTo>
                <a:lnTo>
                  <a:pt x="77837" y="145008"/>
                </a:lnTo>
                <a:lnTo>
                  <a:pt x="65930" y="139848"/>
                </a:lnTo>
                <a:lnTo>
                  <a:pt x="59779" y="137120"/>
                </a:lnTo>
                <a:lnTo>
                  <a:pt x="23965" y="116185"/>
                </a:lnTo>
                <a:lnTo>
                  <a:pt x="4799" y="81260"/>
                </a:lnTo>
                <a:lnTo>
                  <a:pt x="3720" y="67567"/>
                </a:lnTo>
                <a:lnTo>
                  <a:pt x="4111" y="59410"/>
                </a:lnTo>
                <a:lnTo>
                  <a:pt x="5072" y="53131"/>
                </a:lnTo>
                <a:lnTo>
                  <a:pt x="5125" y="52784"/>
                </a:lnTo>
                <a:lnTo>
                  <a:pt x="5201" y="52288"/>
                </a:lnTo>
                <a:lnTo>
                  <a:pt x="26789" y="16817"/>
                </a:lnTo>
                <a:lnTo>
                  <a:pt x="66675" y="1041"/>
                </a:lnTo>
                <a:lnTo>
                  <a:pt x="82450" y="0"/>
                </a:lnTo>
                <a:lnTo>
                  <a:pt x="88007" y="0"/>
                </a:lnTo>
                <a:lnTo>
                  <a:pt x="93563" y="446"/>
                </a:lnTo>
                <a:lnTo>
                  <a:pt x="99119" y="1339"/>
                </a:lnTo>
                <a:lnTo>
                  <a:pt x="104675" y="2133"/>
                </a:lnTo>
                <a:lnTo>
                  <a:pt x="109835" y="3274"/>
                </a:lnTo>
                <a:lnTo>
                  <a:pt x="114597" y="4762"/>
                </a:lnTo>
                <a:lnTo>
                  <a:pt x="119459" y="6151"/>
                </a:lnTo>
                <a:lnTo>
                  <a:pt x="123775" y="7788"/>
                </a:lnTo>
                <a:lnTo>
                  <a:pt x="127545" y="9673"/>
                </a:lnTo>
                <a:lnTo>
                  <a:pt x="131316" y="11459"/>
                </a:lnTo>
                <a:lnTo>
                  <a:pt x="133625" y="12845"/>
                </a:lnTo>
                <a:lnTo>
                  <a:pt x="136177" y="15329"/>
                </a:lnTo>
                <a:lnTo>
                  <a:pt x="136971" y="16371"/>
                </a:lnTo>
                <a:lnTo>
                  <a:pt x="137368" y="17264"/>
                </a:lnTo>
                <a:lnTo>
                  <a:pt x="137864" y="18057"/>
                </a:lnTo>
                <a:lnTo>
                  <a:pt x="139193" y="37207"/>
                </a:lnTo>
                <a:lnTo>
                  <a:pt x="77886" y="37207"/>
                </a:lnTo>
                <a:lnTo>
                  <a:pt x="73372" y="37851"/>
                </a:lnTo>
                <a:lnTo>
                  <a:pt x="69502" y="39141"/>
                </a:lnTo>
                <a:lnTo>
                  <a:pt x="65955" y="40233"/>
                </a:lnTo>
                <a:lnTo>
                  <a:pt x="65817" y="40233"/>
                </a:lnTo>
                <a:lnTo>
                  <a:pt x="62408" y="42068"/>
                </a:lnTo>
                <a:lnTo>
                  <a:pt x="59828" y="44350"/>
                </a:lnTo>
                <a:lnTo>
                  <a:pt x="57249" y="46533"/>
                </a:lnTo>
                <a:lnTo>
                  <a:pt x="55314" y="49212"/>
                </a:lnTo>
                <a:lnTo>
                  <a:pt x="52734" y="55562"/>
                </a:lnTo>
                <a:lnTo>
                  <a:pt x="52089" y="58886"/>
                </a:lnTo>
                <a:lnTo>
                  <a:pt x="52089" y="67567"/>
                </a:lnTo>
                <a:lnTo>
                  <a:pt x="89991" y="96936"/>
                </a:lnTo>
                <a:lnTo>
                  <a:pt x="96142" y="99714"/>
                </a:lnTo>
                <a:lnTo>
                  <a:pt x="102393" y="102691"/>
                </a:lnTo>
                <a:lnTo>
                  <a:pt x="108743" y="105568"/>
                </a:lnTo>
                <a:lnTo>
                  <a:pt x="114944" y="108842"/>
                </a:lnTo>
                <a:lnTo>
                  <a:pt x="127049" y="116185"/>
                </a:lnTo>
                <a:lnTo>
                  <a:pt x="132407" y="120600"/>
                </a:lnTo>
                <a:lnTo>
                  <a:pt x="137070" y="125759"/>
                </a:lnTo>
                <a:lnTo>
                  <a:pt x="141833" y="130919"/>
                </a:lnTo>
                <a:lnTo>
                  <a:pt x="145653" y="136971"/>
                </a:lnTo>
                <a:lnTo>
                  <a:pt x="148530" y="143916"/>
                </a:lnTo>
                <a:lnTo>
                  <a:pt x="151464" y="150762"/>
                </a:lnTo>
                <a:lnTo>
                  <a:pt x="152030" y="153739"/>
                </a:lnTo>
                <a:lnTo>
                  <a:pt x="152995" y="159047"/>
                </a:lnTo>
                <a:lnTo>
                  <a:pt x="152951" y="169366"/>
                </a:lnTo>
                <a:lnTo>
                  <a:pt x="146000" y="200917"/>
                </a:lnTo>
                <a:lnTo>
                  <a:pt x="143931" y="204638"/>
                </a:lnTo>
                <a:close/>
              </a:path>
              <a:path w="557530" h="243205">
                <a:moveTo>
                  <a:pt x="134491" y="53131"/>
                </a:moveTo>
                <a:lnTo>
                  <a:pt x="131812" y="53131"/>
                </a:lnTo>
                <a:lnTo>
                  <a:pt x="129678" y="52288"/>
                </a:lnTo>
                <a:lnTo>
                  <a:pt x="123924" y="48914"/>
                </a:lnTo>
                <a:lnTo>
                  <a:pt x="120352" y="47079"/>
                </a:lnTo>
                <a:lnTo>
                  <a:pt x="116085" y="45094"/>
                </a:lnTo>
                <a:lnTo>
                  <a:pt x="111918" y="43110"/>
                </a:lnTo>
                <a:lnTo>
                  <a:pt x="107007" y="41324"/>
                </a:lnTo>
                <a:lnTo>
                  <a:pt x="101351" y="39737"/>
                </a:lnTo>
                <a:lnTo>
                  <a:pt x="95142" y="37851"/>
                </a:lnTo>
                <a:lnTo>
                  <a:pt x="94360" y="37851"/>
                </a:lnTo>
                <a:lnTo>
                  <a:pt x="89693" y="37207"/>
                </a:lnTo>
                <a:lnTo>
                  <a:pt x="139193" y="37207"/>
                </a:lnTo>
                <a:lnTo>
                  <a:pt x="139116" y="41324"/>
                </a:lnTo>
                <a:lnTo>
                  <a:pt x="139005" y="42713"/>
                </a:lnTo>
                <a:lnTo>
                  <a:pt x="138906" y="45094"/>
                </a:lnTo>
                <a:lnTo>
                  <a:pt x="138690" y="46533"/>
                </a:lnTo>
                <a:lnTo>
                  <a:pt x="138608" y="47079"/>
                </a:lnTo>
                <a:lnTo>
                  <a:pt x="138112" y="48666"/>
                </a:lnTo>
                <a:lnTo>
                  <a:pt x="137715" y="50155"/>
                </a:lnTo>
                <a:lnTo>
                  <a:pt x="137120" y="51296"/>
                </a:lnTo>
                <a:lnTo>
                  <a:pt x="136326" y="52089"/>
                </a:lnTo>
                <a:lnTo>
                  <a:pt x="135532" y="52784"/>
                </a:lnTo>
                <a:lnTo>
                  <a:pt x="134491" y="53131"/>
                </a:lnTo>
                <a:close/>
              </a:path>
              <a:path w="557530" h="243205">
                <a:moveTo>
                  <a:pt x="66079" y="243036"/>
                </a:moveTo>
                <a:lnTo>
                  <a:pt x="57943" y="243036"/>
                </a:lnTo>
                <a:lnTo>
                  <a:pt x="50403" y="242341"/>
                </a:lnTo>
                <a:lnTo>
                  <a:pt x="43457" y="240952"/>
                </a:lnTo>
                <a:lnTo>
                  <a:pt x="36512" y="239662"/>
                </a:lnTo>
                <a:lnTo>
                  <a:pt x="1289" y="221059"/>
                </a:lnTo>
                <a:lnTo>
                  <a:pt x="0" y="215205"/>
                </a:lnTo>
                <a:lnTo>
                  <a:pt x="0" y="196006"/>
                </a:lnTo>
                <a:lnTo>
                  <a:pt x="1692" y="188416"/>
                </a:lnTo>
                <a:lnTo>
                  <a:pt x="1785" y="188168"/>
                </a:lnTo>
                <a:lnTo>
                  <a:pt x="2530" y="187027"/>
                </a:lnTo>
                <a:lnTo>
                  <a:pt x="4316" y="185638"/>
                </a:lnTo>
                <a:lnTo>
                  <a:pt x="5357" y="185291"/>
                </a:lnTo>
                <a:lnTo>
                  <a:pt x="8235" y="185291"/>
                </a:lnTo>
                <a:lnTo>
                  <a:pt x="10616" y="186332"/>
                </a:lnTo>
                <a:lnTo>
                  <a:pt x="13692" y="188416"/>
                </a:lnTo>
                <a:lnTo>
                  <a:pt x="16767" y="190400"/>
                </a:lnTo>
                <a:lnTo>
                  <a:pt x="57398" y="204638"/>
                </a:lnTo>
                <a:lnTo>
                  <a:pt x="143931" y="204638"/>
                </a:lnTo>
                <a:lnTo>
                  <a:pt x="142270" y="207624"/>
                </a:lnTo>
                <a:lnTo>
                  <a:pt x="107500" y="235753"/>
                </a:lnTo>
                <a:lnTo>
                  <a:pt x="74944" y="242747"/>
                </a:lnTo>
                <a:lnTo>
                  <a:pt x="66079" y="243036"/>
                </a:lnTo>
                <a:close/>
              </a:path>
              <a:path w="557530" h="243205">
                <a:moveTo>
                  <a:pt x="292994" y="3423"/>
                </a:moveTo>
                <a:lnTo>
                  <a:pt x="260996" y="3423"/>
                </a:lnTo>
                <a:lnTo>
                  <a:pt x="264766" y="3224"/>
                </a:lnTo>
                <a:lnTo>
                  <a:pt x="288727" y="3224"/>
                </a:lnTo>
                <a:lnTo>
                  <a:pt x="292994" y="3423"/>
                </a:lnTo>
                <a:close/>
              </a:path>
              <a:path w="557530" h="243205">
                <a:moveTo>
                  <a:pt x="207294" y="239166"/>
                </a:moveTo>
                <a:lnTo>
                  <a:pt x="176214" y="239166"/>
                </a:lnTo>
                <a:lnTo>
                  <a:pt x="174626" y="239017"/>
                </a:lnTo>
                <a:lnTo>
                  <a:pt x="169734" y="232469"/>
                </a:lnTo>
                <a:lnTo>
                  <a:pt x="169877" y="231278"/>
                </a:lnTo>
                <a:lnTo>
                  <a:pt x="170241" y="228848"/>
                </a:lnTo>
                <a:lnTo>
                  <a:pt x="170310" y="228401"/>
                </a:lnTo>
                <a:lnTo>
                  <a:pt x="171129" y="225425"/>
                </a:lnTo>
                <a:lnTo>
                  <a:pt x="171252" y="224978"/>
                </a:lnTo>
                <a:lnTo>
                  <a:pt x="245071" y="12501"/>
                </a:lnTo>
                <a:lnTo>
                  <a:pt x="245752" y="10715"/>
                </a:lnTo>
                <a:lnTo>
                  <a:pt x="245865" y="10417"/>
                </a:lnTo>
                <a:lnTo>
                  <a:pt x="258057" y="3423"/>
                </a:lnTo>
                <a:lnTo>
                  <a:pt x="296442" y="3423"/>
                </a:lnTo>
                <a:lnTo>
                  <a:pt x="300534" y="3919"/>
                </a:lnTo>
                <a:lnTo>
                  <a:pt x="302816" y="4613"/>
                </a:lnTo>
                <a:lnTo>
                  <a:pt x="305198" y="5308"/>
                </a:lnTo>
                <a:lnTo>
                  <a:pt x="306884" y="6300"/>
                </a:lnTo>
                <a:lnTo>
                  <a:pt x="307877" y="7590"/>
                </a:lnTo>
                <a:lnTo>
                  <a:pt x="308884" y="8780"/>
                </a:lnTo>
                <a:lnTo>
                  <a:pt x="309861" y="10715"/>
                </a:lnTo>
                <a:lnTo>
                  <a:pt x="310556" y="13096"/>
                </a:lnTo>
                <a:lnTo>
                  <a:pt x="323076" y="48964"/>
                </a:lnTo>
                <a:lnTo>
                  <a:pt x="275283" y="48964"/>
                </a:lnTo>
                <a:lnTo>
                  <a:pt x="242095" y="148679"/>
                </a:lnTo>
                <a:lnTo>
                  <a:pt x="357883" y="148679"/>
                </a:lnTo>
                <a:lnTo>
                  <a:pt x="370663" y="185291"/>
                </a:lnTo>
                <a:lnTo>
                  <a:pt x="231528" y="185291"/>
                </a:lnTo>
                <a:lnTo>
                  <a:pt x="216741" y="230981"/>
                </a:lnTo>
                <a:lnTo>
                  <a:pt x="216149" y="232965"/>
                </a:lnTo>
                <a:lnTo>
                  <a:pt x="215504" y="234404"/>
                </a:lnTo>
                <a:lnTo>
                  <a:pt x="209154" y="238869"/>
                </a:lnTo>
                <a:lnTo>
                  <a:pt x="207294" y="239166"/>
                </a:lnTo>
                <a:close/>
              </a:path>
              <a:path w="557530" h="243205">
                <a:moveTo>
                  <a:pt x="357883" y="148679"/>
                </a:moveTo>
                <a:lnTo>
                  <a:pt x="308621" y="148679"/>
                </a:lnTo>
                <a:lnTo>
                  <a:pt x="275432" y="48964"/>
                </a:lnTo>
                <a:lnTo>
                  <a:pt x="323076" y="48964"/>
                </a:lnTo>
                <a:lnTo>
                  <a:pt x="357883" y="148679"/>
                </a:lnTo>
                <a:close/>
              </a:path>
              <a:path w="557530" h="243205">
                <a:moveTo>
                  <a:pt x="377379" y="239464"/>
                </a:moveTo>
                <a:lnTo>
                  <a:pt x="345043" y="239464"/>
                </a:lnTo>
                <a:lnTo>
                  <a:pt x="342413" y="239166"/>
                </a:lnTo>
                <a:lnTo>
                  <a:pt x="342673" y="239166"/>
                </a:lnTo>
                <a:lnTo>
                  <a:pt x="341065" y="238720"/>
                </a:lnTo>
                <a:lnTo>
                  <a:pt x="335410" y="232469"/>
                </a:lnTo>
                <a:lnTo>
                  <a:pt x="319634" y="185291"/>
                </a:lnTo>
                <a:lnTo>
                  <a:pt x="370663" y="185291"/>
                </a:lnTo>
                <a:lnTo>
                  <a:pt x="383184" y="221158"/>
                </a:lnTo>
                <a:lnTo>
                  <a:pt x="384573" y="225425"/>
                </a:lnTo>
                <a:lnTo>
                  <a:pt x="385349" y="228401"/>
                </a:lnTo>
                <a:lnTo>
                  <a:pt x="385466" y="228848"/>
                </a:lnTo>
                <a:lnTo>
                  <a:pt x="386023" y="232469"/>
                </a:lnTo>
                <a:lnTo>
                  <a:pt x="386099" y="232965"/>
                </a:lnTo>
                <a:lnTo>
                  <a:pt x="386158" y="234404"/>
                </a:lnTo>
                <a:lnTo>
                  <a:pt x="385916" y="235346"/>
                </a:lnTo>
                <a:lnTo>
                  <a:pt x="385852" y="235594"/>
                </a:lnTo>
                <a:lnTo>
                  <a:pt x="385763" y="235942"/>
                </a:lnTo>
                <a:lnTo>
                  <a:pt x="383084" y="238422"/>
                </a:lnTo>
                <a:lnTo>
                  <a:pt x="380753" y="239166"/>
                </a:lnTo>
                <a:lnTo>
                  <a:pt x="377379" y="239464"/>
                </a:lnTo>
                <a:close/>
              </a:path>
              <a:path w="557530" h="243205">
                <a:moveTo>
                  <a:pt x="203399" y="239464"/>
                </a:moveTo>
                <a:lnTo>
                  <a:pt x="178992" y="239464"/>
                </a:lnTo>
                <a:lnTo>
                  <a:pt x="176610" y="239166"/>
                </a:lnTo>
                <a:lnTo>
                  <a:pt x="208310" y="239166"/>
                </a:lnTo>
                <a:lnTo>
                  <a:pt x="203399" y="239464"/>
                </a:lnTo>
                <a:close/>
              </a:path>
              <a:path w="557530" h="243205">
                <a:moveTo>
                  <a:pt x="547980" y="204638"/>
                </a:moveTo>
                <a:lnTo>
                  <a:pt x="476131" y="204638"/>
                </a:lnTo>
                <a:lnTo>
                  <a:pt x="481340" y="203944"/>
                </a:lnTo>
                <a:lnTo>
                  <a:pt x="490468" y="201166"/>
                </a:lnTo>
                <a:lnTo>
                  <a:pt x="494338" y="199181"/>
                </a:lnTo>
                <a:lnTo>
                  <a:pt x="497513" y="196601"/>
                </a:lnTo>
                <a:lnTo>
                  <a:pt x="500787" y="194022"/>
                </a:lnTo>
                <a:lnTo>
                  <a:pt x="503267" y="190896"/>
                </a:lnTo>
                <a:lnTo>
                  <a:pt x="505587" y="185811"/>
                </a:lnTo>
                <a:lnTo>
                  <a:pt x="506641" y="183455"/>
                </a:lnTo>
                <a:lnTo>
                  <a:pt x="507484" y="179288"/>
                </a:lnTo>
                <a:lnTo>
                  <a:pt x="507484" y="169366"/>
                </a:lnTo>
                <a:lnTo>
                  <a:pt x="505996" y="164802"/>
                </a:lnTo>
                <a:lnTo>
                  <a:pt x="503019" y="161032"/>
                </a:lnTo>
                <a:lnTo>
                  <a:pt x="500142" y="157162"/>
                </a:lnTo>
                <a:lnTo>
                  <a:pt x="496372" y="153739"/>
                </a:lnTo>
                <a:lnTo>
                  <a:pt x="491708" y="150762"/>
                </a:lnTo>
                <a:lnTo>
                  <a:pt x="487144" y="147786"/>
                </a:lnTo>
                <a:lnTo>
                  <a:pt x="481886" y="145008"/>
                </a:lnTo>
                <a:lnTo>
                  <a:pt x="469979" y="139848"/>
                </a:lnTo>
                <a:lnTo>
                  <a:pt x="463828" y="137120"/>
                </a:lnTo>
                <a:lnTo>
                  <a:pt x="428014" y="116185"/>
                </a:lnTo>
                <a:lnTo>
                  <a:pt x="408848" y="81260"/>
                </a:lnTo>
                <a:lnTo>
                  <a:pt x="407769" y="67567"/>
                </a:lnTo>
                <a:lnTo>
                  <a:pt x="408160" y="59410"/>
                </a:lnTo>
                <a:lnTo>
                  <a:pt x="409121" y="53131"/>
                </a:lnTo>
                <a:lnTo>
                  <a:pt x="409174" y="52784"/>
                </a:lnTo>
                <a:lnTo>
                  <a:pt x="430838" y="16817"/>
                </a:lnTo>
                <a:lnTo>
                  <a:pt x="470724" y="1041"/>
                </a:lnTo>
                <a:lnTo>
                  <a:pt x="486499" y="0"/>
                </a:lnTo>
                <a:lnTo>
                  <a:pt x="492056" y="0"/>
                </a:lnTo>
                <a:lnTo>
                  <a:pt x="497612" y="446"/>
                </a:lnTo>
                <a:lnTo>
                  <a:pt x="503168" y="1339"/>
                </a:lnTo>
                <a:lnTo>
                  <a:pt x="508724" y="2133"/>
                </a:lnTo>
                <a:lnTo>
                  <a:pt x="513884" y="3274"/>
                </a:lnTo>
                <a:lnTo>
                  <a:pt x="518646" y="4762"/>
                </a:lnTo>
                <a:lnTo>
                  <a:pt x="523508" y="6151"/>
                </a:lnTo>
                <a:lnTo>
                  <a:pt x="527824" y="7788"/>
                </a:lnTo>
                <a:lnTo>
                  <a:pt x="531594" y="9673"/>
                </a:lnTo>
                <a:lnTo>
                  <a:pt x="535365" y="11459"/>
                </a:lnTo>
                <a:lnTo>
                  <a:pt x="537675" y="12845"/>
                </a:lnTo>
                <a:lnTo>
                  <a:pt x="540226" y="15329"/>
                </a:lnTo>
                <a:lnTo>
                  <a:pt x="541020" y="16371"/>
                </a:lnTo>
                <a:lnTo>
                  <a:pt x="541417" y="17264"/>
                </a:lnTo>
                <a:lnTo>
                  <a:pt x="541913" y="18057"/>
                </a:lnTo>
                <a:lnTo>
                  <a:pt x="543242" y="37207"/>
                </a:lnTo>
                <a:lnTo>
                  <a:pt x="481935" y="37207"/>
                </a:lnTo>
                <a:lnTo>
                  <a:pt x="477421" y="37851"/>
                </a:lnTo>
                <a:lnTo>
                  <a:pt x="473551" y="39141"/>
                </a:lnTo>
                <a:lnTo>
                  <a:pt x="470004" y="40233"/>
                </a:lnTo>
                <a:lnTo>
                  <a:pt x="469866" y="40233"/>
                </a:lnTo>
                <a:lnTo>
                  <a:pt x="466457" y="42068"/>
                </a:lnTo>
                <a:lnTo>
                  <a:pt x="463877" y="44350"/>
                </a:lnTo>
                <a:lnTo>
                  <a:pt x="461298" y="46533"/>
                </a:lnTo>
                <a:lnTo>
                  <a:pt x="459363" y="49212"/>
                </a:lnTo>
                <a:lnTo>
                  <a:pt x="456783" y="55562"/>
                </a:lnTo>
                <a:lnTo>
                  <a:pt x="456138" y="58886"/>
                </a:lnTo>
                <a:lnTo>
                  <a:pt x="456138" y="67567"/>
                </a:lnTo>
                <a:lnTo>
                  <a:pt x="494040" y="96936"/>
                </a:lnTo>
                <a:lnTo>
                  <a:pt x="500192" y="99714"/>
                </a:lnTo>
                <a:lnTo>
                  <a:pt x="506442" y="102691"/>
                </a:lnTo>
                <a:lnTo>
                  <a:pt x="512792" y="105568"/>
                </a:lnTo>
                <a:lnTo>
                  <a:pt x="518993" y="108842"/>
                </a:lnTo>
                <a:lnTo>
                  <a:pt x="531098" y="116185"/>
                </a:lnTo>
                <a:lnTo>
                  <a:pt x="536456" y="120600"/>
                </a:lnTo>
                <a:lnTo>
                  <a:pt x="541119" y="125759"/>
                </a:lnTo>
                <a:lnTo>
                  <a:pt x="545882" y="130919"/>
                </a:lnTo>
                <a:lnTo>
                  <a:pt x="549702" y="136971"/>
                </a:lnTo>
                <a:lnTo>
                  <a:pt x="552579" y="143916"/>
                </a:lnTo>
                <a:lnTo>
                  <a:pt x="555513" y="150762"/>
                </a:lnTo>
                <a:lnTo>
                  <a:pt x="556079" y="153739"/>
                </a:lnTo>
                <a:lnTo>
                  <a:pt x="557044" y="159047"/>
                </a:lnTo>
                <a:lnTo>
                  <a:pt x="557000" y="169366"/>
                </a:lnTo>
                <a:lnTo>
                  <a:pt x="550049" y="200917"/>
                </a:lnTo>
                <a:lnTo>
                  <a:pt x="547980" y="204638"/>
                </a:lnTo>
                <a:close/>
              </a:path>
              <a:path w="557530" h="243205">
                <a:moveTo>
                  <a:pt x="538540" y="53131"/>
                </a:moveTo>
                <a:lnTo>
                  <a:pt x="535861" y="53131"/>
                </a:lnTo>
                <a:lnTo>
                  <a:pt x="533727" y="52288"/>
                </a:lnTo>
                <a:lnTo>
                  <a:pt x="527973" y="48914"/>
                </a:lnTo>
                <a:lnTo>
                  <a:pt x="524401" y="47079"/>
                </a:lnTo>
                <a:lnTo>
                  <a:pt x="520134" y="45094"/>
                </a:lnTo>
                <a:lnTo>
                  <a:pt x="515967" y="43110"/>
                </a:lnTo>
                <a:lnTo>
                  <a:pt x="511056" y="41324"/>
                </a:lnTo>
                <a:lnTo>
                  <a:pt x="505401" y="39737"/>
                </a:lnTo>
                <a:lnTo>
                  <a:pt x="499191" y="37851"/>
                </a:lnTo>
                <a:lnTo>
                  <a:pt x="498409" y="37851"/>
                </a:lnTo>
                <a:lnTo>
                  <a:pt x="493742" y="37207"/>
                </a:lnTo>
                <a:lnTo>
                  <a:pt x="543242" y="37207"/>
                </a:lnTo>
                <a:lnTo>
                  <a:pt x="543165" y="41324"/>
                </a:lnTo>
                <a:lnTo>
                  <a:pt x="543054" y="42713"/>
                </a:lnTo>
                <a:lnTo>
                  <a:pt x="542955" y="45094"/>
                </a:lnTo>
                <a:lnTo>
                  <a:pt x="542739" y="46533"/>
                </a:lnTo>
                <a:lnTo>
                  <a:pt x="542657" y="47079"/>
                </a:lnTo>
                <a:lnTo>
                  <a:pt x="542161" y="48666"/>
                </a:lnTo>
                <a:lnTo>
                  <a:pt x="541764" y="50155"/>
                </a:lnTo>
                <a:lnTo>
                  <a:pt x="541169" y="51296"/>
                </a:lnTo>
                <a:lnTo>
                  <a:pt x="540375" y="52089"/>
                </a:lnTo>
                <a:lnTo>
                  <a:pt x="539581" y="52784"/>
                </a:lnTo>
                <a:lnTo>
                  <a:pt x="538540" y="53131"/>
                </a:lnTo>
                <a:close/>
              </a:path>
              <a:path w="557530" h="243205">
                <a:moveTo>
                  <a:pt x="470128" y="243036"/>
                </a:moveTo>
                <a:lnTo>
                  <a:pt x="461992" y="243036"/>
                </a:lnTo>
                <a:lnTo>
                  <a:pt x="454452" y="242341"/>
                </a:lnTo>
                <a:lnTo>
                  <a:pt x="447506" y="240952"/>
                </a:lnTo>
                <a:lnTo>
                  <a:pt x="440561" y="239662"/>
                </a:lnTo>
                <a:lnTo>
                  <a:pt x="405338" y="221059"/>
                </a:lnTo>
                <a:lnTo>
                  <a:pt x="404049" y="215205"/>
                </a:lnTo>
                <a:lnTo>
                  <a:pt x="404049" y="196006"/>
                </a:lnTo>
                <a:lnTo>
                  <a:pt x="405741" y="188416"/>
                </a:lnTo>
                <a:lnTo>
                  <a:pt x="405834" y="188168"/>
                </a:lnTo>
                <a:lnTo>
                  <a:pt x="406579" y="187027"/>
                </a:lnTo>
                <a:lnTo>
                  <a:pt x="408365" y="185638"/>
                </a:lnTo>
                <a:lnTo>
                  <a:pt x="409406" y="185291"/>
                </a:lnTo>
                <a:lnTo>
                  <a:pt x="412284" y="185291"/>
                </a:lnTo>
                <a:lnTo>
                  <a:pt x="414665" y="186332"/>
                </a:lnTo>
                <a:lnTo>
                  <a:pt x="417741" y="188416"/>
                </a:lnTo>
                <a:lnTo>
                  <a:pt x="420816" y="190400"/>
                </a:lnTo>
                <a:lnTo>
                  <a:pt x="461447" y="204638"/>
                </a:lnTo>
                <a:lnTo>
                  <a:pt x="547980" y="204638"/>
                </a:lnTo>
                <a:lnTo>
                  <a:pt x="546319" y="207624"/>
                </a:lnTo>
                <a:lnTo>
                  <a:pt x="511549" y="235753"/>
                </a:lnTo>
                <a:lnTo>
                  <a:pt x="478993" y="242747"/>
                </a:lnTo>
                <a:lnTo>
                  <a:pt x="470128" y="243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729" y="1340590"/>
            <a:ext cx="4026622" cy="3234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8872" y="1818993"/>
            <a:ext cx="6857831" cy="3199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2493" y="2221503"/>
            <a:ext cx="7011525" cy="31893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3507" y="2621553"/>
            <a:ext cx="5751730" cy="31893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078" y="3095343"/>
            <a:ext cx="7603608" cy="3199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9935" y="3898648"/>
            <a:ext cx="2024649" cy="31804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7475" y="3497853"/>
            <a:ext cx="6049380" cy="3051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7078" y="4372884"/>
            <a:ext cx="7126626" cy="31878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1778" y="4774203"/>
            <a:ext cx="6087010" cy="31878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2566" y="453626"/>
            <a:ext cx="4406775" cy="4839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0559" y="1744063"/>
            <a:ext cx="2955928" cy="2573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486" y="1345203"/>
            <a:ext cx="7140413" cy="3187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6403" y="2085594"/>
            <a:ext cx="156845" cy="3256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9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950" spc="-50" dirty="0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078" y="2220977"/>
            <a:ext cx="5666998" cy="31804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3507" y="2657123"/>
            <a:ext cx="1985053" cy="2833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8872" y="3082544"/>
            <a:ext cx="4531354" cy="3327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8872" y="3558794"/>
            <a:ext cx="6130960" cy="3327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8872" y="4035044"/>
            <a:ext cx="4564881" cy="3327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8872" y="4511294"/>
            <a:ext cx="7437068" cy="33277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4577" y="4987544"/>
            <a:ext cx="5763276" cy="1559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1907" y="456602"/>
            <a:ext cx="4920939" cy="4810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4635" y="1254962"/>
            <a:ext cx="521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http://www.sas.com/en_in/software/university-edition/download-software.html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39150" y="1449815"/>
            <a:ext cx="5300100" cy="31756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6863" y="453626"/>
            <a:ext cx="2964643" cy="3893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5172" y="1348448"/>
            <a:ext cx="7584851" cy="3527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204" y="1915503"/>
            <a:ext cx="7593872" cy="3528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2047" y="2420308"/>
            <a:ext cx="4157216" cy="3382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180" y="1129918"/>
            <a:ext cx="600075" cy="41313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200" spc="-5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3200" spc="-5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3200">
              <a:latin typeface="Arial"/>
              <a:cs typeface="Arial"/>
            </a:endParaRPr>
          </a:p>
          <a:p>
            <a:pPr marL="388620">
              <a:lnSpc>
                <a:spcPct val="100000"/>
              </a:lnSpc>
            </a:pPr>
            <a:r>
              <a:rPr sz="2800" spc="-50" dirty="0">
                <a:latin typeface="Arial"/>
                <a:cs typeface="Arial"/>
              </a:rPr>
              <a:t>–</a:t>
            </a:r>
            <a:endParaRPr sz="2800">
              <a:latin typeface="Arial"/>
              <a:cs typeface="Arial"/>
            </a:endParaRPr>
          </a:p>
          <a:p>
            <a:pPr marL="388620">
              <a:lnSpc>
                <a:spcPct val="100000"/>
              </a:lnSpc>
              <a:spcBef>
                <a:spcPts val="540"/>
              </a:spcBef>
            </a:pPr>
            <a:r>
              <a:rPr sz="2800" spc="-50" dirty="0">
                <a:latin typeface="Arial"/>
                <a:cs typeface="Arial"/>
              </a:rPr>
              <a:t>–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800">
              <a:latin typeface="Arial"/>
              <a:cs typeface="Arial"/>
            </a:endParaRPr>
          </a:p>
          <a:p>
            <a:pPr marL="388620">
              <a:lnSpc>
                <a:spcPct val="100000"/>
              </a:lnSpc>
            </a:pPr>
            <a:r>
              <a:rPr sz="2800" spc="-50" dirty="0">
                <a:latin typeface="Arial"/>
                <a:cs typeface="Arial"/>
              </a:rPr>
              <a:t>–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spc="-5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5491" y="2952843"/>
            <a:ext cx="6773501" cy="3037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5872" y="3449333"/>
            <a:ext cx="7160692" cy="30256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5491" y="3873513"/>
            <a:ext cx="3911563" cy="2895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15491" y="4384718"/>
            <a:ext cx="1794486" cy="23157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0204" y="4888642"/>
            <a:ext cx="4903852" cy="25485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9414" y="456602"/>
            <a:ext cx="3596268" cy="3863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87" y="902362"/>
            <a:ext cx="8809499" cy="37148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3901" y="477438"/>
            <a:ext cx="1721254" cy="4604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9200" y="1028700"/>
            <a:ext cx="6667499" cy="378599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50" y="0"/>
            <a:ext cx="1354451" cy="7182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5770" y="455560"/>
            <a:ext cx="2335370" cy="387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971550"/>
            <a:ext cx="6857999" cy="38999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499" y="743396"/>
            <a:ext cx="3542853" cy="37571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6155" y="4144884"/>
            <a:ext cx="208089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0" spc="-10" dirty="0">
                <a:latin typeface="Arial"/>
                <a:cs typeface="Arial"/>
              </a:rPr>
              <a:t>Python</a:t>
            </a:r>
            <a:endParaRPr sz="5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What</a:t>
            </a:r>
            <a:r>
              <a:rPr sz="2800" b="0" spc="-6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is</a:t>
            </a:r>
            <a:r>
              <a:rPr sz="2800" b="0" spc="-5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Python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20166"/>
            <a:ext cx="8312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252525"/>
                </a:solidFill>
                <a:latin typeface="Arial"/>
                <a:cs typeface="Arial"/>
              </a:rPr>
              <a:t>Python</a:t>
            </a:r>
            <a:r>
              <a:rPr sz="105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widely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general-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purpose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high-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level</a:t>
            </a:r>
            <a:r>
              <a:rPr sz="1050" spc="-35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programming</a:t>
            </a:r>
            <a:r>
              <a:rPr sz="1050" spc="-30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languag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</a:pP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design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philosophy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emphasizes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code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readability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syntax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allows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programmers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express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concepts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fewer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lines</a:t>
            </a:r>
            <a:r>
              <a:rPr sz="1050" spc="-35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of</a:t>
            </a:r>
            <a:r>
              <a:rPr sz="1050" spc="-35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code</a:t>
            </a:r>
            <a:r>
              <a:rPr sz="1050" spc="-3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than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would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possible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languages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such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6"/>
              </a:rPr>
              <a:t>C++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Java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72716"/>
            <a:ext cx="230441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Python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widely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https://www.python.org/about/success/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Object</a:t>
            </a:r>
            <a:r>
              <a:rPr sz="2800" b="0" spc="-12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Oriented</a:t>
            </a:r>
            <a:r>
              <a:rPr sz="2800" b="0" spc="-12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Programming</a:t>
            </a:r>
            <a:r>
              <a:rPr sz="2800" b="0" spc="-12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(OOPS)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20166"/>
            <a:ext cx="8294370" cy="3462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computer</a:t>
            </a:r>
            <a:r>
              <a:rPr sz="1050" spc="-3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program</a:t>
            </a:r>
            <a:r>
              <a:rPr sz="1050" spc="-3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consists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of,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such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variables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expressions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functions</a:t>
            </a:r>
            <a:r>
              <a:rPr sz="1050" spc="-35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6"/>
              </a:rPr>
              <a:t>modules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2700" marR="7362190">
              <a:lnSpc>
                <a:spcPct val="244000"/>
              </a:lnSpc>
            </a:pP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name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=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ajay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print</a:t>
            </a:r>
            <a:r>
              <a:rPr sz="1050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(name)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import</a:t>
            </a:r>
            <a:r>
              <a:rPr sz="1050" spc="-6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printer</a:t>
            </a:r>
            <a:r>
              <a:rPr sz="1050" spc="50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Hi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am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%name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</a:pPr>
            <a:r>
              <a:rPr sz="1050" b="1" spc="-10" dirty="0">
                <a:solidFill>
                  <a:srgbClr val="252525"/>
                </a:solidFill>
                <a:latin typeface="Arial"/>
                <a:cs typeface="Arial"/>
              </a:rPr>
              <a:t>Object-</a:t>
            </a:r>
            <a:r>
              <a:rPr sz="1050" b="1" dirty="0">
                <a:solidFill>
                  <a:srgbClr val="252525"/>
                </a:solidFill>
                <a:latin typeface="Arial"/>
                <a:cs typeface="Arial"/>
              </a:rPr>
              <a:t>oriented</a:t>
            </a:r>
            <a:r>
              <a:rPr sz="105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52525"/>
                </a:solidFill>
                <a:latin typeface="Arial"/>
                <a:cs typeface="Arial"/>
              </a:rPr>
              <a:t>programming</a:t>
            </a:r>
            <a:r>
              <a:rPr sz="105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(</a:t>
            </a:r>
            <a:r>
              <a:rPr sz="1050" b="1" dirty="0">
                <a:solidFill>
                  <a:srgbClr val="252525"/>
                </a:solidFill>
                <a:latin typeface="Arial"/>
                <a:cs typeface="Arial"/>
              </a:rPr>
              <a:t>OOP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)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programming</a:t>
            </a:r>
            <a:r>
              <a:rPr sz="1050" spc="-30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paradigm</a:t>
            </a:r>
            <a:r>
              <a:rPr sz="1050" spc="-3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based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concept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"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8"/>
              </a:rPr>
              <a:t>objects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",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which</a:t>
            </a:r>
            <a:r>
              <a:rPr sz="10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data</a:t>
            </a:r>
            <a:r>
              <a:rPr sz="1050" spc="-35" dirty="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structures</a:t>
            </a:r>
            <a:r>
              <a:rPr sz="1050" spc="-25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05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contain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0"/>
              </a:rPr>
              <a:t>data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form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1"/>
              </a:rPr>
              <a:t>f</a:t>
            </a:r>
            <a:r>
              <a:rPr sz="1050" spc="-25" dirty="0">
                <a:solidFill>
                  <a:srgbClr val="0B0080"/>
                </a:solidFill>
                <a:latin typeface="Arial"/>
                <a:cs typeface="Arial"/>
                <a:hlinkClick r:id="rId11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1"/>
              </a:rPr>
              <a:t>ields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often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known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252525"/>
                </a:solidFill>
                <a:latin typeface="Arial"/>
                <a:cs typeface="Arial"/>
              </a:rPr>
              <a:t>attributes;</a:t>
            </a:r>
            <a:r>
              <a:rPr sz="1050" i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code,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form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procedures,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often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known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050" spc="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0B0080"/>
                </a:solidFill>
                <a:latin typeface="Arial"/>
                <a:cs typeface="Arial"/>
                <a:hlinkClick r:id="rId12"/>
              </a:rPr>
              <a:t>methods</a:t>
            </a:r>
            <a:r>
              <a:rPr sz="1050" i="1" spc="-10" dirty="0">
                <a:solidFill>
                  <a:srgbClr val="252525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50">
              <a:latin typeface="Arial"/>
              <a:cs typeface="Arial"/>
            </a:endParaRPr>
          </a:p>
          <a:p>
            <a:pPr marL="12700" marR="203200">
              <a:lnSpc>
                <a:spcPct val="113100"/>
              </a:lnSpc>
            </a:pPr>
            <a:r>
              <a:rPr sz="1050" b="1" spc="-10" dirty="0">
                <a:solidFill>
                  <a:srgbClr val="252525"/>
                </a:solidFill>
                <a:latin typeface="Arial"/>
                <a:cs typeface="Arial"/>
              </a:rPr>
              <a:t>Dynamic</a:t>
            </a:r>
            <a:r>
              <a:rPr sz="105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52525"/>
                </a:solidFill>
                <a:latin typeface="Arial"/>
                <a:cs typeface="Arial"/>
              </a:rPr>
              <a:t>programming</a:t>
            </a:r>
            <a:r>
              <a:rPr sz="105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52525"/>
                </a:solidFill>
                <a:latin typeface="Arial"/>
                <a:cs typeface="Arial"/>
              </a:rPr>
              <a:t>language</a:t>
            </a:r>
            <a:r>
              <a:rPr sz="1050" b="1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term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3"/>
              </a:rPr>
              <a:t>computer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13"/>
              </a:rPr>
              <a:t>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3"/>
              </a:rPr>
              <a:t>science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describe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class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high-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level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programming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languages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which,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at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5"/>
              </a:rPr>
              <a:t>runtime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050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execute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many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common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programming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behaviors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static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programming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languages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perform</a:t>
            </a:r>
            <a:r>
              <a:rPr sz="1050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during</a:t>
            </a:r>
            <a:r>
              <a:rPr sz="10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6"/>
              </a:rPr>
              <a:t>compilation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50">
              <a:latin typeface="Arial"/>
              <a:cs typeface="Arial"/>
            </a:endParaRPr>
          </a:p>
          <a:p>
            <a:pPr marL="12700" marR="27305">
              <a:lnSpc>
                <a:spcPct val="113100"/>
              </a:lnSpc>
            </a:pP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"compiler"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primarily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programs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translate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source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code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high-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level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programming</a:t>
            </a:r>
            <a:r>
              <a:rPr sz="1050" spc="-25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4"/>
              </a:rPr>
              <a:t>language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lower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level</a:t>
            </a:r>
            <a:r>
              <a:rPr sz="105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language</a:t>
            </a:r>
            <a:r>
              <a:rPr sz="105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(e.g., </a:t>
            </a:r>
            <a:r>
              <a:rPr sz="1050" dirty="0">
                <a:solidFill>
                  <a:srgbClr val="0B0080"/>
                </a:solidFill>
                <a:latin typeface="Arial"/>
                <a:cs typeface="Arial"/>
                <a:hlinkClick r:id="rId17"/>
              </a:rPr>
              <a:t>assembly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17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7"/>
              </a:rPr>
              <a:t>language</a:t>
            </a:r>
            <a:r>
              <a:rPr sz="1050" spc="-15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8"/>
              </a:rPr>
              <a:t>machine</a:t>
            </a:r>
            <a:r>
              <a:rPr sz="1050" spc="-20" dirty="0">
                <a:solidFill>
                  <a:srgbClr val="0B0080"/>
                </a:solidFill>
                <a:latin typeface="Arial"/>
                <a:cs typeface="Arial"/>
                <a:hlinkClick r:id="rId18"/>
              </a:rPr>
              <a:t> </a:t>
            </a:r>
            <a:r>
              <a:rPr sz="1050" spc="-10" dirty="0">
                <a:solidFill>
                  <a:srgbClr val="0B0080"/>
                </a:solidFill>
                <a:latin typeface="Arial"/>
                <a:cs typeface="Arial"/>
                <a:hlinkClick r:id="rId18"/>
              </a:rPr>
              <a:t>code</a:t>
            </a:r>
            <a:r>
              <a:rPr sz="1050" spc="-10" dirty="0">
                <a:solidFill>
                  <a:srgbClr val="252525"/>
                </a:solidFill>
                <a:latin typeface="Arial"/>
                <a:cs typeface="Arial"/>
              </a:rPr>
              <a:t>).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3056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http://introcs.cs.princeton.edu/java/11cheatsheet/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1500" y="77225"/>
            <a:ext cx="3602500" cy="50662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Linux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52489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http://www.linuxstall.com/linux-command-line-tips-that-every-linux-user-should-know/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3750" y="0"/>
            <a:ext cx="6060252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4940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http://www.codeproject.com/Articles/33052/Visual-Representation-of-SQL-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Joins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6345" y="0"/>
            <a:ext cx="6537658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Hive</a:t>
            </a:r>
            <a:r>
              <a:rPr spc="-20" dirty="0"/>
              <a:t> </a:t>
            </a:r>
            <a:r>
              <a:rPr spc="-25" dirty="0"/>
              <a:t>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6475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http://hortonworks.com/wp-content/uploads/downloads/2013/08/Hortonworks.CheatSheet.SQLtoHive.pdf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2325" y="87825"/>
            <a:ext cx="4881223" cy="505567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46266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http://www.astro.up.pt/~sousasag/Python_For_Astronomers/Python_qr.pdf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1224" y="305324"/>
            <a:ext cx="6822774" cy="48381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7111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https://s3.amazonaws.com/quandl-static-content/Documents/Quandl+-+Pandas,+SciPy,+NumPy+Cheat+Sheet.pdf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2224" y="75825"/>
            <a:ext cx="3828248" cy="452514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0225" y="394215"/>
            <a:ext cx="355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latin typeface="Arial"/>
                <a:cs typeface="Arial"/>
              </a:rPr>
              <a:t>R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810" y="1120662"/>
            <a:ext cx="3241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http://cran.r-project.org/doc/contrib/Short-refcard.pdf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3975" y="205975"/>
            <a:ext cx="6910023" cy="493752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2925" y="417479"/>
            <a:ext cx="593090" cy="438150"/>
          </a:xfrm>
          <a:custGeom>
            <a:avLst/>
            <a:gdLst/>
            <a:ahLst/>
            <a:cxnLst/>
            <a:rect l="l" t="t" r="r" b="b"/>
            <a:pathLst>
              <a:path w="593090" h="438150">
                <a:moveTo>
                  <a:pt x="592707" y="438112"/>
                </a:moveTo>
                <a:lnTo>
                  <a:pt x="0" y="438112"/>
                </a:lnTo>
                <a:lnTo>
                  <a:pt x="0" y="0"/>
                </a:lnTo>
                <a:lnTo>
                  <a:pt x="592707" y="0"/>
                </a:lnTo>
                <a:lnTo>
                  <a:pt x="592707" y="438112"/>
                </a:lnTo>
                <a:close/>
              </a:path>
            </a:pathLst>
          </a:custGeom>
          <a:solidFill>
            <a:srgbClr val="EBEA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0225" y="368688"/>
            <a:ext cx="617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solidFill>
                  <a:srgbClr val="404040"/>
                </a:solidFill>
                <a:latin typeface="Arial"/>
                <a:cs typeface="Arial"/>
              </a:rPr>
              <a:t>Pig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205975"/>
            <a:ext cx="6857999" cy="48319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HDFS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343786"/>
            <a:ext cx="390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https://github.com/michiard/CLOUDS-LAB/blob/master/C-</a:t>
            </a:r>
            <a:r>
              <a:rPr sz="11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S.md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5347" y="159149"/>
            <a:ext cx="4658651" cy="49843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33" y="536770"/>
            <a:ext cx="8836077" cy="46054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427" y="204896"/>
            <a:ext cx="2654935" cy="633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560"/>
              </a:lnSpc>
              <a:spcBef>
                <a:spcPts val="90"/>
              </a:spcBef>
            </a:pPr>
            <a:r>
              <a:rPr sz="3100" b="0" spc="-35" dirty="0">
                <a:latin typeface="Arial"/>
                <a:cs typeface="Arial"/>
              </a:rPr>
              <a:t>Git</a:t>
            </a:r>
            <a:r>
              <a:rPr sz="3100" b="0" spc="-175" dirty="0">
                <a:latin typeface="Arial"/>
                <a:cs typeface="Arial"/>
              </a:rPr>
              <a:t> </a:t>
            </a:r>
            <a:r>
              <a:rPr sz="3100" b="0" spc="-100" dirty="0">
                <a:solidFill>
                  <a:srgbClr val="184DFB"/>
                </a:solidFill>
                <a:latin typeface="Arial"/>
                <a:cs typeface="Arial"/>
              </a:rPr>
              <a:t>Cheat </a:t>
            </a:r>
            <a:r>
              <a:rPr sz="3100" b="0" spc="-95" dirty="0">
                <a:solidFill>
                  <a:srgbClr val="1D3DFF"/>
                </a:solidFill>
                <a:latin typeface="Arial"/>
                <a:cs typeface="Arial"/>
              </a:rPr>
              <a:t>Sheet</a:t>
            </a:r>
            <a:endParaRPr sz="3100">
              <a:latin typeface="Arial"/>
              <a:cs typeface="Arial"/>
            </a:endParaRPr>
          </a:p>
          <a:p>
            <a:pPr marL="967105">
              <a:lnSpc>
                <a:spcPts val="1220"/>
              </a:lnSpc>
            </a:pPr>
            <a:r>
              <a:rPr sz="1150" b="0" spc="-10" dirty="0">
                <a:solidFill>
                  <a:srgbClr val="3D54AC"/>
                </a:solidFill>
                <a:latin typeface="Arial"/>
                <a:cs typeface="Arial"/>
                <a:hlinkClick r:id="rId3"/>
              </a:rPr>
              <a:t>http://git.or.cz/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35" dirty="0"/>
              <a:t> </a:t>
            </a:r>
            <a:r>
              <a:rPr dirty="0"/>
              <a:t>together</a:t>
            </a:r>
            <a:r>
              <a:rPr spc="-25" dirty="0"/>
              <a:t> now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0225" y="1263776"/>
            <a:ext cx="7585075" cy="225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08325">
              <a:lnSpc>
                <a:spcPct val="1477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PIG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http://www.slideshare.net/Mathias-Herberts/hadoop-pig-syntax-</a:t>
            </a:r>
            <a:r>
              <a:rPr sz="11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card</a:t>
            </a:r>
            <a:r>
              <a:rPr sz="1100" u="none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HDFS</a:t>
            </a:r>
            <a:r>
              <a:rPr sz="1100" u="none" spc="21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https://github.com/michiard/CLOUDS-LAB/blob/master/C-</a:t>
            </a:r>
            <a:r>
              <a:rPr sz="11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S.md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Arial"/>
                <a:cs typeface="Arial"/>
              </a:rPr>
              <a:t>R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http://cran.r-project.org/doc/contrib/Short-refcard.pdf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47700"/>
              </a:lnSpc>
            </a:pPr>
            <a:r>
              <a:rPr sz="1100" dirty="0">
                <a:latin typeface="Arial"/>
                <a:cs typeface="Arial"/>
              </a:rPr>
              <a:t>Python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5"/>
              </a:rPr>
              <a:t>https://s3.amazonaws.com/quandl-static-content/Documents/Quandl+-+Pandas,+SciPy,+NumPy+Cheat+Sheet.pdf</a:t>
            </a:r>
            <a:r>
              <a:rPr sz="1100" u="none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Python</a:t>
            </a:r>
            <a:r>
              <a:rPr sz="1100" u="none" spc="-6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http://www.astro.up.pt/~sousasag/Python_For_Astronomers/Python_qr.pdf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Arial"/>
                <a:cs typeface="Arial"/>
              </a:rPr>
              <a:t>Java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7"/>
              </a:rPr>
              <a:t>http://introcs.cs.princeton.edu/java/11cheatsheet/</a:t>
            </a:r>
            <a:endParaRPr sz="1100">
              <a:latin typeface="Arial"/>
              <a:cs typeface="Arial"/>
            </a:endParaRPr>
          </a:p>
          <a:p>
            <a:pPr marL="12700" marR="1968500">
              <a:lnSpc>
                <a:spcPct val="147700"/>
              </a:lnSpc>
            </a:pPr>
            <a:r>
              <a:rPr sz="1100" dirty="0">
                <a:latin typeface="Arial"/>
                <a:cs typeface="Arial"/>
              </a:rPr>
              <a:t>Linux</a:t>
            </a:r>
            <a:r>
              <a:rPr sz="1100" spc="360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8"/>
              </a:rPr>
              <a:t>http://www.linuxstall.com/linux-command-line-tips-that-every-linux-user-should-know/</a:t>
            </a:r>
            <a:r>
              <a:rPr sz="1100" u="none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SQL</a:t>
            </a:r>
            <a:r>
              <a:rPr sz="1100" u="none" spc="140" dirty="0">
                <a:latin typeface="Arial"/>
                <a:cs typeface="Arial"/>
              </a:rPr>
              <a:t>  </a:t>
            </a:r>
            <a:r>
              <a:rPr sz="11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9"/>
              </a:rPr>
              <a:t>http://www.codeproject.com/Articles/33052/Visual-Representation-of-SQL-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9"/>
              </a:rPr>
              <a:t>Joins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Arial"/>
                <a:cs typeface="Arial"/>
              </a:rPr>
              <a:t>Git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0"/>
              </a:rPr>
              <a:t>http://overapi.com/static/cs/git-cheat-sheet.pdf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3825"/>
            <a:ext cx="282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1176350"/>
            <a:ext cx="8032115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00"/>
              </a:spcBef>
            </a:pP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b="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provides</a:t>
            </a:r>
            <a:r>
              <a:rPr sz="1800" b="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wide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variety</a:t>
            </a:r>
            <a:r>
              <a:rPr sz="1800" b="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statistical</a:t>
            </a:r>
            <a:r>
              <a:rPr sz="1800" b="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(linear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b="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nonlinear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modelling,</a:t>
            </a:r>
            <a:r>
              <a:rPr sz="1800" b="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595959"/>
                </a:solidFill>
                <a:latin typeface="Arial"/>
                <a:cs typeface="Arial"/>
              </a:rPr>
              <a:t>classical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statistical</a:t>
            </a:r>
            <a:r>
              <a:rPr sz="1800" b="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tests,</a:t>
            </a:r>
            <a:r>
              <a:rPr sz="1800" b="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time-series</a:t>
            </a:r>
            <a:r>
              <a:rPr sz="1800" b="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analysis,</a:t>
            </a:r>
            <a:r>
              <a:rPr sz="1800" b="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classification,</a:t>
            </a:r>
            <a:r>
              <a:rPr sz="1800" b="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clustering,</a:t>
            </a:r>
            <a:r>
              <a:rPr sz="1800" b="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…)</a:t>
            </a:r>
            <a:r>
              <a:rPr sz="1800" b="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b="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595959"/>
                </a:solidFill>
                <a:latin typeface="Arial"/>
                <a:cs typeface="Arial"/>
              </a:rPr>
              <a:t>graphical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techniques,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595959"/>
                </a:solidFill>
                <a:latin typeface="Arial"/>
                <a:cs typeface="Arial"/>
              </a:rPr>
              <a:t>highly</a:t>
            </a:r>
            <a:r>
              <a:rPr sz="1800" b="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595959"/>
                </a:solidFill>
                <a:latin typeface="Arial"/>
                <a:cs typeface="Arial"/>
              </a:rPr>
              <a:t>extensible.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319350"/>
            <a:ext cx="8315959" cy="242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integrated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suite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software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facilities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manipulation,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calculation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graphical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display.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includes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effective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facility,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suite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operators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calculations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arrays,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particular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matrices,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large,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coherent,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integrated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collection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intermediate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tools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analysis,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graphical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facilities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display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either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on-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hardcopy,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well-developed,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simple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effective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https://www.r-project.org/about.html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Arial"/>
                <a:cs typeface="Arial"/>
              </a:rPr>
              <a:t>Python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9911"/>
            <a:ext cx="3810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http://python-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history.blogspot.in/</a:t>
            </a:r>
            <a:r>
              <a:rPr sz="1100" u="none" spc="27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100" u="none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u="none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https://www.python.org/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4550" y="1526625"/>
            <a:ext cx="7669673" cy="361687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3825"/>
            <a:ext cx="230759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Arial"/>
                <a:cs typeface="Arial"/>
              </a:rPr>
              <a:t>SAS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http://www.sas.com/en_in/home.html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18875"/>
            <a:ext cx="9144000" cy="372462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Big</a:t>
            </a:r>
            <a:r>
              <a:rPr sz="2800" b="0" spc="-7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Data: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Hadoop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Stack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with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Spark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9911"/>
            <a:ext cx="63798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http://spark.apache.org/</a:t>
            </a:r>
            <a:r>
              <a:rPr sz="1100" u="none" spc="23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100" b="1" u="none" dirty="0">
                <a:latin typeface="Arial"/>
                <a:cs typeface="Arial"/>
              </a:rPr>
              <a:t>Apache</a:t>
            </a:r>
            <a:r>
              <a:rPr sz="1100" b="1" u="none" spc="-40" dirty="0">
                <a:latin typeface="Arial"/>
                <a:cs typeface="Arial"/>
              </a:rPr>
              <a:t> </a:t>
            </a:r>
            <a:r>
              <a:rPr sz="1100" b="1" u="none" dirty="0">
                <a:latin typeface="Arial"/>
                <a:cs typeface="Arial"/>
              </a:rPr>
              <a:t>Spark™</a:t>
            </a:r>
            <a:r>
              <a:rPr sz="1100" b="1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is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fast</a:t>
            </a:r>
            <a:r>
              <a:rPr sz="1100" u="none" spc="-45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and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general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engine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for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large-</a:t>
            </a:r>
            <a:r>
              <a:rPr sz="1100" u="none" dirty="0">
                <a:latin typeface="Arial"/>
                <a:cs typeface="Arial"/>
              </a:rPr>
              <a:t>scale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data</a:t>
            </a:r>
            <a:r>
              <a:rPr sz="1100" u="none" spc="-4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processing.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787" y="1730424"/>
            <a:ext cx="6029324" cy="283844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Big</a:t>
            </a:r>
            <a:r>
              <a:rPr sz="2800" b="0" spc="-7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Data: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Hadoop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Stack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with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Mahout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9911"/>
            <a:ext cx="16846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https://mahout.apache.org/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030493"/>
            <a:ext cx="8539480" cy="316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Apache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Mahout™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project's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goal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is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to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build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an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environment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for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quickly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creating </a:t>
            </a:r>
            <a:r>
              <a:rPr sz="1700" b="1" dirty="0">
                <a:latin typeface="Arial"/>
                <a:cs typeface="Arial"/>
              </a:rPr>
              <a:t>scalable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performant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machine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learning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applications.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900" b="1" dirty="0">
                <a:latin typeface="Arial"/>
                <a:cs typeface="Arial"/>
              </a:rPr>
              <a:t>Apache</a:t>
            </a:r>
            <a:r>
              <a:rPr sz="900" b="1" spc="-3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Mahout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Samsara</a:t>
            </a:r>
            <a:r>
              <a:rPr sz="900" b="1" spc="-3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Environment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includes</a:t>
            </a:r>
            <a:endParaRPr sz="9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35"/>
              </a:spcBef>
              <a:buChar char="●"/>
              <a:tabLst>
                <a:tab pos="469265" algn="l"/>
              </a:tabLst>
            </a:pPr>
            <a:r>
              <a:rPr sz="1100" spc="-10" dirty="0">
                <a:latin typeface="Arial"/>
                <a:cs typeface="Arial"/>
              </a:rPr>
              <a:t>Distributed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Algebraic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optimizer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spc="-20" dirty="0">
                <a:latin typeface="Arial"/>
                <a:cs typeface="Arial"/>
              </a:rPr>
              <a:t>R-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DSL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Scala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API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Linear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algebra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operations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Ops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extensions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Scala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IScala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REPL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interactive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shell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Integrates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compatible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libraries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MLLib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Runs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Spark,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H2O,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Flink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"/>
              <a:buChar char="●"/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Apache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Mahout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Samsara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Algorithms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included</a:t>
            </a:r>
            <a:endParaRPr sz="9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8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Stochastic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Singular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Decomposition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(ssvd,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dssvd)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Stochastic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Principal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Component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Analysis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(spca,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dspca)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Big</a:t>
            </a:r>
            <a:r>
              <a:rPr sz="2800" b="0" spc="-7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Data: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Hadoop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Stack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with</a:t>
            </a:r>
            <a:r>
              <a:rPr sz="2800" b="0" spc="-7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Mahout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9911"/>
            <a:ext cx="16846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https://mahout.apache.org/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547" y="2533777"/>
            <a:ext cx="6543675" cy="787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b="1" dirty="0">
                <a:latin typeface="Arial"/>
                <a:cs typeface="Arial"/>
              </a:rPr>
              <a:t>Apache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Mahout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software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provides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three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major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features: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extensible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programming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environment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framework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building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scalable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algorithms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variety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premade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Scala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Apache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Spark,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H2O,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Apache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Flink</a:t>
            </a: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"/>
                <a:cs typeface="Arial"/>
              </a:rPr>
              <a:t>Samsara,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experimentation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environment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R-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syntax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works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scale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933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"/>
                <a:cs typeface="Arial"/>
              </a:rPr>
              <a:t>Data</a:t>
            </a:r>
            <a:r>
              <a:rPr sz="2800" b="0" spc="-11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Science</a:t>
            </a:r>
            <a:r>
              <a:rPr sz="2800" b="0" spc="-10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Techniques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2849" y="1386976"/>
            <a:ext cx="2806700" cy="34829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14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Logistic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Association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Trees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Social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Network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Series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Forecasting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LTV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RFM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Pareto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What</a:t>
            </a:r>
            <a:r>
              <a:rPr sz="1400" b="0" spc="-15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is</a:t>
            </a:r>
            <a:r>
              <a:rPr sz="1400" b="0" spc="-2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an</a:t>
            </a:r>
            <a:r>
              <a:rPr sz="1400" b="0" spc="-1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749" y="1184280"/>
            <a:ext cx="7858759" cy="33381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1210310" indent="-367030">
              <a:lnSpc>
                <a:spcPct val="100699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process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followed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calculations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other problem-</a:t>
            </a:r>
            <a:r>
              <a:rPr sz="1800" dirty="0">
                <a:latin typeface="Arial"/>
                <a:cs typeface="Arial"/>
              </a:rPr>
              <a:t>solving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operations,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especially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computer.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self-</a:t>
            </a:r>
            <a:r>
              <a:rPr sz="1800" dirty="0">
                <a:latin typeface="Arial"/>
                <a:cs typeface="Arial"/>
              </a:rPr>
              <a:t>contained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step-by-</a:t>
            </a:r>
            <a:r>
              <a:rPr sz="1800" dirty="0">
                <a:latin typeface="Arial"/>
                <a:cs typeface="Arial"/>
              </a:rPr>
              <a:t>step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operations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performed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marR="550545" indent="-367030">
              <a:lnSpc>
                <a:spcPct val="100699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procedure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formula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solving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problem,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based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conducting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specified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00699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procedure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solving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mathematical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problem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(as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finding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greatest </a:t>
            </a:r>
            <a:r>
              <a:rPr sz="1800" dirty="0">
                <a:latin typeface="Arial"/>
                <a:cs typeface="Arial"/>
              </a:rPr>
              <a:t>common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divisor)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finite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steps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frequently</a:t>
            </a:r>
            <a:r>
              <a:rPr sz="1800" spc="-10" dirty="0">
                <a:latin typeface="Arial"/>
                <a:cs typeface="Arial"/>
              </a:rPr>
              <a:t> involves </a:t>
            </a:r>
            <a:r>
              <a:rPr sz="1800" dirty="0">
                <a:latin typeface="Arial"/>
                <a:cs typeface="Arial"/>
              </a:rPr>
              <a:t>repetition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operation;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broadly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step-by-</a:t>
            </a:r>
            <a:r>
              <a:rPr sz="1800" dirty="0">
                <a:latin typeface="Arial"/>
                <a:cs typeface="Arial"/>
              </a:rPr>
              <a:t>step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procedure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solving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problem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accomplishing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especially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computer.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Machine</a:t>
            </a:r>
            <a:r>
              <a:rPr sz="1400" b="0" spc="-3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025" y="1587387"/>
            <a:ext cx="8211184" cy="29362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8900" marR="447675">
              <a:lnSpc>
                <a:spcPct val="102299"/>
              </a:lnSpc>
              <a:spcBef>
                <a:spcPts val="70"/>
              </a:spcBef>
            </a:pP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Machine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learning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concerns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construction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study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systems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that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can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learn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from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data.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example,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machine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learning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system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could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trained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email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messages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learn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distinguish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between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spam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non-spam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messages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88900" marR="81280">
              <a:lnSpc>
                <a:spcPct val="102299"/>
              </a:lnSpc>
              <a:spcBef>
                <a:spcPts val="5"/>
              </a:spcBef>
            </a:pP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Supervised</a:t>
            </a:r>
            <a:r>
              <a:rPr sz="11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learning</a:t>
            </a: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machine</a:t>
            </a:r>
            <a:r>
              <a:rPr sz="1100" spc="-15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learning</a:t>
            </a:r>
            <a:r>
              <a:rPr sz="110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inferring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function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labeled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training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data.</a:t>
            </a:r>
            <a:r>
              <a:rPr sz="1050" baseline="31746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[1]</a:t>
            </a:r>
            <a:r>
              <a:rPr sz="1050" spc="150" baseline="31746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training</a:t>
            </a:r>
            <a:r>
              <a:rPr sz="1100" spc="-15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 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data</a:t>
            </a:r>
            <a:r>
              <a:rPr sz="110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consist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training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examples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.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supervised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learning,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each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example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pair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consisting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input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object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(typically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vector)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desired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output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</a:t>
            </a:r>
            <a:r>
              <a:rPr sz="1100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(also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called</a:t>
            </a:r>
            <a:r>
              <a:rPr sz="1100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supervisory</a:t>
            </a:r>
            <a:r>
              <a:rPr sz="1100" i="1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signal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88900" marR="525145">
              <a:lnSpc>
                <a:spcPct val="102299"/>
              </a:lnSpc>
              <a:spcBef>
                <a:spcPts val="5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terminology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machine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learning, classification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considered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instance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supervised</a:t>
            </a:r>
            <a:r>
              <a:rPr sz="1100" spc="-15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learning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,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i.e.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learning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where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a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training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set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correctly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identified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observations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available.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88900" marR="191135" algn="just">
              <a:lnSpc>
                <a:spcPct val="102299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machine</a:t>
            </a:r>
            <a:r>
              <a:rPr sz="1100" spc="-25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learning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problem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unsupervised</a:t>
            </a:r>
            <a:r>
              <a:rPr sz="11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learning</a:t>
            </a:r>
            <a:r>
              <a:rPr sz="1100" b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trying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find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hidden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structure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unlabeled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data.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Since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the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examples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given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learner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unlabeled,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there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no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error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reward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signal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evaluate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potential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solution.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distinguishes unsupervised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learning</a:t>
            </a:r>
            <a:r>
              <a:rPr sz="1100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supervised</a:t>
            </a:r>
            <a:r>
              <a:rPr sz="1100" spc="-5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learning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Arial"/>
              <a:cs typeface="Arial"/>
            </a:endParaRPr>
          </a:p>
          <a:p>
            <a:pPr marL="88900" marR="159385" algn="just">
              <a:lnSpc>
                <a:spcPct val="102299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corresponding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6"/>
              </a:rPr>
              <a:t>unsupervised</a:t>
            </a:r>
            <a:r>
              <a:rPr sz="110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procedure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known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clustering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cluster</a:t>
            </a:r>
            <a:r>
              <a:rPr sz="1100" spc="-25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 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7"/>
              </a:rPr>
              <a:t>analysis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involves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grouping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into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categories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based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inherent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similarity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(e.g.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8"/>
              </a:rPr>
              <a:t>distance</a:t>
            </a:r>
            <a:r>
              <a:rPr sz="110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between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instances,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considered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vectors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multi-dimensional 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vector</a:t>
            </a:r>
            <a:r>
              <a:rPr sz="1100" spc="-5" dirty="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space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510091"/>
            <a:ext cx="2494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CRAN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VIEW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Machine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8924" y="1264400"/>
            <a:ext cx="8239125" cy="3804285"/>
            <a:chOff x="378924" y="1264400"/>
            <a:chExt cx="8239125" cy="3804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1225" y="1264400"/>
              <a:ext cx="6766248" cy="3804149"/>
            </a:xfrm>
            <a:prstGeom prst="rect">
              <a:avLst/>
            </a:prstGeom>
          </p:spPr>
        </p:pic>
        <p:sp>
          <p:nvSpPr>
            <p:cNvPr id="5" name="object 5">
              <a:hlinkClick r:id="rId3"/>
            </p:cNvPr>
            <p:cNvSpPr/>
            <p:nvPr/>
          </p:nvSpPr>
          <p:spPr>
            <a:xfrm>
              <a:off x="378924" y="2744585"/>
              <a:ext cx="3507740" cy="160655"/>
            </a:xfrm>
            <a:custGeom>
              <a:avLst/>
              <a:gdLst/>
              <a:ahLst/>
              <a:cxnLst/>
              <a:rect l="l" t="t" r="r" b="b"/>
              <a:pathLst>
                <a:path w="3507740" h="160655">
                  <a:moveTo>
                    <a:pt x="3507129" y="160527"/>
                  </a:moveTo>
                  <a:lnTo>
                    <a:pt x="0" y="160527"/>
                  </a:lnTo>
                  <a:lnTo>
                    <a:pt x="0" y="0"/>
                  </a:lnTo>
                  <a:lnTo>
                    <a:pt x="3507129" y="0"/>
                  </a:lnTo>
                  <a:lnTo>
                    <a:pt x="3507129" y="160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6224" y="2718561"/>
            <a:ext cx="35337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3"/>
              </a:rPr>
              <a:t>http://cran.r-project.org/web/views/MachineLearning.html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510091"/>
            <a:ext cx="2228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Machine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Python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850" y="2729762"/>
            <a:ext cx="1730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http://scikit-learn.org/stable/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4436" y="1169050"/>
            <a:ext cx="7069562" cy="397444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1400" b="0" spc="-10" dirty="0">
                <a:latin typeface="Arial"/>
                <a:cs typeface="Arial"/>
              </a:rPr>
              <a:t>Classification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2016012"/>
            <a:ext cx="8073390" cy="207898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machine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learning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statistics,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classification</a:t>
            </a: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problem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identifying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which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categories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(sub-populations)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52525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new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observation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belongs,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basis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training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set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containing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observations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(or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instances)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whose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category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membership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known.</a:t>
            </a:r>
            <a:endParaRPr sz="1100">
              <a:latin typeface="Arial"/>
              <a:cs typeface="Arial"/>
            </a:endParaRPr>
          </a:p>
          <a:p>
            <a:pPr marL="12700" marR="253365">
              <a:lnSpc>
                <a:spcPct val="102299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individual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observations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analyzed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into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quantifiable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properties,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known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various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explanatory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variables,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features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, 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These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properties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variously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categorical</a:t>
            </a:r>
            <a:r>
              <a:rPr sz="11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(e.g.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"A",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"B",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"AB"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"O",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blood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type),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ordinal</a:t>
            </a:r>
            <a:r>
              <a:rPr sz="11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(e.g.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"large",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"medium"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"small"),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30"/>
              </a:spcBef>
            </a:pP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integer-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valued</a:t>
            </a: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(e.g.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number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occurrences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part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word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em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il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)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real-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valued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(e.g.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measurement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blood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pressure).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2700" marR="75565">
              <a:lnSpc>
                <a:spcPct val="102299"/>
              </a:lnSpc>
              <a:spcBef>
                <a:spcPts val="5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Some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algorithms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work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only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terms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discrete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require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real-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integer-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valued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discretized</a:t>
            </a:r>
            <a:r>
              <a:rPr sz="1100" i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into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groups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(e.g.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less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5,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between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5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10,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greater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10).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1400" b="0" spc="-10" dirty="0">
                <a:latin typeface="Arial"/>
                <a:cs typeface="Arial"/>
              </a:rPr>
              <a:t>Regression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2101737"/>
            <a:ext cx="8032115" cy="19075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313055">
              <a:lnSpc>
                <a:spcPct val="102299"/>
              </a:lnSpc>
              <a:spcBef>
                <a:spcPts val="70"/>
              </a:spcBef>
            </a:pP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regression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analysis</a:t>
            </a:r>
            <a:r>
              <a:rPr sz="1100" b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statistical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process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estimating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relationships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among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variables.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includes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many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techniques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for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modeling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analyzing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several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variables,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when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focus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relationship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between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dependent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more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independent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5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More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specifically,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regression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analysis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helps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understand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typical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dependent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'criterion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variable')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changes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when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independent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variables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varied,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while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other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independent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variables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held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fixed.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2700" marR="112395">
              <a:lnSpc>
                <a:spcPct val="102299"/>
              </a:lnSpc>
              <a:spcBef>
                <a:spcPts val="5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Most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commonly,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regression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analysis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estimates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conditional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expectation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dependent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given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independent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variables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–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average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dependent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variable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when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independent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variables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fixed.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Less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commonly,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the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focus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quantile,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other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location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parameter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conditional distribution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dependent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variable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given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 independent variables.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510091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kNN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845" y="1063375"/>
            <a:ext cx="5440153" cy="408012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Support</a:t>
            </a:r>
            <a:r>
              <a:rPr sz="1400" b="0" spc="-2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Vector</a:t>
            </a:r>
            <a:r>
              <a:rPr sz="1400" b="0" spc="-2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Machines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500" y="2644237"/>
            <a:ext cx="401827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http://axon.cs.byu.edu/Dan/678/miscellaneous/SVM.example.pdf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399" y="1252624"/>
            <a:ext cx="5642348" cy="389087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Association</a:t>
            </a:r>
            <a:r>
              <a:rPr sz="1400" b="0" spc="-5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Rules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200150"/>
            <a:ext cx="8229600" cy="3726179"/>
          </a:xfrm>
          <a:custGeom>
            <a:avLst/>
            <a:gdLst/>
            <a:ahLst/>
            <a:cxnLst/>
            <a:rect l="l" t="t" r="r" b="b"/>
            <a:pathLst>
              <a:path w="8229600" h="3726179">
                <a:moveTo>
                  <a:pt x="0" y="0"/>
                </a:moveTo>
                <a:lnTo>
                  <a:pt x="8229599" y="0"/>
                </a:lnTo>
                <a:lnTo>
                  <a:pt x="8229599" y="3725699"/>
                </a:lnTo>
                <a:lnTo>
                  <a:pt x="0" y="3725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2125" y="1654062"/>
            <a:ext cx="8110220" cy="250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http://en.wikipedia.org/wiki/Association_rule_learning</a:t>
            </a:r>
            <a:endParaRPr sz="1100">
              <a:latin typeface="Arial"/>
              <a:cs typeface="Arial"/>
            </a:endParaRPr>
          </a:p>
          <a:p>
            <a:pPr marL="50800" marR="233045">
              <a:lnSpc>
                <a:spcPct val="102299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Based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concept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strong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rules,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Rakesh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Agrawal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al.</a:t>
            </a:r>
            <a:r>
              <a:rPr sz="1050" baseline="31746" dirty="0">
                <a:solidFill>
                  <a:srgbClr val="0B0080"/>
                </a:solidFill>
                <a:latin typeface="Arial"/>
                <a:cs typeface="Arial"/>
                <a:hlinkClick r:id="rId3"/>
              </a:rPr>
              <a:t>[2]</a:t>
            </a:r>
            <a:r>
              <a:rPr sz="1050" spc="135" baseline="31746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introduced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association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rules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discovering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regularities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between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products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large-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scale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transaction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recorded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point-of-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4"/>
              </a:rPr>
              <a:t>sale</a:t>
            </a:r>
            <a:r>
              <a:rPr sz="1100" spc="-20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(POS)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systems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supermarkets.</a:t>
            </a:r>
            <a:endParaRPr sz="1100">
              <a:latin typeface="Arial"/>
              <a:cs typeface="Arial"/>
            </a:endParaRPr>
          </a:p>
          <a:p>
            <a:pPr marL="50800" marR="43180" indent="38100">
              <a:lnSpc>
                <a:spcPct val="102299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example,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rule</a:t>
            </a:r>
            <a:r>
              <a:rPr sz="1100" spc="26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found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sales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supermarket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would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indicate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customer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buys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onions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potatoes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together,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likely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also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buy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hamburger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meat.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Such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information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basis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decisions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about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marketing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activities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such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e.g.,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promotional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pricing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product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placements.</a:t>
            </a:r>
            <a:endParaRPr sz="1100">
              <a:latin typeface="Arial"/>
              <a:cs typeface="Arial"/>
            </a:endParaRPr>
          </a:p>
          <a:p>
            <a:pPr marL="50800" marR="251460" indent="38100">
              <a:lnSpc>
                <a:spcPct val="102299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addition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above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example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market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basket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analysis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association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rules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employed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today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many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application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areas including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Web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usage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mining,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intrusion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detection,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Continuous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production,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bioinformatics.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opposed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sequence</a:t>
            </a:r>
            <a:r>
              <a:rPr sz="1100" spc="-35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 </a:t>
            </a:r>
            <a:r>
              <a:rPr sz="1100" spc="-10" dirty="0">
                <a:solidFill>
                  <a:srgbClr val="0B0080"/>
                </a:solidFill>
                <a:latin typeface="Arial"/>
                <a:cs typeface="Arial"/>
                <a:hlinkClick r:id="rId5"/>
              </a:rPr>
              <a:t>mining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, association</a:t>
            </a:r>
            <a:r>
              <a:rPr sz="110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rule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learning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typically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does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not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consider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order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items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either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within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transaction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across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transactions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50800" marR="577596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Conecpts-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Support,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Confidence,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Lift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spc="-50" dirty="0">
                <a:latin typeface="Verdana"/>
                <a:cs typeface="Verdana"/>
              </a:rPr>
              <a:t>R</a:t>
            </a:r>
            <a:endParaRPr sz="1000">
              <a:latin typeface="Verdana"/>
              <a:cs typeface="Verdana"/>
            </a:endParaRPr>
          </a:p>
          <a:p>
            <a:pPr marL="50800" marR="6362700">
              <a:lnSpc>
                <a:spcPct val="100000"/>
              </a:lnSpc>
            </a:pPr>
            <a:r>
              <a:rPr sz="1000" dirty="0">
                <a:latin typeface="Verdana"/>
                <a:cs typeface="Verdana"/>
              </a:rPr>
              <a:t>apriori()</a:t>
            </a:r>
            <a:r>
              <a:rPr sz="1000" spc="-4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arules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package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Python</a:t>
            </a:r>
            <a:endParaRPr sz="100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</a:pPr>
            <a:r>
              <a:rPr sz="10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Verdana"/>
                <a:cs typeface="Verdana"/>
                <a:hlinkClick r:id="rId6"/>
              </a:rPr>
              <a:t>http://orange.biolab.si/docs/latest/reference/rst/Orange.associate/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4800" y="3697100"/>
            <a:ext cx="6098137" cy="2114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Gradient</a:t>
            </a:r>
            <a:r>
              <a:rPr sz="1400" b="0" spc="-4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Descent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977912"/>
            <a:ext cx="7908290" cy="19837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sz="1100" b="1" dirty="0">
                <a:latin typeface="Arial"/>
                <a:cs typeface="Arial"/>
              </a:rPr>
              <a:t>Gradient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descent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first-order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iterative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optimization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minimum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gradient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descent</a:t>
            </a:r>
            <a:r>
              <a:rPr sz="1100" spc="-10" dirty="0">
                <a:latin typeface="Arial"/>
                <a:cs typeface="Arial"/>
              </a:rPr>
              <a:t>,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steps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proportional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gradient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approximate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gradient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current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point.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http://econometricsense.blogspot.in/2011/11/gradient-descent-in-r.html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100">
              <a:latin typeface="Arial"/>
              <a:cs typeface="Arial"/>
            </a:endParaRPr>
          </a:p>
          <a:p>
            <a:pPr marL="12700" marR="3689350">
              <a:lnSpc>
                <a:spcPct val="101899"/>
              </a:lnSpc>
              <a:spcBef>
                <a:spcPts val="5"/>
              </a:spcBef>
            </a:pPr>
            <a:r>
              <a:rPr sz="1350" dirty="0">
                <a:latin typeface="Arial"/>
                <a:cs typeface="Arial"/>
              </a:rPr>
              <a:t>Start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at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some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x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value,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use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derivative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at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that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value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to</a:t>
            </a:r>
            <a:r>
              <a:rPr sz="1350" spc="-20" dirty="0">
                <a:latin typeface="Arial"/>
                <a:cs typeface="Arial"/>
              </a:rPr>
              <a:t> tell </a:t>
            </a:r>
            <a:r>
              <a:rPr sz="1350" dirty="0">
                <a:latin typeface="Arial"/>
                <a:cs typeface="Arial"/>
              </a:rPr>
              <a:t>us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which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way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to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move,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and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repeat.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Gradient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descent.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3"/>
              </a:rPr>
              <a:t>http://www.cs.colostate.edu/%7Eanderson/cs545/Lectures/week6day2/week6day2.pdf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95719" y="1719825"/>
            <a:ext cx="2492780" cy="342367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Gradient</a:t>
            </a:r>
            <a:r>
              <a:rPr sz="1400" b="0" spc="-4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Descent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425" y="1738087"/>
            <a:ext cx="4761230" cy="207898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https://spin.atomicobject.com/2014/06/24/gradient-descent-linear-regression/</a:t>
            </a:r>
            <a:r>
              <a:rPr sz="1100" u="none" spc="-10" dirty="0">
                <a:solidFill>
                  <a:srgbClr val="2200CC"/>
                </a:solidFill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A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dirty="0">
                <a:latin typeface="Arial"/>
                <a:cs typeface="Arial"/>
              </a:rPr>
              <a:t>standard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10" dirty="0">
                <a:latin typeface="Arial"/>
                <a:cs typeface="Arial"/>
              </a:rPr>
              <a:t>approach</a:t>
            </a:r>
            <a:r>
              <a:rPr sz="1100" u="none" spc="-20" dirty="0">
                <a:latin typeface="Arial"/>
                <a:cs typeface="Arial"/>
              </a:rPr>
              <a:t> </a:t>
            </a:r>
            <a:r>
              <a:rPr sz="1100" u="none" spc="-25" dirty="0">
                <a:latin typeface="Arial"/>
                <a:cs typeface="Arial"/>
              </a:rPr>
              <a:t>to</a:t>
            </a:r>
            <a:endParaRPr sz="1100">
              <a:latin typeface="Arial"/>
              <a:cs typeface="Arial"/>
            </a:endParaRPr>
          </a:p>
          <a:p>
            <a:pPr marL="12700" marR="3351529" indent="38100">
              <a:lnSpc>
                <a:spcPct val="102299"/>
              </a:lnSpc>
            </a:pPr>
            <a:r>
              <a:rPr sz="1100" dirty="0">
                <a:latin typeface="Arial"/>
                <a:cs typeface="Arial"/>
              </a:rPr>
              <a:t>solving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define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(also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function)</a:t>
            </a:r>
            <a:endParaRPr sz="1100">
              <a:latin typeface="Arial"/>
              <a:cs typeface="Arial"/>
            </a:endParaRPr>
          </a:p>
          <a:p>
            <a:pPr marL="50800" marR="3079750">
              <a:lnSpc>
                <a:spcPct val="102299"/>
              </a:lnSpc>
            </a:pP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“good”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2700" marR="2456180">
              <a:lnSpc>
                <a:spcPct val="102299"/>
              </a:lnSpc>
            </a:pPr>
            <a:r>
              <a:rPr sz="1100" spc="-10" dirty="0">
                <a:latin typeface="Arial"/>
                <a:cs typeface="Arial"/>
              </a:rPr>
              <a:t>initial_b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#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initial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y-</a:t>
            </a:r>
            <a:r>
              <a:rPr sz="1100" dirty="0">
                <a:latin typeface="Arial"/>
                <a:cs typeface="Arial"/>
              </a:rPr>
              <a:t>intercept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guess </a:t>
            </a:r>
            <a:r>
              <a:rPr sz="1100" dirty="0">
                <a:latin typeface="Arial"/>
                <a:cs typeface="Arial"/>
              </a:rPr>
              <a:t>initial_m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#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initial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slope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guess </a:t>
            </a:r>
            <a:r>
              <a:rPr sz="1100" dirty="0">
                <a:latin typeface="Arial"/>
                <a:cs typeface="Arial"/>
              </a:rPr>
              <a:t>num_iterations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1000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7462" y="1443049"/>
            <a:ext cx="6734174" cy="3543299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0624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Decision</a:t>
            </a:r>
            <a:r>
              <a:rPr sz="1400" b="0" spc="-4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Trees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600" y="2806387"/>
            <a:ext cx="5055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http://select.cs.cmu.edu/class/10701-F09/recitations/recitation4_decision_tree.pdf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1824" y="2072900"/>
            <a:ext cx="3602650" cy="254957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432516"/>
            <a:ext cx="1210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Decision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Trees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580" y="2399538"/>
            <a:ext cx="326262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heavy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Http://www.ise.bgu.ac.il/faculty/liorr/hbchap9.pdf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4428" y="1564691"/>
            <a:ext cx="2779482" cy="336514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19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latin typeface="Arial"/>
                <a:cs typeface="Arial"/>
              </a:rPr>
              <a:t>Random</a:t>
            </a:r>
            <a:r>
              <a:rPr sz="1400" b="0" spc="-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Forest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350" y="1259337"/>
            <a:ext cx="8178800" cy="29362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8905" marR="34925" indent="38100">
              <a:lnSpc>
                <a:spcPct val="102299"/>
              </a:lnSpc>
              <a:spcBef>
                <a:spcPts val="70"/>
              </a:spcBef>
            </a:pPr>
            <a:r>
              <a:rPr sz="1100" dirty="0">
                <a:latin typeface="Arial"/>
                <a:cs typeface="Arial"/>
              </a:rPr>
              <a:t>Random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classification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trees.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object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of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classification,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"votes"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chooses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classification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votes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(over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forest).</a:t>
            </a:r>
            <a:endParaRPr sz="110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  <a:spcBef>
                <a:spcPts val="30"/>
              </a:spcBef>
            </a:pP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  <a:p>
            <a:pPr marL="127635" marR="398780" indent="-117475">
              <a:lnSpc>
                <a:spcPct val="102299"/>
              </a:lnSpc>
              <a:buSzPct val="90909"/>
              <a:buAutoNum type="arabicPeriod"/>
              <a:tabLst>
                <a:tab pos="12890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training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random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replacement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original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data.</a:t>
            </a:r>
            <a:r>
              <a:rPr sz="1100" spc="-20" dirty="0">
                <a:latin typeface="Arial"/>
                <a:cs typeface="Arial"/>
              </a:rPr>
              <a:t> This 	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tree.</a:t>
            </a:r>
            <a:endParaRPr sz="1100">
              <a:latin typeface="Arial"/>
              <a:cs typeface="Arial"/>
            </a:endParaRPr>
          </a:p>
          <a:p>
            <a:pPr marL="586105" indent="-344805">
              <a:lnSpc>
                <a:spcPct val="100000"/>
              </a:lnSpc>
              <a:spcBef>
                <a:spcPts val="30"/>
              </a:spcBef>
              <a:buSzPct val="90909"/>
              <a:buAutoNum type="arabicPeriod"/>
              <a:tabLst>
                <a:tab pos="58610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m&lt;&lt;M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node,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variables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selected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random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out</a:t>
            </a:r>
            <a:endParaRPr sz="1100">
              <a:latin typeface="Arial"/>
              <a:cs typeface="Arial"/>
            </a:endParaRPr>
          </a:p>
          <a:p>
            <a:pPr marL="586105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split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split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node.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constant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during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growing.</a:t>
            </a:r>
            <a:endParaRPr sz="1100">
              <a:latin typeface="Arial"/>
              <a:cs typeface="Arial"/>
            </a:endParaRPr>
          </a:p>
          <a:p>
            <a:pPr marL="586105" indent="-344805">
              <a:lnSpc>
                <a:spcPct val="100000"/>
              </a:lnSpc>
              <a:spcBef>
                <a:spcPts val="180"/>
              </a:spcBef>
              <a:buSzPct val="90909"/>
              <a:buAutoNum type="arabicPeriod" startAt="3"/>
              <a:tabLst>
                <a:tab pos="586105" algn="l"/>
              </a:tabLst>
            </a:pP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extent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possible.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pruning.</a:t>
            </a:r>
            <a:endParaRPr sz="110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original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paper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random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things:</a:t>
            </a:r>
            <a:endParaRPr sz="1100">
              <a:latin typeface="Arial"/>
              <a:cs typeface="Arial"/>
            </a:endParaRPr>
          </a:p>
          <a:p>
            <a:pPr marL="586105" lvl="1" indent="-313055">
              <a:lnSpc>
                <a:spcPct val="100000"/>
              </a:lnSpc>
              <a:spcBef>
                <a:spcPts val="180"/>
              </a:spcBef>
              <a:buChar char="●"/>
              <a:tabLst>
                <a:tab pos="58610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correlation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between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Increasing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correlation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increases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20" dirty="0">
                <a:latin typeface="Arial"/>
                <a:cs typeface="Arial"/>
              </a:rPr>
              <a:t> rate.</a:t>
            </a:r>
            <a:endParaRPr sz="1100">
              <a:latin typeface="Arial"/>
              <a:cs typeface="Arial"/>
            </a:endParaRPr>
          </a:p>
          <a:p>
            <a:pPr marL="586105" marR="5080" lvl="1" indent="-313055">
              <a:lnSpc>
                <a:spcPct val="113599"/>
              </a:lnSpc>
              <a:buChar char="●"/>
              <a:tabLst>
                <a:tab pos="58610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strength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individual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strong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classifier.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Increasing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strength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individual </a:t>
            </a:r>
            <a:r>
              <a:rPr sz="1100" dirty="0">
                <a:latin typeface="Arial"/>
                <a:cs typeface="Arial"/>
              </a:rPr>
              <a:t>trees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decreases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forest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10" dirty="0">
                <a:latin typeface="Arial"/>
                <a:cs typeface="Arial"/>
              </a:rPr>
              <a:t> rate.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10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</a:pPr>
            <a:r>
              <a:rPr sz="1100" u="sng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https://www.stat.berkeley.edu/~breiman/RandomForests/cc_home.htm#intro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510091"/>
            <a:ext cx="67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Bagging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936256"/>
            <a:ext cx="7886065" cy="22332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Bagging,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aka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bootstrap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aggregation,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relatively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simple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way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increase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power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predictive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statistical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model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random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samples(with </a:t>
            </a:r>
            <a:r>
              <a:rPr sz="1800" dirty="0">
                <a:latin typeface="Arial"/>
                <a:cs typeface="Arial"/>
              </a:rPr>
              <a:t>replacement)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your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training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these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samples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 </a:t>
            </a:r>
            <a:r>
              <a:rPr sz="1800" dirty="0">
                <a:latin typeface="Arial"/>
                <a:cs typeface="Arial"/>
              </a:rPr>
              <a:t>construct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separate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model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separate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predictions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your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test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These </a:t>
            </a:r>
            <a:r>
              <a:rPr sz="1800" dirty="0">
                <a:latin typeface="Arial"/>
                <a:cs typeface="Arial"/>
              </a:rPr>
              <a:t>predictions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averaged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hopefully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accurate,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final </a:t>
            </a:r>
            <a:r>
              <a:rPr sz="1800" dirty="0">
                <a:latin typeface="Arial"/>
                <a:cs typeface="Arial"/>
              </a:rPr>
              <a:t>prediction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value.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u="heavy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http://www.vikparuchuri.com/blog/build-your-own-bagging-function-in-</a:t>
            </a:r>
            <a:r>
              <a:rPr sz="1800" u="heavy" spc="-25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r/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510091"/>
            <a:ext cx="717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Boosting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521918"/>
            <a:ext cx="7974330" cy="30619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56845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Boosting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several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classic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methods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ensemble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models, </a:t>
            </a:r>
            <a:r>
              <a:rPr sz="1800" dirty="0">
                <a:latin typeface="Arial"/>
                <a:cs typeface="Arial"/>
              </a:rPr>
              <a:t>along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bagging,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random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forests,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forth.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Boosting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means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20" dirty="0">
                <a:latin typeface="Arial"/>
                <a:cs typeface="Arial"/>
              </a:rPr>
              <a:t> each </a:t>
            </a:r>
            <a:r>
              <a:rPr sz="1800" dirty="0">
                <a:latin typeface="Arial"/>
                <a:cs typeface="Arial"/>
              </a:rPr>
              <a:t>tree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dependent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trees,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fitting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residual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trees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preceded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it.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Thus,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boosting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decision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tree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ensemble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tends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improve </a:t>
            </a:r>
            <a:r>
              <a:rPr sz="1800" dirty="0">
                <a:latin typeface="Arial"/>
                <a:cs typeface="Arial"/>
              </a:rPr>
              <a:t>accuracy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small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risk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coverage.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u="heavy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2"/>
              </a:rPr>
              <a:t>XGBoost</a:t>
            </a:r>
            <a:r>
              <a:rPr sz="1800" u="none" spc="-25" dirty="0">
                <a:solidFill>
                  <a:srgbClr val="2200CC"/>
                </a:solidFill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library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designed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and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optimized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for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boosting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trees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algorithms. </a:t>
            </a:r>
            <a:r>
              <a:rPr sz="1800" u="none" dirty="0">
                <a:latin typeface="Arial"/>
                <a:cs typeface="Arial"/>
              </a:rPr>
              <a:t>XGBoost</a:t>
            </a:r>
            <a:r>
              <a:rPr sz="1800" u="none" spc="-3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used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in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more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than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half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of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winning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solutions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in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machine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learning </a:t>
            </a:r>
            <a:r>
              <a:rPr sz="1800" u="none" dirty="0">
                <a:latin typeface="Arial"/>
                <a:cs typeface="Arial"/>
              </a:rPr>
              <a:t>challenges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hosted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3"/>
              </a:rPr>
              <a:t>Kaggle</a:t>
            </a:r>
            <a:r>
              <a:rPr sz="1800" u="none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>
              <a:latin typeface="Arial"/>
              <a:cs typeface="Arial"/>
            </a:endParaRPr>
          </a:p>
          <a:p>
            <a:pPr marL="12700" marR="2783205">
              <a:lnSpc>
                <a:spcPct val="100699"/>
              </a:lnSpc>
              <a:spcBef>
                <a:spcPts val="5"/>
              </a:spcBef>
            </a:pPr>
            <a:r>
              <a:rPr sz="1800" u="heavy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4"/>
              </a:rPr>
              <a:t>http://xgboost.readthedocs.io/en/latest/model.html#</a:t>
            </a:r>
            <a:r>
              <a:rPr sz="1800" u="none" spc="-10" dirty="0">
                <a:solidFill>
                  <a:srgbClr val="2200CC"/>
                </a:solidFill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And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rgbClr val="2200CC"/>
                </a:solidFill>
                <a:uFill>
                  <a:solidFill>
                    <a:srgbClr val="2200CC"/>
                  </a:solidFill>
                </a:uFill>
                <a:latin typeface="Arial"/>
                <a:cs typeface="Arial"/>
                <a:hlinkClick r:id="rId5"/>
              </a:rPr>
              <a:t>http://dmlc.ml/rstats/2016/03/10/xgboost.html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2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4745736"/>
            <a:ext cx="50565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By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Farcaster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English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Wikipedia,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CC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BY-</a:t>
            </a:r>
            <a:r>
              <a:rPr sz="800" dirty="0">
                <a:latin typeface="Arial"/>
                <a:cs typeface="Arial"/>
              </a:rPr>
              <a:t>SA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3.0,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https://commons.wikimedia.org/w/index.php?curid=40129394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675" y="975625"/>
            <a:ext cx="5589399" cy="379679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LTV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92850" y="1267586"/>
            <a:ext cx="2710815" cy="3326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Life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Time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Value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(LTV)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will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help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us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answer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22222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fundamental</a:t>
            </a:r>
            <a:r>
              <a:rPr sz="1100" spc="-5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questions: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100">
              <a:latin typeface="Arial"/>
              <a:cs typeface="Arial"/>
            </a:endParaRPr>
          </a:p>
          <a:p>
            <a:pPr marL="292100" marR="361315" indent="153035">
              <a:lnSpc>
                <a:spcPct val="159100"/>
              </a:lnSpc>
              <a:buFont typeface="Arial"/>
              <a:buAutoNum type="arabicPeriod"/>
              <a:tabLst>
                <a:tab pos="445134" algn="l"/>
              </a:tabLst>
            </a:pP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Did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you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pay</a:t>
            </a:r>
            <a:r>
              <a:rPr sz="1100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enough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acquire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customers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from</a:t>
            </a:r>
            <a:r>
              <a:rPr sz="11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each</a:t>
            </a:r>
            <a:r>
              <a:rPr sz="1100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marketing channel?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Clr>
                <a:srgbClr val="222222"/>
              </a:buClr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marL="292100" marR="300355" indent="153035">
              <a:lnSpc>
                <a:spcPct val="159100"/>
              </a:lnSpc>
              <a:buFont typeface="Arial"/>
              <a:buAutoNum type="arabicPeriod"/>
              <a:tabLst>
                <a:tab pos="445134" algn="l"/>
              </a:tabLst>
            </a:pP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Did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you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acquire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best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kind</a:t>
            </a:r>
            <a:r>
              <a:rPr sz="1100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customers?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Clr>
                <a:srgbClr val="222222"/>
              </a:buClr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marL="292100" marR="237490" indent="153035">
              <a:lnSpc>
                <a:spcPct val="159100"/>
              </a:lnSpc>
              <a:buFont typeface="Arial"/>
              <a:buAutoNum type="arabicPeriod"/>
              <a:tabLst>
                <a:tab pos="445134" algn="l"/>
              </a:tabLst>
            </a:pP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How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much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could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you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spend</a:t>
            </a:r>
            <a:r>
              <a:rPr sz="1100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on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keeping</a:t>
            </a:r>
            <a:r>
              <a:rPr sz="1100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them</a:t>
            </a:r>
            <a:r>
              <a:rPr sz="1100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sweet</a:t>
            </a:r>
            <a:r>
              <a:rPr sz="1100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with</a:t>
            </a:r>
            <a:r>
              <a:rPr sz="1100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email</a:t>
            </a:r>
            <a:r>
              <a:rPr sz="1100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2222"/>
                </a:solidFill>
                <a:latin typeface="Arial"/>
                <a:cs typeface="Arial"/>
              </a:rPr>
              <a:t>and </a:t>
            </a:r>
            <a:r>
              <a:rPr sz="1100" dirty="0">
                <a:solidFill>
                  <a:srgbClr val="222222"/>
                </a:solidFill>
                <a:latin typeface="Arial"/>
                <a:cs typeface="Arial"/>
              </a:rPr>
              <a:t>social</a:t>
            </a:r>
            <a:r>
              <a:rPr sz="1100" spc="-6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2222"/>
                </a:solidFill>
                <a:latin typeface="Arial"/>
                <a:cs typeface="Arial"/>
              </a:rPr>
              <a:t>media?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925" y="883450"/>
            <a:ext cx="4573907" cy="37257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LTV</a:t>
            </a:r>
            <a:r>
              <a:rPr spc="-60" dirty="0"/>
              <a:t> </a:t>
            </a:r>
            <a:r>
              <a:rPr dirty="0"/>
              <a:t>Analytics</a:t>
            </a:r>
            <a:r>
              <a:rPr spc="-50" dirty="0"/>
              <a:t> </a:t>
            </a:r>
            <a:r>
              <a:rPr dirty="0"/>
              <a:t>:Case</a:t>
            </a:r>
            <a:r>
              <a:rPr spc="-50" dirty="0"/>
              <a:t> </a:t>
            </a:r>
            <a:r>
              <a:rPr spc="-10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650" y="1430963"/>
            <a:ext cx="47002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https://blog.kissmetrics.com/how-to-calculate-lifetime-value/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4375" y="1681725"/>
            <a:ext cx="4259625" cy="339499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LTV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650" y="1430963"/>
            <a:ext cx="47002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https://blog.kissmetrics.com/how-to-calculate-lifetime-value/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8424" y="1747250"/>
            <a:ext cx="5405576" cy="26851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LTV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650" y="1430963"/>
            <a:ext cx="47002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https://blog.kissmetrics.com/how-to-calculate-lifetime-value/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2875" y="583325"/>
            <a:ext cx="4601124" cy="456017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LTV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650" y="1430963"/>
            <a:ext cx="47002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https://blog.kissmetrics.com/how-to-calculate-lifetime-value/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500" y="1747249"/>
            <a:ext cx="5143499" cy="244614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LTV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650" y="1430963"/>
            <a:ext cx="6386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2"/>
              </a:rPr>
              <a:t>http://www.kaushik.net/avinash/analytics-tip-calculate-ltv-customer-lifetime-value/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777" y="2158467"/>
            <a:ext cx="7383959" cy="234730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LTV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29199" y="1177962"/>
            <a:ext cx="7918450" cy="3457575"/>
            <a:chOff x="829199" y="1177962"/>
            <a:chExt cx="7918450" cy="3457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8796" y="1177962"/>
              <a:ext cx="6048428" cy="34571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9199" y="2945099"/>
              <a:ext cx="7731759" cy="1169035"/>
            </a:xfrm>
            <a:custGeom>
              <a:avLst/>
              <a:gdLst/>
              <a:ahLst/>
              <a:cxnLst/>
              <a:rect l="l" t="t" r="r" b="b"/>
              <a:pathLst>
                <a:path w="7731759" h="1169035">
                  <a:moveTo>
                    <a:pt x="7731599" y="1168499"/>
                  </a:moveTo>
                  <a:lnTo>
                    <a:pt x="0" y="1168499"/>
                  </a:lnTo>
                  <a:lnTo>
                    <a:pt x="0" y="0"/>
                  </a:lnTo>
                  <a:lnTo>
                    <a:pt x="7731599" y="0"/>
                  </a:lnTo>
                  <a:lnTo>
                    <a:pt x="7731599" y="1168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2224" y="3011012"/>
            <a:ext cx="5774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Download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zip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5EA7AA"/>
                </a:solidFill>
                <a:uFill>
                  <a:solidFill>
                    <a:srgbClr val="5EA7AA"/>
                  </a:solidFill>
                </a:uFill>
                <a:latin typeface="Arial"/>
                <a:cs typeface="Arial"/>
                <a:hlinkClick r:id="rId3"/>
              </a:rPr>
              <a:t>http://www.kaushik.net/avinash/avinash_ltv.zip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6137"/>
            <a:ext cx="8710295" cy="712470"/>
            <a:chOff x="0" y="206137"/>
            <a:chExt cx="8710295" cy="712470"/>
          </a:xfrm>
        </p:grpSpPr>
        <p:sp>
          <p:nvSpPr>
            <p:cNvPr id="3" name="object 3"/>
            <p:cNvSpPr/>
            <p:nvPr/>
          </p:nvSpPr>
          <p:spPr>
            <a:xfrm>
              <a:off x="0" y="598500"/>
              <a:ext cx="466725" cy="82550"/>
            </a:xfrm>
            <a:custGeom>
              <a:avLst/>
              <a:gdLst/>
              <a:ahLst/>
              <a:cxnLst/>
              <a:rect l="l" t="t" r="r" b="b"/>
              <a:pathLst>
                <a:path w="466725" h="82550">
                  <a:moveTo>
                    <a:pt x="466199" y="82199"/>
                  </a:moveTo>
                  <a:lnTo>
                    <a:pt x="0" y="82199"/>
                  </a:lnTo>
                  <a:lnTo>
                    <a:pt x="0" y="0"/>
                  </a:lnTo>
                  <a:lnTo>
                    <a:pt x="466199" y="0"/>
                  </a:lnTo>
                  <a:lnTo>
                    <a:pt x="466199" y="82199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950" y="210899"/>
              <a:ext cx="8248650" cy="702945"/>
            </a:xfrm>
            <a:custGeom>
              <a:avLst/>
              <a:gdLst/>
              <a:ahLst/>
              <a:cxnLst/>
              <a:rect l="l" t="t" r="r" b="b"/>
              <a:pathLst>
                <a:path w="8248650" h="702944">
                  <a:moveTo>
                    <a:pt x="0" y="0"/>
                  </a:moveTo>
                  <a:lnTo>
                    <a:pt x="8248199" y="0"/>
                  </a:lnTo>
                  <a:lnTo>
                    <a:pt x="8248199" y="702899"/>
                  </a:lnTo>
                  <a:lnTo>
                    <a:pt x="0" y="702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88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Arial"/>
                <a:cs typeface="Arial"/>
              </a:rPr>
              <a:t>Pareto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spc="-10" dirty="0">
                <a:latin typeface="Arial"/>
                <a:cs typeface="Arial"/>
              </a:rPr>
              <a:t>principle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774" y="1403112"/>
            <a:ext cx="7210425" cy="17551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Pareto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principle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(also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known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80–20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rule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law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vital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few,</a:t>
            </a:r>
            <a:r>
              <a:rPr sz="11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principle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factor</a:t>
            </a:r>
            <a:r>
              <a:rPr sz="11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sparsity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)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states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that,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many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events,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roughly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effects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causes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5"/>
              </a:spcBef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company's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profits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customers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330"/>
              </a:spcBef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company's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complaints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customers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330"/>
              </a:spcBef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company's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profits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time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staff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spend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330"/>
              </a:spcBef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company's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sales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products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330"/>
              </a:spcBef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company's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sales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made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by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its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sales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staff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774" y="3704987"/>
            <a:ext cx="55892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Several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criminology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studies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have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found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80%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crimes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committed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20%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criminals.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8501"/>
            <a:ext cx="466725" cy="82550"/>
          </a:xfrm>
          <a:custGeom>
            <a:avLst/>
            <a:gdLst/>
            <a:ahLst/>
            <a:cxnLst/>
            <a:rect l="l" t="t" r="r" b="b"/>
            <a:pathLst>
              <a:path w="466725" h="82550">
                <a:moveTo>
                  <a:pt x="466199" y="82199"/>
                </a:moveTo>
                <a:lnTo>
                  <a:pt x="0" y="82199"/>
                </a:lnTo>
                <a:lnTo>
                  <a:pt x="0" y="0"/>
                </a:lnTo>
                <a:lnTo>
                  <a:pt x="466199" y="0"/>
                </a:lnTo>
                <a:lnTo>
                  <a:pt x="466199" y="8219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3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RFM</a:t>
            </a:r>
            <a:r>
              <a:rPr spc="-8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0350" y="1207011"/>
            <a:ext cx="7497445" cy="340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RFM</a:t>
            </a:r>
            <a:r>
              <a:rPr sz="11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method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analyzing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B0080"/>
                </a:solidFill>
                <a:latin typeface="Arial"/>
                <a:cs typeface="Arial"/>
                <a:hlinkClick r:id="rId2"/>
              </a:rPr>
              <a:t>customer</a:t>
            </a:r>
            <a:r>
              <a:rPr sz="1100" spc="-15" dirty="0">
                <a:solidFill>
                  <a:srgbClr val="0B008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value.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buFont typeface="Arial"/>
              <a:buChar char="●"/>
              <a:tabLst>
                <a:tab pos="697865" algn="l"/>
              </a:tabLst>
            </a:pP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R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ecency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How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recently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did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i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customer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purchase?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705"/>
              </a:spcBef>
              <a:buFont typeface="Arial"/>
              <a:buChar char="●"/>
              <a:tabLst>
                <a:tab pos="697865" algn="l"/>
              </a:tabLst>
            </a:pP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F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requency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How</a:t>
            </a:r>
            <a:r>
              <a:rPr sz="1100" i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often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do</a:t>
            </a:r>
            <a:r>
              <a:rPr sz="1100" i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they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purchase?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705"/>
              </a:spcBef>
              <a:buFont typeface="Arial"/>
              <a:buChar char="●"/>
              <a:tabLst>
                <a:tab pos="697865" algn="l"/>
              </a:tabLst>
            </a:pP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M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onetary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How</a:t>
            </a:r>
            <a:r>
              <a:rPr sz="1100" i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much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do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52525"/>
                </a:solidFill>
                <a:latin typeface="Arial"/>
                <a:cs typeface="Arial"/>
              </a:rPr>
              <a:t>they</a:t>
            </a:r>
            <a:r>
              <a:rPr sz="1100" i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52525"/>
                </a:solidFill>
                <a:latin typeface="Arial"/>
                <a:cs typeface="Arial"/>
              </a:rPr>
              <a:t>spend?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52525"/>
              </a:buClr>
              <a:buFont typeface="Arial"/>
              <a:buChar char="●"/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method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Recency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=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10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number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months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have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passed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since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customer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last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purchased</a:t>
            </a:r>
            <a:endParaRPr sz="1100">
              <a:latin typeface="Arial"/>
              <a:cs typeface="Arial"/>
            </a:endParaRPr>
          </a:p>
          <a:p>
            <a:pPr marL="697865" indent="-312420">
              <a:lnSpc>
                <a:spcPct val="100000"/>
              </a:lnSpc>
              <a:spcBef>
                <a:spcPts val="705"/>
              </a:spcBef>
              <a:buChar char="●"/>
              <a:tabLst>
                <a:tab pos="697865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Frequency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=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number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purchases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last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12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months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(maximum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10)</a:t>
            </a:r>
            <a:endParaRPr sz="1100">
              <a:latin typeface="Arial"/>
              <a:cs typeface="Arial"/>
            </a:endParaRPr>
          </a:p>
          <a:p>
            <a:pPr marL="693420" indent="-307975" algn="just">
              <a:lnSpc>
                <a:spcPct val="100000"/>
              </a:lnSpc>
              <a:spcBef>
                <a:spcPts val="705"/>
              </a:spcBef>
              <a:buChar char="●"/>
              <a:tabLst>
                <a:tab pos="693420" algn="l"/>
              </a:tabLst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Monetary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=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value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highest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order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from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given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customer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(benchmarked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against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$10k)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54400"/>
              </a:lnSpc>
              <a:spcBef>
                <a:spcPts val="560"/>
              </a:spcBef>
            </a:pP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Alternatively,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can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create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categories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each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attribute.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For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instance,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Recency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attribute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might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broken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into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three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categories: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customers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purchases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within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last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90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days;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between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91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365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days;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longer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than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365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days.</a:t>
            </a:r>
            <a:r>
              <a:rPr sz="1100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Such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categories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may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arrived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at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by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applying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business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rules,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using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mining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technique,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find</a:t>
            </a:r>
            <a:r>
              <a:rPr sz="1100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meaningful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52525"/>
                </a:solidFill>
                <a:latin typeface="Arial"/>
                <a:cs typeface="Arial"/>
              </a:rPr>
              <a:t>breaks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commonly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used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shortcut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use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deciles.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One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advised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look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at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distribution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52525"/>
                </a:solidFill>
                <a:latin typeface="Arial"/>
                <a:cs typeface="Arial"/>
              </a:rPr>
              <a:t>before</a:t>
            </a:r>
            <a:r>
              <a:rPr sz="110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choosing</a:t>
            </a:r>
            <a:r>
              <a:rPr sz="1100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Arial"/>
                <a:cs typeface="Arial"/>
              </a:rPr>
              <a:t>breaks.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698" y="1688377"/>
            <a:ext cx="3158680" cy="4810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092" y="2381172"/>
            <a:ext cx="2793796" cy="3603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411" y="3038844"/>
            <a:ext cx="2826896" cy="3693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6050" y="528475"/>
            <a:ext cx="3631599" cy="4615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5850</Words>
  <Application>Microsoft Office PowerPoint</Application>
  <PresentationFormat>On-screen Show (16:9)</PresentationFormat>
  <Paragraphs>448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Verdana</vt:lpstr>
      <vt:lpstr>Office Theme</vt:lpstr>
      <vt:lpstr>Tools and Techniques for Data Science</vt:lpstr>
      <vt:lpstr>Introduction</vt:lpstr>
      <vt:lpstr>Agenda</vt:lpstr>
      <vt:lpstr>Definition of Data Science</vt:lpstr>
      <vt:lpstr>What is data science ?</vt:lpstr>
      <vt:lpstr>What is a Data Scientist ?</vt:lpstr>
      <vt:lpstr>What is a Data Scientist</vt:lpstr>
      <vt:lpstr>Oh really, is this a Data Scientist ?</vt:lpstr>
      <vt:lpstr>Cheat Sheets for Data Scientists</vt:lpstr>
      <vt:lpstr>Cloud Computing</vt:lpstr>
      <vt:lpstr>Cloud Computing</vt:lpstr>
      <vt:lpstr>Cloud Computing</vt:lpstr>
      <vt:lpstr>Introduction to Big Data</vt:lpstr>
      <vt:lpstr>The Three Vs of Big Data</vt:lpstr>
      <vt:lpstr>PowerPoint Presentation</vt:lpstr>
      <vt:lpstr>Understanding Hadoop</vt:lpstr>
      <vt:lpstr>Understanding Hadoop</vt:lpstr>
      <vt:lpstr>Why Learn Hadoop</vt:lpstr>
      <vt:lpstr>HDFS</vt:lpstr>
      <vt:lpstr>HDFS</vt:lpstr>
      <vt:lpstr>Five Daemons of Hadoop</vt:lpstr>
      <vt:lpstr>Big Data: Hadoop Stack</vt:lpstr>
      <vt:lpstr>NoSQL</vt:lpstr>
      <vt:lpstr>NoSQL</vt:lpstr>
      <vt:lpstr>Basic Statistics</vt:lpstr>
      <vt:lpstr>Basic Techniques</vt:lpstr>
      <vt:lpstr>Data Science Tools</vt:lpstr>
      <vt:lpstr>Data Science with R</vt:lpstr>
      <vt:lpstr>What Is R</vt:lpstr>
      <vt:lpstr>Install R</vt:lpstr>
      <vt:lpstr>Install RStudio</vt:lpstr>
      <vt:lpstr>Statistical Software Landscape</vt:lpstr>
      <vt:lpstr>Using R with other software</vt:lpstr>
      <vt:lpstr>Using R with other software</vt:lpstr>
      <vt:lpstr>Some Advantages of R</vt:lpstr>
      <vt:lpstr>Some Disadvantages of R</vt:lpstr>
      <vt:lpstr>Solutions for Disadvantages of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</vt:lpstr>
      <vt:lpstr>What is Python</vt:lpstr>
      <vt:lpstr>Object Oriented Programming (OOPS)</vt:lpstr>
      <vt:lpstr>Java</vt:lpstr>
      <vt:lpstr>Linux</vt:lpstr>
      <vt:lpstr>SQL</vt:lpstr>
      <vt:lpstr>Hive QL</vt:lpstr>
      <vt:lpstr>Python</vt:lpstr>
      <vt:lpstr>Python</vt:lpstr>
      <vt:lpstr>http://cran.r-project.org/doc/contrib/Short-refcard.pdf</vt:lpstr>
      <vt:lpstr>PowerPoint Presentation</vt:lpstr>
      <vt:lpstr>HDFS</vt:lpstr>
      <vt:lpstr>Git Cheat Sheet http://git.or.cz/</vt:lpstr>
      <vt:lpstr>All together now</vt:lpstr>
      <vt:lpstr>R provides a wide variety of statistical (linear and nonlinear modelling, classical statistical tests, time-series analysis, classification, clustering, …) and graphical techniques, and is highly extensible.</vt:lpstr>
      <vt:lpstr>Python</vt:lpstr>
      <vt:lpstr>PowerPoint Presentation</vt:lpstr>
      <vt:lpstr>Big Data: Hadoop Stack with Spark</vt:lpstr>
      <vt:lpstr>Big Data: Hadoop Stack with Mahout</vt:lpstr>
      <vt:lpstr>Big Data: Hadoop Stack with Mahout</vt:lpstr>
      <vt:lpstr>Data Science Techniques</vt:lpstr>
      <vt:lpstr>What is an algorithm</vt:lpstr>
      <vt:lpstr>Machine Learning</vt:lpstr>
      <vt:lpstr>PowerPoint Presentation</vt:lpstr>
      <vt:lpstr>PowerPoint Presentation</vt:lpstr>
      <vt:lpstr>Classification</vt:lpstr>
      <vt:lpstr>Regression</vt:lpstr>
      <vt:lpstr>PowerPoint Presentation</vt:lpstr>
      <vt:lpstr>Support Vector Machines</vt:lpstr>
      <vt:lpstr>Association Rules</vt:lpstr>
      <vt:lpstr>Gradient Descent</vt:lpstr>
      <vt:lpstr>Gradient Descent</vt:lpstr>
      <vt:lpstr>Decision Trees</vt:lpstr>
      <vt:lpstr>PowerPoint Presentation</vt:lpstr>
      <vt:lpstr>Random Forest</vt:lpstr>
      <vt:lpstr>PowerPoint Presentation</vt:lpstr>
      <vt:lpstr>PowerPoint Presentation</vt:lpstr>
      <vt:lpstr>Data Science Process</vt:lpstr>
      <vt:lpstr>LTV Analytics</vt:lpstr>
      <vt:lpstr>LTV Analytics :Case Study</vt:lpstr>
      <vt:lpstr>LTV Analytics</vt:lpstr>
      <vt:lpstr>LTV Analytics</vt:lpstr>
      <vt:lpstr>LTV Analytics</vt:lpstr>
      <vt:lpstr>LTV Analytics</vt:lpstr>
      <vt:lpstr>LTV</vt:lpstr>
      <vt:lpstr>Pareto principle</vt:lpstr>
      <vt:lpstr>RFM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Bosubabu Sambana</cp:lastModifiedBy>
  <cp:revision>1</cp:revision>
  <dcterms:created xsi:type="dcterms:W3CDTF">2025-06-04T11:31:12Z</dcterms:created>
  <dcterms:modified xsi:type="dcterms:W3CDTF">2026-07-15T05:35:29Z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2025-06-04T00:00:00Z</vt:filetime>
  </property>
</Properties>
</file>