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502920"/>
          </a:xfrm>
          <a:prstGeom prst="rect">
            <a:avLst/>
          </a:prstGeom>
          <a:noFill/>
          <a:ln/>
        </p:spPr>
        <p:txBody>
          <a:bodyPr wrap="square" rtlCol="0" anchor="ctr"/>
          <a:lstStyle/>
          <a:p>
            <a:pPr indent="0" marL="0">
              <a:buNone/>
            </a:pPr>
            <a:r>
              <a:rPr lang="en-US" sz="2600" b="1" dirty="0">
                <a:solidFill>
                  <a:srgbClr val="8E1024"/>
                </a:solidFill>
                <a:latin typeface="Aptos Display" pitchFamily="34" charset="0"/>
                <a:ea typeface="Aptos Display" pitchFamily="34" charset="-122"/>
                <a:cs typeface="Aptos Display" pitchFamily="34" charset="-120"/>
              </a:rPr>
              <a:t>Start with small, named steps</a:t>
            </a:r>
            <a:endParaRPr lang="en-US" sz="2600" dirty="0"/>
          </a:p>
        </p:txBody>
      </p:sp>
      <p:sp>
        <p:nvSpPr>
          <p:cNvPr id="3" name="Shape 1"/>
          <p:cNvSpPr/>
          <p:nvPr/>
        </p:nvSpPr>
        <p:spPr>
          <a:xfrm>
            <a:off x="512064" y="1033272"/>
            <a:ext cx="11064240" cy="0"/>
          </a:xfrm>
          <a:prstGeom prst="line">
            <a:avLst/>
          </a:prstGeom>
          <a:noFill/>
          <a:ln w="15240">
            <a:solidFill>
              <a:srgbClr val="E7C6CB"/>
            </a:solidFill>
            <a:prstDash val="solid"/>
          </a:ln>
        </p:spPr>
      </p:sp>
      <p:sp>
        <p:nvSpPr>
          <p:cNvPr id="4" name="Text 2"/>
          <p:cNvSpPr/>
          <p:nvPr/>
        </p:nvSpPr>
        <p:spPr>
          <a:xfrm>
            <a:off x="548640" y="1225296"/>
            <a:ext cx="10972800" cy="402336"/>
          </a:xfrm>
          <a:prstGeom prst="rect">
            <a:avLst/>
          </a:prstGeom>
          <a:noFill/>
          <a:ln/>
        </p:spPr>
        <p:txBody>
          <a:bodyPr wrap="square" rtlCol="0" anchor="ctr"/>
          <a:lstStyle/>
          <a:p>
            <a:pPr indent="0" marL="0">
              <a:buNone/>
            </a:pPr>
            <a:r>
              <a:rPr lang="en-US" sz="1500" dirty="0">
                <a:solidFill>
                  <a:srgbClr val="45515E"/>
                </a:solidFill>
              </a:rPr>
              <a:t>Make data flow visible and validate assumptions early.</a:t>
            </a:r>
            <a:endParaRPr lang="en-US" sz="1500" dirty="0"/>
          </a:p>
        </p:txBody>
      </p:sp>
      <p:sp>
        <p:nvSpPr>
          <p:cNvPr id="5" name="Text 3"/>
          <p:cNvSpPr/>
          <p:nvPr/>
        </p:nvSpPr>
        <p:spPr>
          <a:xfrm>
            <a:off x="731520" y="1874520"/>
            <a:ext cx="10698480" cy="4206240"/>
          </a:xfrm>
          <a:prstGeom prst="rect">
            <a:avLst/>
          </a:prstGeom>
          <a:noFill/>
          <a:ln/>
        </p:spPr>
        <p:txBody>
          <a:bodyPr wrap="square" lIns="1016" tIns="1016" rIns="1016" bIns="1016" rtlCol="0" anchor="t"/>
          <a:lstStyle/>
          <a:p>
            <a:pPr marL="203200" indent="-203200">
              <a:buSzPct val="100000"/>
              <a:buChar char="•"/>
            </a:pPr>
            <a:r>
              <a:rPr lang="en-US" sz="1900" dirty="0">
                <a:solidFill>
                  <a:srgbClr val="293442"/>
                </a:solidFill>
              </a:rPr>
              <a:t>Store input as a value with an explicit type.</a:t>
            </a:r>
            <a:endParaRPr lang="en-US" sz="1900" dirty="0"/>
          </a:p>
          <a:p>
            <a:pPr marL="203200" indent="-203200">
              <a:buSzPct val="100000"/>
              <a:buChar char="•"/>
            </a:pPr>
            <a:r>
              <a:rPr lang="en-US" sz="1900" dirty="0">
                <a:solidFill>
                  <a:srgbClr val="293442"/>
                </a:solidFill>
              </a:rPr>
              <a:t>Use conditions to reject values outside the problem domain.</a:t>
            </a:r>
            <a:endParaRPr lang="en-US" sz="1900" dirty="0"/>
          </a:p>
          <a:p>
            <a:pPr marL="203200" indent="-203200">
              <a:buSzPct val="100000"/>
              <a:buChar char="•"/>
            </a:pPr>
            <a:r>
              <a:rPr lang="en-US" sz="1900" dirty="0">
                <a:solidFill>
                  <a:srgbClr val="293442"/>
                </a:solidFill>
              </a:rPr>
              <a:t>Name intermediate results so a reader can follow the calculation.</a:t>
            </a:r>
            <a:endParaRPr lang="en-US" sz="1900" dirty="0"/>
          </a:p>
        </p:txBody>
      </p:sp>
      <p:sp>
        <p:nvSpPr>
          <p:cNvPr id="6" name="Text 4"/>
          <p:cNvSpPr/>
          <p:nvPr/>
        </p:nvSpPr>
        <p:spPr>
          <a:xfrm>
            <a:off x="548640" y="6473952"/>
            <a:ext cx="10972800" cy="201168"/>
          </a:xfrm>
          <a:prstGeom prst="rect">
            <a:avLst/>
          </a:prstGeom>
          <a:noFill/>
          <a:ln/>
        </p:spPr>
        <p:txBody>
          <a:bodyPr wrap="square" rtlCol="0" anchor="ctr"/>
          <a:lstStyle/>
          <a:p>
            <a:pPr indent="0" marL="0">
              <a:buNone/>
            </a:pPr>
            <a:r>
              <a:rPr lang="en-US" sz="800" dirty="0">
                <a:solidFill>
                  <a:srgbClr val="727C86"/>
                </a:solidFill>
              </a:rPr>
              <a:t>MBU Digital Library · Supplemental practice resource · Verify against official course materials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502920"/>
          </a:xfrm>
          <a:prstGeom prst="rect">
            <a:avLst/>
          </a:prstGeom>
          <a:noFill/>
          <a:ln/>
        </p:spPr>
        <p:txBody>
          <a:bodyPr wrap="square" rtlCol="0" anchor="ctr"/>
          <a:lstStyle/>
          <a:p>
            <a:pPr indent="0" marL="0">
              <a:buNone/>
            </a:pPr>
            <a:r>
              <a:rPr lang="en-US" sz="2600" b="1" dirty="0">
                <a:solidFill>
                  <a:srgbClr val="8E1024"/>
                </a:solidFill>
                <a:latin typeface="Aptos Display" pitchFamily="34" charset="0"/>
                <a:ea typeface="Aptos Display" pitchFamily="34" charset="-122"/>
                <a:cs typeface="Aptos Display" pitchFamily="34" charset="-120"/>
              </a:rPr>
              <a:t>Values, expressions, and decisions</a:t>
            </a:r>
            <a:endParaRPr lang="en-US" sz="2600" dirty="0"/>
          </a:p>
        </p:txBody>
      </p:sp>
      <p:sp>
        <p:nvSpPr>
          <p:cNvPr id="3" name="Shape 1"/>
          <p:cNvSpPr/>
          <p:nvPr/>
        </p:nvSpPr>
        <p:spPr>
          <a:xfrm>
            <a:off x="512064" y="1033272"/>
            <a:ext cx="11064240" cy="0"/>
          </a:xfrm>
          <a:prstGeom prst="line">
            <a:avLst/>
          </a:prstGeom>
          <a:noFill/>
          <a:ln w="15240">
            <a:solidFill>
              <a:srgbClr val="E7C6CB"/>
            </a:solidFill>
            <a:prstDash val="solid"/>
          </a:ln>
        </p:spPr>
      </p:sp>
      <p:sp>
        <p:nvSpPr>
          <p:cNvPr id="4" name="Text 2"/>
          <p:cNvSpPr/>
          <p:nvPr/>
        </p:nvSpPr>
        <p:spPr>
          <a:xfrm>
            <a:off x="548640" y="1225296"/>
            <a:ext cx="10972800" cy="402336"/>
          </a:xfrm>
          <a:prstGeom prst="rect">
            <a:avLst/>
          </a:prstGeom>
          <a:noFill/>
          <a:ln/>
        </p:spPr>
        <p:txBody>
          <a:bodyPr wrap="square" rtlCol="0" anchor="ctr"/>
          <a:lstStyle/>
          <a:p>
            <a:pPr indent="0" marL="0">
              <a:buNone/>
            </a:pPr>
            <a:r>
              <a:rPr lang="en-US" sz="1500" dirty="0">
                <a:solidFill>
                  <a:srgbClr val="45515E"/>
                </a:solidFill>
              </a:rPr>
              <a:t>Names refer to objects. Use descriptive identifiers, convert input explicitly, and distinguish equality (==) from assignment (=). Boolean expressions can be combined with and/or/not; if/elif/else selects a branch.</a:t>
            </a:r>
            <a:endParaRPr lang="en-US" sz="1500" dirty="0"/>
          </a:p>
        </p:txBody>
      </p:sp>
      <p:sp>
        <p:nvSpPr>
          <p:cNvPr id="5" name="Text 3"/>
          <p:cNvSpPr/>
          <p:nvPr/>
        </p:nvSpPr>
        <p:spPr>
          <a:xfrm>
            <a:off x="731520" y="1874520"/>
            <a:ext cx="10698480" cy="4206240"/>
          </a:xfrm>
          <a:prstGeom prst="rect">
            <a:avLst/>
          </a:prstGeom>
          <a:noFill/>
          <a:ln/>
        </p:spPr>
        <p:txBody>
          <a:bodyPr wrap="square" lIns="1016" tIns="1016" rIns="1016" bIns="1016" rtlCol="0" anchor="t"/>
          <a:lstStyle/>
          <a:p>
            <a:pPr marL="203200" indent="-203200">
              <a:buSzPct val="100000"/>
              <a:buChar char="•"/>
            </a:pPr>
            <a:r>
              <a:rPr lang="en-US" sz="1900" dirty="0">
                <a:solidFill>
                  <a:srgbClr val="293442"/>
                </a:solidFill>
              </a:rPr>
              <a:t>score = float(input("Score: ")); if 0 &lt;= score &lt;= 100: print("valid") else: print("check range")</a:t>
            </a:r>
            <a:endParaRPr lang="en-US" sz="1900" dirty="0"/>
          </a:p>
          <a:p>
            <a:pPr marL="203200" indent="-203200">
              <a:buSzPct val="100000"/>
              <a:buChar char="•"/>
            </a:pPr>
            <a:r>
              <a:rPr lang="en-US" sz="1900" dirty="0">
                <a:solidFill>
                  <a:srgbClr val="293442"/>
                </a:solidFill>
              </a:rPr>
              <a:t>What type does input() return?</a:t>
            </a:r>
            <a:endParaRPr lang="en-US" sz="1900" dirty="0"/>
          </a:p>
          <a:p>
            <a:pPr marL="203200" indent="-203200">
              <a:buSzPct val="100000"/>
              <a:buChar char="•"/>
            </a:pPr>
            <a:r>
              <a:rPr lang="en-US" sz="1900" dirty="0">
                <a:solidFill>
                  <a:srgbClr val="293442"/>
                </a:solidFill>
              </a:rPr>
              <a:t>Why validate a number before calculating with it?</a:t>
            </a:r>
            <a:endParaRPr lang="en-US" sz="1900" dirty="0"/>
          </a:p>
        </p:txBody>
      </p:sp>
      <p:sp>
        <p:nvSpPr>
          <p:cNvPr id="6" name="Text 4"/>
          <p:cNvSpPr/>
          <p:nvPr/>
        </p:nvSpPr>
        <p:spPr>
          <a:xfrm>
            <a:off x="548640" y="6473952"/>
            <a:ext cx="10972800" cy="201168"/>
          </a:xfrm>
          <a:prstGeom prst="rect">
            <a:avLst/>
          </a:prstGeom>
          <a:noFill/>
          <a:ln/>
        </p:spPr>
        <p:txBody>
          <a:bodyPr wrap="square" rtlCol="0" anchor="ctr"/>
          <a:lstStyle/>
          <a:p>
            <a:pPr indent="0" marL="0">
              <a:buNone/>
            </a:pPr>
            <a:r>
              <a:rPr lang="en-US" sz="800" dirty="0">
                <a:solidFill>
                  <a:srgbClr val="727C86"/>
                </a:solidFill>
              </a:rPr>
              <a:t>MBU Digital Library · Supplemental practice resource · Verify against official course materials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502920"/>
          </a:xfrm>
          <a:prstGeom prst="rect">
            <a:avLst/>
          </a:prstGeom>
          <a:noFill/>
          <a:ln/>
        </p:spPr>
        <p:txBody>
          <a:bodyPr wrap="square" rtlCol="0" anchor="ctr"/>
          <a:lstStyle/>
          <a:p>
            <a:pPr indent="0" marL="0">
              <a:buNone/>
            </a:pPr>
            <a:r>
              <a:rPr lang="en-US" sz="2600" b="1" dirty="0">
                <a:solidFill>
                  <a:srgbClr val="8E1024"/>
                </a:solidFill>
                <a:latin typeface="Aptos Display" pitchFamily="34" charset="0"/>
                <a:ea typeface="Aptos Display" pitchFamily="34" charset="-122"/>
                <a:cs typeface="Aptos Display" pitchFamily="34" charset="-120"/>
              </a:rPr>
              <a:t>Loops and collections</a:t>
            </a:r>
            <a:endParaRPr lang="en-US" sz="2600" dirty="0"/>
          </a:p>
        </p:txBody>
      </p:sp>
      <p:sp>
        <p:nvSpPr>
          <p:cNvPr id="3" name="Shape 1"/>
          <p:cNvSpPr/>
          <p:nvPr/>
        </p:nvSpPr>
        <p:spPr>
          <a:xfrm>
            <a:off x="512064" y="1033272"/>
            <a:ext cx="11064240" cy="0"/>
          </a:xfrm>
          <a:prstGeom prst="line">
            <a:avLst/>
          </a:prstGeom>
          <a:noFill/>
          <a:ln w="15240">
            <a:solidFill>
              <a:srgbClr val="E7C6CB"/>
            </a:solidFill>
            <a:prstDash val="solid"/>
          </a:ln>
        </p:spPr>
      </p:sp>
      <p:sp>
        <p:nvSpPr>
          <p:cNvPr id="4" name="Text 2"/>
          <p:cNvSpPr/>
          <p:nvPr/>
        </p:nvSpPr>
        <p:spPr>
          <a:xfrm>
            <a:off x="548640" y="1225296"/>
            <a:ext cx="10972800" cy="402336"/>
          </a:xfrm>
          <a:prstGeom prst="rect">
            <a:avLst/>
          </a:prstGeom>
          <a:noFill/>
          <a:ln/>
        </p:spPr>
        <p:txBody>
          <a:bodyPr wrap="square" rtlCol="0" anchor="ctr"/>
          <a:lstStyle/>
          <a:p>
            <a:pPr indent="0" marL="0">
              <a:buNone/>
            </a:pPr>
            <a:r>
              <a:rPr lang="en-US" sz="1500" dirty="0">
                <a:solidFill>
                  <a:srgbClr val="45515E"/>
                </a:solidFill>
              </a:rPr>
              <a:t>Lists preserve order, tuples represent fixed sequences, sets hold unique values, and dictionaries map keys to values. for loops iterate over items; while loops repeat while a condition remains true. Prefer clear comprehensions for simple transformations.</a:t>
            </a:r>
            <a:endParaRPr lang="en-US" sz="1500" dirty="0"/>
          </a:p>
        </p:txBody>
      </p:sp>
      <p:sp>
        <p:nvSpPr>
          <p:cNvPr id="5" name="Text 3"/>
          <p:cNvSpPr/>
          <p:nvPr/>
        </p:nvSpPr>
        <p:spPr>
          <a:xfrm>
            <a:off x="731520" y="1874520"/>
            <a:ext cx="10698480" cy="4206240"/>
          </a:xfrm>
          <a:prstGeom prst="rect">
            <a:avLst/>
          </a:prstGeom>
          <a:noFill/>
          <a:ln/>
        </p:spPr>
        <p:txBody>
          <a:bodyPr wrap="square" lIns="1016" tIns="1016" rIns="1016" bIns="1016" rtlCol="0" anchor="t"/>
          <a:lstStyle/>
          <a:p>
            <a:pPr marL="203200" indent="-203200">
              <a:buSzPct val="100000"/>
              <a:buChar char="•"/>
            </a:pPr>
            <a:r>
              <a:rPr lang="en-US" sz="1900" dirty="0">
                <a:solidFill>
                  <a:srgbClr val="293442"/>
                </a:solidFill>
              </a:rPr>
              <a:t>counts = {}; for word in ["data", "science", "data"]: counts[word] = counts.get(word, 0) + 1</a:t>
            </a:r>
            <a:endParaRPr lang="en-US" sz="1900" dirty="0"/>
          </a:p>
          <a:p>
            <a:pPr marL="203200" indent="-203200">
              <a:buSzPct val="100000"/>
              <a:buChar char="•"/>
            </a:pPr>
            <a:r>
              <a:rPr lang="en-US" sz="1900" dirty="0">
                <a:solidFill>
                  <a:srgbClr val="293442"/>
                </a:solidFill>
              </a:rPr>
              <a:t>When is a dictionary preferable to parallel lists?</a:t>
            </a:r>
            <a:endParaRPr lang="en-US" sz="1900" dirty="0"/>
          </a:p>
          <a:p>
            <a:pPr marL="203200" indent="-203200">
              <a:buSzPct val="100000"/>
              <a:buChar char="•"/>
            </a:pPr>
            <a:r>
              <a:rPr lang="en-US" sz="1900" dirty="0">
                <a:solidFill>
                  <a:srgbClr val="293442"/>
                </a:solidFill>
              </a:rPr>
              <a:t>How can an infinite while loop be prevented?</a:t>
            </a:r>
            <a:endParaRPr lang="en-US" sz="1900" dirty="0"/>
          </a:p>
        </p:txBody>
      </p:sp>
      <p:sp>
        <p:nvSpPr>
          <p:cNvPr id="6" name="Text 4"/>
          <p:cNvSpPr/>
          <p:nvPr/>
        </p:nvSpPr>
        <p:spPr>
          <a:xfrm>
            <a:off x="548640" y="6473952"/>
            <a:ext cx="10972800" cy="201168"/>
          </a:xfrm>
          <a:prstGeom prst="rect">
            <a:avLst/>
          </a:prstGeom>
          <a:noFill/>
          <a:ln/>
        </p:spPr>
        <p:txBody>
          <a:bodyPr wrap="square" rtlCol="0" anchor="ctr"/>
          <a:lstStyle/>
          <a:p>
            <a:pPr indent="0" marL="0">
              <a:buNone/>
            </a:pPr>
            <a:r>
              <a:rPr lang="en-US" sz="800" dirty="0">
                <a:solidFill>
                  <a:srgbClr val="727C86"/>
                </a:solidFill>
              </a:rPr>
              <a:t>MBU Digital Library · Supplemental practice resource · Verify against official course materials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502920"/>
          </a:xfrm>
          <a:prstGeom prst="rect">
            <a:avLst/>
          </a:prstGeom>
          <a:noFill/>
          <a:ln/>
        </p:spPr>
        <p:txBody>
          <a:bodyPr wrap="square" rtlCol="0" anchor="ctr"/>
          <a:lstStyle/>
          <a:p>
            <a:pPr indent="0" marL="0">
              <a:buNone/>
            </a:pPr>
            <a:r>
              <a:rPr lang="en-US" sz="2600" b="1" dirty="0">
                <a:solidFill>
                  <a:srgbClr val="8E1024"/>
                </a:solidFill>
                <a:latin typeface="Aptos Display" pitchFamily="34" charset="0"/>
                <a:ea typeface="Aptos Display" pitchFamily="34" charset="-122"/>
                <a:cs typeface="Aptos Display" pitchFamily="34" charset="-120"/>
              </a:rPr>
              <a:t>Functions, files, and tests</a:t>
            </a:r>
            <a:endParaRPr lang="en-US" sz="2600" dirty="0"/>
          </a:p>
        </p:txBody>
      </p:sp>
      <p:sp>
        <p:nvSpPr>
          <p:cNvPr id="3" name="Shape 1"/>
          <p:cNvSpPr/>
          <p:nvPr/>
        </p:nvSpPr>
        <p:spPr>
          <a:xfrm>
            <a:off x="512064" y="1033272"/>
            <a:ext cx="11064240" cy="0"/>
          </a:xfrm>
          <a:prstGeom prst="line">
            <a:avLst/>
          </a:prstGeom>
          <a:noFill/>
          <a:ln w="15240">
            <a:solidFill>
              <a:srgbClr val="E7C6CB"/>
            </a:solidFill>
            <a:prstDash val="solid"/>
          </a:ln>
        </p:spPr>
      </p:sp>
      <p:sp>
        <p:nvSpPr>
          <p:cNvPr id="4" name="Text 2"/>
          <p:cNvSpPr/>
          <p:nvPr/>
        </p:nvSpPr>
        <p:spPr>
          <a:xfrm>
            <a:off x="548640" y="1225296"/>
            <a:ext cx="10972800" cy="402336"/>
          </a:xfrm>
          <a:prstGeom prst="rect">
            <a:avLst/>
          </a:prstGeom>
          <a:noFill/>
          <a:ln/>
        </p:spPr>
        <p:txBody>
          <a:bodyPr wrap="square" rtlCol="0" anchor="ctr"/>
          <a:lstStyle/>
          <a:p>
            <a:pPr indent="0" marL="0">
              <a:buNone/>
            </a:pPr>
            <a:r>
              <a:rPr lang="en-US" sz="1500" dirty="0">
                <a:solidFill>
                  <a:srgbClr val="45515E"/>
                </a:solidFill>
              </a:rPr>
              <a:t>Functions isolate a task and make assumptions explicit. Return results rather than printing inside reusable logic. Use with open(...) to close files reliably, handle only expected exceptions, and test normal, boundary, and invalid cases.</a:t>
            </a:r>
            <a:endParaRPr lang="en-US" sz="1500" dirty="0"/>
          </a:p>
        </p:txBody>
      </p:sp>
      <p:sp>
        <p:nvSpPr>
          <p:cNvPr id="5" name="Text 3"/>
          <p:cNvSpPr/>
          <p:nvPr/>
        </p:nvSpPr>
        <p:spPr>
          <a:xfrm>
            <a:off x="731520" y="1874520"/>
            <a:ext cx="10698480" cy="4206240"/>
          </a:xfrm>
          <a:prstGeom prst="rect">
            <a:avLst/>
          </a:prstGeom>
          <a:noFill/>
          <a:ln/>
        </p:spPr>
        <p:txBody>
          <a:bodyPr wrap="square" lIns="1016" tIns="1016" rIns="1016" bIns="1016" rtlCol="0" anchor="t"/>
          <a:lstStyle/>
          <a:p>
            <a:pPr marL="203200" indent="-203200">
              <a:buSzPct val="100000"/>
              <a:buChar char="•"/>
            </a:pPr>
            <a:r>
              <a:rPr lang="en-US" sz="1900" dirty="0">
                <a:solidFill>
                  <a:srgbClr val="293442"/>
                </a:solidFill>
              </a:rPr>
              <a:t>def mean(values):\n    if not values: raise ValueError("values cannot be empty")\n    return sum(values) / len(values)</a:t>
            </a:r>
            <a:endParaRPr lang="en-US" sz="1900" dirty="0"/>
          </a:p>
          <a:p>
            <a:pPr marL="203200" indent="-203200">
              <a:buSzPct val="100000"/>
              <a:buChar char="•"/>
            </a:pPr>
            <a:r>
              <a:rPr lang="en-US" sz="1900" dirty="0">
                <a:solidFill>
                  <a:srgbClr val="293442"/>
                </a:solidFill>
              </a:rPr>
              <a:t>What is the difference between return and print?</a:t>
            </a:r>
            <a:endParaRPr lang="en-US" sz="1900" dirty="0"/>
          </a:p>
          <a:p>
            <a:pPr marL="203200" indent="-203200">
              <a:buSzPct val="100000"/>
              <a:buChar char="•"/>
            </a:pPr>
            <a:r>
              <a:rPr lang="en-US" sz="1900" dirty="0">
                <a:solidFill>
                  <a:srgbClr val="293442"/>
                </a:solidFill>
              </a:rPr>
              <a:t>Name three useful test cases for a function.</a:t>
            </a:r>
            <a:endParaRPr lang="en-US" sz="1900" dirty="0"/>
          </a:p>
        </p:txBody>
      </p:sp>
      <p:sp>
        <p:nvSpPr>
          <p:cNvPr id="6" name="Text 4"/>
          <p:cNvSpPr/>
          <p:nvPr/>
        </p:nvSpPr>
        <p:spPr>
          <a:xfrm>
            <a:off x="548640" y="6473952"/>
            <a:ext cx="10972800" cy="201168"/>
          </a:xfrm>
          <a:prstGeom prst="rect">
            <a:avLst/>
          </a:prstGeom>
          <a:noFill/>
          <a:ln/>
        </p:spPr>
        <p:txBody>
          <a:bodyPr wrap="square" rtlCol="0" anchor="ctr"/>
          <a:lstStyle/>
          <a:p>
            <a:pPr indent="0" marL="0">
              <a:buNone/>
            </a:pPr>
            <a:r>
              <a:rPr lang="en-US" sz="800" dirty="0">
                <a:solidFill>
                  <a:srgbClr val="727C86"/>
                </a:solidFill>
              </a:rPr>
              <a:t>MBU Digital Library · Supplemental practice resource · Verify against official course materials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502920"/>
          </a:xfrm>
          <a:prstGeom prst="rect">
            <a:avLst/>
          </a:prstGeom>
          <a:noFill/>
          <a:ln/>
        </p:spPr>
        <p:txBody>
          <a:bodyPr wrap="square" rtlCol="0" anchor="ctr"/>
          <a:lstStyle/>
          <a:p>
            <a:pPr indent="0" marL="0">
              <a:buNone/>
            </a:pPr>
            <a:r>
              <a:rPr lang="en-US" sz="2600" b="1" dirty="0">
                <a:solidFill>
                  <a:srgbClr val="8E1024"/>
                </a:solidFill>
                <a:latin typeface="Aptos Display" pitchFamily="34" charset="0"/>
                <a:ea typeface="Aptos Display" pitchFamily="34" charset="-122"/>
                <a:cs typeface="Aptos Display" pitchFamily="34" charset="-120"/>
              </a:rPr>
              <a:t>Practice and self-check</a:t>
            </a:r>
            <a:endParaRPr lang="en-US" sz="2600" dirty="0"/>
          </a:p>
        </p:txBody>
      </p:sp>
      <p:sp>
        <p:nvSpPr>
          <p:cNvPr id="3" name="Shape 1"/>
          <p:cNvSpPr/>
          <p:nvPr/>
        </p:nvSpPr>
        <p:spPr>
          <a:xfrm>
            <a:off x="512064" y="1033272"/>
            <a:ext cx="11064240" cy="0"/>
          </a:xfrm>
          <a:prstGeom prst="line">
            <a:avLst/>
          </a:prstGeom>
          <a:noFill/>
          <a:ln w="15240">
            <a:solidFill>
              <a:srgbClr val="E7C6CB"/>
            </a:solidFill>
            <a:prstDash val="solid"/>
          </a:ln>
        </p:spPr>
      </p:sp>
      <p:sp>
        <p:nvSpPr>
          <p:cNvPr id="4" name="Text 2"/>
          <p:cNvSpPr/>
          <p:nvPr/>
        </p:nvSpPr>
        <p:spPr>
          <a:xfrm>
            <a:off x="548640" y="1225296"/>
            <a:ext cx="10972800" cy="402336"/>
          </a:xfrm>
          <a:prstGeom prst="rect">
            <a:avLst/>
          </a:prstGeom>
          <a:noFill/>
          <a:ln/>
        </p:spPr>
        <p:txBody>
          <a:bodyPr wrap="square" rtlCol="0" anchor="ctr"/>
          <a:lstStyle/>
          <a:p>
            <a:pPr indent="0" marL="0">
              <a:buNone/>
            </a:pPr>
            <a:r>
              <a:rPr lang="en-US" sz="1500" dirty="0">
                <a:solidFill>
                  <a:srgbClr val="45515E"/>
                </a:solidFill>
              </a:rPr>
              <a:t>A reliable beginner workflow</a:t>
            </a:r>
            <a:endParaRPr lang="en-US" sz="1500" dirty="0"/>
          </a:p>
        </p:txBody>
      </p:sp>
      <p:sp>
        <p:nvSpPr>
          <p:cNvPr id="5" name="Text 3"/>
          <p:cNvSpPr/>
          <p:nvPr/>
        </p:nvSpPr>
        <p:spPr>
          <a:xfrm>
            <a:off x="731520" y="1874520"/>
            <a:ext cx="10698480" cy="4206240"/>
          </a:xfrm>
          <a:prstGeom prst="rect">
            <a:avLst/>
          </a:prstGeom>
          <a:noFill/>
          <a:ln/>
        </p:spPr>
        <p:txBody>
          <a:bodyPr wrap="square" lIns="1016" tIns="1016" rIns="1016" bIns="1016" rtlCol="0" anchor="t"/>
          <a:lstStyle/>
          <a:p>
            <a:pPr marL="203200" indent="-203200">
              <a:buSzPct val="100000"/>
              <a:buChar char="•"/>
            </a:pPr>
            <a:r>
              <a:rPr lang="en-US" sz="1900" dirty="0">
                <a:solidFill>
                  <a:srgbClr val="293442"/>
                </a:solidFill>
              </a:rPr>
              <a:t>Write a normal case, an empty/boundary case, and an invalid-input case.</a:t>
            </a:r>
            <a:endParaRPr lang="en-US" sz="1900" dirty="0"/>
          </a:p>
          <a:p>
            <a:pPr marL="203200" indent="-203200">
              <a:buSzPct val="100000"/>
              <a:buChar char="•"/>
            </a:pPr>
            <a:r>
              <a:rPr lang="en-US" sz="1900" dirty="0">
                <a:solidFill>
                  <a:srgbClr val="293442"/>
                </a:solidFill>
              </a:rPr>
              <a:t>Run the tests after a change.</a:t>
            </a:r>
            <a:endParaRPr lang="en-US" sz="1900" dirty="0"/>
          </a:p>
          <a:p>
            <a:pPr marL="203200" indent="-203200">
              <a:buSzPct val="100000"/>
              <a:buChar char="•"/>
            </a:pPr>
            <a:r>
              <a:rPr lang="en-US" sz="1900" dirty="0">
                <a:solidFill>
                  <a:srgbClr val="293442"/>
                </a:solidFill>
              </a:rPr>
              <a:t>Read official Python documentation when behavior is uncertain.</a:t>
            </a:r>
            <a:endParaRPr lang="en-US" sz="1900" dirty="0"/>
          </a:p>
        </p:txBody>
      </p:sp>
      <p:sp>
        <p:nvSpPr>
          <p:cNvPr id="6" name="Text 4"/>
          <p:cNvSpPr/>
          <p:nvPr/>
        </p:nvSpPr>
        <p:spPr>
          <a:xfrm>
            <a:off x="548640" y="6473952"/>
            <a:ext cx="10972800" cy="201168"/>
          </a:xfrm>
          <a:prstGeom prst="rect">
            <a:avLst/>
          </a:prstGeom>
          <a:noFill/>
          <a:ln/>
        </p:spPr>
        <p:txBody>
          <a:bodyPr wrap="square" rtlCol="0" anchor="ctr"/>
          <a:lstStyle/>
          <a:p>
            <a:pPr indent="0" marL="0">
              <a:buNone/>
            </a:pPr>
            <a:r>
              <a:rPr lang="en-US" sz="800" dirty="0">
                <a:solidFill>
                  <a:srgbClr val="727C86"/>
                </a:solidFill>
              </a:rPr>
              <a:t>MBU Digital Library · Supplemental practice resource · Verify against official course materials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MBU Digital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Foundations</dc:title>
  <dc:subject>Supplemental educational presentation</dc:subject>
  <dc:creator>MBU Digital Library Learning Resources</dc:creator>
  <cp:lastModifiedBy>MBU Digital Library Learning Resources</cp:lastModifiedBy>
  <cp:revision>1</cp:revision>
  <dcterms:created xsi:type="dcterms:W3CDTF">2026-10-11T14:00:28Z</dcterms:created>
  <dcterms:modified xsi:type="dcterms:W3CDTF">2026-10-11T14:00:28Z</dcterms:modified>
</cp:coreProperties>
</file>