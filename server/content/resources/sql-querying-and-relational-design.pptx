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1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facts once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12064" y="1033272"/>
            <a:ext cx="11064240" cy="0"/>
          </a:xfrm>
          <a:prstGeom prst="line">
            <a:avLst/>
          </a:prstGeom>
          <a:noFill/>
          <a:ln w="15240">
            <a:solidFill>
              <a:srgbClr val="E7C6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25296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5515E"/>
                </a:solidFill>
              </a:rPr>
              <a:t>Keys and constraints make assumptions explicit.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6984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Choose a primary key that identifies each row.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Use foreign keys to protect relationships.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Normalize repeated facts to reduce update anomalies.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27C86"/>
                </a:solidFill>
              </a:rPr>
              <a:t>MBU Digital Library · Supplemental practice resource · Verify against official course materials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1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SELECT, filtering, and sorting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12064" y="1033272"/>
            <a:ext cx="11064240" cy="0"/>
          </a:xfrm>
          <a:prstGeom prst="line">
            <a:avLst/>
          </a:prstGeom>
          <a:noFill/>
          <a:ln w="15240">
            <a:solidFill>
              <a:srgbClr val="E7C6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25296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5515E"/>
                </a:solidFill>
              </a:rPr>
              <a:t>SELECT names columns, FROM names a relation, WHERE filters rows, and ORDER BY sorts the result. SQL uses three-valued logic: NULL is unknown, so test it with IS NULL rather than = NULL.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6984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SELECT product, price FROM items WHERE price &gt;= 100 ORDER BY price DESC;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Why does column = NULL not match NULL rows?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Does ORDER BY happen before or after WHERE?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27C86"/>
                </a:solidFill>
              </a:rPr>
              <a:t>MBU Digital Library · Supplemental practice resource · Verify against official course materials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1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Joins and aggregation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12064" y="1033272"/>
            <a:ext cx="11064240" cy="0"/>
          </a:xfrm>
          <a:prstGeom prst="line">
            <a:avLst/>
          </a:prstGeom>
          <a:noFill/>
          <a:ln w="15240">
            <a:solidFill>
              <a:srgbClr val="E7C6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25296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5515E"/>
                </a:solidFill>
              </a:rPr>
              <a:t>Joins combine rows using related columns. COUNT/SUM/AVG aggregate groups; GROUP BY defines groups and HAVING filters groups after aggregation. Choose join type according to whether unmatched rows should remain.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6984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SELECT department_id, COUNT(*) FROM students GROUP BY department_id HAVING COUNT(*) &gt; 10;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When should HAVING be used instead of WHERE?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What rows does LEFT JOIN preserve?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27C86"/>
                </a:solidFill>
              </a:rPr>
              <a:t>MBU Digital Library · Supplemental practice resource · Verify against official course materials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1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changes and safe queries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12064" y="1033272"/>
            <a:ext cx="11064240" cy="0"/>
          </a:xfrm>
          <a:prstGeom prst="line">
            <a:avLst/>
          </a:prstGeom>
          <a:noFill/>
          <a:ln w="15240">
            <a:solidFill>
              <a:srgbClr val="E7C6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25296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5515E"/>
                </a:solidFill>
              </a:rPr>
              <a:t>INSERT adds rows, UPDATE changes matching rows, DELETE removes them. Preview a predicate with SELECT and use a transaction for related changes. Parameterized queries keep values separate from SQL syntax.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6984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UPDATE inventory SET quantity = quantity - 1 WHERE item_id = $1 AND quantity &gt; 0;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Why is a parameterized query safer?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What is the risk of UPDATE without WHERE?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27C86"/>
                </a:solidFill>
              </a:rPr>
              <a:t>MBU Digital Library · Supplemental practice resource · Verify against official course materials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E1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Write safe, testable queries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12064" y="1033272"/>
            <a:ext cx="11064240" cy="0"/>
          </a:xfrm>
          <a:prstGeom prst="line">
            <a:avLst/>
          </a:prstGeom>
          <a:noFill/>
          <a:ln w="15240">
            <a:solidFill>
              <a:srgbClr val="E7C6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25296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5515E"/>
                </a:solidFill>
              </a:rPr>
              <a:t>Check grain, nulls, and row counts.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6984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Parameterize user values.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Compare aggregate counts against a hand-checked sample.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93442"/>
                </a:solidFill>
              </a:rPr>
              <a:t>Use EXPLAIN on a representative workload before changing indexes.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27C86"/>
                </a:solidFill>
              </a:rPr>
              <a:t>MBU Digital Library · Supplemental practice resource · Verify against official course materials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MBU Digital Library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Querying and Relational Design</dc:title>
  <dc:subject>Supplemental educational presentation</dc:subject>
  <dc:creator>MBU Digital Library Learning Resources</dc:creator>
  <cp:lastModifiedBy>MBU Digital Library Learning Resources</cp:lastModifiedBy>
  <cp:revision>1</cp:revision>
  <dcterms:created xsi:type="dcterms:W3CDTF">2026-10-11T14:00:28Z</dcterms:created>
  <dcterms:modified xsi:type="dcterms:W3CDTF">2026-10-11T14:00:28Z</dcterms:modified>
</cp:coreProperties>
</file>